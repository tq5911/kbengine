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8"/>
  </p:notesMasterIdLst>
  <p:handoutMasterIdLst>
    <p:handoutMasterId r:id="rId119"/>
  </p:handoutMasterIdLst>
  <p:sldIdLst>
    <p:sldId id="256" r:id="rId2"/>
    <p:sldId id="257" r:id="rId3"/>
    <p:sldId id="258" r:id="rId4"/>
    <p:sldId id="283"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73" r:id="rId28"/>
    <p:sldId id="284" r:id="rId29"/>
    <p:sldId id="285" r:id="rId30"/>
    <p:sldId id="286" r:id="rId31"/>
    <p:sldId id="287" r:id="rId32"/>
    <p:sldId id="288" r:id="rId33"/>
    <p:sldId id="289" r:id="rId34"/>
    <p:sldId id="304" r:id="rId35"/>
    <p:sldId id="305" r:id="rId36"/>
    <p:sldId id="306" r:id="rId37"/>
    <p:sldId id="307" r:id="rId38"/>
    <p:sldId id="290" r:id="rId39"/>
    <p:sldId id="291" r:id="rId40"/>
    <p:sldId id="292" r:id="rId41"/>
    <p:sldId id="293" r:id="rId42"/>
    <p:sldId id="318" r:id="rId43"/>
    <p:sldId id="319" r:id="rId44"/>
    <p:sldId id="294" r:id="rId45"/>
    <p:sldId id="295" r:id="rId46"/>
    <p:sldId id="296" r:id="rId47"/>
    <p:sldId id="297" r:id="rId48"/>
    <p:sldId id="298" r:id="rId49"/>
    <p:sldId id="299" r:id="rId50"/>
    <p:sldId id="300" r:id="rId51"/>
    <p:sldId id="301" r:id="rId52"/>
    <p:sldId id="303" r:id="rId53"/>
    <p:sldId id="308" r:id="rId54"/>
    <p:sldId id="309" r:id="rId55"/>
    <p:sldId id="310" r:id="rId56"/>
    <p:sldId id="311" r:id="rId57"/>
    <p:sldId id="312" r:id="rId58"/>
    <p:sldId id="313" r:id="rId59"/>
    <p:sldId id="314" r:id="rId60"/>
    <p:sldId id="315" r:id="rId61"/>
    <p:sldId id="316" r:id="rId62"/>
    <p:sldId id="317"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6" r:id="rId79"/>
    <p:sldId id="335" r:id="rId80"/>
    <p:sldId id="337" r:id="rId81"/>
    <p:sldId id="338" r:id="rId82"/>
    <p:sldId id="339" r:id="rId83"/>
    <p:sldId id="340" r:id="rId84"/>
    <p:sldId id="374"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7" r:id="rId105"/>
    <p:sldId id="368" r:id="rId106"/>
    <p:sldId id="369" r:id="rId107"/>
    <p:sldId id="360" r:id="rId108"/>
    <p:sldId id="371" r:id="rId109"/>
    <p:sldId id="372" r:id="rId110"/>
    <p:sldId id="370" r:id="rId111"/>
    <p:sldId id="361" r:id="rId112"/>
    <p:sldId id="362" r:id="rId113"/>
    <p:sldId id="363" r:id="rId114"/>
    <p:sldId id="364" r:id="rId115"/>
    <p:sldId id="365" r:id="rId116"/>
    <p:sldId id="366" r:id="rId1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2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1" d="100"/>
          <a:sy n="101" d="100"/>
        </p:scale>
        <p:origin x="240" y="108"/>
      </p:cViewPr>
      <p:guideLst>
        <p:guide orient="horz" pos="2158"/>
        <p:guide pos="2908"/>
      </p:guideLst>
    </p:cSldViewPr>
  </p:slideViewPr>
  <p:notesTextViewPr>
    <p:cViewPr>
      <p:scale>
        <a:sx n="1" d="1"/>
        <a:sy n="1" d="1"/>
      </p:scale>
      <p:origin x="0" y="0"/>
    </p:cViewPr>
  </p:notesTextViewPr>
  <p:sorterViewPr>
    <p:cViewPr>
      <p:scale>
        <a:sx n="200" d="100"/>
        <a:sy n="200" d="100"/>
      </p:scale>
      <p:origin x="0" y="-2982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2025/2/25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2025/2/25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25A841-A089-4E15-B2C1-E261FFD951C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06685-9A4C-42F2-B3D4-21EA83A09F4D}" type="datetimeFigureOut">
              <a:rPr lang="zh-CN" altLang="en-US" smtClean="0"/>
              <a:t>2025/2/25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25A841-A089-4E15-B2C1-E261FFD951C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kbengine.or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5" Type="http://schemas.openxmlformats.org/officeDocument/2006/relationships/image" Target="../media/image6.png"/><Relationship Id="rId10" Type="http://schemas.openxmlformats.org/officeDocument/2006/relationships/image" Target="../media/image8.png"/><Relationship Id="rId4" Type="http://schemas.openxmlformats.org/officeDocument/2006/relationships/oleObject" Target="../embeddings/oleObject2.bin"/><Relationship Id="rId9"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hyperlink" Target="https://kbengine.github.io/docs/programming/entitydef.html"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https://kbengine.github.io/docs/programming/types.html"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hyperlink" Target="https://kbengine.github.io/assets/other/kbengine_api.html#baseapp/Classes/Entity.html?id=7" TargetMode="Externa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hyperlink" Target="https://kbengine.github.io/assets/other/kbengine_api.html#cellapp/Classes/Entity.html?id=11" TargetMode="External"/><Relationship Id="rId2" Type="http://schemas.openxmlformats.org/officeDocument/2006/relationships/hyperlink" Target="../api_python/python_baseapp.chm" TargetMode="Externa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3568" y="2780928"/>
            <a:ext cx="7772400" cy="3024336"/>
          </a:xfrm>
        </p:spPr>
        <p:txBody>
          <a:bodyPr>
            <a:normAutofit fontScale="90000"/>
          </a:bodyPr>
          <a:lstStyle/>
          <a:p>
            <a:r>
              <a:rPr lang="en-AU" altLang="zh-CN" b="1" dirty="0" err="1">
                <a:solidFill>
                  <a:schemeClr val="accent4"/>
                </a:solidFill>
                <a:latin typeface="微软雅黑" panose="020B0503020204020204" pitchFamily="34" charset="-122"/>
                <a:ea typeface="微软雅黑" panose="020B0503020204020204" pitchFamily="34" charset="-122"/>
              </a:rPr>
              <a:t>KBEngine</a:t>
            </a:r>
            <a:r>
              <a:rPr lang="en-AU" altLang="zh-CN" b="1" dirty="0">
                <a:solidFill>
                  <a:schemeClr val="accent4"/>
                </a:solidFill>
                <a:latin typeface="微软雅黑" panose="020B0503020204020204" pitchFamily="34" charset="-122"/>
                <a:ea typeface="微软雅黑" panose="020B0503020204020204" pitchFamily="34" charset="-122"/>
              </a:rPr>
              <a:t> </a:t>
            </a:r>
            <a:r>
              <a:rPr lang="zh-CN" altLang="en-US" b="1" dirty="0">
                <a:solidFill>
                  <a:schemeClr val="accent4"/>
                </a:solidFill>
                <a:latin typeface="微软雅黑" panose="020B0503020204020204" pitchFamily="34" charset="-122"/>
                <a:ea typeface="微软雅黑" panose="020B0503020204020204" pitchFamily="34" charset="-122"/>
              </a:rPr>
              <a:t>技术概览</a:t>
            </a:r>
            <a:br>
              <a:rPr lang="en-US" altLang="zh-CN" b="1" dirty="0">
                <a:solidFill>
                  <a:schemeClr val="accent4"/>
                </a:solidFill>
                <a:latin typeface="微软雅黑" panose="020B0503020204020204" pitchFamily="34" charset="-122"/>
                <a:ea typeface="微软雅黑" panose="020B0503020204020204" pitchFamily="34" charset="-122"/>
              </a:rPr>
            </a:br>
            <a:br>
              <a:rPr lang="en-US" altLang="zh-CN" b="1" dirty="0">
                <a:solidFill>
                  <a:schemeClr val="accent4"/>
                </a:solidFill>
                <a:latin typeface="微软雅黑" panose="020B0503020204020204" pitchFamily="34" charset="-122"/>
                <a:ea typeface="微软雅黑" panose="020B0503020204020204" pitchFamily="34" charset="-122"/>
              </a:rPr>
            </a:br>
            <a:r>
              <a:rPr lang="zh-CN" altLang="en-US" b="1" dirty="0">
                <a:solidFill>
                  <a:schemeClr val="accent4"/>
                </a:solidFill>
                <a:latin typeface="微软雅黑" panose="020B0503020204020204" pitchFamily="34" charset="-122"/>
                <a:ea typeface="微软雅黑" panose="020B0503020204020204" pitchFamily="34" charset="-122"/>
              </a:rPr>
              <a:t>开源游戏服务端引擎</a:t>
            </a:r>
            <a:br>
              <a:rPr lang="zh-CN" altLang="en-US" b="1" dirty="0">
                <a:solidFill>
                  <a:schemeClr val="accent4"/>
                </a:solidFill>
                <a:latin typeface="微软雅黑" panose="020B0503020204020204" pitchFamily="34" charset="-122"/>
                <a:ea typeface="微软雅黑" panose="020B0503020204020204" pitchFamily="34" charset="-122"/>
              </a:rPr>
            </a:br>
            <a:br>
              <a:rPr lang="en-AU" altLang="zh-CN" dirty="0">
                <a:solidFill>
                  <a:schemeClr val="accent4"/>
                </a:solidFill>
                <a:ea typeface="宋体" panose="02010600030101010101" pitchFamily="2" charset="-122"/>
              </a:rPr>
            </a:br>
            <a:r>
              <a:rPr lang="en-AU" altLang="zh-CN" dirty="0">
                <a:solidFill>
                  <a:schemeClr val="accent4"/>
                </a:solidFill>
                <a:ea typeface="宋体" panose="02010600030101010101" pitchFamily="2" charset="-122"/>
              </a:rPr>
              <a:t>                                             </a:t>
            </a:r>
            <a:r>
              <a:rPr lang="en-AU" altLang="zh-CN" sz="2000" dirty="0">
                <a:solidFill>
                  <a:schemeClr val="accent1"/>
                </a:solidFill>
                <a:effectLst>
                  <a:outerShdw blurRad="38100" dist="25400" dir="5400000" algn="ctr" rotWithShape="0">
                    <a:srgbClr val="6E747A">
                      <a:alpha val="43000"/>
                    </a:srgbClr>
                  </a:outerShdw>
                </a:effectLst>
                <a:ea typeface="宋体" panose="02010600030101010101" pitchFamily="2" charset="-122"/>
              </a:rPr>
              <a:t>柯</a:t>
            </a:r>
            <a:r>
              <a:rPr lang="zh-CN" altLang="en-AU" sz="2000" dirty="0">
                <a:solidFill>
                  <a:schemeClr val="accent1"/>
                </a:solidFill>
                <a:effectLst>
                  <a:outerShdw blurRad="38100" dist="25400" dir="5400000" algn="ctr" rotWithShape="0">
                    <a:srgbClr val="6E747A">
                      <a:alpha val="43000"/>
                    </a:srgbClr>
                  </a:outerShdw>
                </a:effectLst>
                <a:ea typeface="宋体" panose="02010600030101010101" pitchFamily="2" charset="-122"/>
              </a:rPr>
              <a:t>标</a:t>
            </a:r>
            <a:br>
              <a:rPr lang="zh-CN" altLang="en-AU" sz="2000" dirty="0">
                <a:solidFill>
                  <a:schemeClr val="accent4"/>
                </a:solidFill>
                <a:ea typeface="宋体" panose="02010600030101010101" pitchFamily="2" charset="-122"/>
              </a:rPr>
            </a:br>
            <a:r>
              <a:rPr lang="zh-CN" altLang="en-AU" sz="2000" dirty="0">
                <a:solidFill>
                  <a:schemeClr val="accent4"/>
                </a:solidFill>
                <a:ea typeface="宋体" panose="02010600030101010101" pitchFamily="2" charset="-122"/>
              </a:rPr>
              <a:t>                                                                                                  </a:t>
            </a:r>
          </a:p>
        </p:txBody>
      </p:sp>
      <p:pic>
        <p:nvPicPr>
          <p:cNvPr id="1026" name="Picture 2" descr="D:\kbe\kbengine_misc\logo\kbe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2" y="0"/>
            <a:ext cx="9156311" cy="13691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804248" y="6404887"/>
            <a:ext cx="3096344" cy="369332"/>
          </a:xfrm>
          <a:prstGeom prst="rect">
            <a:avLst/>
          </a:prstGeom>
          <a:noFill/>
        </p:spPr>
        <p:txBody>
          <a:bodyPr wrap="square" rtlCol="0">
            <a:spAutoFit/>
          </a:bodyPr>
          <a:lstStyle/>
          <a:p>
            <a:r>
              <a:rPr lang="en-US" altLang="zh-CN" dirty="0">
                <a:solidFill>
                  <a:schemeClr val="accent5">
                    <a:lumMod val="75000"/>
                  </a:schemeClr>
                </a:solidFill>
                <a:latin typeface="微软雅黑" panose="020B0503020204020204" pitchFamily="34" charset="-122"/>
                <a:ea typeface="微软雅黑" panose="020B0503020204020204" pitchFamily="34" charset="-122"/>
                <a:hlinkClick r:id="rId3"/>
              </a:rPr>
              <a:t>http://kbengine.org</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1368152" cy="650503"/>
          </a:xfrm>
        </p:spPr>
        <p:txBody>
          <a:bodyPr>
            <a:normAutofit fontScale="90000"/>
          </a:bodyPr>
          <a:lstStyle/>
          <a:p>
            <a:r>
              <a:rPr lang="zh-CN" altLang="en-US" b="1" dirty="0">
                <a:solidFill>
                  <a:schemeClr val="accent1"/>
                </a:solidFill>
                <a:latin typeface="+mn-ea"/>
                <a:ea typeface="+mn-ea"/>
              </a:rPr>
              <a:t>概要</a:t>
            </a:r>
          </a:p>
        </p:txBody>
      </p:sp>
      <p:sp>
        <p:nvSpPr>
          <p:cNvPr id="9" name="Rectangle 3"/>
          <p:cNvSpPr txBox="1">
            <a:spLocks noChangeArrowheads="1"/>
          </p:cNvSpPr>
          <p:nvPr/>
        </p:nvSpPr>
        <p:spPr bwMode="auto">
          <a:xfrm>
            <a:off x="304815" y="1268760"/>
            <a:ext cx="6427425" cy="504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en-US" altLang="zh-CN" sz="3200" b="0" i="0" u="none" strike="noStrike" kern="0" cap="none" spc="0" normalizeH="0" baseline="0" noProof="0" dirty="0" err="1">
                <a:ln>
                  <a:noFill/>
                </a:ln>
                <a:solidFill>
                  <a:schemeClr val="tx2"/>
                </a:solidFill>
                <a:effectLst/>
                <a:uLnTx/>
                <a:uFillTx/>
                <a:latin typeface="Verdana" panose="020B0604030504040204"/>
                <a:ea typeface="宋体" panose="02010600030101010101" pitchFamily="2" charset="-122"/>
                <a:cs typeface="+mn-cs"/>
              </a:rPr>
              <a:t>KBEngine</a:t>
            </a:r>
            <a:r>
              <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 </a:t>
            </a: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服务器概览</a:t>
            </a:r>
            <a:endPar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实现一个</a:t>
            </a:r>
            <a:r>
              <a:rPr kumimoji="0" lang="en-AU"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Entity</a:t>
            </a:r>
            <a:endPar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en-AU" sz="3200" b="0" i="0" u="none" strike="noStrike" kern="0" cap="none" spc="0" normalizeH="0" baseline="0" noProof="0" dirty="0">
                <a:ln>
                  <a:noFill/>
                </a:ln>
                <a:solidFill>
                  <a:schemeClr val="tx2"/>
                </a:solidFill>
                <a:effectLst/>
                <a:uLnTx/>
                <a:uFillTx/>
                <a:latin typeface="Verdana" panose="020B0604030504040204"/>
                <a:ea typeface="+mn-ea"/>
                <a:cs typeface="+mn-cs"/>
              </a:rPr>
              <a:t>Entity</a:t>
            </a: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的通信</a:t>
            </a:r>
            <a:endParaRPr kumimoji="0" lang="en-AU"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en-AU" sz="3200" b="0" i="0" u="none" strike="noStrike" kern="0" cap="none" spc="0" normalizeH="0" baseline="0" noProof="0" dirty="0">
                <a:ln>
                  <a:noFill/>
                </a:ln>
                <a:solidFill>
                  <a:schemeClr val="tx2"/>
                </a:solidFill>
                <a:effectLst/>
                <a:uLnTx/>
                <a:uFillTx/>
                <a:latin typeface="Verdana" panose="020B0604030504040204"/>
                <a:ea typeface="+mn-ea"/>
                <a:cs typeface="+mn-cs"/>
              </a:rPr>
              <a:t>Entity</a:t>
            </a: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核心部</a:t>
            </a: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件</a:t>
            </a:r>
            <a:endPar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Cell </a:t>
            </a: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功能集</a:t>
            </a:r>
            <a:endPar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服务器设置和维护</a:t>
            </a:r>
            <a:endPar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lang="zh-CN" altLang="en-US" kern="0" noProof="0" dirty="0">
                <a:solidFill>
                  <a:schemeClr val="tx2"/>
                </a:solidFill>
                <a:latin typeface="Verdana" panose="020B0604030504040204"/>
                <a:ea typeface="宋体" panose="02010600030101010101" pitchFamily="2" charset="-122"/>
              </a:rPr>
              <a:t>服务器调试</a:t>
            </a:r>
            <a:endPar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Char char="§"/>
              <a:defRPr/>
            </a:pP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服务器的</a:t>
            </a:r>
            <a:r>
              <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profiling</a:t>
            </a:r>
            <a:r>
              <a:rPr kumimoji="0" lang="zh-CN" altLang="en-US"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和压力测试</a:t>
            </a:r>
            <a:endParaRPr kumimoji="0" lang="en-AU"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a:p>
            <a:pPr marL="180975" marR="0" lvl="0" indent="-180975" algn="l" defTabSz="914400" rtl="0" eaLnBrk="1" fontAlgn="base" latinLnBrk="0" hangingPunct="1">
              <a:lnSpc>
                <a:spcPct val="90000"/>
              </a:lnSpc>
              <a:spcBef>
                <a:spcPct val="45000"/>
              </a:spcBef>
              <a:spcAft>
                <a:spcPct val="0"/>
              </a:spcAft>
              <a:buClr>
                <a:srgbClr val="FF9933"/>
              </a:buClr>
              <a:buSzPct val="80000"/>
              <a:buFont typeface="Wingdings" panose="05000000000000000000" pitchFamily="2" charset="2"/>
              <a:buNone/>
              <a:defRPr/>
            </a:pPr>
            <a:endParaRPr kumimoji="0" lang="en-US" altLang="zh-CN"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第一章</a:t>
            </a:r>
          </a:p>
        </p:txBody>
      </p:sp>
      <p:sp>
        <p:nvSpPr>
          <p:cNvPr id="55" name="爆炸形 2 54"/>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56" name="TextBox 55"/>
          <p:cNvSpPr txBox="1"/>
          <p:nvPr/>
        </p:nvSpPr>
        <p:spPr>
          <a:xfrm>
            <a:off x="1619672" y="2924944"/>
            <a:ext cx="6336704" cy="984885"/>
          </a:xfrm>
          <a:prstGeom prst="rect">
            <a:avLst/>
          </a:prstGeom>
          <a:noFill/>
        </p:spPr>
        <p:txBody>
          <a:bodyPr wrap="square" rtlCol="0">
            <a:spAutoFit/>
          </a:bodyPr>
          <a:lstStyle/>
          <a:p>
            <a:pPr lvl="0"/>
            <a:r>
              <a:rPr lang="en-US" altLang="zh-CN" sz="4000" b="1" kern="0" dirty="0" err="1">
                <a:solidFill>
                  <a:schemeClr val="tx2"/>
                </a:solidFill>
                <a:latin typeface="Verdana" panose="020B0604030504040204"/>
                <a:ea typeface="宋体" panose="02010600030101010101" pitchFamily="2" charset="-122"/>
              </a:rPr>
              <a:t>KBEngine</a:t>
            </a:r>
            <a:r>
              <a:rPr lang="en-US" altLang="zh-CN" sz="4000" b="1" kern="0" dirty="0">
                <a:solidFill>
                  <a:schemeClr val="tx2"/>
                </a:solidFill>
                <a:latin typeface="Verdana" panose="020B0604030504040204"/>
                <a:ea typeface="宋体" panose="02010600030101010101" pitchFamily="2" charset="-122"/>
              </a:rPr>
              <a:t> </a:t>
            </a:r>
            <a:r>
              <a:rPr lang="zh-CN" altLang="en-US" sz="4000" b="1" kern="0" dirty="0">
                <a:solidFill>
                  <a:schemeClr val="tx2"/>
                </a:solidFill>
                <a:latin typeface="Verdana" panose="020B0604030504040204"/>
                <a:ea typeface="宋体" panose="02010600030101010101" pitchFamily="2" charset="-122"/>
              </a:rPr>
              <a:t>服务器概览</a:t>
            </a:r>
            <a:endParaRPr lang="en-US" altLang="zh-CN" sz="4000" b="1" kern="0" dirty="0">
              <a:solidFill>
                <a:schemeClr val="tx2"/>
              </a:solidFill>
              <a:latin typeface="Verdana" panose="020B0604030504040204"/>
              <a:ea typeface="宋体" panose="02010600030101010101" pitchFamily="2" charset="-122"/>
            </a:endParaRP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KBEngine</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服务器架构</a:t>
            </a:r>
            <a:endParaRPr lang="zh-CN" altLang="en-US" b="1" dirty="0">
              <a:solidFill>
                <a:schemeClr val="accent1"/>
              </a:solidFill>
              <a:latin typeface="+mn-ea"/>
              <a:ea typeface="+mn-ea"/>
            </a:endParaRPr>
          </a:p>
        </p:txBody>
      </p:sp>
      <p:sp>
        <p:nvSpPr>
          <p:cNvPr id="3" name="矩形 2"/>
          <p:cNvSpPr/>
          <p:nvPr/>
        </p:nvSpPr>
        <p:spPr>
          <a:xfrm>
            <a:off x="107504" y="1124744"/>
            <a:ext cx="8928992" cy="5616624"/>
          </a:xfrm>
          <a:prstGeom prst="rect">
            <a:avLst/>
          </a:prstGeom>
          <a:solidFill>
            <a:schemeClr val="tx2">
              <a:lumMod val="40000"/>
              <a:lumOff val="60000"/>
            </a:schemeClr>
          </a:solidFill>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8" name="圆角矩形 7"/>
          <p:cNvSpPr/>
          <p:nvPr/>
        </p:nvSpPr>
        <p:spPr>
          <a:xfrm>
            <a:off x="3718756" y="1271260"/>
            <a:ext cx="1501316"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Client</a:t>
            </a:r>
            <a:endParaRPr lang="zh-CN" altLang="en-US" b="1" dirty="0"/>
          </a:p>
        </p:txBody>
      </p:sp>
      <p:sp>
        <p:nvSpPr>
          <p:cNvPr id="10" name="圆角矩形 9"/>
          <p:cNvSpPr/>
          <p:nvPr/>
        </p:nvSpPr>
        <p:spPr>
          <a:xfrm>
            <a:off x="5652120" y="1271260"/>
            <a:ext cx="144016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   Client</a:t>
            </a:r>
            <a:endParaRPr lang="zh-CN" altLang="en-US" b="1" dirty="0"/>
          </a:p>
        </p:txBody>
      </p:sp>
      <p:sp>
        <p:nvSpPr>
          <p:cNvPr id="6" name="圆角矩形 5"/>
          <p:cNvSpPr/>
          <p:nvPr/>
        </p:nvSpPr>
        <p:spPr>
          <a:xfrm>
            <a:off x="1842744" y="1268760"/>
            <a:ext cx="150512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      Client</a:t>
            </a:r>
            <a:endParaRPr lang="zh-CN" altLang="en-US" b="1"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340769"/>
            <a:ext cx="287814" cy="282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340768"/>
            <a:ext cx="167486" cy="27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2476" y="1352870"/>
            <a:ext cx="250843" cy="270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矩形 20"/>
          <p:cNvSpPr/>
          <p:nvPr/>
        </p:nvSpPr>
        <p:spPr>
          <a:xfrm>
            <a:off x="467544" y="2924944"/>
            <a:ext cx="8424936" cy="36004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1"/>
          <p:cNvSpPr txBox="1"/>
          <p:nvPr/>
        </p:nvSpPr>
        <p:spPr>
          <a:xfrm>
            <a:off x="3923928" y="2924944"/>
            <a:ext cx="3168352" cy="369332"/>
          </a:xfrm>
          <a:prstGeom prst="rect">
            <a:avLst/>
          </a:prstGeom>
          <a:noFill/>
        </p:spPr>
        <p:txBody>
          <a:bodyPr wrap="square" rtlCol="0">
            <a:spAutoFit/>
          </a:bodyPr>
          <a:lstStyle/>
          <a:p>
            <a:r>
              <a:rPr lang="en-US" altLang="zh-CN" b="1" dirty="0">
                <a:solidFill>
                  <a:schemeClr val="tx2">
                    <a:lumMod val="50000"/>
                  </a:schemeClr>
                </a:solidFill>
                <a:ea typeface="宋体" panose="02010600030101010101" pitchFamily="2" charset="-122"/>
              </a:rPr>
              <a:t>Switch Fabric</a:t>
            </a:r>
          </a:p>
        </p:txBody>
      </p:sp>
      <p:sp>
        <p:nvSpPr>
          <p:cNvPr id="5" name="云形标注 4"/>
          <p:cNvSpPr/>
          <p:nvPr/>
        </p:nvSpPr>
        <p:spPr>
          <a:xfrm>
            <a:off x="3419872" y="2066536"/>
            <a:ext cx="2292604" cy="734876"/>
          </a:xfrm>
          <a:prstGeom prst="cloudCallout">
            <a:avLst>
              <a:gd name="adj1" fmla="val 17088"/>
              <a:gd name="adj2" fmla="val -1124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3929795" y="2188195"/>
            <a:ext cx="1068385" cy="369332"/>
          </a:xfrm>
          <a:prstGeom prst="rect">
            <a:avLst/>
          </a:prstGeom>
          <a:noFill/>
        </p:spPr>
        <p:txBody>
          <a:bodyPr wrap="square" rtlCol="0">
            <a:spAutoFit/>
          </a:bodyPr>
          <a:lstStyle/>
          <a:p>
            <a:r>
              <a:rPr lang="zh-CN" altLang="en-US" sz="1100" b="1" dirty="0">
                <a:solidFill>
                  <a:schemeClr val="tx2">
                    <a:lumMod val="50000"/>
                  </a:schemeClr>
                </a:solidFill>
                <a:ea typeface="宋体" panose="02010600030101010101" pitchFamily="2" charset="-122"/>
              </a:rPr>
              <a:t> </a:t>
            </a:r>
            <a:r>
              <a:rPr lang="en-US" altLang="zh-CN" b="1" dirty="0">
                <a:solidFill>
                  <a:schemeClr val="tx2">
                    <a:lumMod val="50000"/>
                  </a:schemeClr>
                </a:solidFill>
                <a:ea typeface="宋体" panose="02010600030101010101" pitchFamily="2" charset="-122"/>
              </a:rPr>
              <a:t>Internet</a:t>
            </a:r>
            <a:endParaRPr lang="zh-CN" altLang="en-US" b="1" dirty="0">
              <a:solidFill>
                <a:schemeClr val="tx2">
                  <a:lumMod val="50000"/>
                </a:schemeClr>
              </a:solidFill>
            </a:endParaRPr>
          </a:p>
        </p:txBody>
      </p:sp>
      <p:cxnSp>
        <p:nvCxnSpPr>
          <p:cNvPr id="2064" name="直接连接符 2063"/>
          <p:cNvCxnSpPr>
            <a:stCxn id="6" idx="2"/>
          </p:cNvCxnSpPr>
          <p:nvPr/>
        </p:nvCxnSpPr>
        <p:spPr>
          <a:xfrm>
            <a:off x="2595304" y="1725960"/>
            <a:ext cx="1123452" cy="4622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066" name="直接连接符 2065"/>
          <p:cNvCxnSpPr>
            <a:endCxn id="5" idx="3"/>
          </p:cNvCxnSpPr>
          <p:nvPr/>
        </p:nvCxnSpPr>
        <p:spPr>
          <a:xfrm flipH="1">
            <a:off x="4566174" y="1725960"/>
            <a:ext cx="5826" cy="382593"/>
          </a:xfrm>
          <a:prstGeom prst="line">
            <a:avLst/>
          </a:prstGeom>
        </p:spPr>
        <p:style>
          <a:lnRef idx="2">
            <a:schemeClr val="accent1"/>
          </a:lnRef>
          <a:fillRef idx="0">
            <a:schemeClr val="accent1"/>
          </a:fillRef>
          <a:effectRef idx="1">
            <a:schemeClr val="accent1"/>
          </a:effectRef>
          <a:fontRef idx="minor">
            <a:schemeClr val="tx1"/>
          </a:fontRef>
        </p:style>
      </p:cxnSp>
      <p:cxnSp>
        <p:nvCxnSpPr>
          <p:cNvPr id="2068" name="直接连接符 2067"/>
          <p:cNvCxnSpPr>
            <a:stCxn id="10" idx="2"/>
          </p:cNvCxnSpPr>
          <p:nvPr/>
        </p:nvCxnSpPr>
        <p:spPr>
          <a:xfrm flipH="1">
            <a:off x="5508104" y="1728460"/>
            <a:ext cx="864096" cy="459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070" name="直接连接符 2069"/>
          <p:cNvCxnSpPr/>
          <p:nvPr/>
        </p:nvCxnSpPr>
        <p:spPr>
          <a:xfrm>
            <a:off x="4019406" y="2800629"/>
            <a:ext cx="0" cy="124315"/>
          </a:xfrm>
          <a:prstGeom prst="line">
            <a:avLst/>
          </a:prstGeom>
        </p:spPr>
        <p:style>
          <a:lnRef idx="2">
            <a:schemeClr val="accent1"/>
          </a:lnRef>
          <a:fillRef idx="0">
            <a:schemeClr val="accent1"/>
          </a:fillRef>
          <a:effectRef idx="1">
            <a:schemeClr val="accent1"/>
          </a:effectRef>
          <a:fontRef idx="minor">
            <a:schemeClr val="tx1"/>
          </a:fontRef>
        </p:style>
      </p:cxnSp>
      <p:cxnSp>
        <p:nvCxnSpPr>
          <p:cNvPr id="2072" name="直接连接符 2071"/>
          <p:cNvCxnSpPr>
            <a:stCxn id="5" idx="1"/>
          </p:cNvCxnSpPr>
          <p:nvPr/>
        </p:nvCxnSpPr>
        <p:spPr>
          <a:xfrm>
            <a:off x="4566174" y="2800629"/>
            <a:ext cx="5826" cy="124315"/>
          </a:xfrm>
          <a:prstGeom prst="line">
            <a:avLst/>
          </a:prstGeom>
        </p:spPr>
        <p:style>
          <a:lnRef idx="2">
            <a:schemeClr val="accent1"/>
          </a:lnRef>
          <a:fillRef idx="0">
            <a:schemeClr val="accent1"/>
          </a:fillRef>
          <a:effectRef idx="1">
            <a:schemeClr val="accent1"/>
          </a:effectRef>
          <a:fontRef idx="minor">
            <a:schemeClr val="tx1"/>
          </a:fontRef>
        </p:style>
      </p:cxnSp>
      <p:cxnSp>
        <p:nvCxnSpPr>
          <p:cNvPr id="2074" name="直接连接符 2073"/>
          <p:cNvCxnSpPr/>
          <p:nvPr/>
        </p:nvCxnSpPr>
        <p:spPr>
          <a:xfrm>
            <a:off x="5183674" y="2677881"/>
            <a:ext cx="0" cy="247715"/>
          </a:xfrm>
          <a:prstGeom prst="line">
            <a:avLst/>
          </a:prstGeom>
        </p:spPr>
        <p:style>
          <a:lnRef idx="2">
            <a:schemeClr val="accent1"/>
          </a:lnRef>
          <a:fillRef idx="0">
            <a:schemeClr val="accent1"/>
          </a:fillRef>
          <a:effectRef idx="1">
            <a:schemeClr val="accent1"/>
          </a:effectRef>
          <a:fontRef idx="minor">
            <a:schemeClr val="tx1"/>
          </a:fontRef>
        </p:style>
      </p:cxnSp>
      <p:sp>
        <p:nvSpPr>
          <p:cNvPr id="102" name="矩形 101"/>
          <p:cNvSpPr/>
          <p:nvPr/>
        </p:nvSpPr>
        <p:spPr>
          <a:xfrm>
            <a:off x="467544" y="4355812"/>
            <a:ext cx="8424936" cy="36004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TextBox 102"/>
          <p:cNvSpPr txBox="1"/>
          <p:nvPr/>
        </p:nvSpPr>
        <p:spPr>
          <a:xfrm>
            <a:off x="3923928" y="4355812"/>
            <a:ext cx="3168352" cy="369332"/>
          </a:xfrm>
          <a:prstGeom prst="rect">
            <a:avLst/>
          </a:prstGeom>
          <a:noFill/>
        </p:spPr>
        <p:txBody>
          <a:bodyPr wrap="square" rtlCol="0">
            <a:spAutoFit/>
          </a:bodyPr>
          <a:lstStyle/>
          <a:p>
            <a:r>
              <a:rPr lang="en-US" altLang="zh-CN" b="1" dirty="0">
                <a:solidFill>
                  <a:schemeClr val="tx2">
                    <a:lumMod val="50000"/>
                  </a:schemeClr>
                </a:solidFill>
                <a:ea typeface="宋体" panose="02010600030101010101" pitchFamily="2" charset="-122"/>
              </a:rPr>
              <a:t>Switch Fabric</a:t>
            </a:r>
          </a:p>
        </p:txBody>
      </p:sp>
      <p:cxnSp>
        <p:nvCxnSpPr>
          <p:cNvPr id="111" name="直接连接符 110"/>
          <p:cNvCxnSpPr/>
          <p:nvPr/>
        </p:nvCxnSpPr>
        <p:spPr>
          <a:xfrm>
            <a:off x="1039149" y="3294276"/>
            <a:ext cx="0" cy="10615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直接连接符 112"/>
          <p:cNvCxnSpPr/>
          <p:nvPr/>
        </p:nvCxnSpPr>
        <p:spPr>
          <a:xfrm>
            <a:off x="2339752" y="3284984"/>
            <a:ext cx="0" cy="10615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4" name="直接连接符 113"/>
          <p:cNvCxnSpPr/>
          <p:nvPr/>
        </p:nvCxnSpPr>
        <p:spPr>
          <a:xfrm>
            <a:off x="5724128" y="3284984"/>
            <a:ext cx="0" cy="10615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直接连接符 114"/>
          <p:cNvCxnSpPr/>
          <p:nvPr/>
        </p:nvCxnSpPr>
        <p:spPr>
          <a:xfrm>
            <a:off x="7020272" y="3284984"/>
            <a:ext cx="0" cy="106153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6" name="直接连接符 115"/>
          <p:cNvCxnSpPr/>
          <p:nvPr/>
        </p:nvCxnSpPr>
        <p:spPr>
          <a:xfrm>
            <a:off x="8316416" y="3284984"/>
            <a:ext cx="0" cy="1061536"/>
          </a:xfrm>
          <a:prstGeom prst="line">
            <a:avLst/>
          </a:prstGeom>
        </p:spPr>
        <p:style>
          <a:lnRef idx="2">
            <a:schemeClr val="accent1"/>
          </a:lnRef>
          <a:fillRef idx="0">
            <a:schemeClr val="accent1"/>
          </a:fillRef>
          <a:effectRef idx="1">
            <a:schemeClr val="accent1"/>
          </a:effectRef>
          <a:fontRef idx="minor">
            <a:schemeClr val="tx1"/>
          </a:fontRef>
        </p:style>
      </p:cxnSp>
      <p:sp>
        <p:nvSpPr>
          <p:cNvPr id="27" name="圆角矩形 26"/>
          <p:cNvSpPr/>
          <p:nvPr/>
        </p:nvSpPr>
        <p:spPr>
          <a:xfrm>
            <a:off x="467544" y="3619872"/>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Loginapp</a:t>
            </a:r>
            <a:endParaRPr lang="zh-CN" altLang="en-US" b="1" dirty="0"/>
          </a:p>
        </p:txBody>
      </p:sp>
      <p:sp>
        <p:nvSpPr>
          <p:cNvPr id="28" name="圆角矩形 27"/>
          <p:cNvSpPr/>
          <p:nvPr/>
        </p:nvSpPr>
        <p:spPr>
          <a:xfrm>
            <a:off x="1772605" y="3619872"/>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Loginapp</a:t>
            </a:r>
            <a:endParaRPr lang="zh-CN" altLang="en-US" b="1" dirty="0"/>
          </a:p>
        </p:txBody>
      </p:sp>
      <p:sp>
        <p:nvSpPr>
          <p:cNvPr id="29" name="圆角矩形 28"/>
          <p:cNvSpPr/>
          <p:nvPr/>
        </p:nvSpPr>
        <p:spPr>
          <a:xfrm>
            <a:off x="5148064" y="3619872"/>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Baseapp</a:t>
            </a:r>
            <a:endParaRPr lang="zh-CN" altLang="en-US" b="1" dirty="0"/>
          </a:p>
        </p:txBody>
      </p:sp>
      <p:sp>
        <p:nvSpPr>
          <p:cNvPr id="30" name="圆角矩形 29"/>
          <p:cNvSpPr/>
          <p:nvPr/>
        </p:nvSpPr>
        <p:spPr>
          <a:xfrm>
            <a:off x="6453125" y="3619872"/>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Baseapp</a:t>
            </a:r>
            <a:endParaRPr lang="zh-CN" altLang="en-US" b="1" dirty="0"/>
          </a:p>
        </p:txBody>
      </p:sp>
      <p:sp>
        <p:nvSpPr>
          <p:cNvPr id="31" name="圆角矩形 30"/>
          <p:cNvSpPr/>
          <p:nvPr/>
        </p:nvSpPr>
        <p:spPr>
          <a:xfrm>
            <a:off x="7739949" y="3590085"/>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Baseapp</a:t>
            </a:r>
            <a:endParaRPr lang="zh-CN" altLang="en-US" b="1" dirty="0"/>
          </a:p>
        </p:txBody>
      </p:sp>
      <p:sp>
        <p:nvSpPr>
          <p:cNvPr id="122" name="圆角矩形 121"/>
          <p:cNvSpPr/>
          <p:nvPr/>
        </p:nvSpPr>
        <p:spPr>
          <a:xfrm>
            <a:off x="476864" y="5114971"/>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a:t>
            </a:r>
            <a:endParaRPr lang="zh-CN" altLang="en-US" b="1" dirty="0"/>
          </a:p>
        </p:txBody>
      </p:sp>
      <p:sp>
        <p:nvSpPr>
          <p:cNvPr id="123" name="圆角矩形 122"/>
          <p:cNvSpPr/>
          <p:nvPr/>
        </p:nvSpPr>
        <p:spPr>
          <a:xfrm>
            <a:off x="1781925" y="5114971"/>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a:t>
            </a:r>
            <a:endParaRPr lang="zh-CN" altLang="en-US" b="1" dirty="0"/>
          </a:p>
        </p:txBody>
      </p:sp>
      <p:sp>
        <p:nvSpPr>
          <p:cNvPr id="124" name="圆角矩形 123"/>
          <p:cNvSpPr/>
          <p:nvPr/>
        </p:nvSpPr>
        <p:spPr>
          <a:xfrm>
            <a:off x="3140757" y="5114971"/>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a:t>
            </a:r>
            <a:endParaRPr lang="zh-CN" altLang="en-US" b="1" dirty="0"/>
          </a:p>
        </p:txBody>
      </p:sp>
      <p:sp>
        <p:nvSpPr>
          <p:cNvPr id="125" name="圆角矩形 124"/>
          <p:cNvSpPr/>
          <p:nvPr/>
        </p:nvSpPr>
        <p:spPr>
          <a:xfrm>
            <a:off x="5004048" y="5114971"/>
            <a:ext cx="1512168"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BaseappMgr</a:t>
            </a:r>
            <a:endParaRPr lang="zh-CN" altLang="en-US" b="1" dirty="0"/>
          </a:p>
        </p:txBody>
      </p:sp>
      <p:sp>
        <p:nvSpPr>
          <p:cNvPr id="126" name="圆角矩形 125"/>
          <p:cNvSpPr/>
          <p:nvPr/>
        </p:nvSpPr>
        <p:spPr>
          <a:xfrm>
            <a:off x="5020221" y="5572170"/>
            <a:ext cx="1495995" cy="4491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CellappMgr</a:t>
            </a:r>
            <a:endParaRPr lang="zh-CN" altLang="en-US" b="1" dirty="0"/>
          </a:p>
        </p:txBody>
      </p:sp>
      <p:cxnSp>
        <p:nvCxnSpPr>
          <p:cNvPr id="127" name="直接连接符 126"/>
          <p:cNvCxnSpPr/>
          <p:nvPr/>
        </p:nvCxnSpPr>
        <p:spPr>
          <a:xfrm>
            <a:off x="1048469" y="4715852"/>
            <a:ext cx="0" cy="39911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9" name="直接连接符 128"/>
          <p:cNvCxnSpPr/>
          <p:nvPr/>
        </p:nvCxnSpPr>
        <p:spPr>
          <a:xfrm>
            <a:off x="2339752" y="4686065"/>
            <a:ext cx="0" cy="399119"/>
          </a:xfrm>
          <a:prstGeom prst="line">
            <a:avLst/>
          </a:prstGeom>
        </p:spPr>
        <p:style>
          <a:lnRef idx="2">
            <a:schemeClr val="accent1"/>
          </a:lnRef>
          <a:fillRef idx="0">
            <a:schemeClr val="accent1"/>
          </a:fillRef>
          <a:effectRef idx="1">
            <a:schemeClr val="accent1"/>
          </a:effectRef>
          <a:fontRef idx="minor">
            <a:schemeClr val="tx1"/>
          </a:fontRef>
        </p:style>
      </p:cxnSp>
      <p:cxnSp>
        <p:nvCxnSpPr>
          <p:cNvPr id="130" name="直接连接符 129"/>
          <p:cNvCxnSpPr/>
          <p:nvPr/>
        </p:nvCxnSpPr>
        <p:spPr>
          <a:xfrm>
            <a:off x="3707904" y="4725144"/>
            <a:ext cx="0" cy="399119"/>
          </a:xfrm>
          <a:prstGeom prst="line">
            <a:avLst/>
          </a:prstGeom>
        </p:spPr>
        <p:style>
          <a:lnRef idx="2">
            <a:schemeClr val="accent1"/>
          </a:lnRef>
          <a:fillRef idx="0">
            <a:schemeClr val="accent1"/>
          </a:fillRef>
          <a:effectRef idx="1">
            <a:schemeClr val="accent1"/>
          </a:effectRef>
          <a:fontRef idx="minor">
            <a:schemeClr val="tx1"/>
          </a:fontRef>
        </p:style>
      </p:cxnSp>
      <p:sp>
        <p:nvSpPr>
          <p:cNvPr id="131" name="圆角矩形 130"/>
          <p:cNvSpPr/>
          <p:nvPr/>
        </p:nvSpPr>
        <p:spPr>
          <a:xfrm>
            <a:off x="7749269" y="5114971"/>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DBMgr</a:t>
            </a:r>
            <a:endParaRPr lang="zh-CN" altLang="en-US" b="1" dirty="0"/>
          </a:p>
        </p:txBody>
      </p:sp>
      <p:cxnSp>
        <p:nvCxnSpPr>
          <p:cNvPr id="132" name="直接连接符 131"/>
          <p:cNvCxnSpPr/>
          <p:nvPr/>
        </p:nvCxnSpPr>
        <p:spPr>
          <a:xfrm>
            <a:off x="8316416" y="4725144"/>
            <a:ext cx="0" cy="399119"/>
          </a:xfrm>
          <a:prstGeom prst="line">
            <a:avLst/>
          </a:prstGeom>
        </p:spPr>
        <p:style>
          <a:lnRef idx="2">
            <a:schemeClr val="accent1"/>
          </a:lnRef>
          <a:fillRef idx="0">
            <a:schemeClr val="accent1"/>
          </a:fillRef>
          <a:effectRef idx="1">
            <a:schemeClr val="accent1"/>
          </a:effectRef>
          <a:fontRef idx="minor">
            <a:schemeClr val="tx1"/>
          </a:fontRef>
        </p:style>
      </p:cxnSp>
      <p:sp>
        <p:nvSpPr>
          <p:cNvPr id="2095" name="流程图: 磁盘 2094"/>
          <p:cNvSpPr/>
          <p:nvPr/>
        </p:nvSpPr>
        <p:spPr>
          <a:xfrm>
            <a:off x="7749269" y="6021287"/>
            <a:ext cx="1133891" cy="612648"/>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Database</a:t>
            </a:r>
            <a:endParaRPr lang="zh-CN" altLang="en-US" b="1" dirty="0"/>
          </a:p>
        </p:txBody>
      </p:sp>
      <p:cxnSp>
        <p:nvCxnSpPr>
          <p:cNvPr id="134" name="直接连接符 133"/>
          <p:cNvCxnSpPr>
            <a:stCxn id="131" idx="2"/>
            <a:endCxn id="2095" idx="1"/>
          </p:cNvCxnSpPr>
          <p:nvPr/>
        </p:nvCxnSpPr>
        <p:spPr>
          <a:xfrm flipH="1">
            <a:off x="8316215" y="5572171"/>
            <a:ext cx="4660" cy="449116"/>
          </a:xfrm>
          <a:prstGeom prst="line">
            <a:avLst/>
          </a:prstGeom>
        </p:spPr>
        <p:style>
          <a:lnRef idx="2">
            <a:schemeClr val="accent1"/>
          </a:lnRef>
          <a:fillRef idx="0">
            <a:schemeClr val="accent1"/>
          </a:fillRef>
          <a:effectRef idx="1">
            <a:schemeClr val="accent1"/>
          </a:effectRef>
          <a:fontRef idx="minor">
            <a:schemeClr val="tx1"/>
          </a:fontRef>
        </p:style>
      </p:cxnSp>
      <p:sp>
        <p:nvSpPr>
          <p:cNvPr id="143" name="圆角矩形 142"/>
          <p:cNvSpPr/>
          <p:nvPr/>
        </p:nvSpPr>
        <p:spPr>
          <a:xfrm>
            <a:off x="1133853" y="5949280"/>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a:t>
            </a:r>
            <a:endParaRPr lang="zh-CN" altLang="en-US" b="1" dirty="0"/>
          </a:p>
        </p:txBody>
      </p:sp>
      <p:sp>
        <p:nvSpPr>
          <p:cNvPr id="144" name="圆角矩形 143"/>
          <p:cNvSpPr/>
          <p:nvPr/>
        </p:nvSpPr>
        <p:spPr>
          <a:xfrm>
            <a:off x="2492685" y="5949280"/>
            <a:ext cx="1143211"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t>Cellapp</a:t>
            </a:r>
            <a:endParaRPr lang="zh-CN" altLang="en-US" b="1" dirty="0"/>
          </a:p>
        </p:txBody>
      </p:sp>
      <p:cxnSp>
        <p:nvCxnSpPr>
          <p:cNvPr id="2105" name="直接连接符 2104"/>
          <p:cNvCxnSpPr>
            <a:endCxn id="143" idx="0"/>
          </p:cNvCxnSpPr>
          <p:nvPr/>
        </p:nvCxnSpPr>
        <p:spPr>
          <a:xfrm>
            <a:off x="1705458" y="4686065"/>
            <a:ext cx="1" cy="12632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7" name="直接连接符 146"/>
          <p:cNvCxnSpPr/>
          <p:nvPr/>
        </p:nvCxnSpPr>
        <p:spPr>
          <a:xfrm>
            <a:off x="3059831" y="4725144"/>
            <a:ext cx="1" cy="126321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直接连接符 48"/>
          <p:cNvCxnSpPr/>
          <p:nvPr/>
        </p:nvCxnSpPr>
        <p:spPr>
          <a:xfrm>
            <a:off x="5724128" y="4686065"/>
            <a:ext cx="0" cy="399119"/>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283968" y="6406480"/>
            <a:ext cx="3609317" cy="553998"/>
          </a:xfrm>
          <a:prstGeom prst="rect">
            <a:avLst/>
          </a:prstGeom>
          <a:noFill/>
        </p:spPr>
        <p:txBody>
          <a:bodyPr wrap="square" rtlCol="0">
            <a:spAutoFit/>
          </a:bodyPr>
          <a:lstStyle/>
          <a:p>
            <a:r>
              <a:rPr lang="zh-CN" altLang="en-US" sz="1200" b="1" dirty="0">
                <a:latin typeface="新宋体" panose="02010609030101010101" pitchFamily="49" charset="-122"/>
                <a:ea typeface="新宋体" panose="02010609030101010101" pitchFamily="49" charset="-122"/>
              </a:rPr>
              <a:t>同时每台硬件机器需要运行守护进程</a:t>
            </a:r>
            <a:r>
              <a:rPr lang="en-US" altLang="zh-CN" sz="1200" b="1" dirty="0">
                <a:latin typeface="新宋体" panose="02010609030101010101" pitchFamily="49" charset="-122"/>
                <a:ea typeface="新宋体" panose="02010609030101010101" pitchFamily="49" charset="-122"/>
              </a:rPr>
              <a:t>machine</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Loginapp</a:t>
            </a:r>
            <a:r>
              <a:rPr lang="zh-CN" altLang="en-US" dirty="0">
                <a:solidFill>
                  <a:schemeClr val="accent1"/>
                </a:solidFill>
                <a:ea typeface="宋体" panose="02010600030101010101" pitchFamily="2" charset="-122"/>
              </a:rPr>
              <a:t>进程</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80975" marR="0" lvl="0" indent="-180975" algn="l" defTabSz="914400" rtl="0" eaLnBrk="1" fontAlgn="base" latinLnBrk="0" hangingPunct="1">
              <a:lnSpc>
                <a:spcPct val="100000"/>
              </a:lnSpc>
              <a:spcBef>
                <a:spcPct val="20000"/>
              </a:spcBef>
              <a:spcAft>
                <a:spcPct val="0"/>
              </a:spcAft>
              <a:buClr>
                <a:srgbClr val="FF9933"/>
              </a:buClr>
              <a:buSzPct val="80000"/>
              <a:buFont typeface="Wingdings" panose="05000000000000000000" pitchFamily="2" charset="2"/>
              <a:buChar char="§"/>
              <a:defRPr/>
            </a:pP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与客户端的第一个连接点</a:t>
            </a:r>
            <a:endParaRPr kumimoji="0" lang="en-AU" sz="3200" b="0" i="0" u="none" strike="noStrike" kern="0" cap="none" spc="0" normalizeH="0" baseline="0" noProof="0" dirty="0">
              <a:ln>
                <a:noFill/>
              </a:ln>
              <a:solidFill>
                <a:schemeClr val="tx2"/>
              </a:solidFill>
              <a:effectLst/>
              <a:uLnTx/>
              <a:uFillTx/>
              <a:latin typeface="Verdana" panose="020B0604030504040204"/>
              <a:cs typeface="+mn-cs"/>
            </a:endParaRPr>
          </a:p>
          <a:p>
            <a:pPr marL="180975" marR="0" lvl="0" indent="-180975" algn="l" defTabSz="914400" rtl="0" eaLnBrk="1" fontAlgn="base" latinLnBrk="0" hangingPunct="1">
              <a:lnSpc>
                <a:spcPct val="100000"/>
              </a:lnSpc>
              <a:spcBef>
                <a:spcPct val="20000"/>
              </a:spcBef>
              <a:spcAft>
                <a:spcPct val="0"/>
              </a:spcAft>
              <a:buClr>
                <a:srgbClr val="FF9933"/>
              </a:buClr>
              <a:buSzPct val="80000"/>
              <a:buFont typeface="Wingdings" panose="05000000000000000000" pitchFamily="2" charset="2"/>
              <a:buChar char="§"/>
              <a:defRPr/>
            </a:pP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固定的端口</a:t>
            </a:r>
            <a:r>
              <a:rPr kumimoji="0" lang="en-US" altLang="zh-CN" sz="3200" b="0" i="0" u="none" strike="noStrike" kern="0" cap="none" spc="0" normalizeH="0" baseline="0" noProof="0" dirty="0">
                <a:ln>
                  <a:noFill/>
                </a:ln>
                <a:solidFill>
                  <a:srgbClr val="FF0000"/>
                </a:solidFill>
                <a:effectLst/>
                <a:uLnTx/>
                <a:uFillTx/>
                <a:latin typeface="Verdana" panose="020B0604030504040204"/>
                <a:ea typeface="宋体" panose="02010600030101010101" pitchFamily="2" charset="-122"/>
                <a:cs typeface="+mn-cs"/>
              </a:rPr>
              <a:t>(</a:t>
            </a:r>
            <a:r>
              <a:rPr kumimoji="0" lang="zh-CN" altLang="en-US" sz="3200" b="0" i="0" u="none" strike="noStrike" kern="0" cap="none" spc="0" normalizeH="0" baseline="0" noProof="0" dirty="0">
                <a:ln>
                  <a:noFill/>
                </a:ln>
                <a:solidFill>
                  <a:srgbClr val="FF0000"/>
                </a:solidFill>
                <a:effectLst/>
                <a:uLnTx/>
                <a:uFillTx/>
                <a:latin typeface="Verdana" panose="020B0604030504040204"/>
                <a:ea typeface="宋体" panose="02010600030101010101" pitchFamily="2" charset="-122"/>
                <a:cs typeface="+mn-cs"/>
              </a:rPr>
              <a:t>当前是</a:t>
            </a:r>
            <a:r>
              <a:rPr kumimoji="0" lang="en-US" altLang="zh-CN" sz="3200" b="0" i="0" u="none" strike="noStrike" kern="0" cap="none" spc="0" normalizeH="0" baseline="0" noProof="0" dirty="0">
                <a:ln>
                  <a:noFill/>
                </a:ln>
                <a:solidFill>
                  <a:srgbClr val="FF0000"/>
                </a:solidFill>
                <a:effectLst/>
                <a:uLnTx/>
                <a:uFillTx/>
                <a:latin typeface="Verdana" panose="020B0604030504040204"/>
                <a:ea typeface="宋体" panose="02010600030101010101" pitchFamily="2" charset="-122"/>
                <a:cs typeface="+mn-cs"/>
              </a:rPr>
              <a:t>20013)</a:t>
            </a:r>
            <a:endParaRPr kumimoji="0" lang="en-AU" sz="3200" b="0" i="0" u="none" strike="noStrike" kern="0" cap="none" spc="0" normalizeH="0" baseline="0" noProof="0" dirty="0">
              <a:ln>
                <a:noFill/>
              </a:ln>
              <a:solidFill>
                <a:srgbClr val="FF0000"/>
              </a:solidFill>
              <a:effectLst/>
              <a:uLnTx/>
              <a:uFillTx/>
              <a:latin typeface="Verdana" panose="020B0604030504040204"/>
              <a:cs typeface="+mn-cs"/>
            </a:endParaRPr>
          </a:p>
          <a:p>
            <a:pPr marL="180975" marR="0" lvl="0" indent="-180975" algn="l" defTabSz="914400" rtl="0" eaLnBrk="1" fontAlgn="base" latinLnBrk="0" hangingPunct="1">
              <a:lnSpc>
                <a:spcPct val="100000"/>
              </a:lnSpc>
              <a:spcBef>
                <a:spcPct val="20000"/>
              </a:spcBef>
              <a:spcAft>
                <a:spcPct val="0"/>
              </a:spcAft>
              <a:buClr>
                <a:srgbClr val="FF9933"/>
              </a:buClr>
              <a:buSzPct val="80000"/>
              <a:buFont typeface="Wingdings" panose="05000000000000000000" pitchFamily="2" charset="2"/>
              <a:buChar char="§"/>
              <a:defRPr/>
            </a:pP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初始通信时加密</a:t>
            </a:r>
          </a:p>
          <a:p>
            <a:pPr marL="182245" marR="0" lvl="1" indent="0" algn="l" defTabSz="914400" rtl="0" eaLnBrk="1" fontAlgn="base" latinLnBrk="0" hangingPunct="1">
              <a:lnSpc>
                <a:spcPct val="100000"/>
              </a:lnSpc>
              <a:spcBef>
                <a:spcPct val="20000"/>
              </a:spcBef>
              <a:spcAft>
                <a:spcPct val="0"/>
              </a:spcAft>
              <a:buClr>
                <a:srgbClr val="FF9933"/>
              </a:buClr>
              <a:buSzPct val="90000"/>
              <a:buNone/>
              <a:defRPr/>
            </a:pPr>
            <a:r>
              <a:rPr lang="zh-CN" altLang="en-US" sz="2000" kern="0" dirty="0">
                <a:solidFill>
                  <a:schemeClr val="tx2"/>
                </a:solidFill>
                <a:latin typeface="Verdana" panose="020B0604030504040204"/>
                <a:ea typeface="宋体" panose="02010600030101010101" pitchFamily="2" charset="-122"/>
              </a:rPr>
              <a:t>     </a:t>
            </a:r>
            <a:r>
              <a:rPr kumimoji="0" lang="zh-CN" altLang="en-AU" sz="20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公用密钥对</a:t>
            </a:r>
            <a:r>
              <a:rPr kumimoji="0" lang="en-AU" sz="2000" b="0" i="0" u="none" strike="noStrike" kern="0" cap="none" spc="0" normalizeH="0" baseline="0" noProof="0" dirty="0">
                <a:ln>
                  <a:noFill/>
                </a:ln>
                <a:solidFill>
                  <a:schemeClr val="tx2"/>
                </a:solidFill>
                <a:effectLst/>
                <a:uLnTx/>
                <a:uFillTx/>
                <a:latin typeface="Verdana" panose="020B0604030504040204"/>
              </a:rPr>
              <a:t>(</a:t>
            </a:r>
            <a:r>
              <a:rPr kumimoji="0" lang="zh-CN" altLang="en-AU" sz="20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任意长度的密钥</a:t>
            </a:r>
            <a:r>
              <a:rPr kumimoji="0" lang="en-AU" sz="2000" b="0" i="0" u="none" strike="noStrike" kern="0" cap="none" spc="0" normalizeH="0" baseline="0" noProof="0" dirty="0">
                <a:ln>
                  <a:noFill/>
                </a:ln>
                <a:solidFill>
                  <a:schemeClr val="tx2"/>
                </a:solidFill>
                <a:effectLst/>
                <a:uLnTx/>
                <a:uFillTx/>
                <a:latin typeface="Verdana" panose="020B0604030504040204"/>
              </a:rPr>
              <a:t>)</a:t>
            </a:r>
          </a:p>
          <a:p>
            <a:pPr marL="182245" marR="0" lvl="1" indent="0" algn="l" defTabSz="914400" rtl="0" eaLnBrk="1" fontAlgn="base" latinLnBrk="0" hangingPunct="1">
              <a:lnSpc>
                <a:spcPct val="100000"/>
              </a:lnSpc>
              <a:spcBef>
                <a:spcPct val="20000"/>
              </a:spcBef>
              <a:spcAft>
                <a:spcPct val="0"/>
              </a:spcAft>
              <a:buClr>
                <a:srgbClr val="FF9933"/>
              </a:buClr>
              <a:buSzPct val="90000"/>
              <a:buNone/>
              <a:defRPr/>
            </a:pPr>
            <a:r>
              <a:rPr lang="zh-CN" altLang="en-US" sz="2000" kern="0" dirty="0">
                <a:solidFill>
                  <a:schemeClr val="tx2"/>
                </a:solidFill>
                <a:latin typeface="Verdana" panose="020B0604030504040204"/>
                <a:ea typeface="宋体" panose="02010600030101010101" pitchFamily="2" charset="-122"/>
              </a:rPr>
              <a:t>     </a:t>
            </a:r>
            <a:r>
              <a:rPr kumimoji="0" lang="zh-CN" altLang="en-AU" sz="20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用户名</a:t>
            </a:r>
            <a:r>
              <a:rPr kumimoji="0" lang="en-AU" sz="2000" b="0" i="0" u="none" strike="noStrike" kern="0" cap="none" spc="0" normalizeH="0" baseline="0" noProof="0" dirty="0">
                <a:ln>
                  <a:noFill/>
                </a:ln>
                <a:solidFill>
                  <a:schemeClr val="tx2"/>
                </a:solidFill>
                <a:effectLst/>
                <a:uLnTx/>
                <a:uFillTx/>
                <a:latin typeface="Verdana" panose="020B0604030504040204"/>
              </a:rPr>
              <a:t> / </a:t>
            </a:r>
            <a:r>
              <a:rPr kumimoji="0" lang="zh-CN" altLang="en-AU" sz="20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密码</a:t>
            </a:r>
            <a:endParaRPr kumimoji="0" lang="en-AU" sz="2000" b="0" i="0" u="none" strike="noStrike" kern="0" cap="none" spc="0" normalizeH="0" baseline="0" noProof="0" dirty="0">
              <a:ln>
                <a:noFill/>
              </a:ln>
              <a:solidFill>
                <a:schemeClr val="tx2"/>
              </a:solidFill>
              <a:effectLst/>
              <a:uLnTx/>
              <a:uFillTx/>
              <a:latin typeface="Verdana" panose="020B0604030504040204"/>
            </a:endParaRPr>
          </a:p>
          <a:p>
            <a:pPr marL="180975" marR="0" lvl="0" indent="-180975" algn="l" defTabSz="914400" rtl="0" eaLnBrk="1" fontAlgn="base" latinLnBrk="0" hangingPunct="1">
              <a:lnSpc>
                <a:spcPct val="100000"/>
              </a:lnSpc>
              <a:spcBef>
                <a:spcPct val="20000"/>
              </a:spcBef>
              <a:spcAft>
                <a:spcPct val="0"/>
              </a:spcAft>
              <a:buClr>
                <a:srgbClr val="FF9933"/>
              </a:buClr>
              <a:buSzPct val="80000"/>
              <a:buFont typeface="Wingdings" panose="05000000000000000000" pitchFamily="2" charset="2"/>
              <a:buChar char="§"/>
              <a:defRPr/>
            </a:pP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cs typeface="+mn-cs"/>
              </a:rPr>
              <a:t>使用多个</a:t>
            </a:r>
            <a:r>
              <a:rPr kumimoji="0" lang="en-AU" altLang="zh-CN" sz="3200" b="0" i="0" u="none" strike="noStrike" kern="0" cap="none" spc="0" normalizeH="0" baseline="0" noProof="0" dirty="0" err="1">
                <a:ln>
                  <a:noFill/>
                </a:ln>
                <a:solidFill>
                  <a:schemeClr val="tx2"/>
                </a:solidFill>
                <a:effectLst/>
                <a:uLnTx/>
                <a:uFillTx/>
                <a:latin typeface="Verdana" panose="020B0604030504040204"/>
                <a:ea typeface="宋体" panose="02010600030101010101" pitchFamily="2" charset="-122"/>
                <a:cs typeface="+mn-cs"/>
              </a:rPr>
              <a:t>Loginapps</a:t>
            </a:r>
            <a:r>
              <a:rPr kumimoji="0" lang="zh-CN" altLang="en-AU" sz="32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使得负载均衡</a:t>
            </a:r>
            <a:endParaRPr lang="en-AU" altLang="zh-CN" kern="0" dirty="0">
              <a:solidFill>
                <a:schemeClr val="tx2"/>
              </a:solidFill>
              <a:latin typeface="Verdana" panose="020B0604030504040204"/>
            </a:endParaRPr>
          </a:p>
          <a:p>
            <a:pPr marL="0" marR="0" lvl="0" indent="0" algn="l" defTabSz="914400" rtl="0" eaLnBrk="1" fontAlgn="base" latinLnBrk="0" hangingPunct="1">
              <a:lnSpc>
                <a:spcPct val="100000"/>
              </a:lnSpc>
              <a:spcBef>
                <a:spcPct val="20000"/>
              </a:spcBef>
              <a:spcAft>
                <a:spcPct val="0"/>
              </a:spcAft>
              <a:buClr>
                <a:srgbClr val="FF9933"/>
              </a:buClr>
              <a:buSzPct val="80000"/>
              <a:buNone/>
              <a:defRPr/>
            </a:pPr>
            <a:r>
              <a:rPr kumimoji="0" lang="en-AU" sz="2000" b="0" i="0" u="none" strike="noStrike" kern="0" cap="none" spc="0" normalizeH="0" noProof="0" dirty="0">
                <a:ln>
                  <a:noFill/>
                </a:ln>
                <a:solidFill>
                  <a:schemeClr val="tx2"/>
                </a:solidFill>
                <a:effectLst/>
                <a:uLnTx/>
                <a:uFillTx/>
                <a:latin typeface="Verdana" panose="020B0604030504040204"/>
              </a:rPr>
              <a:t>       </a:t>
            </a:r>
            <a:r>
              <a:rPr kumimoji="0" lang="en-AU" sz="2000" b="0" i="0" u="none" strike="noStrike" kern="0" cap="none" spc="0" normalizeH="0" baseline="0" noProof="0" dirty="0">
                <a:ln>
                  <a:noFill/>
                </a:ln>
                <a:solidFill>
                  <a:schemeClr val="tx2"/>
                </a:solidFill>
                <a:effectLst/>
                <a:uLnTx/>
                <a:uFillTx/>
                <a:latin typeface="Verdana" panose="020B0604030504040204"/>
              </a:rPr>
              <a:t>DNS</a:t>
            </a:r>
            <a:r>
              <a:rPr kumimoji="0" lang="zh-CN" altLang="en-AU" sz="2000" b="0" i="0" u="none" strike="noStrike" kern="0" cap="none" spc="0" normalizeH="0" baseline="0" noProof="0" dirty="0">
                <a:ln>
                  <a:noFill/>
                </a:ln>
                <a:solidFill>
                  <a:schemeClr val="tx2"/>
                </a:solidFill>
                <a:effectLst/>
                <a:uLnTx/>
                <a:uFillTx/>
                <a:latin typeface="Verdana" panose="020B0604030504040204"/>
                <a:ea typeface="宋体" panose="02010600030101010101" pitchFamily="2" charset="-122"/>
              </a:rPr>
              <a:t>轮流调度</a:t>
            </a:r>
            <a:r>
              <a:rPr lang="en-US" altLang="zh-CN" sz="2000" kern="0" dirty="0">
                <a:solidFill>
                  <a:srgbClr val="FF0000"/>
                </a:solidFill>
                <a:latin typeface="Verdana" panose="020B0604030504040204"/>
                <a:ea typeface="宋体" panose="02010600030101010101" pitchFamily="2" charset="-122"/>
              </a:rPr>
              <a:t>(</a:t>
            </a:r>
            <a:r>
              <a:rPr lang="zh-CN" altLang="en-US" sz="2000" kern="0" dirty="0">
                <a:solidFill>
                  <a:srgbClr val="FF0000"/>
                </a:solidFill>
                <a:latin typeface="Verdana" panose="020B0604030504040204"/>
                <a:ea typeface="宋体" panose="02010600030101010101" pitchFamily="2" charset="-122"/>
              </a:rPr>
              <a:t>通过对同一域名配置不同的</a:t>
            </a:r>
            <a:r>
              <a:rPr lang="en-US" altLang="zh-CN" sz="2000" kern="0" dirty="0" err="1">
                <a:solidFill>
                  <a:srgbClr val="FF0000"/>
                </a:solidFill>
                <a:latin typeface="Verdana" panose="020B0604030504040204"/>
                <a:ea typeface="宋体" panose="02010600030101010101" pitchFamily="2" charset="-122"/>
              </a:rPr>
              <a:t>ip</a:t>
            </a:r>
            <a:r>
              <a:rPr lang="zh-CN" altLang="en-US" sz="2000" kern="0" dirty="0">
                <a:solidFill>
                  <a:srgbClr val="FF0000"/>
                </a:solidFill>
                <a:latin typeface="Verdana" panose="020B0604030504040204"/>
                <a:ea typeface="宋体" panose="02010600030101010101" pitchFamily="2" charset="-122"/>
              </a:rPr>
              <a:t>实现</a:t>
            </a:r>
            <a:r>
              <a:rPr lang="en-US" altLang="zh-CN" sz="2000" kern="0" dirty="0">
                <a:solidFill>
                  <a:srgbClr val="FF0000"/>
                </a:solidFill>
                <a:latin typeface="Verdana" panose="020B0604030504040204"/>
                <a:ea typeface="宋体" panose="02010600030101010101" pitchFamily="2" charset="-122"/>
              </a:rPr>
              <a:t>)</a:t>
            </a:r>
            <a:endParaRPr kumimoji="0" lang="en-AU" sz="2000" b="0" i="0" u="none" strike="noStrike" kern="0" cap="none" spc="0" normalizeH="0" baseline="0" noProof="0" dirty="0">
              <a:ln>
                <a:noFill/>
              </a:ln>
              <a:solidFill>
                <a:srgbClr val="FF0000"/>
              </a:solidFill>
              <a:effectLst/>
              <a:uLnTx/>
              <a:uFillTx/>
              <a:latin typeface="Verdana" panose="020B060403050404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zh-CN" altLang="en-US" dirty="0">
                <a:solidFill>
                  <a:schemeClr val="accent1"/>
                </a:solidFill>
                <a:ea typeface="宋体" panose="02010600030101010101" pitchFamily="2" charset="-122"/>
              </a:rPr>
              <a:t>进程</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5256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zh-CN" altLang="en-AU" sz="2400" dirty="0">
                <a:solidFill>
                  <a:schemeClr val="tx2"/>
                </a:solidFill>
                <a:ea typeface="宋体" panose="02010600030101010101" pitchFamily="2" charset="-122"/>
              </a:rPr>
              <a:t>与客户端通信的固定点</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当前端口</a:t>
            </a:r>
            <a:r>
              <a:rPr lang="en-US" altLang="zh-CN" sz="2400" dirty="0">
                <a:solidFill>
                  <a:srgbClr val="FF0000"/>
                </a:solidFill>
                <a:ea typeface="宋体" panose="02010600030101010101" pitchFamily="2" charset="-122"/>
              </a:rPr>
              <a:t>20015|30015)</a:t>
            </a:r>
            <a:endParaRPr lang="en-AU" altLang="zh-CN" sz="2400" dirty="0">
              <a:solidFill>
                <a:srgbClr val="FF0000"/>
              </a:solidFill>
            </a:endParaRPr>
          </a:p>
          <a:p>
            <a:pPr>
              <a:lnSpc>
                <a:spcPct val="90000"/>
              </a:lnSpc>
            </a:pPr>
            <a:r>
              <a:rPr lang="zh-CN" altLang="en-AU" sz="2400" dirty="0">
                <a:solidFill>
                  <a:schemeClr val="tx2"/>
                </a:solidFill>
                <a:ea typeface="宋体" panose="02010600030101010101" pitchFamily="2" charset="-122"/>
              </a:rPr>
              <a:t>客户端与</a:t>
            </a:r>
            <a:r>
              <a:rPr lang="en-AU" altLang="zh-CN" sz="2400" dirty="0" err="1">
                <a:solidFill>
                  <a:schemeClr val="tx2"/>
                </a:solidFill>
                <a:ea typeface="宋体" panose="02010600030101010101" pitchFamily="2" charset="-122"/>
              </a:rPr>
              <a:t>Cellapp</a:t>
            </a:r>
            <a:r>
              <a:rPr lang="zh-CN" altLang="en-AU" sz="2400" dirty="0">
                <a:solidFill>
                  <a:schemeClr val="tx2"/>
                </a:solidFill>
                <a:ea typeface="宋体" panose="02010600030101010101" pitchFamily="2" charset="-122"/>
              </a:rPr>
              <a:t>通信的中介</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类似网关</a:t>
            </a:r>
            <a:r>
              <a:rPr lang="en-US" altLang="zh-CN" sz="2400" dirty="0">
                <a:solidFill>
                  <a:srgbClr val="FF0000"/>
                </a:solidFill>
                <a:ea typeface="宋体" panose="02010600030101010101" pitchFamily="2" charset="-122"/>
              </a:rPr>
              <a:t>)</a:t>
            </a:r>
            <a:endParaRPr lang="en-AU" altLang="zh-CN" sz="2400" dirty="0">
              <a:solidFill>
                <a:srgbClr val="FF0000"/>
              </a:solidFill>
            </a:endParaRPr>
          </a:p>
          <a:p>
            <a:pPr>
              <a:lnSpc>
                <a:spcPct val="90000"/>
              </a:lnSpc>
            </a:pPr>
            <a:r>
              <a:rPr lang="zh-CN" altLang="en-AU" sz="2400" dirty="0">
                <a:solidFill>
                  <a:schemeClr val="tx2"/>
                </a:solidFill>
                <a:ea typeface="宋体" panose="02010600030101010101" pitchFamily="2" charset="-122"/>
              </a:rPr>
              <a:t>与客户端的连接均衡地分担在各</a:t>
            </a:r>
            <a:r>
              <a:rPr lang="en-AU" altLang="zh-CN" sz="2400" dirty="0" err="1">
                <a:solidFill>
                  <a:schemeClr val="tx2"/>
                </a:solidFill>
                <a:ea typeface="宋体" panose="02010600030101010101" pitchFamily="2" charset="-122"/>
              </a:rPr>
              <a:t>Baseapp</a:t>
            </a:r>
            <a:r>
              <a:rPr lang="zh-CN" altLang="en-AU" sz="2400" dirty="0">
                <a:solidFill>
                  <a:schemeClr val="tx2"/>
                </a:solidFill>
                <a:ea typeface="宋体" panose="02010600030101010101" pitchFamily="2" charset="-122"/>
              </a:rPr>
              <a:t>间</a:t>
            </a:r>
            <a:r>
              <a:rPr lang="en-US" altLang="zh-CN" sz="2400" dirty="0">
                <a:solidFill>
                  <a:srgbClr val="FF0000"/>
                </a:solidFill>
                <a:ea typeface="宋体" panose="02010600030101010101" pitchFamily="2" charset="-122"/>
              </a:rPr>
              <a:t>(</a:t>
            </a:r>
            <a:r>
              <a:rPr lang="en-US" altLang="zh-CN" sz="2400" dirty="0" err="1">
                <a:solidFill>
                  <a:srgbClr val="FF0000"/>
                </a:solidFill>
                <a:ea typeface="宋体" panose="02010600030101010101" pitchFamily="2" charset="-122"/>
              </a:rPr>
              <a:t>BaseappMgr</a:t>
            </a:r>
            <a:r>
              <a:rPr lang="zh-CN" altLang="en-US" sz="2400" dirty="0">
                <a:solidFill>
                  <a:srgbClr val="FF0000"/>
                </a:solidFill>
                <a:ea typeface="宋体" panose="02010600030101010101" pitchFamily="2" charset="-122"/>
              </a:rPr>
              <a:t>负责负载分配</a:t>
            </a:r>
            <a:r>
              <a:rPr lang="en-US" altLang="zh-CN" sz="2400" dirty="0">
                <a:solidFill>
                  <a:srgbClr val="FF0000"/>
                </a:solidFill>
                <a:ea typeface="宋体" panose="02010600030101010101" pitchFamily="2" charset="-122"/>
              </a:rPr>
              <a:t>)</a:t>
            </a:r>
            <a:endParaRPr lang="en-AU" altLang="zh-CN" sz="2400" dirty="0">
              <a:solidFill>
                <a:srgbClr val="FF0000"/>
              </a:solidFill>
            </a:endParaRPr>
          </a:p>
          <a:p>
            <a:pPr>
              <a:lnSpc>
                <a:spcPct val="90000"/>
              </a:lnSpc>
            </a:pPr>
            <a:r>
              <a:rPr lang="zh-CN" altLang="en-AU" sz="2400" dirty="0">
                <a:solidFill>
                  <a:schemeClr val="tx2"/>
                </a:solidFill>
                <a:ea typeface="宋体" panose="02010600030101010101" pitchFamily="2" charset="-122"/>
              </a:rPr>
              <a:t>用于处理没有空间</a:t>
            </a:r>
            <a:r>
              <a:rPr lang="zh-CN" altLang="en-US" sz="2400" dirty="0">
                <a:solidFill>
                  <a:schemeClr val="tx2"/>
                </a:solidFill>
                <a:ea typeface="宋体" panose="02010600030101010101" pitchFamily="2" charset="-122"/>
              </a:rPr>
              <a:t>位置</a:t>
            </a:r>
            <a:r>
              <a:rPr lang="zh-CN" altLang="en-AU" sz="2400" dirty="0">
                <a:solidFill>
                  <a:schemeClr val="tx2"/>
                </a:solidFill>
                <a:ea typeface="宋体" panose="02010600030101010101" pitchFamily="2" charset="-122"/>
              </a:rPr>
              <a:t>属性的</a:t>
            </a:r>
            <a:r>
              <a:rPr lang="en-AU" altLang="zh-CN" sz="2400" dirty="0">
                <a:solidFill>
                  <a:schemeClr val="tx2"/>
                </a:solidFill>
                <a:ea typeface="宋体" panose="02010600030101010101" pitchFamily="2" charset="-122"/>
              </a:rPr>
              <a:t>Entity</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存放玩家游戏数据</a:t>
            </a:r>
            <a:r>
              <a:rPr lang="en-US" altLang="zh-CN" sz="2400" dirty="0">
                <a:solidFill>
                  <a:srgbClr val="FF0000"/>
                </a:solidFill>
                <a:ea typeface="宋体" panose="02010600030101010101" pitchFamily="2" charset="-122"/>
              </a:rPr>
              <a:t>)</a:t>
            </a:r>
            <a:endParaRPr lang="en-AU" altLang="zh-CN" sz="2400" dirty="0">
              <a:solidFill>
                <a:srgbClr val="FF0000"/>
              </a:solidFill>
              <a:ea typeface="宋体" panose="02010600030101010101" pitchFamily="2" charset="-122"/>
            </a:endParaRPr>
          </a:p>
          <a:p>
            <a:pPr marL="182245" lvl="1" indent="0">
              <a:lnSpc>
                <a:spcPct val="90000"/>
              </a:lnSpc>
              <a:buNone/>
            </a:pPr>
            <a:r>
              <a:rPr lang="zh-CN" altLang="en-AU" sz="2400" dirty="0">
                <a:solidFill>
                  <a:schemeClr val="tx2"/>
                </a:solidFill>
                <a:ea typeface="宋体" panose="02010600030101010101" pitchFamily="2" charset="-122"/>
              </a:rPr>
              <a:t>     拍卖行</a:t>
            </a:r>
            <a:endParaRPr lang="en-AU" altLang="zh-CN" sz="2400" dirty="0">
              <a:solidFill>
                <a:schemeClr val="tx2"/>
              </a:solidFill>
            </a:endParaRPr>
          </a:p>
          <a:p>
            <a:pPr marL="182245" lvl="1" indent="0">
              <a:lnSpc>
                <a:spcPct val="90000"/>
              </a:lnSpc>
              <a:buNone/>
            </a:pPr>
            <a:r>
              <a:rPr lang="zh-CN" altLang="en-AU" sz="2400" dirty="0">
                <a:solidFill>
                  <a:schemeClr val="tx2"/>
                </a:solidFill>
                <a:ea typeface="宋体" panose="02010600030101010101" pitchFamily="2" charset="-122"/>
              </a:rPr>
              <a:t>     公会管理</a:t>
            </a:r>
            <a:endParaRPr lang="en-AU" altLang="zh-CN" sz="2400" dirty="0">
              <a:solidFill>
                <a:schemeClr val="tx2"/>
              </a:solidFill>
            </a:endParaRPr>
          </a:p>
          <a:p>
            <a:pPr marL="182245" lvl="1" indent="0">
              <a:lnSpc>
                <a:spcPct val="90000"/>
              </a:lnSpc>
              <a:buNone/>
            </a:pPr>
            <a:r>
              <a:rPr lang="zh-CN" altLang="en-AU" sz="2400" dirty="0">
                <a:solidFill>
                  <a:schemeClr val="tx2"/>
                </a:solidFill>
                <a:ea typeface="宋体" panose="02010600030101010101" pitchFamily="2" charset="-122"/>
              </a:rPr>
              <a:t>     管理器</a:t>
            </a:r>
            <a:endParaRPr lang="en-AU" altLang="zh-CN" sz="2400" dirty="0">
              <a:solidFill>
                <a:schemeClr val="tx2"/>
              </a:solidFill>
              <a:ea typeface="宋体" panose="02010600030101010101" pitchFamily="2" charset="-122"/>
            </a:endParaRPr>
          </a:p>
          <a:p>
            <a:pPr>
              <a:lnSpc>
                <a:spcPct val="90000"/>
              </a:lnSpc>
            </a:pPr>
            <a:r>
              <a:rPr lang="zh-CN" altLang="en-US" sz="2400" dirty="0">
                <a:solidFill>
                  <a:schemeClr val="tx2"/>
                </a:solidFill>
                <a:ea typeface="宋体" panose="02010600030101010101" pitchFamily="2" charset="-122"/>
              </a:rPr>
              <a:t>每个</a:t>
            </a:r>
            <a:r>
              <a:rPr lang="en-US" altLang="zh-CN" sz="2400" dirty="0" err="1">
                <a:solidFill>
                  <a:schemeClr val="tx2"/>
                </a:solidFill>
                <a:ea typeface="宋体" panose="02010600030101010101" pitchFamily="2" charset="-122"/>
              </a:rPr>
              <a:t>Baseapp</a:t>
            </a:r>
            <a:r>
              <a:rPr lang="zh-CN" altLang="en-US" sz="2400" dirty="0">
                <a:solidFill>
                  <a:schemeClr val="tx2"/>
                </a:solidFill>
                <a:ea typeface="宋体" panose="02010600030101010101" pitchFamily="2" charset="-122"/>
              </a:rPr>
              <a:t>同时担任着</a:t>
            </a:r>
            <a:r>
              <a:rPr lang="zh-CN" altLang="en-AU" sz="2400" dirty="0">
                <a:solidFill>
                  <a:schemeClr val="tx2"/>
                </a:solidFill>
                <a:ea typeface="宋体" panose="02010600030101010101" pitchFamily="2" charset="-122"/>
              </a:rPr>
              <a:t>为其它</a:t>
            </a:r>
            <a:r>
              <a:rPr lang="en-AU" altLang="zh-CN" sz="2400" dirty="0" err="1">
                <a:solidFill>
                  <a:schemeClr val="tx2"/>
                </a:solidFill>
                <a:ea typeface="宋体" panose="02010600030101010101" pitchFamily="2" charset="-122"/>
              </a:rPr>
              <a:t>Baseapp</a:t>
            </a:r>
            <a:r>
              <a:rPr lang="zh-CN" altLang="en-AU" sz="2400" dirty="0">
                <a:solidFill>
                  <a:schemeClr val="tx2"/>
                </a:solidFill>
                <a:ea typeface="宋体" panose="02010600030101010101" pitchFamily="2" charset="-122"/>
              </a:rPr>
              <a:t>容错的角色</a:t>
            </a:r>
            <a:r>
              <a:rPr lang="en-US" altLang="zh-CN" sz="2400" dirty="0">
                <a:solidFill>
                  <a:srgbClr val="FF0000"/>
                </a:solidFill>
                <a:ea typeface="宋体" panose="02010600030101010101" pitchFamily="2" charset="-122"/>
              </a:rPr>
              <a:t>(</a:t>
            </a:r>
            <a:r>
              <a:rPr lang="en-US" altLang="zh-CN" sz="2400" dirty="0" err="1">
                <a:solidFill>
                  <a:srgbClr val="FF0000"/>
                </a:solidFill>
                <a:ea typeface="宋体" panose="02010600030101010101" pitchFamily="2" charset="-122"/>
              </a:rPr>
              <a:t>baseapp</a:t>
            </a:r>
            <a:r>
              <a:rPr lang="zh-CN" altLang="en-US" sz="2400" dirty="0">
                <a:solidFill>
                  <a:srgbClr val="FF0000"/>
                </a:solidFill>
                <a:ea typeface="宋体" panose="02010600030101010101" pitchFamily="2" charset="-122"/>
              </a:rPr>
              <a:t>之间的容错机制</a:t>
            </a:r>
            <a:r>
              <a:rPr lang="en-US" altLang="zh-CN" sz="2400" dirty="0">
                <a:solidFill>
                  <a:srgbClr val="FF0000"/>
                </a:solidFill>
                <a:ea typeface="宋体" panose="02010600030101010101" pitchFamily="2" charset="-122"/>
              </a:rPr>
              <a:t>)</a:t>
            </a:r>
            <a:endParaRPr lang="en-AU" altLang="zh-CN" sz="2400" dirty="0">
              <a:solidFill>
                <a:srgbClr val="FF0000"/>
              </a:solidFill>
            </a:endParaRPr>
          </a:p>
          <a:p>
            <a:pPr>
              <a:lnSpc>
                <a:spcPct val="90000"/>
              </a:lnSpc>
            </a:pPr>
            <a:r>
              <a:rPr lang="zh-CN" altLang="en-AU" sz="2400" dirty="0">
                <a:solidFill>
                  <a:schemeClr val="tx2"/>
                </a:solidFill>
                <a:ea typeface="宋体" panose="02010600030101010101" pitchFamily="2" charset="-122"/>
              </a:rPr>
              <a:t>通常一个</a:t>
            </a:r>
            <a:r>
              <a:rPr lang="en-AU" altLang="zh-CN" sz="2400" dirty="0">
                <a:solidFill>
                  <a:schemeClr val="tx2"/>
                </a:solidFill>
              </a:rPr>
              <a:t>CPU / </a:t>
            </a:r>
            <a:r>
              <a:rPr lang="zh-CN" altLang="en-AU" sz="2400" dirty="0">
                <a:solidFill>
                  <a:schemeClr val="tx2"/>
                </a:solidFill>
                <a:ea typeface="宋体" panose="02010600030101010101" pitchFamily="2" charset="-122"/>
              </a:rPr>
              <a:t>核 上处理一个</a:t>
            </a:r>
            <a:r>
              <a:rPr lang="en-AU" altLang="zh-CN" sz="2400" dirty="0" err="1">
                <a:solidFill>
                  <a:schemeClr val="tx2"/>
                </a:solidFill>
                <a:ea typeface="宋体" panose="02010600030101010101" pitchFamily="2" charset="-122"/>
              </a:rPr>
              <a:t>Baseapp</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单线程</a:t>
            </a:r>
            <a:r>
              <a:rPr lang="en-US" altLang="zh-CN" sz="2400" dirty="0">
                <a:solidFill>
                  <a:srgbClr val="FF0000"/>
                </a:solidFill>
                <a:ea typeface="宋体" panose="02010600030101010101" pitchFamily="2" charset="-122"/>
              </a:rPr>
              <a:t>)</a:t>
            </a:r>
            <a:endParaRPr lang="en-AU" altLang="zh-CN" sz="2400" dirty="0">
              <a:solidFill>
                <a:srgbClr val="FF0000"/>
              </a:solidFill>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Base Entity(</a:t>
            </a:r>
            <a:r>
              <a:rPr lang="zh-CN" altLang="en-US" dirty="0">
                <a:solidFill>
                  <a:schemeClr val="accent1"/>
                </a:solidFill>
                <a:ea typeface="宋体" panose="02010600030101010101" pitchFamily="2" charset="-122"/>
              </a:rPr>
              <a:t>实体</a:t>
            </a:r>
            <a:r>
              <a:rPr lang="en-US" altLang="zh-CN" dirty="0">
                <a:solidFill>
                  <a:schemeClr val="accent1"/>
                </a:solidFill>
                <a:ea typeface="宋体" panose="02010600030101010101" pitchFamily="2" charset="-122"/>
              </a:rPr>
              <a:t>)</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err="1">
                <a:ea typeface="宋体" panose="02010600030101010101" pitchFamily="2" charset="-122"/>
              </a:rPr>
              <a:t>Baseapp</a:t>
            </a:r>
            <a:r>
              <a:rPr lang="zh-CN" altLang="en-US" dirty="0">
                <a:ea typeface="宋体" panose="02010600030101010101" pitchFamily="2" charset="-122"/>
              </a:rPr>
              <a:t>上有</a:t>
            </a:r>
            <a:r>
              <a:rPr lang="zh-CN" altLang="en-AU" dirty="0">
                <a:ea typeface="宋体" panose="02010600030101010101" pitchFamily="2" charset="-122"/>
              </a:rPr>
              <a:t>两种</a:t>
            </a:r>
            <a:r>
              <a:rPr lang="zh-CN" altLang="en-US" dirty="0">
                <a:ea typeface="宋体" panose="02010600030101010101" pitchFamily="2" charset="-122"/>
              </a:rPr>
              <a:t>实体</a:t>
            </a:r>
            <a:endParaRPr lang="en-AU" altLang="zh-CN" dirty="0">
              <a:ea typeface="宋体" panose="02010600030101010101" pitchFamily="2" charset="-122"/>
            </a:endParaRPr>
          </a:p>
          <a:p>
            <a:pPr marL="182245" lvl="1" indent="0">
              <a:buNone/>
            </a:pPr>
            <a:r>
              <a:rPr lang="en-AU" altLang="zh-CN" sz="2000" dirty="0"/>
              <a:t>    </a:t>
            </a:r>
            <a:r>
              <a:rPr lang="en-US" altLang="en-AU" sz="2000" dirty="0"/>
              <a:t>Entity</a:t>
            </a:r>
            <a:endParaRPr lang="en-AU" altLang="zh-CN" sz="2000" dirty="0"/>
          </a:p>
          <a:p>
            <a:pPr marL="182245" lvl="1" indent="0">
              <a:buNone/>
            </a:pPr>
            <a:r>
              <a:rPr lang="en-AU" altLang="zh-CN" sz="2000" dirty="0"/>
              <a:t>    Proxy</a:t>
            </a:r>
          </a:p>
          <a:p>
            <a:r>
              <a:rPr lang="en-AU" altLang="zh-CN" dirty="0">
                <a:ea typeface="宋体" panose="02010600030101010101" pitchFamily="2" charset="-122"/>
                <a:sym typeface="+mn-ea"/>
              </a:rPr>
              <a:t>Entity</a:t>
            </a:r>
            <a:r>
              <a:rPr lang="en-US" altLang="zh-CN" dirty="0">
                <a:solidFill>
                  <a:srgbClr val="FF0000"/>
                </a:solidFill>
                <a:ea typeface="宋体" panose="02010600030101010101" pitchFamily="2" charset="-122"/>
                <a:sym typeface="+mn-ea"/>
              </a:rPr>
              <a:t>(</a:t>
            </a:r>
            <a:r>
              <a:rPr lang="zh-CN" altLang="en-US" dirty="0">
                <a:solidFill>
                  <a:srgbClr val="FF0000"/>
                </a:solidFill>
                <a:ea typeface="宋体" panose="02010600030101010101" pitchFamily="2" charset="-122"/>
                <a:sym typeface="+mn-ea"/>
              </a:rPr>
              <a:t>包括玩家控制的角色</a:t>
            </a:r>
            <a:r>
              <a:rPr lang="en-US" altLang="zh-CN" dirty="0">
                <a:solidFill>
                  <a:srgbClr val="FF0000"/>
                </a:solidFill>
                <a:ea typeface="宋体" panose="02010600030101010101" pitchFamily="2" charset="-122"/>
                <a:sym typeface="+mn-ea"/>
              </a:rPr>
              <a:t>)</a:t>
            </a:r>
            <a:endParaRPr lang="en-AU" altLang="zh-CN" dirty="0">
              <a:solidFill>
                <a:srgbClr val="FF0000"/>
              </a:solidFill>
            </a:endParaRPr>
          </a:p>
          <a:p>
            <a:pPr marL="182245" lvl="1" indent="0">
              <a:buNone/>
            </a:pPr>
            <a:r>
              <a:rPr lang="zh-CN" altLang="en-AU" dirty="0">
                <a:ea typeface="宋体" panose="02010600030101010101" pitchFamily="2" charset="-122"/>
              </a:rPr>
              <a:t>   </a:t>
            </a:r>
            <a:r>
              <a:rPr lang="zh-CN" altLang="en-AU" sz="2000" dirty="0">
                <a:ea typeface="宋体" panose="02010600030101010101" pitchFamily="2" charset="-122"/>
              </a:rPr>
              <a:t>通常的游戏</a:t>
            </a:r>
            <a:r>
              <a:rPr lang="en-AU" altLang="zh-CN" sz="2000" dirty="0">
                <a:ea typeface="宋体" panose="02010600030101010101" pitchFamily="2" charset="-122"/>
              </a:rPr>
              <a:t>Entity</a:t>
            </a:r>
          </a:p>
          <a:p>
            <a:pPr marL="182245" lvl="1" indent="0">
              <a:buNone/>
            </a:pPr>
            <a:r>
              <a:rPr lang="zh-CN" altLang="en-AU" sz="2000" dirty="0">
                <a:ea typeface="宋体" panose="02010600030101010101" pitchFamily="2" charset="-122"/>
              </a:rPr>
              <a:t>    例如</a:t>
            </a:r>
            <a:r>
              <a:rPr lang="en-AU" altLang="zh-CN" sz="2000" dirty="0"/>
              <a:t>: </a:t>
            </a:r>
            <a:r>
              <a:rPr lang="zh-CN" altLang="en-AU" sz="2000" dirty="0">
                <a:ea typeface="宋体" panose="02010600030101010101" pitchFamily="2" charset="-122"/>
              </a:rPr>
              <a:t>存储在数据库里的</a:t>
            </a:r>
            <a:r>
              <a:rPr lang="en-AU" altLang="zh-CN" sz="2000" dirty="0"/>
              <a:t>NPC, </a:t>
            </a:r>
            <a:r>
              <a:rPr lang="zh-CN" altLang="en-AU" sz="2000" dirty="0">
                <a:ea typeface="宋体" panose="02010600030101010101" pitchFamily="2" charset="-122"/>
              </a:rPr>
              <a:t>拍卖行</a:t>
            </a:r>
            <a:r>
              <a:rPr lang="en-US" altLang="zh-CN" sz="2000" dirty="0">
                <a:ea typeface="宋体" panose="02010600030101010101" pitchFamily="2" charset="-122"/>
              </a:rPr>
              <a:t>, </a:t>
            </a:r>
            <a:r>
              <a:rPr lang="zh-CN" altLang="zh-CN" sz="2000" dirty="0">
                <a:ea typeface="宋体" panose="02010600030101010101" pitchFamily="2" charset="-122"/>
              </a:rPr>
              <a:t>工会管理器</a:t>
            </a:r>
            <a:r>
              <a:rPr lang="en-US" altLang="zh-CN" sz="2000" dirty="0">
                <a:ea typeface="宋体" panose="02010600030101010101" pitchFamily="2" charset="-122"/>
                <a:sym typeface="+mn-ea"/>
              </a:rPr>
              <a:t>,</a:t>
            </a:r>
            <a:r>
              <a:rPr lang="zh-CN" altLang="zh-CN" sz="2000" dirty="0">
                <a:ea typeface="宋体" panose="02010600030101010101" pitchFamily="2" charset="-122"/>
              </a:rPr>
              <a:t>房间匹配管理器</a:t>
            </a:r>
            <a:r>
              <a:rPr lang="en-AU" altLang="zh-CN" sz="2000" dirty="0"/>
              <a:t>…</a:t>
            </a:r>
          </a:p>
          <a:p>
            <a:r>
              <a:rPr lang="en-AU" altLang="zh-CN" dirty="0"/>
              <a:t>Proxy</a:t>
            </a:r>
            <a:r>
              <a:rPr lang="en-US" altLang="zh-CN" dirty="0">
                <a:solidFill>
                  <a:srgbClr val="FF0000"/>
                </a:solidFill>
              </a:rPr>
              <a:t>(</a:t>
            </a:r>
            <a:r>
              <a:rPr lang="zh-CN" altLang="en-US" dirty="0">
                <a:solidFill>
                  <a:srgbClr val="FF0000"/>
                </a:solidFill>
              </a:rPr>
              <a:t>即封装这对应客户端的</a:t>
            </a:r>
            <a:r>
              <a:rPr lang="en-US" altLang="zh-CN" dirty="0">
                <a:solidFill>
                  <a:srgbClr val="FF0000"/>
                </a:solidFill>
              </a:rPr>
              <a:t>socket</a:t>
            </a:r>
            <a:r>
              <a:rPr lang="zh-CN" altLang="en-US" dirty="0">
                <a:solidFill>
                  <a:srgbClr val="FF0000"/>
                </a:solidFill>
              </a:rPr>
              <a:t>连接</a:t>
            </a:r>
            <a:r>
              <a:rPr lang="en-US" altLang="zh-CN" dirty="0">
                <a:solidFill>
                  <a:srgbClr val="FF0000"/>
                </a:solidFill>
              </a:rPr>
              <a:t>)</a:t>
            </a:r>
            <a:endParaRPr lang="en-AU" altLang="zh-CN" dirty="0">
              <a:solidFill>
                <a:srgbClr val="FF0000"/>
              </a:solidFill>
            </a:endParaRPr>
          </a:p>
          <a:p>
            <a:pPr marL="182245" lvl="1" indent="0">
              <a:buNone/>
            </a:pPr>
            <a:r>
              <a:rPr lang="zh-CN" altLang="en-AU" dirty="0">
                <a:ea typeface="宋体" panose="02010600030101010101" pitchFamily="2" charset="-122"/>
              </a:rPr>
              <a:t>   </a:t>
            </a:r>
            <a:r>
              <a:rPr lang="zh-CN" altLang="en-AU" sz="2000" dirty="0">
                <a:ea typeface="宋体" panose="02010600030101010101" pitchFamily="2" charset="-122"/>
              </a:rPr>
              <a:t>与客户端连接</a:t>
            </a:r>
            <a:endParaRPr lang="en-US" altLang="zh-CN" sz="2000" dirty="0">
              <a:ea typeface="宋体" panose="02010600030101010101" pitchFamily="2" charset="-122"/>
            </a:endParaRPr>
          </a:p>
          <a:p>
            <a:pPr marL="182245" lvl="1" indent="0">
              <a:buNone/>
            </a:pPr>
            <a:r>
              <a:rPr lang="en-US" altLang="zh-CN" sz="2000" dirty="0">
                <a:ea typeface="宋体" panose="02010600030101010101" pitchFamily="2" charset="-122"/>
              </a:rPr>
              <a:t>    C++</a:t>
            </a:r>
            <a:r>
              <a:rPr lang="zh-CN" altLang="en-US" sz="2000" dirty="0">
                <a:ea typeface="宋体" panose="02010600030101010101" pitchFamily="2" charset="-122"/>
              </a:rPr>
              <a:t>继承自</a:t>
            </a:r>
            <a:r>
              <a:rPr lang="en-US" altLang="zh-CN" sz="2000" dirty="0" err="1">
                <a:ea typeface="宋体" panose="02010600030101010101" pitchFamily="2" charset="-122"/>
              </a:rPr>
              <a:t>KBEngine.</a:t>
            </a:r>
            <a:r>
              <a:rPr lang="en-AU" altLang="zh-CN" sz="2000" dirty="0">
                <a:ea typeface="宋体" panose="02010600030101010101" pitchFamily="2" charset="-122"/>
                <a:sym typeface="+mn-ea"/>
              </a:rPr>
              <a:t>Entity</a:t>
            </a:r>
            <a:endParaRPr lang="en-AU" altLang="zh-CN" sz="2000" dirty="0"/>
          </a:p>
          <a:p>
            <a:pPr marL="182245" lvl="1" indent="0">
              <a:buNone/>
            </a:pPr>
            <a:r>
              <a:rPr lang="zh-CN" altLang="en-AU" sz="2000" dirty="0">
                <a:ea typeface="宋体" panose="02010600030101010101" pitchFamily="2" charset="-122"/>
              </a:rPr>
              <a:t>    特殊的</a:t>
            </a:r>
            <a:r>
              <a:rPr lang="en-AU" altLang="zh-CN" sz="2000" dirty="0">
                <a:ea typeface="宋体" panose="02010600030101010101" pitchFamily="2" charset="-122"/>
                <a:sym typeface="+mn-ea"/>
              </a:rPr>
              <a:t>Entity</a:t>
            </a:r>
            <a:endParaRPr lang="en-AU" altLang="zh-C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容错处理</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3"/>
            <a:ext cx="8748712" cy="1868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备份</a:t>
            </a:r>
            <a:r>
              <a:rPr lang="en-AU" altLang="zh-CN" dirty="0">
                <a:ea typeface="宋体" panose="02010600030101010101" pitchFamily="2" charset="-122"/>
              </a:rPr>
              <a:t>entity</a:t>
            </a:r>
            <a:r>
              <a:rPr lang="zh-CN" altLang="en-AU" dirty="0">
                <a:ea typeface="宋体" panose="02010600030101010101" pitchFamily="2" charset="-122"/>
              </a:rPr>
              <a:t>到其它的</a:t>
            </a:r>
            <a:r>
              <a:rPr lang="en-AU" altLang="zh-CN" dirty="0" err="1">
                <a:ea typeface="宋体" panose="02010600030101010101" pitchFamily="2" charset="-122"/>
              </a:rPr>
              <a:t>Baseapps</a:t>
            </a:r>
            <a:r>
              <a:rPr lang="en-AU"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备份映射信息会同步到</a:t>
            </a:r>
            <a:r>
              <a:rPr lang="en-US" altLang="zh-CN" sz="1800" dirty="0" err="1">
                <a:solidFill>
                  <a:srgbClr val="FF0000"/>
                </a:solidFill>
                <a:ea typeface="宋体" panose="02010600030101010101" pitchFamily="2" charset="-122"/>
              </a:rPr>
              <a:t>baseappmgr</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即记录实体是被备份到哪个</a:t>
            </a:r>
            <a:r>
              <a:rPr lang="en-US" altLang="zh-CN" sz="1800" dirty="0" err="1">
                <a:solidFill>
                  <a:srgbClr val="FF0000"/>
                </a:solidFill>
                <a:ea typeface="宋体" panose="02010600030101010101" pitchFamily="2" charset="-122"/>
              </a:rPr>
              <a:t>baseapp</a:t>
            </a:r>
            <a:r>
              <a:rPr lang="en-AU" altLang="zh-CN" sz="1800" dirty="0">
                <a:solidFill>
                  <a:srgbClr val="FF0000"/>
                </a:solidFill>
                <a:ea typeface="宋体" panose="02010600030101010101" pitchFamily="2" charset="-122"/>
              </a:rPr>
              <a:t>)</a:t>
            </a:r>
          </a:p>
        </p:txBody>
      </p:sp>
      <p:grpSp>
        <p:nvGrpSpPr>
          <p:cNvPr id="5" name="Group 4"/>
          <p:cNvGrpSpPr/>
          <p:nvPr/>
        </p:nvGrpSpPr>
        <p:grpSpPr bwMode="auto">
          <a:xfrm>
            <a:off x="575296" y="2924944"/>
            <a:ext cx="8352928" cy="3130757"/>
            <a:chOff x="1066" y="1321"/>
            <a:chExt cx="4536" cy="1928"/>
          </a:xfrm>
        </p:grpSpPr>
        <p:sp>
          <p:nvSpPr>
            <p:cNvPr id="6" name="Rectangle 5"/>
            <p:cNvSpPr>
              <a:spLocks noChangeArrowheads="1"/>
            </p:cNvSpPr>
            <p:nvPr/>
          </p:nvSpPr>
          <p:spPr bwMode="auto">
            <a:xfrm>
              <a:off x="4150" y="2704"/>
              <a:ext cx="1384" cy="54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 name="Group 6"/>
            <p:cNvGrpSpPr/>
            <p:nvPr/>
          </p:nvGrpSpPr>
          <p:grpSpPr bwMode="auto">
            <a:xfrm>
              <a:off x="1066" y="1321"/>
              <a:ext cx="976" cy="521"/>
              <a:chOff x="1066" y="1321"/>
              <a:chExt cx="976" cy="521"/>
            </a:xfrm>
          </p:grpSpPr>
          <p:sp>
            <p:nvSpPr>
              <p:cNvPr id="45" name="Rectangle 7"/>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8"/>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7" name="Rectangle 9"/>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8" name="Rectangle 10"/>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9" name="Rectangle 11"/>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1" name="Rectangle 12"/>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2" name="Rectangle 13"/>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8" name="Group 14"/>
            <p:cNvGrpSpPr/>
            <p:nvPr/>
          </p:nvGrpSpPr>
          <p:grpSpPr bwMode="auto">
            <a:xfrm>
              <a:off x="2177" y="1321"/>
              <a:ext cx="976" cy="521"/>
              <a:chOff x="1066" y="1321"/>
              <a:chExt cx="976" cy="521"/>
            </a:xfrm>
          </p:grpSpPr>
          <p:sp>
            <p:nvSpPr>
              <p:cNvPr id="38" name="Rectangle 15"/>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16"/>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0" name="Rectangle 17"/>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1" name="Rectangle 18"/>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2" name="Rectangle 19"/>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3" name="Rectangle 20"/>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4" name="Rectangle 21"/>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9" name="Group 22"/>
            <p:cNvGrpSpPr/>
            <p:nvPr/>
          </p:nvGrpSpPr>
          <p:grpSpPr bwMode="auto">
            <a:xfrm>
              <a:off x="3266" y="1321"/>
              <a:ext cx="976" cy="521"/>
              <a:chOff x="1066" y="1321"/>
              <a:chExt cx="976" cy="521"/>
            </a:xfrm>
          </p:grpSpPr>
          <p:sp>
            <p:nvSpPr>
              <p:cNvPr id="31" name="Rectangle 23"/>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4"/>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33" name="Rectangle 25"/>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4" name="Rectangle 26"/>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5" name="Rectangle 27"/>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6" name="Rectangle 28"/>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7" name="Rectangle 29"/>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10" name="Group 30"/>
            <p:cNvGrpSpPr/>
            <p:nvPr/>
          </p:nvGrpSpPr>
          <p:grpSpPr bwMode="auto">
            <a:xfrm>
              <a:off x="2161" y="2319"/>
              <a:ext cx="976" cy="521"/>
              <a:chOff x="1050" y="1321"/>
              <a:chExt cx="976" cy="521"/>
            </a:xfrm>
          </p:grpSpPr>
          <p:sp>
            <p:nvSpPr>
              <p:cNvPr id="24" name="Rectangle 31"/>
              <p:cNvSpPr>
                <a:spLocks noChangeArrowheads="1"/>
              </p:cNvSpPr>
              <p:nvPr/>
            </p:nvSpPr>
            <p:spPr bwMode="auto">
              <a:xfrm>
                <a:off x="1050"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32"/>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26" name="Rectangle 33"/>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7" name="Rectangle 34"/>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8" name="Rectangle 35"/>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9" name="Rectangle 36"/>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0" name="Rectangle 37"/>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
          <p:nvSpPr>
            <p:cNvPr id="11" name="Rectangle 38" descr="75%"/>
            <p:cNvSpPr>
              <a:spLocks noChangeArrowheads="1"/>
            </p:cNvSpPr>
            <p:nvPr/>
          </p:nvSpPr>
          <p:spPr bwMode="auto">
            <a:xfrm>
              <a:off x="1837"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2" name="Rectangle 39" descr="75%"/>
            <p:cNvSpPr>
              <a:spLocks noChangeArrowheads="1"/>
            </p:cNvSpPr>
            <p:nvPr/>
          </p:nvSpPr>
          <p:spPr bwMode="auto">
            <a:xfrm>
              <a:off x="3311"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3" name="Rectangle 40" descr="75%"/>
            <p:cNvSpPr>
              <a:spLocks noChangeArrowheads="1"/>
            </p:cNvSpPr>
            <p:nvPr/>
          </p:nvSpPr>
          <p:spPr bwMode="auto">
            <a:xfrm>
              <a:off x="2404"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4" name="Rectangle 41" descr="75%"/>
            <p:cNvSpPr>
              <a:spLocks noChangeArrowheads="1"/>
            </p:cNvSpPr>
            <p:nvPr/>
          </p:nvSpPr>
          <p:spPr bwMode="auto">
            <a:xfrm>
              <a:off x="2585"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5" name="Rectangle 42" descr="75%"/>
            <p:cNvSpPr>
              <a:spLocks noChangeArrowheads="1"/>
            </p:cNvSpPr>
            <p:nvPr/>
          </p:nvSpPr>
          <p:spPr bwMode="auto">
            <a:xfrm>
              <a:off x="2766"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6" name="Line 43"/>
            <p:cNvSpPr>
              <a:spLocks noChangeShapeType="1"/>
            </p:cNvSpPr>
            <p:nvPr/>
          </p:nvSpPr>
          <p:spPr bwMode="auto">
            <a:xfrm flipV="1">
              <a:off x="2653"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7" name="Line 44"/>
            <p:cNvSpPr>
              <a:spLocks noChangeShapeType="1"/>
            </p:cNvSpPr>
            <p:nvPr/>
          </p:nvSpPr>
          <p:spPr bwMode="auto">
            <a:xfrm flipV="1">
              <a:off x="2835"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8" name="Line 45"/>
            <p:cNvSpPr>
              <a:spLocks noChangeShapeType="1"/>
            </p:cNvSpPr>
            <p:nvPr/>
          </p:nvSpPr>
          <p:spPr bwMode="auto">
            <a:xfrm flipV="1">
              <a:off x="2472"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9" name="Line 46"/>
            <p:cNvSpPr>
              <a:spLocks noChangeShapeType="1"/>
            </p:cNvSpPr>
            <p:nvPr/>
          </p:nvSpPr>
          <p:spPr bwMode="auto">
            <a:xfrm flipV="1">
              <a:off x="3016" y="1820"/>
              <a:ext cx="363"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0" name="Line 47"/>
            <p:cNvSpPr>
              <a:spLocks noChangeShapeType="1"/>
            </p:cNvSpPr>
            <p:nvPr/>
          </p:nvSpPr>
          <p:spPr bwMode="auto">
            <a:xfrm flipH="1" flipV="1">
              <a:off x="1905" y="1820"/>
              <a:ext cx="385"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1" name="Rectangle 48" descr="75%"/>
            <p:cNvSpPr>
              <a:spLocks noChangeArrowheads="1"/>
            </p:cNvSpPr>
            <p:nvPr/>
          </p:nvSpPr>
          <p:spPr bwMode="auto">
            <a:xfrm>
              <a:off x="4241" y="3022"/>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22" name="Text Box 49"/>
            <p:cNvSpPr txBox="1">
              <a:spLocks noChangeArrowheads="1"/>
            </p:cNvSpPr>
            <p:nvPr/>
          </p:nvSpPr>
          <p:spPr bwMode="auto">
            <a:xfrm>
              <a:off x="4400" y="2772"/>
              <a:ext cx="120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AU" sz="1400" b="0" dirty="0">
                  <a:solidFill>
                    <a:schemeClr val="bg2"/>
                  </a:solidFill>
                  <a:ea typeface="宋体" panose="02010600030101010101" pitchFamily="2" charset="-122"/>
                </a:rPr>
                <a:t>自己的</a:t>
              </a:r>
              <a:r>
                <a:rPr lang="en-US" altLang="en-AU" sz="1400" dirty="0">
                  <a:solidFill>
                    <a:schemeClr val="bg2"/>
                  </a:solidFill>
                  <a:ea typeface="宋体" panose="02010600030101010101" pitchFamily="2" charset="-122"/>
                </a:rPr>
                <a:t>Entity</a:t>
              </a:r>
              <a:r>
                <a:rPr lang="zh-CN" altLang="en-US" sz="1400" b="0" dirty="0">
                  <a:solidFill>
                    <a:schemeClr val="bg2"/>
                  </a:solidFill>
                  <a:ea typeface="宋体" panose="02010600030101010101" pitchFamily="2" charset="-122"/>
                </a:rPr>
                <a:t>实体</a:t>
              </a:r>
              <a:endParaRPr lang="en-AU" altLang="zh-CN" sz="1400" b="0" dirty="0">
                <a:solidFill>
                  <a:schemeClr val="bg2"/>
                </a:solidFill>
                <a:ea typeface="宋体" panose="02010600030101010101" pitchFamily="2" charset="-122"/>
              </a:endParaRPr>
            </a:p>
            <a:p>
              <a:pPr algn="l"/>
              <a:r>
                <a:rPr lang="zh-CN" altLang="en-AU" sz="1400" b="0" dirty="0">
                  <a:solidFill>
                    <a:schemeClr val="bg2"/>
                  </a:solidFill>
                  <a:ea typeface="宋体" panose="02010600030101010101" pitchFamily="2" charset="-122"/>
                </a:rPr>
                <a:t>其他</a:t>
              </a:r>
              <a:r>
                <a:rPr lang="en-AU" altLang="zh-CN" sz="1400" dirty="0">
                  <a:solidFill>
                    <a:schemeClr val="bg2"/>
                  </a:solidFill>
                  <a:ea typeface="宋体" panose="02010600030101010101" pitchFamily="2" charset="-122"/>
                </a:rPr>
                <a:t>B</a:t>
              </a:r>
              <a:r>
                <a:rPr lang="en-AU" altLang="zh-CN" sz="1400" b="0" dirty="0">
                  <a:solidFill>
                    <a:schemeClr val="bg2"/>
                  </a:solidFill>
                  <a:ea typeface="宋体" panose="02010600030101010101" pitchFamily="2" charset="-122"/>
                </a:rPr>
                <a:t>ase</a:t>
              </a:r>
              <a:r>
                <a:rPr lang="en-US" altLang="zh-CN" sz="1400" b="0" dirty="0">
                  <a:solidFill>
                    <a:schemeClr val="bg2"/>
                  </a:solidFill>
                  <a:ea typeface="宋体" panose="02010600030101010101" pitchFamily="2" charset="-122"/>
                </a:rPr>
                <a:t>a</a:t>
              </a:r>
              <a:r>
                <a:rPr lang="en-AU" altLang="zh-CN" sz="1400" b="0" dirty="0" err="1">
                  <a:solidFill>
                    <a:schemeClr val="bg2"/>
                  </a:solidFill>
                  <a:ea typeface="宋体" panose="02010600030101010101" pitchFamily="2" charset="-122"/>
                </a:rPr>
                <a:t>pp</a:t>
              </a:r>
              <a:r>
                <a:rPr lang="zh-CN" altLang="en-US" sz="1400" b="0" dirty="0">
                  <a:solidFill>
                    <a:schemeClr val="bg2"/>
                  </a:solidFill>
                  <a:ea typeface="宋体" panose="02010600030101010101" pitchFamily="2" charset="-122"/>
                </a:rPr>
                <a:t>上</a:t>
              </a:r>
              <a:r>
                <a:rPr lang="zh-CN" altLang="en-AU" sz="1400" b="0" dirty="0">
                  <a:solidFill>
                    <a:schemeClr val="bg2"/>
                  </a:solidFill>
                  <a:ea typeface="宋体" panose="02010600030101010101" pitchFamily="2" charset="-122"/>
                </a:rPr>
                <a:t>的</a:t>
              </a:r>
              <a:r>
                <a:rPr lang="en-US" altLang="en-AU" sz="1400" b="0" dirty="0">
                  <a:solidFill>
                    <a:schemeClr val="bg2"/>
                  </a:solidFill>
                  <a:ea typeface="宋体" panose="02010600030101010101" pitchFamily="2" charset="-122"/>
                </a:rPr>
                <a:t>Entity</a:t>
              </a:r>
              <a:r>
                <a:rPr lang="zh-CN" altLang="en-US" sz="1400" b="0" dirty="0">
                  <a:solidFill>
                    <a:schemeClr val="bg2"/>
                  </a:solidFill>
                  <a:ea typeface="宋体" panose="02010600030101010101" pitchFamily="2" charset="-122"/>
                </a:rPr>
                <a:t>实体</a:t>
              </a:r>
              <a:r>
                <a:rPr lang="zh-CN" altLang="en-AU" sz="1400" b="0" dirty="0">
                  <a:solidFill>
                    <a:schemeClr val="bg2"/>
                  </a:solidFill>
                  <a:ea typeface="宋体" panose="02010600030101010101" pitchFamily="2" charset="-122"/>
                </a:rPr>
                <a:t>的备份</a:t>
              </a:r>
              <a:endParaRPr lang="en-AU" altLang="zh-CN" sz="1400" b="0" dirty="0">
                <a:solidFill>
                  <a:schemeClr val="bg2"/>
                </a:solidFill>
                <a:ea typeface="宋体" panose="02010600030101010101" pitchFamily="2" charset="-122"/>
              </a:endParaRPr>
            </a:p>
          </p:txBody>
        </p:sp>
        <p:sp>
          <p:nvSpPr>
            <p:cNvPr id="23" name="Rectangle 50"/>
            <p:cNvSpPr>
              <a:spLocks noChangeArrowheads="1"/>
            </p:cNvSpPr>
            <p:nvPr/>
          </p:nvSpPr>
          <p:spPr bwMode="auto">
            <a:xfrm>
              <a:off x="4241" y="2818"/>
              <a:ext cx="138" cy="138"/>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容错处理</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143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err="1">
                <a:ea typeface="宋体" panose="02010600030101010101" pitchFamily="2" charset="-122"/>
              </a:rPr>
              <a:t>Baseapp</a:t>
            </a:r>
            <a:r>
              <a:rPr lang="en-US" altLang="zh-CN" dirty="0">
                <a:ea typeface="宋体" panose="02010600030101010101" pitchFamily="2" charset="-122"/>
              </a:rPr>
              <a:t> crash</a:t>
            </a:r>
            <a:r>
              <a:rPr lang="zh-CN" altLang="en-US" dirty="0">
                <a:ea typeface="宋体" panose="02010600030101010101" pitchFamily="2" charset="-122"/>
              </a:rPr>
              <a:t>后变得不可用</a:t>
            </a:r>
            <a:endParaRPr lang="en-AU" altLang="zh-CN" dirty="0">
              <a:ea typeface="宋体" panose="02010600030101010101" pitchFamily="2" charset="-122"/>
            </a:endParaRPr>
          </a:p>
        </p:txBody>
      </p:sp>
      <p:grpSp>
        <p:nvGrpSpPr>
          <p:cNvPr id="5" name="Group 4"/>
          <p:cNvGrpSpPr/>
          <p:nvPr/>
        </p:nvGrpSpPr>
        <p:grpSpPr bwMode="auto">
          <a:xfrm>
            <a:off x="539552" y="2976596"/>
            <a:ext cx="8352928" cy="3130757"/>
            <a:chOff x="1066" y="1321"/>
            <a:chExt cx="4536" cy="1928"/>
          </a:xfrm>
        </p:grpSpPr>
        <p:sp>
          <p:nvSpPr>
            <p:cNvPr id="6" name="Rectangle 5"/>
            <p:cNvSpPr>
              <a:spLocks noChangeArrowheads="1"/>
            </p:cNvSpPr>
            <p:nvPr/>
          </p:nvSpPr>
          <p:spPr bwMode="auto">
            <a:xfrm>
              <a:off x="4150" y="2704"/>
              <a:ext cx="1384" cy="54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 name="Group 6"/>
            <p:cNvGrpSpPr/>
            <p:nvPr/>
          </p:nvGrpSpPr>
          <p:grpSpPr bwMode="auto">
            <a:xfrm>
              <a:off x="1066" y="1321"/>
              <a:ext cx="976" cy="521"/>
              <a:chOff x="1066" y="1321"/>
              <a:chExt cx="976" cy="521"/>
            </a:xfrm>
          </p:grpSpPr>
          <p:sp>
            <p:nvSpPr>
              <p:cNvPr id="45" name="Rectangle 7"/>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8"/>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7" name="Rectangle 9"/>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8" name="Rectangle 10"/>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9" name="Rectangle 11"/>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1" name="Rectangle 12"/>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2" name="Rectangle 13"/>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8" name="Group 14"/>
            <p:cNvGrpSpPr/>
            <p:nvPr/>
          </p:nvGrpSpPr>
          <p:grpSpPr bwMode="auto">
            <a:xfrm>
              <a:off x="2177" y="1321"/>
              <a:ext cx="976" cy="521"/>
              <a:chOff x="1066" y="1321"/>
              <a:chExt cx="976" cy="521"/>
            </a:xfrm>
          </p:grpSpPr>
          <p:sp>
            <p:nvSpPr>
              <p:cNvPr id="38" name="Rectangle 15"/>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16"/>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0" name="Rectangle 17"/>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1" name="Rectangle 18"/>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2" name="Rectangle 19"/>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3" name="Rectangle 20"/>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4" name="Rectangle 21"/>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9" name="Group 22"/>
            <p:cNvGrpSpPr/>
            <p:nvPr/>
          </p:nvGrpSpPr>
          <p:grpSpPr bwMode="auto">
            <a:xfrm>
              <a:off x="3266" y="1321"/>
              <a:ext cx="976" cy="521"/>
              <a:chOff x="1066" y="1321"/>
              <a:chExt cx="976" cy="521"/>
            </a:xfrm>
          </p:grpSpPr>
          <p:sp>
            <p:nvSpPr>
              <p:cNvPr id="31" name="Rectangle 23"/>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4"/>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33" name="Rectangle 25"/>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4" name="Rectangle 26"/>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5" name="Rectangle 27"/>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6" name="Rectangle 28"/>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7" name="Rectangle 29"/>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10" name="Group 30"/>
            <p:cNvGrpSpPr/>
            <p:nvPr/>
          </p:nvGrpSpPr>
          <p:grpSpPr bwMode="auto">
            <a:xfrm>
              <a:off x="2161" y="2319"/>
              <a:ext cx="976" cy="521"/>
              <a:chOff x="1050" y="1321"/>
              <a:chExt cx="976" cy="521"/>
            </a:xfrm>
          </p:grpSpPr>
          <p:sp>
            <p:nvSpPr>
              <p:cNvPr id="24" name="Rectangle 31"/>
              <p:cNvSpPr>
                <a:spLocks noChangeArrowheads="1"/>
              </p:cNvSpPr>
              <p:nvPr/>
            </p:nvSpPr>
            <p:spPr bwMode="auto">
              <a:xfrm>
                <a:off x="1050" y="1321"/>
                <a:ext cx="976" cy="521"/>
              </a:xfrm>
              <a:prstGeom prst="rect">
                <a:avLst/>
              </a:prstGeom>
              <a:solidFill>
                <a:schemeClr val="bg1">
                  <a:lumMod val="75000"/>
                </a:schemeClr>
              </a:solidFill>
              <a:ln w="9525" algn="ctr">
                <a:solidFill>
                  <a:schemeClr val="tx1"/>
                </a:solidFill>
                <a:miter lim="800000"/>
              </a:ln>
              <a:effectLst/>
              <a:scene3d>
                <a:camera prst="isometricOffAxis2Top"/>
                <a:lightRig rig="threePt" dir="t"/>
              </a:scene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32"/>
              <p:cNvSpPr txBox="1">
                <a:spLocks noChangeArrowheads="1"/>
              </p:cNvSpPr>
              <p:nvPr/>
            </p:nvSpPr>
            <p:spPr bwMode="auto">
              <a:xfrm>
                <a:off x="1179" y="1457"/>
                <a:ext cx="532" cy="227"/>
              </a:xfrm>
              <a:prstGeom prst="rect">
                <a:avLst/>
              </a:prstGeom>
              <a:scene3d>
                <a:camera prst="isometricOffAxis2Top"/>
                <a:lightRig rig="threePt" dir="t"/>
              </a:scene3d>
            </p:spPr>
            <p:style>
              <a:lnRef idx="1">
                <a:schemeClr val="accent2"/>
              </a:lnRef>
              <a:fillRef idx="3">
                <a:schemeClr val="accent2"/>
              </a:fillRef>
              <a:effectRef idx="2">
                <a:schemeClr val="accent2"/>
              </a:effectRef>
              <a:fontRef idx="minor">
                <a:schemeClr val="lt1"/>
              </a:fontRef>
            </p:style>
            <p:txBody>
              <a:bodyPr wrap="none">
                <a:spAutoFit/>
              </a:bodyPr>
              <a:lstStyle/>
              <a:p>
                <a:r>
                  <a:rPr lang="en-AU" dirty="0" err="1">
                    <a:solidFill>
                      <a:schemeClr val="bg2"/>
                    </a:solidFill>
                  </a:rPr>
                  <a:t>Baseapp</a:t>
                </a:r>
                <a:endParaRPr lang="en-AU" dirty="0">
                  <a:solidFill>
                    <a:schemeClr val="bg2"/>
                  </a:solidFill>
                </a:endParaRPr>
              </a:p>
            </p:txBody>
          </p:sp>
          <p:sp>
            <p:nvSpPr>
              <p:cNvPr id="26" name="Rectangle 33"/>
              <p:cNvSpPr>
                <a:spLocks noChangeArrowheads="1"/>
              </p:cNvSpPr>
              <p:nvPr/>
            </p:nvSpPr>
            <p:spPr bwMode="auto">
              <a:xfrm>
                <a:off x="1111"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7" name="Rectangle 34"/>
              <p:cNvSpPr>
                <a:spLocks noChangeArrowheads="1"/>
              </p:cNvSpPr>
              <p:nvPr/>
            </p:nvSpPr>
            <p:spPr bwMode="auto">
              <a:xfrm>
                <a:off x="1292"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8" name="Rectangle 35"/>
              <p:cNvSpPr>
                <a:spLocks noChangeArrowheads="1"/>
              </p:cNvSpPr>
              <p:nvPr/>
            </p:nvSpPr>
            <p:spPr bwMode="auto">
              <a:xfrm>
                <a:off x="1474"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9" name="Rectangle 36"/>
              <p:cNvSpPr>
                <a:spLocks noChangeArrowheads="1"/>
              </p:cNvSpPr>
              <p:nvPr/>
            </p:nvSpPr>
            <p:spPr bwMode="auto">
              <a:xfrm>
                <a:off x="1655"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0" name="Rectangle 37"/>
              <p:cNvSpPr>
                <a:spLocks noChangeArrowheads="1"/>
              </p:cNvSpPr>
              <p:nvPr/>
            </p:nvSpPr>
            <p:spPr bwMode="auto">
              <a:xfrm>
                <a:off x="1837"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
          <p:nvSpPr>
            <p:cNvPr id="11" name="Rectangle 38" descr="75%"/>
            <p:cNvSpPr>
              <a:spLocks noChangeArrowheads="1"/>
            </p:cNvSpPr>
            <p:nvPr/>
          </p:nvSpPr>
          <p:spPr bwMode="auto">
            <a:xfrm>
              <a:off x="1837"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2" name="Rectangle 39" descr="75%"/>
            <p:cNvSpPr>
              <a:spLocks noChangeArrowheads="1"/>
            </p:cNvSpPr>
            <p:nvPr/>
          </p:nvSpPr>
          <p:spPr bwMode="auto">
            <a:xfrm>
              <a:off x="3311"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3" name="Rectangle 40" descr="75%"/>
            <p:cNvSpPr>
              <a:spLocks noChangeArrowheads="1"/>
            </p:cNvSpPr>
            <p:nvPr/>
          </p:nvSpPr>
          <p:spPr bwMode="auto">
            <a:xfrm>
              <a:off x="2404"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4" name="Rectangle 41" descr="75%"/>
            <p:cNvSpPr>
              <a:spLocks noChangeArrowheads="1"/>
            </p:cNvSpPr>
            <p:nvPr/>
          </p:nvSpPr>
          <p:spPr bwMode="auto">
            <a:xfrm>
              <a:off x="2585"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5" name="Rectangle 42" descr="75%"/>
            <p:cNvSpPr>
              <a:spLocks noChangeArrowheads="1"/>
            </p:cNvSpPr>
            <p:nvPr/>
          </p:nvSpPr>
          <p:spPr bwMode="auto">
            <a:xfrm>
              <a:off x="2766"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6" name="Line 43"/>
            <p:cNvSpPr>
              <a:spLocks noChangeShapeType="1"/>
            </p:cNvSpPr>
            <p:nvPr/>
          </p:nvSpPr>
          <p:spPr bwMode="auto">
            <a:xfrm flipV="1">
              <a:off x="2653"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7" name="Line 44"/>
            <p:cNvSpPr>
              <a:spLocks noChangeShapeType="1"/>
            </p:cNvSpPr>
            <p:nvPr/>
          </p:nvSpPr>
          <p:spPr bwMode="auto">
            <a:xfrm flipV="1">
              <a:off x="2835"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8" name="Line 45"/>
            <p:cNvSpPr>
              <a:spLocks noChangeShapeType="1"/>
            </p:cNvSpPr>
            <p:nvPr/>
          </p:nvSpPr>
          <p:spPr bwMode="auto">
            <a:xfrm flipV="1">
              <a:off x="2472" y="1820"/>
              <a:ext cx="0"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9" name="Line 46"/>
            <p:cNvSpPr>
              <a:spLocks noChangeShapeType="1"/>
            </p:cNvSpPr>
            <p:nvPr/>
          </p:nvSpPr>
          <p:spPr bwMode="auto">
            <a:xfrm flipV="1">
              <a:off x="3016" y="1820"/>
              <a:ext cx="363"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0" name="Line 47"/>
            <p:cNvSpPr>
              <a:spLocks noChangeShapeType="1"/>
            </p:cNvSpPr>
            <p:nvPr/>
          </p:nvSpPr>
          <p:spPr bwMode="auto">
            <a:xfrm flipH="1" flipV="1">
              <a:off x="1905" y="1820"/>
              <a:ext cx="385" cy="521"/>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1" name="Rectangle 48" descr="75%"/>
            <p:cNvSpPr>
              <a:spLocks noChangeArrowheads="1"/>
            </p:cNvSpPr>
            <p:nvPr/>
          </p:nvSpPr>
          <p:spPr bwMode="auto">
            <a:xfrm>
              <a:off x="4241" y="3022"/>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22" name="Text Box 49"/>
            <p:cNvSpPr txBox="1">
              <a:spLocks noChangeArrowheads="1"/>
            </p:cNvSpPr>
            <p:nvPr/>
          </p:nvSpPr>
          <p:spPr bwMode="auto">
            <a:xfrm>
              <a:off x="4400" y="2772"/>
              <a:ext cx="1202"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AU" sz="1400" b="0" dirty="0">
                  <a:solidFill>
                    <a:schemeClr val="bg2"/>
                  </a:solidFill>
                  <a:ea typeface="宋体" panose="02010600030101010101" pitchFamily="2" charset="-122"/>
                </a:rPr>
                <a:t>自己的</a:t>
              </a:r>
              <a:r>
                <a:rPr lang="en-US" altLang="en-AU" sz="1400" dirty="0">
                  <a:solidFill>
                    <a:schemeClr val="bg2"/>
                  </a:solidFill>
                  <a:ea typeface="宋体" panose="02010600030101010101" pitchFamily="2" charset="-122"/>
                </a:rPr>
                <a:t>Entity</a:t>
              </a:r>
              <a:r>
                <a:rPr lang="en-AU" altLang="zh-CN" sz="1400" b="0" dirty="0">
                  <a:solidFill>
                    <a:schemeClr val="bg2"/>
                  </a:solidFill>
                  <a:ea typeface="宋体" panose="02010600030101010101" pitchFamily="2" charset="-122"/>
                </a:rPr>
                <a:t> </a:t>
              </a:r>
              <a:r>
                <a:rPr lang="zh-CN" altLang="en-US" sz="1400" b="0" dirty="0">
                  <a:solidFill>
                    <a:schemeClr val="bg2"/>
                  </a:solidFill>
                  <a:ea typeface="宋体" panose="02010600030101010101" pitchFamily="2" charset="-122"/>
                </a:rPr>
                <a:t>实体</a:t>
              </a:r>
              <a:endParaRPr lang="en-AU" altLang="zh-CN" sz="1400" b="0" dirty="0">
                <a:solidFill>
                  <a:schemeClr val="bg2"/>
                </a:solidFill>
                <a:ea typeface="宋体" panose="02010600030101010101" pitchFamily="2" charset="-122"/>
              </a:endParaRPr>
            </a:p>
            <a:p>
              <a:pPr algn="l"/>
              <a:r>
                <a:rPr lang="zh-CN" altLang="en-AU" sz="1400" b="0" dirty="0">
                  <a:solidFill>
                    <a:schemeClr val="bg2"/>
                  </a:solidFill>
                  <a:ea typeface="宋体" panose="02010600030101010101" pitchFamily="2" charset="-122"/>
                </a:rPr>
                <a:t>其他</a:t>
              </a:r>
              <a:r>
                <a:rPr lang="en-AU" altLang="zh-CN" sz="1400" dirty="0">
                  <a:solidFill>
                    <a:schemeClr val="bg2"/>
                  </a:solidFill>
                  <a:ea typeface="宋体" panose="02010600030101010101" pitchFamily="2" charset="-122"/>
                </a:rPr>
                <a:t>B</a:t>
              </a:r>
              <a:r>
                <a:rPr lang="en-AU" altLang="zh-CN" sz="1400" b="0" dirty="0">
                  <a:solidFill>
                    <a:schemeClr val="bg2"/>
                  </a:solidFill>
                  <a:ea typeface="宋体" panose="02010600030101010101" pitchFamily="2" charset="-122"/>
                </a:rPr>
                <a:t>ase</a:t>
              </a:r>
              <a:r>
                <a:rPr lang="en-US" altLang="zh-CN" sz="1400" b="0" dirty="0">
                  <a:solidFill>
                    <a:schemeClr val="bg2"/>
                  </a:solidFill>
                  <a:ea typeface="宋体" panose="02010600030101010101" pitchFamily="2" charset="-122"/>
                </a:rPr>
                <a:t>a</a:t>
              </a:r>
              <a:r>
                <a:rPr lang="en-AU" altLang="zh-CN" sz="1400" b="0" dirty="0" err="1">
                  <a:solidFill>
                    <a:schemeClr val="bg2"/>
                  </a:solidFill>
                  <a:ea typeface="宋体" panose="02010600030101010101" pitchFamily="2" charset="-122"/>
                </a:rPr>
                <a:t>pp</a:t>
              </a:r>
              <a:r>
                <a:rPr lang="zh-CN" altLang="en-US" sz="1400" b="0" dirty="0">
                  <a:solidFill>
                    <a:schemeClr val="bg2"/>
                  </a:solidFill>
                  <a:ea typeface="宋体" panose="02010600030101010101" pitchFamily="2" charset="-122"/>
                </a:rPr>
                <a:t>上</a:t>
              </a:r>
              <a:r>
                <a:rPr lang="zh-CN" altLang="en-AU" sz="1400" b="0" dirty="0">
                  <a:solidFill>
                    <a:schemeClr val="bg2"/>
                  </a:solidFill>
                  <a:ea typeface="宋体" panose="02010600030101010101" pitchFamily="2" charset="-122"/>
                </a:rPr>
                <a:t>的</a:t>
              </a:r>
              <a:r>
                <a:rPr lang="en-US" altLang="en-AU" sz="1400" dirty="0">
                  <a:solidFill>
                    <a:schemeClr val="bg2"/>
                  </a:solidFill>
                  <a:ea typeface="宋体" panose="02010600030101010101" pitchFamily="2" charset="-122"/>
                </a:rPr>
                <a:t>Entity</a:t>
              </a:r>
              <a:r>
                <a:rPr lang="en-AU" altLang="zh-CN" sz="1400" b="0" dirty="0">
                  <a:solidFill>
                    <a:schemeClr val="bg2"/>
                  </a:solidFill>
                  <a:ea typeface="宋体" panose="02010600030101010101" pitchFamily="2" charset="-122"/>
                </a:rPr>
                <a:t> </a:t>
              </a:r>
              <a:r>
                <a:rPr lang="zh-CN" altLang="en-US" sz="1400" b="0" dirty="0">
                  <a:solidFill>
                    <a:schemeClr val="bg2"/>
                  </a:solidFill>
                  <a:ea typeface="宋体" panose="02010600030101010101" pitchFamily="2" charset="-122"/>
                </a:rPr>
                <a:t>实体</a:t>
              </a:r>
              <a:r>
                <a:rPr lang="zh-CN" altLang="en-AU" sz="1400" b="0" dirty="0">
                  <a:solidFill>
                    <a:schemeClr val="bg2"/>
                  </a:solidFill>
                  <a:ea typeface="宋体" panose="02010600030101010101" pitchFamily="2" charset="-122"/>
                </a:rPr>
                <a:t>的备份</a:t>
              </a:r>
              <a:endParaRPr lang="en-AU" altLang="zh-CN" sz="1400" b="0" dirty="0">
                <a:solidFill>
                  <a:schemeClr val="bg2"/>
                </a:solidFill>
                <a:ea typeface="宋体" panose="02010600030101010101" pitchFamily="2" charset="-122"/>
              </a:endParaRPr>
            </a:p>
          </p:txBody>
        </p:sp>
        <p:sp>
          <p:nvSpPr>
            <p:cNvPr id="23" name="Rectangle 50"/>
            <p:cNvSpPr>
              <a:spLocks noChangeArrowheads="1"/>
            </p:cNvSpPr>
            <p:nvPr/>
          </p:nvSpPr>
          <p:spPr bwMode="auto">
            <a:xfrm>
              <a:off x="4241" y="2818"/>
              <a:ext cx="138" cy="138"/>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容错处理</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143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ea typeface="宋体" panose="02010600030101010101" pitchFamily="2" charset="-122"/>
              </a:rPr>
              <a:t>灾难发生后快速切换到其他备份的</a:t>
            </a:r>
            <a:r>
              <a:rPr lang="en-US" altLang="zh-CN" dirty="0" err="1">
                <a:ea typeface="宋体" panose="02010600030101010101" pitchFamily="2" charset="-122"/>
              </a:rPr>
              <a:t>Baseapp</a:t>
            </a:r>
            <a:endParaRPr lang="en-AU" altLang="zh-CN" dirty="0">
              <a:ea typeface="宋体" panose="02010600030101010101" pitchFamily="2" charset="-122"/>
            </a:endParaRPr>
          </a:p>
        </p:txBody>
      </p:sp>
      <p:grpSp>
        <p:nvGrpSpPr>
          <p:cNvPr id="5" name="Group 4"/>
          <p:cNvGrpSpPr/>
          <p:nvPr/>
        </p:nvGrpSpPr>
        <p:grpSpPr bwMode="auto">
          <a:xfrm>
            <a:off x="539552" y="2976596"/>
            <a:ext cx="8352928" cy="3130757"/>
            <a:chOff x="1066" y="1321"/>
            <a:chExt cx="4536" cy="1928"/>
          </a:xfrm>
        </p:grpSpPr>
        <p:sp>
          <p:nvSpPr>
            <p:cNvPr id="6" name="Rectangle 5"/>
            <p:cNvSpPr>
              <a:spLocks noChangeArrowheads="1"/>
            </p:cNvSpPr>
            <p:nvPr/>
          </p:nvSpPr>
          <p:spPr bwMode="auto">
            <a:xfrm>
              <a:off x="4150" y="2704"/>
              <a:ext cx="1384" cy="54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 name="Group 6"/>
            <p:cNvGrpSpPr/>
            <p:nvPr/>
          </p:nvGrpSpPr>
          <p:grpSpPr bwMode="auto">
            <a:xfrm>
              <a:off x="1066" y="1321"/>
              <a:ext cx="976" cy="521"/>
              <a:chOff x="1066" y="1321"/>
              <a:chExt cx="976" cy="521"/>
            </a:xfrm>
          </p:grpSpPr>
          <p:sp>
            <p:nvSpPr>
              <p:cNvPr id="45" name="Rectangle 7"/>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8"/>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7" name="Rectangle 9"/>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8" name="Rectangle 10"/>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9" name="Rectangle 11"/>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1" name="Rectangle 12"/>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2" name="Rectangle 13"/>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8" name="Group 14"/>
            <p:cNvGrpSpPr/>
            <p:nvPr/>
          </p:nvGrpSpPr>
          <p:grpSpPr bwMode="auto">
            <a:xfrm>
              <a:off x="2177" y="1321"/>
              <a:ext cx="976" cy="521"/>
              <a:chOff x="1066" y="1321"/>
              <a:chExt cx="976" cy="521"/>
            </a:xfrm>
          </p:grpSpPr>
          <p:sp>
            <p:nvSpPr>
              <p:cNvPr id="38" name="Rectangle 15"/>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16"/>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40" name="Rectangle 17"/>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1" name="Rectangle 18"/>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2" name="Rectangle 19"/>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3" name="Rectangle 20"/>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4" name="Rectangle 21"/>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9" name="Group 22"/>
            <p:cNvGrpSpPr/>
            <p:nvPr/>
          </p:nvGrpSpPr>
          <p:grpSpPr bwMode="auto">
            <a:xfrm>
              <a:off x="3266" y="1321"/>
              <a:ext cx="976" cy="521"/>
              <a:chOff x="1066" y="1321"/>
              <a:chExt cx="976" cy="521"/>
            </a:xfrm>
          </p:grpSpPr>
          <p:sp>
            <p:nvSpPr>
              <p:cNvPr id="31" name="Rectangle 23"/>
              <p:cNvSpPr>
                <a:spLocks noChangeArrowheads="1"/>
              </p:cNvSpPr>
              <p:nvPr/>
            </p:nvSpPr>
            <p:spPr bwMode="auto">
              <a:xfrm>
                <a:off x="1066" y="1321"/>
                <a:ext cx="976" cy="5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24"/>
              <p:cNvSpPr txBox="1">
                <a:spLocks noChangeArrowheads="1"/>
              </p:cNvSpPr>
              <p:nvPr/>
            </p:nvSpPr>
            <p:spPr bwMode="auto">
              <a:xfrm>
                <a:off x="1179" y="1457"/>
                <a:ext cx="532"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AU" dirty="0" err="1">
                    <a:solidFill>
                      <a:schemeClr val="bg2"/>
                    </a:solidFill>
                  </a:rPr>
                  <a:t>Baseapp</a:t>
                </a:r>
                <a:endParaRPr lang="en-AU" dirty="0">
                  <a:solidFill>
                    <a:schemeClr val="bg2"/>
                  </a:solidFill>
                </a:endParaRPr>
              </a:p>
            </p:txBody>
          </p:sp>
          <p:sp>
            <p:nvSpPr>
              <p:cNvPr id="33" name="Rectangle 25"/>
              <p:cNvSpPr>
                <a:spLocks noChangeArrowheads="1"/>
              </p:cNvSpPr>
              <p:nvPr/>
            </p:nvSpPr>
            <p:spPr bwMode="auto">
              <a:xfrm>
                <a:off x="1111"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4" name="Rectangle 26"/>
              <p:cNvSpPr>
                <a:spLocks noChangeArrowheads="1"/>
              </p:cNvSpPr>
              <p:nvPr/>
            </p:nvSpPr>
            <p:spPr bwMode="auto">
              <a:xfrm>
                <a:off x="1292"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5" name="Rectangle 27"/>
              <p:cNvSpPr>
                <a:spLocks noChangeArrowheads="1"/>
              </p:cNvSpPr>
              <p:nvPr/>
            </p:nvSpPr>
            <p:spPr bwMode="auto">
              <a:xfrm>
                <a:off x="1474"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6" name="Rectangle 28"/>
              <p:cNvSpPr>
                <a:spLocks noChangeArrowheads="1"/>
              </p:cNvSpPr>
              <p:nvPr/>
            </p:nvSpPr>
            <p:spPr bwMode="auto">
              <a:xfrm>
                <a:off x="1655"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7" name="Rectangle 29"/>
              <p:cNvSpPr>
                <a:spLocks noChangeArrowheads="1"/>
              </p:cNvSpPr>
              <p:nvPr/>
            </p:nvSpPr>
            <p:spPr bwMode="auto">
              <a:xfrm>
                <a:off x="1837" y="1344"/>
                <a:ext cx="136" cy="136"/>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grpSp>
          <p:nvGrpSpPr>
            <p:cNvPr id="10" name="Group 30"/>
            <p:cNvGrpSpPr/>
            <p:nvPr/>
          </p:nvGrpSpPr>
          <p:grpSpPr bwMode="auto">
            <a:xfrm>
              <a:off x="2161" y="2319"/>
              <a:ext cx="976" cy="521"/>
              <a:chOff x="1050" y="1321"/>
              <a:chExt cx="976" cy="521"/>
            </a:xfrm>
          </p:grpSpPr>
          <p:sp>
            <p:nvSpPr>
              <p:cNvPr id="24" name="Rectangle 31"/>
              <p:cNvSpPr>
                <a:spLocks noChangeArrowheads="1"/>
              </p:cNvSpPr>
              <p:nvPr/>
            </p:nvSpPr>
            <p:spPr bwMode="auto">
              <a:xfrm>
                <a:off x="1050" y="1321"/>
                <a:ext cx="976" cy="521"/>
              </a:xfrm>
              <a:prstGeom prst="rect">
                <a:avLst/>
              </a:prstGeom>
              <a:solidFill>
                <a:schemeClr val="bg1">
                  <a:lumMod val="75000"/>
                </a:schemeClr>
              </a:solidFill>
              <a:ln w="9525" algn="ctr">
                <a:solidFill>
                  <a:schemeClr val="tx1"/>
                </a:solidFill>
                <a:miter lim="800000"/>
              </a:ln>
              <a:effectLst/>
              <a:scene3d>
                <a:camera prst="isometricOffAxis2Top"/>
                <a:lightRig rig="threePt" dir="t"/>
              </a:scene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32"/>
              <p:cNvSpPr txBox="1">
                <a:spLocks noChangeArrowheads="1"/>
              </p:cNvSpPr>
              <p:nvPr/>
            </p:nvSpPr>
            <p:spPr bwMode="auto">
              <a:xfrm>
                <a:off x="1179" y="1457"/>
                <a:ext cx="532" cy="227"/>
              </a:xfrm>
              <a:prstGeom prst="rect">
                <a:avLst/>
              </a:prstGeom>
              <a:scene3d>
                <a:camera prst="isometricOffAxis2Top"/>
                <a:lightRig rig="threePt" dir="t"/>
              </a:scene3d>
            </p:spPr>
            <p:style>
              <a:lnRef idx="1">
                <a:schemeClr val="accent2"/>
              </a:lnRef>
              <a:fillRef idx="3">
                <a:schemeClr val="accent2"/>
              </a:fillRef>
              <a:effectRef idx="2">
                <a:schemeClr val="accent2"/>
              </a:effectRef>
              <a:fontRef idx="minor">
                <a:schemeClr val="lt1"/>
              </a:fontRef>
            </p:style>
            <p:txBody>
              <a:bodyPr wrap="none">
                <a:spAutoFit/>
              </a:bodyPr>
              <a:lstStyle/>
              <a:p>
                <a:r>
                  <a:rPr lang="en-AU" dirty="0" err="1">
                    <a:solidFill>
                      <a:schemeClr val="bg2"/>
                    </a:solidFill>
                  </a:rPr>
                  <a:t>Baseapp</a:t>
                </a:r>
                <a:endParaRPr lang="en-AU" dirty="0">
                  <a:solidFill>
                    <a:schemeClr val="bg2"/>
                  </a:solidFill>
                </a:endParaRPr>
              </a:p>
            </p:txBody>
          </p:sp>
          <p:sp>
            <p:nvSpPr>
              <p:cNvPr id="26" name="Rectangle 33"/>
              <p:cNvSpPr>
                <a:spLocks noChangeArrowheads="1"/>
              </p:cNvSpPr>
              <p:nvPr/>
            </p:nvSpPr>
            <p:spPr bwMode="auto">
              <a:xfrm>
                <a:off x="1111"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7" name="Rectangle 34"/>
              <p:cNvSpPr>
                <a:spLocks noChangeArrowheads="1"/>
              </p:cNvSpPr>
              <p:nvPr/>
            </p:nvSpPr>
            <p:spPr bwMode="auto">
              <a:xfrm>
                <a:off x="1292"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8" name="Rectangle 35"/>
              <p:cNvSpPr>
                <a:spLocks noChangeArrowheads="1"/>
              </p:cNvSpPr>
              <p:nvPr/>
            </p:nvSpPr>
            <p:spPr bwMode="auto">
              <a:xfrm>
                <a:off x="1474"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29" name="Rectangle 36"/>
              <p:cNvSpPr>
                <a:spLocks noChangeArrowheads="1"/>
              </p:cNvSpPr>
              <p:nvPr/>
            </p:nvSpPr>
            <p:spPr bwMode="auto">
              <a:xfrm>
                <a:off x="1655"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0" name="Rectangle 37"/>
              <p:cNvSpPr>
                <a:spLocks noChangeArrowheads="1"/>
              </p:cNvSpPr>
              <p:nvPr/>
            </p:nvSpPr>
            <p:spPr bwMode="auto">
              <a:xfrm>
                <a:off x="1837" y="1344"/>
                <a:ext cx="136" cy="136"/>
              </a:xfrm>
              <a:prstGeom prst="rect">
                <a:avLst/>
              </a:prstGeom>
              <a:solidFill>
                <a:schemeClr val="bg1">
                  <a:lumMod val="75000"/>
                </a:schemeClr>
              </a:solidFill>
              <a:scene3d>
                <a:camera prst="isometricOffAxis2Top"/>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
          <p:nvSpPr>
            <p:cNvPr id="11" name="Rectangle 38" descr="75%"/>
            <p:cNvSpPr>
              <a:spLocks noChangeArrowheads="1"/>
            </p:cNvSpPr>
            <p:nvPr/>
          </p:nvSpPr>
          <p:spPr bwMode="auto">
            <a:xfrm>
              <a:off x="1837"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2" name="Rectangle 39" descr="75%"/>
            <p:cNvSpPr>
              <a:spLocks noChangeArrowheads="1"/>
            </p:cNvSpPr>
            <p:nvPr/>
          </p:nvSpPr>
          <p:spPr bwMode="auto">
            <a:xfrm>
              <a:off x="3311"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3" name="Rectangle 40" descr="75%"/>
            <p:cNvSpPr>
              <a:spLocks noChangeArrowheads="1"/>
            </p:cNvSpPr>
            <p:nvPr/>
          </p:nvSpPr>
          <p:spPr bwMode="auto">
            <a:xfrm>
              <a:off x="2404"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4" name="Rectangle 41" descr="75%"/>
            <p:cNvSpPr>
              <a:spLocks noChangeArrowheads="1"/>
            </p:cNvSpPr>
            <p:nvPr/>
          </p:nvSpPr>
          <p:spPr bwMode="auto">
            <a:xfrm>
              <a:off x="2585"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5" name="Rectangle 42" descr="75%"/>
            <p:cNvSpPr>
              <a:spLocks noChangeArrowheads="1"/>
            </p:cNvSpPr>
            <p:nvPr/>
          </p:nvSpPr>
          <p:spPr bwMode="auto">
            <a:xfrm>
              <a:off x="2766" y="1684"/>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21" name="Rectangle 48" descr="75%"/>
            <p:cNvSpPr>
              <a:spLocks noChangeArrowheads="1"/>
            </p:cNvSpPr>
            <p:nvPr/>
          </p:nvSpPr>
          <p:spPr bwMode="auto">
            <a:xfrm>
              <a:off x="4241" y="3022"/>
              <a:ext cx="136" cy="136"/>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22" name="Text Box 49"/>
            <p:cNvSpPr txBox="1">
              <a:spLocks noChangeArrowheads="1"/>
            </p:cNvSpPr>
            <p:nvPr/>
          </p:nvSpPr>
          <p:spPr bwMode="auto">
            <a:xfrm>
              <a:off x="4400" y="2772"/>
              <a:ext cx="120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AU" sz="1400" dirty="0">
                  <a:solidFill>
                    <a:schemeClr val="bg2"/>
                  </a:solidFill>
                  <a:ea typeface="宋体" panose="02010600030101010101" pitchFamily="2" charset="-122"/>
                  <a:sym typeface="+mn-ea"/>
                </a:rPr>
                <a:t>自己的</a:t>
              </a:r>
              <a:r>
                <a:rPr lang="en-US" altLang="en-AU" sz="1400" dirty="0">
                  <a:solidFill>
                    <a:schemeClr val="bg2"/>
                  </a:solidFill>
                  <a:ea typeface="宋体" panose="02010600030101010101" pitchFamily="2" charset="-122"/>
                </a:rPr>
                <a:t>Entity</a:t>
              </a:r>
              <a:r>
                <a:rPr lang="en-AU" altLang="zh-CN" sz="1400" dirty="0">
                  <a:solidFill>
                    <a:schemeClr val="bg2"/>
                  </a:solidFill>
                  <a:ea typeface="宋体" panose="02010600030101010101" pitchFamily="2" charset="-122"/>
                  <a:sym typeface="+mn-ea"/>
                </a:rPr>
                <a:t> </a:t>
              </a:r>
              <a:r>
                <a:rPr lang="zh-CN" altLang="en-US" sz="1400" dirty="0">
                  <a:solidFill>
                    <a:schemeClr val="bg2"/>
                  </a:solidFill>
                  <a:ea typeface="宋体" panose="02010600030101010101" pitchFamily="2" charset="-122"/>
                  <a:sym typeface="+mn-ea"/>
                </a:rPr>
                <a:t>实体</a:t>
              </a:r>
              <a:endParaRPr lang="en-AU" altLang="zh-CN" sz="1400" b="0" dirty="0">
                <a:solidFill>
                  <a:schemeClr val="bg2"/>
                </a:solidFill>
                <a:ea typeface="宋体" panose="02010600030101010101" pitchFamily="2" charset="-122"/>
              </a:endParaRPr>
            </a:p>
            <a:p>
              <a:pPr algn="l"/>
              <a:r>
                <a:rPr lang="zh-CN" altLang="en-AU" sz="1400" dirty="0">
                  <a:solidFill>
                    <a:schemeClr val="bg2"/>
                  </a:solidFill>
                  <a:ea typeface="宋体" panose="02010600030101010101" pitchFamily="2" charset="-122"/>
                  <a:sym typeface="+mn-ea"/>
                </a:rPr>
                <a:t>其他</a:t>
              </a:r>
              <a:r>
                <a:rPr lang="en-AU" altLang="zh-CN" sz="1400" dirty="0">
                  <a:solidFill>
                    <a:schemeClr val="bg2"/>
                  </a:solidFill>
                  <a:ea typeface="宋体" panose="02010600030101010101" pitchFamily="2" charset="-122"/>
                  <a:sym typeface="+mn-ea"/>
                </a:rPr>
                <a:t>Base</a:t>
              </a:r>
              <a:r>
                <a:rPr lang="en-US" altLang="zh-CN" sz="1400" dirty="0">
                  <a:solidFill>
                    <a:schemeClr val="bg2"/>
                  </a:solidFill>
                  <a:ea typeface="宋体" panose="02010600030101010101" pitchFamily="2" charset="-122"/>
                  <a:sym typeface="+mn-ea"/>
                </a:rPr>
                <a:t>a</a:t>
              </a:r>
              <a:r>
                <a:rPr lang="en-AU" altLang="zh-CN" sz="1400" dirty="0" err="1">
                  <a:solidFill>
                    <a:schemeClr val="bg2"/>
                  </a:solidFill>
                  <a:ea typeface="宋体" panose="02010600030101010101" pitchFamily="2" charset="-122"/>
                  <a:sym typeface="+mn-ea"/>
                </a:rPr>
                <a:t>pp</a:t>
              </a:r>
              <a:r>
                <a:rPr lang="zh-CN" altLang="en-US" sz="1400" dirty="0">
                  <a:solidFill>
                    <a:schemeClr val="bg2"/>
                  </a:solidFill>
                  <a:ea typeface="宋体" panose="02010600030101010101" pitchFamily="2" charset="-122"/>
                  <a:sym typeface="+mn-ea"/>
                </a:rPr>
                <a:t>上</a:t>
              </a:r>
              <a:r>
                <a:rPr lang="zh-CN" altLang="en-AU" sz="1400" dirty="0">
                  <a:solidFill>
                    <a:schemeClr val="bg2"/>
                  </a:solidFill>
                  <a:ea typeface="宋体" panose="02010600030101010101" pitchFamily="2" charset="-122"/>
                  <a:sym typeface="+mn-ea"/>
                </a:rPr>
                <a:t>的</a:t>
              </a:r>
              <a:r>
                <a:rPr lang="en-US" altLang="en-AU" sz="1400" dirty="0">
                  <a:solidFill>
                    <a:schemeClr val="bg2"/>
                  </a:solidFill>
                  <a:ea typeface="宋体" panose="02010600030101010101" pitchFamily="2" charset="-122"/>
                </a:rPr>
                <a:t>Entity</a:t>
              </a:r>
              <a:r>
                <a:rPr lang="zh-CN" altLang="en-US" sz="1400" dirty="0">
                  <a:solidFill>
                    <a:schemeClr val="bg2"/>
                  </a:solidFill>
                  <a:ea typeface="宋体" panose="02010600030101010101" pitchFamily="2" charset="-122"/>
                  <a:sym typeface="+mn-ea"/>
                </a:rPr>
                <a:t>实体</a:t>
              </a:r>
              <a:r>
                <a:rPr lang="zh-CN" altLang="en-AU" sz="1400" dirty="0">
                  <a:solidFill>
                    <a:schemeClr val="bg2"/>
                  </a:solidFill>
                  <a:ea typeface="宋体" panose="02010600030101010101" pitchFamily="2" charset="-122"/>
                  <a:sym typeface="+mn-ea"/>
                </a:rPr>
                <a:t>的备份</a:t>
              </a:r>
              <a:endParaRPr lang="en-AU" altLang="zh-CN" sz="1400" b="0" dirty="0">
                <a:solidFill>
                  <a:schemeClr val="bg2"/>
                </a:solidFill>
                <a:ea typeface="宋体" panose="02010600030101010101" pitchFamily="2" charset="-122"/>
              </a:endParaRPr>
            </a:p>
          </p:txBody>
        </p:sp>
        <p:sp>
          <p:nvSpPr>
            <p:cNvPr id="23" name="Rectangle 50"/>
            <p:cNvSpPr>
              <a:spLocks noChangeArrowheads="1"/>
            </p:cNvSpPr>
            <p:nvPr/>
          </p:nvSpPr>
          <p:spPr bwMode="auto">
            <a:xfrm>
              <a:off x="4241" y="2818"/>
              <a:ext cx="138" cy="138"/>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容错处理</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3312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与</a:t>
            </a:r>
            <a:r>
              <a:rPr lang="en-US" altLang="zh-CN" dirty="0">
                <a:ea typeface="宋体" panose="02010600030101010101" pitchFamily="2" charset="-122"/>
              </a:rPr>
              <a:t>Crash</a:t>
            </a:r>
            <a:r>
              <a:rPr lang="zh-CN" altLang="en-AU" dirty="0">
                <a:ea typeface="宋体" panose="02010600030101010101" pitchFamily="2" charset="-122"/>
              </a:rPr>
              <a:t>的</a:t>
            </a:r>
            <a:r>
              <a:rPr lang="en-AU" altLang="zh-CN" dirty="0" err="1">
                <a:ea typeface="宋体" panose="02010600030101010101" pitchFamily="2" charset="-122"/>
              </a:rPr>
              <a:t>Baseapp</a:t>
            </a:r>
            <a:r>
              <a:rPr lang="zh-CN" altLang="en-AU" dirty="0">
                <a:ea typeface="宋体" panose="02010600030101010101" pitchFamily="2" charset="-122"/>
              </a:rPr>
              <a:t>连接的客户端会被断开连接</a:t>
            </a:r>
            <a:endParaRPr lang="en-US" altLang="zh-CN" dirty="0">
              <a:ea typeface="宋体" panose="02010600030101010101" pitchFamily="2" charset="-122"/>
            </a:endParaRPr>
          </a:p>
          <a:p>
            <a:pPr marL="0" indent="0">
              <a:buNone/>
            </a:pPr>
            <a:r>
              <a:rPr lang="zh-CN" altLang="en-AU" dirty="0">
                <a:ea typeface="宋体" panose="02010600030101010101" pitchFamily="2" charset="-122"/>
              </a:rPr>
              <a:t>      </a:t>
            </a:r>
            <a:r>
              <a:rPr lang="zh-CN" altLang="en-AU" sz="2000" dirty="0">
                <a:ea typeface="宋体" panose="02010600030101010101" pitchFamily="2" charset="-122"/>
              </a:rPr>
              <a:t>所有的数据都被存储了</a:t>
            </a:r>
            <a:endParaRPr lang="en-US" altLang="zh-CN" sz="2000" dirty="0">
              <a:ea typeface="宋体" panose="02010600030101010101" pitchFamily="2" charset="-122"/>
            </a:endParaRPr>
          </a:p>
          <a:p>
            <a:pPr marL="0" indent="0">
              <a:buNone/>
            </a:pPr>
            <a:r>
              <a:rPr lang="zh-CN" altLang="en-AU" sz="2000" dirty="0">
                <a:ea typeface="宋体" panose="02010600030101010101" pitchFamily="2" charset="-122"/>
              </a:rPr>
              <a:t>         当重</a:t>
            </a:r>
            <a:r>
              <a:rPr lang="zh-CN" altLang="en-US" sz="2000" dirty="0">
                <a:ea typeface="宋体" panose="02010600030101010101" pitchFamily="2" charset="-122"/>
              </a:rPr>
              <a:t>新</a:t>
            </a:r>
            <a:r>
              <a:rPr lang="zh-CN" altLang="en-AU" sz="2000" dirty="0">
                <a:ea typeface="宋体" panose="02010600030101010101" pitchFamily="2" charset="-122"/>
              </a:rPr>
              <a:t>连接后，它们将继续与其原来的</a:t>
            </a:r>
            <a:r>
              <a:rPr lang="en-AU" altLang="zh-CN" sz="2000" dirty="0">
                <a:ea typeface="宋体" panose="02010600030101010101" pitchFamily="2" charset="-122"/>
              </a:rPr>
              <a:t>Entity </a:t>
            </a:r>
            <a:r>
              <a:rPr lang="zh-CN" altLang="en-AU" sz="2000" dirty="0">
                <a:ea typeface="宋体" panose="02010600030101010101" pitchFamily="2" charset="-122"/>
              </a:rPr>
              <a:t>连接</a:t>
            </a:r>
            <a:r>
              <a:rPr lang="en-AU" altLang="zh-CN" sz="2000" dirty="0">
                <a:ea typeface="宋体" panose="02010600030101010101" pitchFamily="2" charset="-122"/>
              </a:rPr>
              <a:t>    </a:t>
            </a:r>
            <a:r>
              <a:rPr lang="en-AU" altLang="zh-CN" sz="2000" dirty="0"/>
              <a:t>(</a:t>
            </a:r>
            <a:r>
              <a:rPr lang="zh-CN" altLang="en-AU" sz="2000" dirty="0">
                <a:ea typeface="宋体" panose="02010600030101010101" pitchFamily="2" charset="-122"/>
              </a:rPr>
              <a:t>如果没有</a:t>
            </a:r>
            <a:r>
              <a:rPr lang="en-AU" altLang="zh-CN" sz="2000" dirty="0">
                <a:ea typeface="宋体" panose="02010600030101010101" pitchFamily="2" charset="-122"/>
              </a:rPr>
              <a:t>timeout</a:t>
            </a:r>
            <a:r>
              <a:rPr lang="zh-CN" altLang="en-AU" sz="2000" dirty="0">
                <a:ea typeface="宋体" panose="02010600030101010101" pitchFamily="2" charset="-122"/>
              </a:rPr>
              <a:t>的话</a:t>
            </a:r>
            <a:r>
              <a:rPr lang="en-AU" altLang="zh-CN" sz="2000" dirty="0"/>
              <a:t>)</a:t>
            </a:r>
          </a:p>
          <a:p>
            <a:pPr marL="0" lvl="1" indent="0">
              <a:buSzPct val="80000"/>
              <a:buNone/>
            </a:pPr>
            <a:endParaRPr lang="en-AU" altLang="zh-CN" dirty="0"/>
          </a:p>
          <a:p>
            <a:pPr marL="0" indent="0">
              <a:buNone/>
            </a:pPr>
            <a:r>
              <a:rPr lang="en-US" altLang="zh-CN" sz="3200" dirty="0">
                <a:solidFill>
                  <a:srgbClr val="FF0000"/>
                </a:solidFill>
                <a:ea typeface="宋体" panose="02010600030101010101" pitchFamily="2" charset="-122"/>
              </a:rPr>
              <a:t>(</a:t>
            </a:r>
            <a:r>
              <a:rPr lang="zh-CN" altLang="en-US" sz="3200" dirty="0">
                <a:solidFill>
                  <a:srgbClr val="FF0000"/>
                </a:solidFill>
                <a:ea typeface="宋体" panose="02010600030101010101" pitchFamily="2" charset="-122"/>
              </a:rPr>
              <a:t>当某个</a:t>
            </a:r>
            <a:r>
              <a:rPr lang="en-US" altLang="zh-CN" sz="3200" dirty="0" err="1">
                <a:solidFill>
                  <a:srgbClr val="FF0000"/>
                </a:solidFill>
                <a:ea typeface="宋体" panose="02010600030101010101" pitchFamily="2" charset="-122"/>
              </a:rPr>
              <a:t>baseapp</a:t>
            </a:r>
            <a:r>
              <a:rPr lang="zh-CN" altLang="en-US" sz="3200" dirty="0">
                <a:solidFill>
                  <a:srgbClr val="FF0000"/>
                </a:solidFill>
                <a:ea typeface="宋体" panose="02010600030101010101" pitchFamily="2" charset="-122"/>
              </a:rPr>
              <a:t>故障</a:t>
            </a:r>
            <a:r>
              <a:rPr lang="en-US" altLang="zh-CN" sz="3200" dirty="0">
                <a:solidFill>
                  <a:srgbClr val="FF0000"/>
                </a:solidFill>
                <a:ea typeface="宋体" panose="02010600030101010101" pitchFamily="2" charset="-122"/>
              </a:rPr>
              <a:t>, </a:t>
            </a:r>
            <a:r>
              <a:rPr lang="zh-CN" altLang="en-US" sz="3200" dirty="0">
                <a:solidFill>
                  <a:srgbClr val="FF0000"/>
                </a:solidFill>
                <a:ea typeface="宋体" panose="02010600030101010101" pitchFamily="2" charset="-122"/>
              </a:rPr>
              <a:t>通过</a:t>
            </a:r>
            <a:r>
              <a:rPr lang="en-US" altLang="zh-CN" sz="3200" dirty="0" err="1">
                <a:solidFill>
                  <a:srgbClr val="FF0000"/>
                </a:solidFill>
                <a:ea typeface="宋体" panose="02010600030101010101" pitchFamily="2" charset="-122"/>
              </a:rPr>
              <a:t>baseappmgr</a:t>
            </a:r>
            <a:r>
              <a:rPr lang="zh-CN" altLang="en-US" sz="3200" dirty="0">
                <a:solidFill>
                  <a:srgbClr val="FF0000"/>
                </a:solidFill>
                <a:ea typeface="宋体" panose="02010600030101010101" pitchFamily="2" charset="-122"/>
              </a:rPr>
              <a:t>能查询到该</a:t>
            </a:r>
            <a:r>
              <a:rPr lang="en-US" altLang="zh-CN" sz="3200" dirty="0" err="1">
                <a:solidFill>
                  <a:srgbClr val="FF0000"/>
                </a:solidFill>
                <a:ea typeface="宋体" panose="02010600030101010101" pitchFamily="2" charset="-122"/>
              </a:rPr>
              <a:t>baseapp</a:t>
            </a:r>
            <a:r>
              <a:rPr lang="zh-CN" altLang="en-US" sz="3200" dirty="0">
                <a:solidFill>
                  <a:srgbClr val="FF0000"/>
                </a:solidFill>
                <a:ea typeface="宋体" panose="02010600030101010101" pitchFamily="2" charset="-122"/>
              </a:rPr>
              <a:t>下的所有</a:t>
            </a:r>
            <a:r>
              <a:rPr lang="en-US" altLang="zh-CN" sz="3200" dirty="0">
                <a:solidFill>
                  <a:srgbClr val="FF0000"/>
                </a:solidFill>
                <a:ea typeface="宋体" panose="02010600030101010101" pitchFamily="2" charset="-122"/>
              </a:rPr>
              <a:t>entity</a:t>
            </a:r>
            <a:r>
              <a:rPr lang="zh-CN" altLang="en-US" sz="3200" dirty="0">
                <a:solidFill>
                  <a:srgbClr val="FF0000"/>
                </a:solidFill>
                <a:ea typeface="宋体" panose="02010600030101010101" pitchFamily="2" charset="-122"/>
              </a:rPr>
              <a:t>的备份情况</a:t>
            </a:r>
            <a:r>
              <a:rPr lang="en-US" altLang="zh-CN" sz="3200" dirty="0">
                <a:solidFill>
                  <a:srgbClr val="FF0000"/>
                </a:solidFill>
                <a:ea typeface="宋体" panose="02010600030101010101" pitchFamily="2" charset="-122"/>
              </a:rPr>
              <a:t>,</a:t>
            </a:r>
            <a:r>
              <a:rPr lang="zh-CN" altLang="en-US" sz="3200" dirty="0">
                <a:solidFill>
                  <a:srgbClr val="FF0000"/>
                </a:solidFill>
                <a:ea typeface="宋体" panose="02010600030101010101" pitchFamily="2" charset="-122"/>
              </a:rPr>
              <a:t>会通知对应的备份</a:t>
            </a:r>
            <a:r>
              <a:rPr lang="en-US" altLang="zh-CN" sz="3200" dirty="0" err="1">
                <a:solidFill>
                  <a:srgbClr val="FF0000"/>
                </a:solidFill>
                <a:ea typeface="宋体" panose="02010600030101010101" pitchFamily="2" charset="-122"/>
              </a:rPr>
              <a:t>baseapp</a:t>
            </a:r>
            <a:r>
              <a:rPr lang="zh-CN" altLang="en-US" sz="3200" dirty="0">
                <a:solidFill>
                  <a:srgbClr val="FF0000"/>
                </a:solidFill>
                <a:ea typeface="宋体" panose="02010600030101010101" pitchFamily="2" charset="-122"/>
              </a:rPr>
              <a:t>恢复和使用备份数据</a:t>
            </a:r>
            <a:r>
              <a:rPr lang="en-US" altLang="zh-CN" sz="3200" dirty="0">
                <a:solidFill>
                  <a:srgbClr val="FF0000"/>
                </a:solidFill>
                <a:ea typeface="宋体" panose="02010600030101010101" pitchFamily="2" charset="-122"/>
              </a:rPr>
              <a:t>,</a:t>
            </a:r>
            <a:r>
              <a:rPr lang="zh-CN" altLang="en-US" sz="3200" dirty="0">
                <a:solidFill>
                  <a:srgbClr val="FF0000"/>
                </a:solidFill>
                <a:ea typeface="宋体" panose="02010600030101010101" pitchFamily="2" charset="-122"/>
              </a:rPr>
              <a:t>同时通知客户端连接到该备份</a:t>
            </a:r>
            <a:r>
              <a:rPr lang="en-US" altLang="zh-CN" sz="3200" dirty="0" err="1">
                <a:solidFill>
                  <a:srgbClr val="FF0000"/>
                </a:solidFill>
                <a:ea typeface="宋体" panose="02010600030101010101" pitchFamily="2" charset="-122"/>
              </a:rPr>
              <a:t>baseapp</a:t>
            </a:r>
            <a:r>
              <a:rPr lang="en-US" altLang="zh-CN" sz="3200" dirty="0">
                <a:solidFill>
                  <a:srgbClr val="FF0000"/>
                </a:solidFill>
                <a:ea typeface="宋体" panose="02010600030101010101" pitchFamily="2" charset="-122"/>
              </a:rPr>
              <a:t>)</a:t>
            </a:r>
            <a:endParaRPr lang="en-AU" altLang="zh-CN" sz="3200" dirty="0">
              <a:solidFill>
                <a:srgbClr val="FF0000"/>
              </a:solidFill>
              <a:ea typeface="宋体" panose="02010600030101010101" pitchFamily="2" charset="-122"/>
            </a:endParaRPr>
          </a:p>
          <a:p>
            <a:pPr marL="0" indent="0">
              <a:buNone/>
            </a:pPr>
            <a:endParaRPr lang="en-AU"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Baseapp</a:t>
            </a:r>
            <a:r>
              <a:rPr lang="en-US" altLang="zh-CN" dirty="0">
                <a:solidFill>
                  <a:schemeClr val="accent1"/>
                </a:solidFill>
                <a:ea typeface="宋体" panose="02010600030101010101" pitchFamily="2" charset="-122"/>
              </a:rPr>
              <a:t> </a:t>
            </a:r>
            <a:r>
              <a:rPr lang="zh-CN" altLang="en-US" dirty="0">
                <a:solidFill>
                  <a:schemeClr val="accent1"/>
                </a:solidFill>
                <a:ea typeface="宋体" panose="02010600030101010101" pitchFamily="2" charset="-122"/>
              </a:rPr>
              <a:t>的管理器</a:t>
            </a:r>
            <a:r>
              <a:rPr lang="en-US" altLang="zh-CN" dirty="0">
                <a:solidFill>
                  <a:schemeClr val="accent1"/>
                </a:solidFill>
                <a:ea typeface="宋体" panose="02010600030101010101" pitchFamily="2" charset="-122"/>
              </a:rPr>
              <a:t>(</a:t>
            </a:r>
            <a:r>
              <a:rPr lang="en-US" altLang="zh-CN" dirty="0" err="1">
                <a:solidFill>
                  <a:schemeClr val="accent1"/>
                </a:solidFill>
                <a:ea typeface="宋体" panose="02010600030101010101" pitchFamily="2" charset="-122"/>
              </a:rPr>
              <a:t>BaseappMgr</a:t>
            </a:r>
            <a:r>
              <a:rPr lang="en-US" altLang="zh-CN" dirty="0">
                <a:solidFill>
                  <a:schemeClr val="accent1"/>
                </a:solidFill>
                <a:ea typeface="宋体" panose="02010600030101010101" pitchFamily="2" charset="-122"/>
              </a:rPr>
              <a:t>)</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3312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负责管理</a:t>
            </a:r>
            <a:r>
              <a:rPr lang="en-AU" altLang="zh-CN" dirty="0" err="1">
                <a:ea typeface="宋体" panose="02010600030101010101" pitchFamily="2" charset="-122"/>
              </a:rPr>
              <a:t>Baseapp</a:t>
            </a:r>
            <a:r>
              <a:rPr lang="zh-CN" altLang="en-AU" dirty="0">
                <a:ea typeface="宋体" panose="02010600030101010101" pitchFamily="2" charset="-122"/>
              </a:rPr>
              <a:t>间的负载平衡</a:t>
            </a:r>
            <a:endParaRPr lang="en-US" altLang="zh-CN" dirty="0">
              <a:ea typeface="宋体" panose="02010600030101010101" pitchFamily="2" charset="-122"/>
            </a:endParaRPr>
          </a:p>
          <a:p>
            <a:r>
              <a:rPr lang="zh-CN" altLang="en-US" dirty="0">
                <a:ea typeface="宋体" panose="02010600030101010101" pitchFamily="2" charset="-122"/>
              </a:rPr>
              <a:t>监视所有的</a:t>
            </a:r>
            <a:r>
              <a:rPr lang="en-US" altLang="zh-CN" dirty="0" err="1">
                <a:ea typeface="宋体" panose="02010600030101010101" pitchFamily="2" charset="-122"/>
              </a:rPr>
              <a:t>Baseapp</a:t>
            </a:r>
            <a:r>
              <a:rPr lang="zh-CN" altLang="en-US" dirty="0">
                <a:ea typeface="宋体" panose="02010600030101010101" pitchFamily="2" charset="-122"/>
              </a:rPr>
              <a:t>以实现各个</a:t>
            </a:r>
            <a:r>
              <a:rPr lang="en-US" altLang="zh-CN" dirty="0" err="1">
                <a:ea typeface="宋体" panose="02010600030101010101" pitchFamily="2" charset="-122"/>
              </a:rPr>
              <a:t>Baseapp</a:t>
            </a:r>
            <a:r>
              <a:rPr lang="zh-CN" altLang="en-US" dirty="0">
                <a:ea typeface="宋体" panose="02010600030101010101" pitchFamily="2" charset="-122"/>
              </a:rPr>
              <a:t>之间的容错</a:t>
            </a:r>
            <a:endParaRPr lang="en-US" altLang="zh-CN" dirty="0">
              <a:ea typeface="宋体" panose="02010600030101010101" pitchFamily="2" charset="-122"/>
            </a:endParaRPr>
          </a:p>
          <a:p>
            <a:r>
              <a:rPr lang="zh-CN" altLang="en-AU" dirty="0">
                <a:ea typeface="宋体" panose="02010600030101010101" pitchFamily="2" charset="-122"/>
              </a:rPr>
              <a:t>主要用于玩家登录</a:t>
            </a:r>
            <a:r>
              <a:rPr lang="zh-CN" altLang="en-US" dirty="0">
                <a:ea typeface="宋体" panose="02010600030101010101" pitchFamily="2" charset="-122"/>
              </a:rPr>
              <a:t>分配</a:t>
            </a:r>
            <a:r>
              <a:rPr lang="zh-CN" altLang="en-AU" dirty="0">
                <a:ea typeface="宋体" panose="02010600030101010101" pitchFamily="2" charset="-122"/>
              </a:rPr>
              <a:t>和创建</a:t>
            </a:r>
            <a:r>
              <a:rPr lang="en-AU" altLang="zh-CN" dirty="0">
                <a:ea typeface="宋体" panose="02010600030101010101" pitchFamily="2" charset="-122"/>
              </a:rPr>
              <a:t>Entity</a:t>
            </a:r>
            <a:endParaRPr lang="en-AU" altLang="zh-CN" dirty="0"/>
          </a:p>
          <a:p>
            <a:r>
              <a:rPr lang="zh-CN" altLang="en-US" dirty="0">
                <a:ea typeface="宋体" panose="02010600030101010101" pitchFamily="2" charset="-122"/>
              </a:rPr>
              <a:t>一</a:t>
            </a:r>
            <a:r>
              <a:rPr lang="zh-CN" altLang="en-AU" dirty="0">
                <a:ea typeface="宋体" panose="02010600030101010101" pitchFamily="2" charset="-122"/>
              </a:rPr>
              <a:t>个服务器群组有一个</a:t>
            </a:r>
            <a:r>
              <a:rPr lang="en-AU" altLang="zh-CN" dirty="0" err="1">
                <a:ea typeface="宋体" panose="02010600030101010101" pitchFamily="2" charset="-122"/>
              </a:rPr>
              <a:t>BaseappMgr</a:t>
            </a:r>
            <a:r>
              <a:rPr lang="zh-CN" altLang="en-AU" dirty="0">
                <a:ea typeface="宋体" panose="02010600030101010101" pitchFamily="2" charset="-122"/>
              </a:rPr>
              <a:t>实例</a:t>
            </a:r>
            <a:endParaRPr lang="en-AU" altLang="zh-CN" dirty="0"/>
          </a:p>
          <a:p>
            <a:endParaRPr lang="en-AU" altLang="zh-CN" dirty="0"/>
          </a:p>
          <a:p>
            <a:endParaRPr lang="en-AU" altLang="zh-CN" dirty="0"/>
          </a:p>
          <a:p>
            <a:pPr marL="0" lvl="1" indent="0">
              <a:buSzPct val="80000"/>
              <a:buNone/>
            </a:pPr>
            <a:endParaRPr lang="en-AU" altLang="zh-CN" dirty="0"/>
          </a:p>
          <a:p>
            <a:pPr marL="0" indent="0">
              <a:buNone/>
            </a:pPr>
            <a:endParaRPr lang="en-AU"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Cellapp</a:t>
            </a:r>
            <a:r>
              <a:rPr lang="zh-CN" altLang="en-US" dirty="0">
                <a:solidFill>
                  <a:schemeClr val="accent1"/>
                </a:solidFill>
                <a:ea typeface="宋体" panose="02010600030101010101" pitchFamily="2" charset="-122"/>
              </a:rPr>
              <a:t>进程</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215776" y="1413024"/>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空间</a:t>
            </a:r>
            <a:r>
              <a:rPr lang="zh-CN" altLang="en-US" dirty="0">
                <a:ea typeface="宋体" panose="02010600030101010101" pitchFamily="2" charset="-122"/>
              </a:rPr>
              <a:t>与位置</a:t>
            </a:r>
            <a:r>
              <a:rPr lang="zh-CN" altLang="en-AU" dirty="0">
                <a:ea typeface="宋体" panose="02010600030101010101" pitchFamily="2" charset="-122"/>
              </a:rPr>
              <a:t>数据的处理</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处理场景内逻辑</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如移动、交互</a:t>
            </a:r>
            <a:r>
              <a:rPr lang="en-US" altLang="zh-CN" sz="1800" dirty="0">
                <a:solidFill>
                  <a:srgbClr val="FF0000"/>
                </a:solidFill>
                <a:ea typeface="宋体" panose="02010600030101010101" pitchFamily="2" charset="-122"/>
              </a:rPr>
              <a:t>)</a:t>
            </a:r>
            <a:endParaRPr lang="en-AU" altLang="zh-CN" sz="1800" dirty="0">
              <a:solidFill>
                <a:srgbClr val="FF0000"/>
              </a:solidFill>
            </a:endParaRPr>
          </a:p>
          <a:p>
            <a:pPr marL="0" indent="0">
              <a:buNone/>
            </a:pPr>
            <a:r>
              <a:rPr lang="en-AU" altLang="zh-CN" dirty="0">
                <a:ea typeface="宋体" panose="02010600030101010101" pitchFamily="2" charset="-122"/>
              </a:rPr>
              <a:t>         </a:t>
            </a:r>
            <a:r>
              <a:rPr lang="zh-CN" altLang="en-AU" sz="2000" dirty="0">
                <a:ea typeface="宋体" panose="02010600030101010101" pitchFamily="2" charset="-122"/>
              </a:rPr>
              <a:t>处理玩家交互的</a:t>
            </a:r>
            <a:r>
              <a:rPr lang="en-AU" altLang="zh-CN" sz="2000" dirty="0">
                <a:ea typeface="宋体" panose="02010600030101010101" pitchFamily="2" charset="-122"/>
              </a:rPr>
              <a:t>Space</a:t>
            </a:r>
            <a:r>
              <a:rPr lang="zh-CN" altLang="en-AU" sz="2000" dirty="0">
                <a:ea typeface="宋体" panose="02010600030101010101" pitchFamily="2" charset="-122"/>
              </a:rPr>
              <a:t> </a:t>
            </a:r>
            <a:r>
              <a:rPr lang="en-AU" altLang="zh-CN" sz="2000" dirty="0">
                <a:ea typeface="宋体" panose="02010600030101010101" pitchFamily="2" charset="-122"/>
              </a:rPr>
              <a:t>(</a:t>
            </a:r>
            <a:r>
              <a:rPr lang="zh-CN" altLang="en-AU" sz="2000" dirty="0">
                <a:ea typeface="宋体" panose="02010600030101010101" pitchFamily="2" charset="-122"/>
              </a:rPr>
              <a:t>空间</a:t>
            </a:r>
            <a:r>
              <a:rPr lang="zh-CN" altLang="en-US" sz="2000" dirty="0">
                <a:ea typeface="宋体" panose="02010600030101010101" pitchFamily="2" charset="-122"/>
              </a:rPr>
              <a:t>、房间、场景</a:t>
            </a:r>
            <a:r>
              <a:rPr lang="en-US" altLang="zh-CN" sz="2000" dirty="0">
                <a:ea typeface="宋体" panose="02010600030101010101" pitchFamily="2" charset="-122"/>
              </a:rPr>
              <a:t>…</a:t>
            </a:r>
            <a:r>
              <a:rPr lang="en-AU" altLang="zh-CN" sz="2000" dirty="0">
                <a:ea typeface="宋体" panose="02010600030101010101" pitchFamily="2" charset="-122"/>
              </a:rPr>
              <a:t>)</a:t>
            </a:r>
            <a:endParaRPr lang="en-AU" altLang="zh-CN" sz="2000" dirty="0"/>
          </a:p>
          <a:p>
            <a:r>
              <a:rPr lang="zh-CN" altLang="en-AU" dirty="0">
                <a:ea typeface="宋体" panose="02010600030101010101" pitchFamily="2" charset="-122"/>
              </a:rPr>
              <a:t>处理在</a:t>
            </a:r>
            <a:r>
              <a:rPr lang="en-AU" altLang="zh-CN" dirty="0">
                <a:ea typeface="宋体" panose="02010600030101010101" pitchFamily="2" charset="-122"/>
              </a:rPr>
              <a:t>Space</a:t>
            </a:r>
            <a:r>
              <a:rPr lang="zh-CN" altLang="en-AU" dirty="0">
                <a:ea typeface="宋体" panose="02010600030101010101" pitchFamily="2" charset="-122"/>
              </a:rPr>
              <a:t>内的</a:t>
            </a:r>
            <a:r>
              <a:rPr lang="en-AU" altLang="zh-CN" dirty="0">
                <a:ea typeface="宋体" panose="02010600030101010101" pitchFamily="2" charset="-122"/>
              </a:rPr>
              <a:t>Entity</a:t>
            </a:r>
          </a:p>
          <a:p>
            <a:r>
              <a:rPr lang="zh-CN" altLang="en-AU" dirty="0">
                <a:ea typeface="宋体" panose="02010600030101010101" pitchFamily="2" charset="-122"/>
              </a:rPr>
              <a:t>处理</a:t>
            </a:r>
            <a:r>
              <a:rPr lang="en-AU" altLang="zh-CN" dirty="0">
                <a:ea typeface="宋体" panose="02010600030101010101" pitchFamily="2" charset="-122"/>
              </a:rPr>
              <a:t>Space</a:t>
            </a:r>
            <a:r>
              <a:rPr lang="zh-CN" altLang="en-AU" dirty="0">
                <a:ea typeface="宋体" panose="02010600030101010101" pitchFamily="2" charset="-122"/>
              </a:rPr>
              <a:t>内的一个区域</a:t>
            </a:r>
            <a:r>
              <a:rPr lang="en-AU" altLang="zh-CN" dirty="0">
                <a:ea typeface="宋体" panose="02010600030101010101" pitchFamily="2" charset="-122"/>
              </a:rPr>
              <a:t> </a:t>
            </a:r>
            <a:r>
              <a:rPr lang="en-AU" altLang="zh-CN" dirty="0"/>
              <a:t>(Cell</a:t>
            </a:r>
            <a:r>
              <a:rPr lang="en-AU" altLang="zh-CN" sz="2000" dirty="0">
                <a:solidFill>
                  <a:srgbClr val="FF0000"/>
                </a:solidFill>
              </a:rPr>
              <a:t>)(</a:t>
            </a:r>
            <a:r>
              <a:rPr lang="zh-CN" altLang="en-US" sz="2000" dirty="0">
                <a:solidFill>
                  <a:srgbClr val="FF0000"/>
                </a:solidFill>
              </a:rPr>
              <a:t>小</a:t>
            </a:r>
            <a:r>
              <a:rPr lang="en-US" altLang="zh-CN" sz="2000" dirty="0">
                <a:solidFill>
                  <a:srgbClr val="FF0000"/>
                </a:solidFill>
              </a:rPr>
              <a:t>space</a:t>
            </a:r>
            <a:r>
              <a:rPr lang="zh-CN" altLang="en-US" sz="2000" dirty="0">
                <a:solidFill>
                  <a:srgbClr val="FF0000"/>
                </a:solidFill>
              </a:rPr>
              <a:t>一般只需要划分成一个</a:t>
            </a:r>
            <a:r>
              <a:rPr lang="en-US" altLang="zh-CN" sz="2000" dirty="0">
                <a:solidFill>
                  <a:srgbClr val="FF0000"/>
                </a:solidFill>
              </a:rPr>
              <a:t>cell,</a:t>
            </a:r>
            <a:r>
              <a:rPr lang="zh-CN" altLang="en-US" sz="2000" dirty="0">
                <a:solidFill>
                  <a:srgbClr val="FF0000"/>
                </a:solidFill>
              </a:rPr>
              <a:t>稍大的才需要划分成多个</a:t>
            </a:r>
            <a:r>
              <a:rPr lang="en-US" altLang="zh-CN" sz="2000" dirty="0">
                <a:solidFill>
                  <a:srgbClr val="FF0000"/>
                </a:solidFill>
              </a:rPr>
              <a:t>cell,</a:t>
            </a:r>
            <a:r>
              <a:rPr lang="zh-CN" altLang="en-US" sz="2000" dirty="0">
                <a:solidFill>
                  <a:srgbClr val="FF0000"/>
                </a:solidFill>
              </a:rPr>
              <a:t>甚至分配到不同的</a:t>
            </a:r>
            <a:r>
              <a:rPr lang="en-US" altLang="zh-CN" sz="2000" dirty="0" err="1">
                <a:solidFill>
                  <a:srgbClr val="FF0000"/>
                </a:solidFill>
              </a:rPr>
              <a:t>cellapp</a:t>
            </a:r>
            <a:r>
              <a:rPr lang="zh-CN" altLang="en-US" sz="2000" dirty="0">
                <a:solidFill>
                  <a:srgbClr val="FF0000"/>
                </a:solidFill>
              </a:rPr>
              <a:t>管理</a:t>
            </a:r>
            <a:r>
              <a:rPr lang="en-US" altLang="zh-CN" sz="2000" dirty="0">
                <a:solidFill>
                  <a:srgbClr val="FF0000"/>
                </a:solidFill>
              </a:rPr>
              <a:t>,cell</a:t>
            </a:r>
            <a:r>
              <a:rPr lang="zh-CN" altLang="en-US" sz="2000" dirty="0">
                <a:solidFill>
                  <a:srgbClr val="FF0000"/>
                </a:solidFill>
              </a:rPr>
              <a:t>被划分的映射部分信息会记录在当前</a:t>
            </a:r>
            <a:r>
              <a:rPr lang="en-US" altLang="zh-CN" sz="2000" dirty="0" err="1">
                <a:solidFill>
                  <a:srgbClr val="FF0000"/>
                </a:solidFill>
              </a:rPr>
              <a:t>cellapp</a:t>
            </a:r>
            <a:r>
              <a:rPr lang="zh-CN" altLang="en-US" sz="2000" dirty="0">
                <a:solidFill>
                  <a:srgbClr val="FF0000"/>
                </a:solidFill>
              </a:rPr>
              <a:t>下</a:t>
            </a:r>
            <a:r>
              <a:rPr lang="en-US" altLang="zh-CN" sz="2000" dirty="0">
                <a:solidFill>
                  <a:srgbClr val="FF0000"/>
                </a:solidFill>
              </a:rPr>
              <a:t>,</a:t>
            </a:r>
            <a:r>
              <a:rPr lang="zh-CN" altLang="en-US" sz="2000" dirty="0">
                <a:solidFill>
                  <a:srgbClr val="FF0000"/>
                </a:solidFill>
              </a:rPr>
              <a:t>同时</a:t>
            </a:r>
            <a:r>
              <a:rPr lang="en-US" altLang="zh-CN" sz="2000" dirty="0" err="1">
                <a:solidFill>
                  <a:srgbClr val="FF0000"/>
                </a:solidFill>
              </a:rPr>
              <a:t>cellapp</a:t>
            </a:r>
            <a:r>
              <a:rPr lang="zh-CN" altLang="en-US" sz="2000" dirty="0">
                <a:solidFill>
                  <a:srgbClr val="FF0000"/>
                </a:solidFill>
              </a:rPr>
              <a:t>之间的映射会被记录在</a:t>
            </a:r>
            <a:r>
              <a:rPr lang="en-US" altLang="zh-CN" sz="2000" dirty="0" err="1">
                <a:solidFill>
                  <a:srgbClr val="FF0000"/>
                </a:solidFill>
              </a:rPr>
              <a:t>cellappmgr</a:t>
            </a:r>
            <a:r>
              <a:rPr lang="zh-CN" altLang="en-US" sz="2000" dirty="0">
                <a:solidFill>
                  <a:srgbClr val="FF0000"/>
                </a:solidFill>
              </a:rPr>
              <a:t>下</a:t>
            </a:r>
            <a:r>
              <a:rPr lang="en-US" altLang="zh-CN" sz="2000" dirty="0">
                <a:solidFill>
                  <a:srgbClr val="FF0000"/>
                </a:solidFill>
              </a:rPr>
              <a:t>,</a:t>
            </a:r>
            <a:r>
              <a:rPr lang="zh-CN" altLang="en-US" sz="2000" dirty="0">
                <a:solidFill>
                  <a:srgbClr val="FF0000"/>
                </a:solidFill>
              </a:rPr>
              <a:t>方便后续</a:t>
            </a:r>
            <a:r>
              <a:rPr lang="en-US" altLang="zh-CN" sz="2000" dirty="0">
                <a:solidFill>
                  <a:srgbClr val="FF0000"/>
                </a:solidFill>
              </a:rPr>
              <a:t>cell</a:t>
            </a:r>
            <a:r>
              <a:rPr lang="zh-CN" altLang="en-US" sz="2000" dirty="0">
                <a:solidFill>
                  <a:srgbClr val="FF0000"/>
                </a:solidFill>
              </a:rPr>
              <a:t>、</a:t>
            </a:r>
            <a:r>
              <a:rPr lang="en-US" altLang="zh-CN" sz="2000" dirty="0" err="1">
                <a:solidFill>
                  <a:srgbClr val="FF0000"/>
                </a:solidFill>
              </a:rPr>
              <a:t>cellapp</a:t>
            </a:r>
            <a:r>
              <a:rPr lang="zh-CN" altLang="en-US" sz="2000" dirty="0">
                <a:solidFill>
                  <a:srgbClr val="FF0000"/>
                </a:solidFill>
              </a:rPr>
              <a:t>之间交互的查找</a:t>
            </a:r>
            <a:r>
              <a:rPr lang="en-AU" altLang="zh-CN" sz="2000" dirty="0">
                <a:solidFill>
                  <a:srgbClr val="FF0000"/>
                </a:solidFill>
              </a:rPr>
              <a:t>)</a:t>
            </a:r>
          </a:p>
          <a:p>
            <a:pPr marL="0" lvl="1" indent="0">
              <a:buSzPct val="80000"/>
              <a:buNone/>
            </a:pPr>
            <a:r>
              <a:rPr lang="zh-CN" altLang="en-AU" dirty="0">
                <a:ea typeface="宋体" panose="02010600030101010101" pitchFamily="2" charset="-122"/>
              </a:rPr>
              <a:t>            </a:t>
            </a:r>
            <a:r>
              <a:rPr lang="zh-CN" altLang="en-AU" sz="2000" dirty="0">
                <a:ea typeface="宋体" panose="02010600030101010101" pitchFamily="2" charset="-122"/>
              </a:rPr>
              <a:t>一个</a:t>
            </a:r>
            <a:r>
              <a:rPr lang="en-AU" altLang="zh-CN" sz="2000" dirty="0" err="1">
                <a:ea typeface="宋体" panose="02010600030101010101" pitchFamily="2" charset="-122"/>
              </a:rPr>
              <a:t>Cellapp</a:t>
            </a:r>
            <a:r>
              <a:rPr lang="zh-CN" altLang="en-AU" sz="2000" dirty="0">
                <a:ea typeface="宋体" panose="02010600030101010101" pitchFamily="2" charset="-122"/>
              </a:rPr>
              <a:t>在一个</a:t>
            </a:r>
            <a:r>
              <a:rPr lang="en-AU" altLang="zh-CN" sz="2000" dirty="0">
                <a:ea typeface="宋体" panose="02010600030101010101" pitchFamily="2" charset="-122"/>
              </a:rPr>
              <a:t>Space</a:t>
            </a:r>
            <a:r>
              <a:rPr lang="zh-CN" altLang="en-AU" sz="2000" dirty="0">
                <a:ea typeface="宋体" panose="02010600030101010101" pitchFamily="2" charset="-122"/>
              </a:rPr>
              <a:t>上的</a:t>
            </a:r>
            <a:r>
              <a:rPr lang="en-AU" altLang="zh-CN" sz="2000" dirty="0">
                <a:ea typeface="宋体" panose="02010600030101010101" pitchFamily="2" charset="-122"/>
              </a:rPr>
              <a:t>Cell</a:t>
            </a:r>
            <a:r>
              <a:rPr lang="zh-CN" altLang="en-AU" sz="2000" dirty="0">
                <a:ea typeface="宋体" panose="02010600030101010101" pitchFamily="2" charset="-122"/>
              </a:rPr>
              <a:t>只会有一个</a:t>
            </a:r>
            <a:r>
              <a:rPr lang="en-US" altLang="zh-CN" sz="2000" dirty="0">
                <a:ea typeface="宋体" panose="02010600030101010101" pitchFamily="2" charset="-122"/>
              </a:rPr>
              <a:t>(</a:t>
            </a:r>
            <a:r>
              <a:rPr lang="zh-CN" altLang="en-US" sz="2000" dirty="0">
                <a:ea typeface="宋体" panose="02010600030101010101" pitchFamily="2" charset="-122"/>
              </a:rPr>
              <a:t>通常   进程占用</a:t>
            </a:r>
            <a:r>
              <a:rPr lang="zh-CN" altLang="en-AU" sz="2000" dirty="0">
                <a:ea typeface="宋体" panose="02010600030101010101" pitchFamily="2" charset="-122"/>
              </a:rPr>
              <a:t>一个</a:t>
            </a:r>
            <a:r>
              <a:rPr lang="en-AU" altLang="zh-CN" sz="2000" dirty="0">
                <a:ea typeface="宋体" panose="02010600030101010101" pitchFamily="2" charset="-122"/>
              </a:rPr>
              <a:t>CPU/</a:t>
            </a:r>
            <a:r>
              <a:rPr lang="zh-CN" altLang="en-AU" sz="2000" dirty="0">
                <a:ea typeface="宋体" panose="02010600030101010101" pitchFamily="2" charset="-122"/>
              </a:rPr>
              <a:t>核</a:t>
            </a:r>
            <a:r>
              <a:rPr lang="zh-CN" altLang="en-US" sz="2000" dirty="0">
                <a:ea typeface="宋体" panose="02010600030101010101" pitchFamily="2" charset="-122"/>
              </a:rPr>
              <a:t>，多个</a:t>
            </a:r>
            <a:r>
              <a:rPr lang="en-US" altLang="zh-CN" sz="2000" dirty="0">
                <a:ea typeface="宋体" panose="02010600030101010101" pitchFamily="2" charset="-122"/>
              </a:rPr>
              <a:t>Cell</a:t>
            </a:r>
            <a:r>
              <a:rPr lang="zh-CN" altLang="en-US" sz="2000" dirty="0">
                <a:ea typeface="宋体" panose="02010600030101010101" pitchFamily="2" charset="-122"/>
              </a:rPr>
              <a:t>并没有意义</a:t>
            </a:r>
            <a:r>
              <a:rPr lang="en-US" altLang="zh-CN" sz="2000" dirty="0">
                <a:ea typeface="宋体" panose="02010600030101010101" pitchFamily="2" charset="-122"/>
              </a:rPr>
              <a:t>)</a:t>
            </a:r>
            <a:endParaRPr lang="en-AU" altLang="zh-CN" sz="2000" dirty="0"/>
          </a:p>
          <a:p>
            <a:r>
              <a:rPr lang="zh-CN" altLang="en-AU" dirty="0">
                <a:ea typeface="宋体" panose="02010600030101010101" pitchFamily="2" charset="-122"/>
              </a:rPr>
              <a:t>一个</a:t>
            </a:r>
            <a:r>
              <a:rPr lang="en-AU" altLang="zh-CN" dirty="0" err="1">
                <a:ea typeface="宋体" panose="02010600030101010101" pitchFamily="2" charset="-122"/>
              </a:rPr>
              <a:t>Cel</a:t>
            </a:r>
            <a:r>
              <a:rPr lang="en-US" altLang="zh-CN" dirty="0">
                <a:ea typeface="宋体" panose="02010600030101010101" pitchFamily="2" charset="-122"/>
              </a:rPr>
              <a:t>l</a:t>
            </a:r>
            <a:r>
              <a:rPr lang="en-AU" altLang="zh-CN" dirty="0">
                <a:ea typeface="宋体" panose="02010600030101010101" pitchFamily="2" charset="-122"/>
              </a:rPr>
              <a:t>app</a:t>
            </a:r>
            <a:r>
              <a:rPr lang="zh-CN" altLang="en-AU" dirty="0">
                <a:ea typeface="宋体" panose="02010600030101010101" pitchFamily="2" charset="-122"/>
              </a:rPr>
              <a:t>有可能处理多个</a:t>
            </a:r>
            <a:r>
              <a:rPr lang="en-AU" altLang="zh-CN" dirty="0">
                <a:ea typeface="宋体" panose="02010600030101010101" pitchFamily="2" charset="-122"/>
              </a:rPr>
              <a:t>Space</a:t>
            </a:r>
            <a:endParaRPr lang="en-AU" altLang="zh-CN" dirty="0"/>
          </a:p>
          <a:p>
            <a:r>
              <a:rPr lang="zh-CN" altLang="en-AU" dirty="0">
                <a:ea typeface="宋体" panose="02010600030101010101" pitchFamily="2" charset="-122"/>
              </a:rPr>
              <a:t>通常一个</a:t>
            </a:r>
            <a:r>
              <a:rPr lang="en-AU" altLang="zh-CN" dirty="0">
                <a:ea typeface="宋体" panose="02010600030101010101" pitchFamily="2" charset="-122"/>
              </a:rPr>
              <a:t>CPU/</a:t>
            </a:r>
            <a:r>
              <a:rPr lang="zh-CN" altLang="en-AU" dirty="0">
                <a:ea typeface="宋体" panose="02010600030101010101" pitchFamily="2" charset="-122"/>
              </a:rPr>
              <a:t>核上处理一个</a:t>
            </a:r>
            <a:r>
              <a:rPr lang="en-AU" altLang="zh-CN" dirty="0" err="1">
                <a:ea typeface="宋体" panose="02010600030101010101" pitchFamily="2" charset="-122"/>
              </a:rPr>
              <a:t>Cellapp</a:t>
            </a:r>
            <a:endParaRPr lang="en-AU" altLang="zh-CN" dirty="0"/>
          </a:p>
          <a:p>
            <a:endParaRPr lang="en-AU" altLang="zh-CN" dirty="0"/>
          </a:p>
          <a:p>
            <a:pPr marL="0" lvl="1" indent="0">
              <a:buSzPct val="80000"/>
              <a:buNone/>
            </a:pPr>
            <a:endParaRPr lang="en-AU" altLang="zh-CN" dirty="0"/>
          </a:p>
          <a:p>
            <a:pPr marL="0" indent="0">
              <a:buNone/>
            </a:pPr>
            <a:endParaRPr lang="en-AU"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Cells &amp; Spaces</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solidFill>
                  <a:srgbClr val="00B0F0"/>
                </a:solidFill>
              </a:rPr>
              <a:t>目前不支持</a:t>
            </a:r>
            <a:r>
              <a:rPr lang="en-US" altLang="zh-CN" dirty="0">
                <a:solidFill>
                  <a:srgbClr val="00B0F0"/>
                </a:solidFill>
              </a:rPr>
              <a:t>Space</a:t>
            </a:r>
            <a:r>
              <a:rPr lang="zh-CN" altLang="en-US" dirty="0">
                <a:solidFill>
                  <a:srgbClr val="00B0F0"/>
                </a:solidFill>
              </a:rPr>
              <a:t>拆分成多个</a:t>
            </a:r>
            <a:r>
              <a:rPr lang="en-US" altLang="zh-CN" dirty="0">
                <a:solidFill>
                  <a:srgbClr val="00B0F0"/>
                </a:solidFill>
              </a:rPr>
              <a:t>Cell</a:t>
            </a:r>
            <a:r>
              <a:rPr lang="zh-CN" altLang="en-US" dirty="0">
                <a:solidFill>
                  <a:srgbClr val="00B0F0"/>
                </a:solidFill>
              </a:rPr>
              <a:t>由</a:t>
            </a:r>
            <a:r>
              <a:rPr lang="en-US" altLang="zh-CN" dirty="0" err="1">
                <a:solidFill>
                  <a:srgbClr val="00B0F0"/>
                </a:solidFill>
              </a:rPr>
              <a:t>Cellapps</a:t>
            </a:r>
            <a:r>
              <a:rPr lang="zh-CN" altLang="en-US" dirty="0">
                <a:solidFill>
                  <a:srgbClr val="00B0F0"/>
                </a:solidFill>
              </a:rPr>
              <a:t>共同负载</a:t>
            </a:r>
            <a:r>
              <a:rPr lang="zh-CN" altLang="en-US" dirty="0"/>
              <a:t>，因此本页可忽略</a:t>
            </a:r>
            <a:endParaRPr lang="en-US" altLang="zh-CN" dirty="0"/>
          </a:p>
          <a:p>
            <a:r>
              <a:rPr lang="en-AU" altLang="zh-CN" dirty="0">
                <a:ea typeface="宋体" panose="02010600030101010101" pitchFamily="2" charset="-122"/>
              </a:rPr>
              <a:t>Spaces</a:t>
            </a:r>
            <a:r>
              <a:rPr lang="zh-CN" altLang="en-AU" dirty="0">
                <a:ea typeface="宋体" panose="02010600030101010101" pitchFamily="2" charset="-122"/>
              </a:rPr>
              <a:t>通过</a:t>
            </a:r>
            <a:r>
              <a:rPr lang="en-AU" altLang="zh-CN" dirty="0">
                <a:ea typeface="宋体" panose="02010600030101010101" pitchFamily="2" charset="-122"/>
              </a:rPr>
              <a:t>Cells</a:t>
            </a:r>
            <a:r>
              <a:rPr lang="zh-CN" altLang="en-AU" dirty="0">
                <a:ea typeface="宋体" panose="02010600030101010101" pitchFamily="2" charset="-122"/>
              </a:rPr>
              <a:t>来</a:t>
            </a:r>
            <a:r>
              <a:rPr lang="zh-CN" altLang="en-US" dirty="0">
                <a:ea typeface="宋体" panose="02010600030101010101" pitchFamily="2" charset="-122"/>
              </a:rPr>
              <a:t>实现</a:t>
            </a:r>
            <a:r>
              <a:rPr lang="zh-CN" altLang="en-AU" dirty="0">
                <a:ea typeface="宋体" panose="02010600030101010101" pitchFamily="2" charset="-122"/>
              </a:rPr>
              <a:t>平衡负载</a:t>
            </a:r>
            <a:endParaRPr lang="en-AU" altLang="zh-CN" dirty="0"/>
          </a:p>
          <a:p>
            <a:r>
              <a:rPr lang="zh-CN" altLang="en-US" dirty="0">
                <a:ea typeface="宋体" panose="02010600030101010101" pitchFamily="2" charset="-122"/>
              </a:rPr>
              <a:t>每个</a:t>
            </a:r>
            <a:r>
              <a:rPr lang="en-US" altLang="zh-CN" dirty="0">
                <a:ea typeface="宋体" panose="02010600030101010101" pitchFamily="2" charset="-122"/>
              </a:rPr>
              <a:t>Space</a:t>
            </a:r>
            <a:r>
              <a:rPr lang="zh-CN" altLang="en-US" dirty="0">
                <a:ea typeface="宋体" panose="02010600030101010101" pitchFamily="2" charset="-122"/>
              </a:rPr>
              <a:t>至少含有一个</a:t>
            </a:r>
            <a:r>
              <a:rPr lang="en-US" altLang="zh-CN" dirty="0">
                <a:ea typeface="宋体" panose="02010600030101010101" pitchFamily="2" charset="-122"/>
              </a:rPr>
              <a:t>Cell</a:t>
            </a:r>
          </a:p>
          <a:p>
            <a:r>
              <a:rPr lang="zh-CN" altLang="en-US" dirty="0">
                <a:ea typeface="宋体" panose="02010600030101010101" pitchFamily="2" charset="-122"/>
              </a:rPr>
              <a:t>每个</a:t>
            </a:r>
            <a:r>
              <a:rPr lang="en-US" altLang="zh-CN" dirty="0">
                <a:ea typeface="宋体" panose="02010600030101010101" pitchFamily="2" charset="-122"/>
              </a:rPr>
              <a:t>Cell</a:t>
            </a:r>
            <a:r>
              <a:rPr lang="zh-CN" altLang="en-US" dirty="0">
                <a:ea typeface="宋体" panose="02010600030101010101" pitchFamily="2" charset="-122"/>
              </a:rPr>
              <a:t>处理</a:t>
            </a:r>
            <a:r>
              <a:rPr lang="en-US" altLang="zh-CN" dirty="0">
                <a:ea typeface="宋体" panose="02010600030101010101" pitchFamily="2" charset="-122"/>
              </a:rPr>
              <a:t>Space</a:t>
            </a:r>
            <a:r>
              <a:rPr lang="zh-CN" altLang="en-US" dirty="0">
                <a:ea typeface="宋体" panose="02010600030101010101" pitchFamily="2" charset="-122"/>
              </a:rPr>
              <a:t>的一个区域</a:t>
            </a:r>
            <a:endParaRPr lang="en-US" altLang="zh-CN" dirty="0">
              <a:ea typeface="宋体" panose="02010600030101010101" pitchFamily="2" charset="-122"/>
            </a:endParaRPr>
          </a:p>
          <a:p>
            <a:r>
              <a:rPr lang="en-US" altLang="zh-CN" dirty="0">
                <a:ea typeface="宋体" panose="02010600030101010101" pitchFamily="2" charset="-122"/>
              </a:rPr>
              <a:t>Cell</a:t>
            </a:r>
            <a:r>
              <a:rPr lang="zh-CN" altLang="en-US" dirty="0">
                <a:ea typeface="宋体" panose="02010600030101010101" pitchFamily="2" charset="-122"/>
              </a:rPr>
              <a:t>的边界根据</a:t>
            </a:r>
            <a:r>
              <a:rPr lang="en-US" altLang="zh-CN" dirty="0">
                <a:ea typeface="宋体" panose="02010600030101010101" pitchFamily="2" charset="-122"/>
              </a:rPr>
              <a:t>Cell</a:t>
            </a:r>
            <a:r>
              <a:rPr lang="zh-CN" altLang="en-US" dirty="0">
                <a:ea typeface="宋体" panose="02010600030101010101" pitchFamily="2" charset="-122"/>
              </a:rPr>
              <a:t>的负载而移动</a:t>
            </a:r>
            <a:endParaRPr lang="en-US" altLang="zh-CN" dirty="0">
              <a:ea typeface="宋体" panose="02010600030101010101" pitchFamily="2" charset="-122"/>
            </a:endParaRPr>
          </a:p>
          <a:p>
            <a:r>
              <a:rPr lang="en-US" altLang="zh-CN" dirty="0">
                <a:ea typeface="宋体" panose="02010600030101010101" pitchFamily="2" charset="-122"/>
              </a:rPr>
              <a:t>Cells</a:t>
            </a:r>
            <a:r>
              <a:rPr lang="zh-CN" altLang="en-US" dirty="0">
                <a:ea typeface="宋体" panose="02010600030101010101" pitchFamily="2" charset="-122"/>
              </a:rPr>
              <a:t>不影响客户端的游戏体验</a:t>
            </a:r>
          </a:p>
          <a:p>
            <a:endParaRPr lang="en-AU" altLang="zh-CN" dirty="0"/>
          </a:p>
        </p:txBody>
      </p:sp>
      <p:sp>
        <p:nvSpPr>
          <p:cNvPr id="3" name="矩形 2"/>
          <p:cNvSpPr/>
          <p:nvPr/>
        </p:nvSpPr>
        <p:spPr>
          <a:xfrm>
            <a:off x="5076056" y="4941168"/>
            <a:ext cx="3672408" cy="1795418"/>
          </a:xfrm>
          <a:prstGeom prst="rect">
            <a:avLst/>
          </a:prstGeom>
          <a:solidFill>
            <a:schemeClr val="tx2">
              <a:lumMod val="40000"/>
              <a:lumOff val="60000"/>
            </a:schemeClr>
          </a:solidFill>
          <a:effectLst>
            <a:outerShdw blurRad="76200" dir="13500000" sy="23000" kx="1200000" algn="b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 name="矩形 4"/>
          <p:cNvSpPr/>
          <p:nvPr/>
        </p:nvSpPr>
        <p:spPr>
          <a:xfrm>
            <a:off x="5394140" y="5229200"/>
            <a:ext cx="906052" cy="720080"/>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矩形 7"/>
          <p:cNvSpPr/>
          <p:nvPr/>
        </p:nvSpPr>
        <p:spPr>
          <a:xfrm>
            <a:off x="5394140" y="5949280"/>
            <a:ext cx="906052" cy="648072"/>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9" name="矩形 8"/>
          <p:cNvSpPr/>
          <p:nvPr/>
        </p:nvSpPr>
        <p:spPr>
          <a:xfrm>
            <a:off x="6300192" y="5229200"/>
            <a:ext cx="1152128" cy="720080"/>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0" name="矩形 9"/>
          <p:cNvSpPr/>
          <p:nvPr/>
        </p:nvSpPr>
        <p:spPr>
          <a:xfrm>
            <a:off x="6300192" y="5949280"/>
            <a:ext cx="612068" cy="648072"/>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1" name="矩形 10"/>
          <p:cNvSpPr/>
          <p:nvPr/>
        </p:nvSpPr>
        <p:spPr>
          <a:xfrm>
            <a:off x="6884885" y="5949280"/>
            <a:ext cx="567435" cy="648072"/>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2" name="矩形 11"/>
          <p:cNvSpPr/>
          <p:nvPr/>
        </p:nvSpPr>
        <p:spPr>
          <a:xfrm>
            <a:off x="7452320" y="5229200"/>
            <a:ext cx="1152128" cy="1368152"/>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TextBox 5"/>
          <p:cNvSpPr txBox="1"/>
          <p:nvPr/>
        </p:nvSpPr>
        <p:spPr>
          <a:xfrm>
            <a:off x="5560749" y="5404574"/>
            <a:ext cx="648072" cy="369332"/>
          </a:xfrm>
          <a:prstGeom prst="rect">
            <a:avLst/>
          </a:prstGeom>
          <a:noFill/>
        </p:spPr>
        <p:txBody>
          <a:bodyPr wrap="square" rtlCol="0">
            <a:spAutoFit/>
          </a:bodyPr>
          <a:lstStyle/>
          <a:p>
            <a:r>
              <a:rPr lang="en-US" altLang="zh-CN" dirty="0"/>
              <a:t>Cell1</a:t>
            </a:r>
            <a:endParaRPr lang="zh-CN" altLang="en-US" dirty="0"/>
          </a:p>
        </p:txBody>
      </p:sp>
      <p:sp>
        <p:nvSpPr>
          <p:cNvPr id="13" name="TextBox 12"/>
          <p:cNvSpPr txBox="1"/>
          <p:nvPr/>
        </p:nvSpPr>
        <p:spPr>
          <a:xfrm>
            <a:off x="5580112" y="6093296"/>
            <a:ext cx="648072" cy="369332"/>
          </a:xfrm>
          <a:prstGeom prst="rect">
            <a:avLst/>
          </a:prstGeom>
          <a:noFill/>
        </p:spPr>
        <p:txBody>
          <a:bodyPr wrap="square" rtlCol="0">
            <a:spAutoFit/>
          </a:bodyPr>
          <a:lstStyle/>
          <a:p>
            <a:r>
              <a:rPr lang="en-US" altLang="zh-CN" dirty="0"/>
              <a:t>Cell2</a:t>
            </a:r>
            <a:endParaRPr lang="zh-CN" altLang="en-US" dirty="0"/>
          </a:p>
        </p:txBody>
      </p:sp>
      <p:sp>
        <p:nvSpPr>
          <p:cNvPr id="14" name="TextBox 13"/>
          <p:cNvSpPr txBox="1"/>
          <p:nvPr/>
        </p:nvSpPr>
        <p:spPr>
          <a:xfrm>
            <a:off x="6588224" y="5435932"/>
            <a:ext cx="648072" cy="369332"/>
          </a:xfrm>
          <a:prstGeom prst="rect">
            <a:avLst/>
          </a:prstGeom>
          <a:noFill/>
        </p:spPr>
        <p:txBody>
          <a:bodyPr wrap="square" rtlCol="0">
            <a:spAutoFit/>
          </a:bodyPr>
          <a:lstStyle/>
          <a:p>
            <a:r>
              <a:rPr lang="en-US" altLang="zh-CN" dirty="0"/>
              <a:t>Cell3</a:t>
            </a:r>
            <a:endParaRPr lang="zh-CN" altLang="en-US" dirty="0"/>
          </a:p>
        </p:txBody>
      </p:sp>
      <p:sp>
        <p:nvSpPr>
          <p:cNvPr id="15" name="TextBox 14"/>
          <p:cNvSpPr txBox="1"/>
          <p:nvPr/>
        </p:nvSpPr>
        <p:spPr>
          <a:xfrm>
            <a:off x="6300192" y="6084004"/>
            <a:ext cx="648072" cy="369332"/>
          </a:xfrm>
          <a:prstGeom prst="rect">
            <a:avLst/>
          </a:prstGeom>
          <a:noFill/>
        </p:spPr>
        <p:txBody>
          <a:bodyPr wrap="square" rtlCol="0">
            <a:spAutoFit/>
          </a:bodyPr>
          <a:lstStyle/>
          <a:p>
            <a:r>
              <a:rPr lang="en-US" altLang="zh-CN" dirty="0"/>
              <a:t>Cell4</a:t>
            </a:r>
            <a:endParaRPr lang="zh-CN" altLang="en-US" dirty="0"/>
          </a:p>
        </p:txBody>
      </p:sp>
      <p:sp>
        <p:nvSpPr>
          <p:cNvPr id="16" name="TextBox 15"/>
          <p:cNvSpPr txBox="1"/>
          <p:nvPr/>
        </p:nvSpPr>
        <p:spPr>
          <a:xfrm>
            <a:off x="6876256" y="6084004"/>
            <a:ext cx="648072" cy="369332"/>
          </a:xfrm>
          <a:prstGeom prst="rect">
            <a:avLst/>
          </a:prstGeom>
          <a:noFill/>
        </p:spPr>
        <p:txBody>
          <a:bodyPr wrap="square" rtlCol="0">
            <a:spAutoFit/>
          </a:bodyPr>
          <a:lstStyle/>
          <a:p>
            <a:r>
              <a:rPr lang="en-US" altLang="zh-CN" dirty="0"/>
              <a:t>Cell5</a:t>
            </a:r>
            <a:endParaRPr lang="zh-CN" altLang="en-US" dirty="0"/>
          </a:p>
        </p:txBody>
      </p:sp>
      <p:sp>
        <p:nvSpPr>
          <p:cNvPr id="17" name="TextBox 16"/>
          <p:cNvSpPr txBox="1"/>
          <p:nvPr/>
        </p:nvSpPr>
        <p:spPr>
          <a:xfrm>
            <a:off x="7704348" y="5759284"/>
            <a:ext cx="648072" cy="369332"/>
          </a:xfrm>
          <a:prstGeom prst="rect">
            <a:avLst/>
          </a:prstGeom>
          <a:noFill/>
        </p:spPr>
        <p:txBody>
          <a:bodyPr wrap="square" rtlCol="0">
            <a:spAutoFit/>
          </a:bodyPr>
          <a:lstStyle/>
          <a:p>
            <a:r>
              <a:rPr lang="en-US" altLang="zh-CN" dirty="0"/>
              <a:t>Cell6</a:t>
            </a:r>
            <a:endParaRPr lang="zh-CN" altLang="en-US" dirty="0"/>
          </a:p>
        </p:txBody>
      </p:sp>
      <p:sp>
        <p:nvSpPr>
          <p:cNvPr id="7" name="TextBox 6"/>
          <p:cNvSpPr txBox="1"/>
          <p:nvPr/>
        </p:nvSpPr>
        <p:spPr>
          <a:xfrm>
            <a:off x="5017294" y="4941168"/>
            <a:ext cx="3515145" cy="307777"/>
          </a:xfrm>
          <a:prstGeom prst="rect">
            <a:avLst/>
          </a:prstGeom>
          <a:noFill/>
        </p:spPr>
        <p:txBody>
          <a:bodyPr wrap="square" rtlCol="0">
            <a:spAutoFit/>
          </a:bodyPr>
          <a:lstStyle/>
          <a:p>
            <a:r>
              <a:rPr lang="zh-CN" altLang="en-US" sz="1400" b="1" dirty="0">
                <a:solidFill>
                  <a:schemeClr val="accent2">
                    <a:lumMod val="50000"/>
                  </a:schemeClr>
                </a:solidFill>
              </a:rPr>
              <a:t>一个</a:t>
            </a:r>
            <a:r>
              <a:rPr lang="en-US" altLang="zh-CN" sz="1400" b="1" dirty="0">
                <a:solidFill>
                  <a:schemeClr val="accent2">
                    <a:lumMod val="50000"/>
                  </a:schemeClr>
                </a:solidFill>
              </a:rPr>
              <a:t>Space</a:t>
            </a:r>
            <a:r>
              <a:rPr lang="zh-CN" altLang="en-US" sz="1400" b="1" dirty="0">
                <a:solidFill>
                  <a:schemeClr val="accent2">
                    <a:lumMod val="50000"/>
                  </a:schemeClr>
                </a:solidFill>
              </a:rPr>
              <a:t>被拆分成多个</a:t>
            </a:r>
            <a:r>
              <a:rPr lang="en-US" altLang="zh-CN" sz="1400" b="1" dirty="0">
                <a:solidFill>
                  <a:schemeClr val="accent2">
                    <a:lumMod val="50000"/>
                  </a:schemeClr>
                </a:solidFill>
              </a:rPr>
              <a:t>Cell</a:t>
            </a:r>
            <a:endParaRPr lang="zh-CN" altLang="en-US" sz="1400" b="1" dirty="0">
              <a:solidFill>
                <a:schemeClr val="accent2">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Cellapp</a:t>
            </a:r>
            <a:r>
              <a:rPr lang="zh-CN" altLang="en-US" dirty="0">
                <a:solidFill>
                  <a:schemeClr val="accent1"/>
                </a:solidFill>
                <a:ea typeface="宋体" panose="02010600030101010101" pitchFamily="2" charset="-122"/>
              </a:rPr>
              <a:t>主要负载的地方</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管理</a:t>
            </a:r>
            <a:r>
              <a:rPr lang="zh-CN" altLang="en-US" dirty="0">
                <a:ea typeface="宋体" panose="02010600030101010101" pitchFamily="2" charset="-122"/>
              </a:rPr>
              <a:t>的</a:t>
            </a:r>
            <a:r>
              <a:rPr lang="en-AU" altLang="zh-CN" dirty="0">
                <a:ea typeface="宋体" panose="02010600030101010101" pitchFamily="2" charset="-122"/>
              </a:rPr>
              <a:t>Entity</a:t>
            </a:r>
            <a:r>
              <a:rPr lang="zh-CN" altLang="en-AU" dirty="0">
                <a:ea typeface="宋体" panose="02010600030101010101" pitchFamily="2" charset="-122"/>
              </a:rPr>
              <a:t>的总数量</a:t>
            </a:r>
            <a:endParaRPr lang="en-AU" altLang="zh-CN" dirty="0"/>
          </a:p>
          <a:p>
            <a:r>
              <a:rPr lang="en-AU" altLang="zh-CN" dirty="0">
                <a:ea typeface="宋体" panose="02010600030101010101" pitchFamily="2" charset="-122"/>
              </a:rPr>
              <a:t>Entity</a:t>
            </a:r>
            <a:r>
              <a:rPr lang="zh-CN" altLang="en-AU" dirty="0">
                <a:ea typeface="宋体" panose="02010600030101010101" pitchFamily="2" charset="-122"/>
              </a:rPr>
              <a:t>的通信的频率</a:t>
            </a:r>
            <a:endParaRPr lang="en-US" altLang="zh-CN" dirty="0">
              <a:ea typeface="宋体" panose="02010600030101010101" pitchFamily="2" charset="-122"/>
            </a:endParaRP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用户所调用的方法</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主动调动广播消息</a:t>
            </a:r>
            <a:r>
              <a:rPr lang="en-US" altLang="zh-CN" sz="2000" dirty="0">
                <a:solidFill>
                  <a:srgbClr val="FF0000"/>
                </a:solidFill>
                <a:ea typeface="宋体" panose="02010600030101010101" pitchFamily="2" charset="-122"/>
              </a:rPr>
              <a:t>)</a:t>
            </a: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系统自动更新的属性</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属性更新的频率</a:t>
            </a:r>
            <a:r>
              <a:rPr lang="en-US" altLang="zh-CN" sz="2000" dirty="0">
                <a:solidFill>
                  <a:srgbClr val="FF0000"/>
                </a:solidFill>
                <a:ea typeface="宋体" panose="02010600030101010101" pitchFamily="2" charset="-122"/>
              </a:rPr>
              <a:t>)</a:t>
            </a:r>
          </a:p>
          <a:p>
            <a:pPr marL="0" indent="0">
              <a:buNone/>
            </a:pPr>
            <a:r>
              <a:rPr lang="en-US" altLang="zh-CN" sz="2000" dirty="0">
                <a:ea typeface="宋体" panose="02010600030101010101" pitchFamily="2" charset="-122"/>
              </a:rPr>
              <a:t>         Entity</a:t>
            </a:r>
            <a:r>
              <a:rPr lang="zh-CN" altLang="en-US" sz="2000" dirty="0">
                <a:ea typeface="宋体" panose="02010600030101010101" pitchFamily="2" charset="-122"/>
              </a:rPr>
              <a:t>的密集度</a:t>
            </a:r>
            <a:r>
              <a:rPr lang="en-US" altLang="zh-CN" sz="2000" dirty="0">
                <a:solidFill>
                  <a:srgbClr val="FF0000"/>
                </a:solidFill>
                <a:ea typeface="宋体" panose="02010600030101010101" pitchFamily="2" charset="-122"/>
              </a:rPr>
              <a:t>(entity</a:t>
            </a:r>
            <a:r>
              <a:rPr lang="zh-CN" altLang="en-US" sz="2000" dirty="0">
                <a:solidFill>
                  <a:srgbClr val="FF0000"/>
                </a:solidFill>
                <a:ea typeface="宋体" panose="02010600030101010101" pitchFamily="2" charset="-122"/>
              </a:rPr>
              <a:t>越密集</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需要同步的单位就越多</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消息量越大</a:t>
            </a:r>
            <a:r>
              <a:rPr lang="en-US" altLang="zh-CN" sz="2000" dirty="0">
                <a:solidFill>
                  <a:srgbClr val="FF0000"/>
                </a:solidFill>
                <a:ea typeface="宋体" panose="02010600030101010101" pitchFamily="2" charset="-122"/>
              </a:rPr>
              <a:t>)</a:t>
            </a:r>
            <a:endParaRPr lang="en-AU" altLang="zh-CN" sz="2000" dirty="0">
              <a:solidFill>
                <a:srgbClr val="FF0000"/>
              </a:solidFill>
            </a:endParaRPr>
          </a:p>
          <a:p>
            <a:r>
              <a:rPr lang="en-AU" altLang="zh-CN" dirty="0"/>
              <a:t>Entity </a:t>
            </a:r>
            <a:r>
              <a:rPr lang="zh-CN" altLang="en-AU" dirty="0">
                <a:ea typeface="宋体" panose="02010600030101010101" pitchFamily="2" charset="-122"/>
              </a:rPr>
              <a:t>脚本</a:t>
            </a:r>
            <a:r>
              <a:rPr lang="en-US" altLang="zh-CN" dirty="0">
                <a:solidFill>
                  <a:srgbClr val="FF0000"/>
                </a:solidFill>
                <a:ea typeface="宋体" panose="02010600030101010101" pitchFamily="2" charset="-122"/>
              </a:rPr>
              <a:t>(python</a:t>
            </a:r>
            <a:r>
              <a:rPr lang="zh-CN" altLang="en-US" dirty="0">
                <a:solidFill>
                  <a:srgbClr val="FF0000"/>
                </a:solidFill>
                <a:ea typeface="宋体" panose="02010600030101010101" pitchFamily="2" charset="-122"/>
              </a:rPr>
              <a:t>代码效率</a:t>
            </a:r>
            <a:r>
              <a:rPr lang="en-US" altLang="zh-CN" dirty="0">
                <a:solidFill>
                  <a:srgbClr val="FF0000"/>
                </a:solidFill>
                <a:ea typeface="宋体" panose="02010600030101010101" pitchFamily="2" charset="-122"/>
              </a:rPr>
              <a:t>)</a:t>
            </a:r>
            <a:endParaRPr lang="zh-CN" altLang="en-AU" dirty="0">
              <a:solidFill>
                <a:srgbClr val="FF0000"/>
              </a:solidFill>
              <a:ea typeface="宋体" panose="02010600030101010101" pitchFamily="2" charset="-122"/>
            </a:endParaRPr>
          </a:p>
          <a:p>
            <a:r>
              <a:rPr lang="en-AU" altLang="zh-CN" dirty="0"/>
              <a:t>Entity</a:t>
            </a:r>
            <a:r>
              <a:rPr lang="zh-CN" altLang="en-AU" dirty="0">
                <a:ea typeface="宋体" panose="02010600030101010101" pitchFamily="2" charset="-122"/>
              </a:rPr>
              <a:t>的数据大小</a:t>
            </a:r>
            <a:r>
              <a:rPr lang="en-US" altLang="zh-CN" dirty="0">
                <a:solidFill>
                  <a:srgbClr val="FF0000"/>
                </a:solidFill>
                <a:ea typeface="宋体" panose="02010600030101010101" pitchFamily="2" charset="-122"/>
              </a:rPr>
              <a:t>(</a:t>
            </a:r>
            <a:r>
              <a:rPr lang="zh-CN" altLang="en-US" dirty="0">
                <a:solidFill>
                  <a:srgbClr val="FF0000"/>
                </a:solidFill>
                <a:ea typeface="宋体" panose="02010600030101010101" pitchFamily="2" charset="-122"/>
              </a:rPr>
              <a:t>消息大小</a:t>
            </a:r>
            <a:r>
              <a:rPr lang="en-US" altLang="zh-CN" dirty="0">
                <a:solidFill>
                  <a:srgbClr val="FF0000"/>
                </a:solidFill>
                <a:ea typeface="宋体" panose="02010600030101010101" pitchFamily="2" charset="-122"/>
              </a:rPr>
              <a:t>)</a:t>
            </a:r>
            <a:endParaRPr lang="en-AU" altLang="zh-CN" dirty="0">
              <a:solidFill>
                <a:srgbClr val="FF0000"/>
              </a:solidFill>
            </a:endParaRPr>
          </a:p>
          <a:p>
            <a:endParaRPr lang="en-AU"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与</a:t>
            </a:r>
            <a:r>
              <a:rPr lang="en-US" altLang="zh-CN" dirty="0">
                <a:solidFill>
                  <a:schemeClr val="accent1"/>
                </a:solidFill>
                <a:ea typeface="宋体" panose="02010600030101010101" pitchFamily="2" charset="-122"/>
              </a:rPr>
              <a:t>Cell</a:t>
            </a:r>
            <a:endParaRPr lang="zh-CN" altLang="en-US"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每个</a:t>
            </a:r>
            <a:r>
              <a:rPr lang="en-AU" altLang="zh-CN" dirty="0">
                <a:ea typeface="宋体" panose="02010600030101010101" pitchFamily="2" charset="-122"/>
              </a:rPr>
              <a:t>space</a:t>
            </a:r>
            <a:r>
              <a:rPr lang="zh-CN" altLang="en-AU" dirty="0">
                <a:ea typeface="宋体" panose="02010600030101010101" pitchFamily="2" charset="-122"/>
              </a:rPr>
              <a:t>至少有一个</a:t>
            </a:r>
            <a:r>
              <a:rPr lang="en-AU" altLang="zh-CN" dirty="0">
                <a:ea typeface="宋体" panose="02010600030101010101" pitchFamily="2" charset="-122"/>
              </a:rPr>
              <a:t>Entity</a:t>
            </a:r>
          </a:p>
          <a:p>
            <a:pPr marL="0" indent="0">
              <a:buNone/>
            </a:pPr>
            <a:r>
              <a:rPr lang="en-AU" altLang="zh-CN" dirty="0">
                <a:ea typeface="宋体" panose="02010600030101010101" pitchFamily="2" charset="-122"/>
              </a:rPr>
              <a:t>        </a:t>
            </a:r>
            <a:r>
              <a:rPr lang="zh-CN" altLang="en-US" sz="2000" dirty="0">
                <a:ea typeface="宋体" panose="02010600030101010101" pitchFamily="2" charset="-122"/>
              </a:rPr>
              <a:t>通常第一个</a:t>
            </a:r>
            <a:r>
              <a:rPr lang="en-US" altLang="zh-CN" sz="2000" dirty="0">
                <a:ea typeface="宋体" panose="02010600030101010101" pitchFamily="2" charset="-122"/>
              </a:rPr>
              <a:t>Entity</a:t>
            </a:r>
            <a:r>
              <a:rPr lang="zh-CN" altLang="en-US" sz="2000" dirty="0">
                <a:ea typeface="宋体" panose="02010600030101010101" pitchFamily="2" charset="-122"/>
              </a:rPr>
              <a:t>是</a:t>
            </a:r>
            <a:r>
              <a:rPr lang="en-US" altLang="zh-CN" sz="2000" dirty="0" err="1">
                <a:solidFill>
                  <a:srgbClr val="00B0F0"/>
                </a:solidFill>
                <a:ea typeface="宋体" panose="02010600030101010101" pitchFamily="2" charset="-122"/>
              </a:rPr>
              <a:t>SpaceEntity</a:t>
            </a:r>
            <a:r>
              <a:rPr lang="zh-CN" altLang="en-US" sz="2000" dirty="0">
                <a:ea typeface="宋体" panose="02010600030101010101" pitchFamily="2" charset="-122"/>
              </a:rPr>
              <a:t>，用于让用户操控</a:t>
            </a:r>
            <a:r>
              <a:rPr lang="en-US" altLang="zh-CN" sz="2000" dirty="0">
                <a:ea typeface="宋体" panose="02010600030101010101" pitchFamily="2" charset="-122"/>
              </a:rPr>
              <a:t>Space</a:t>
            </a:r>
          </a:p>
          <a:p>
            <a:pPr marL="0" indent="0">
              <a:buNone/>
            </a:pPr>
            <a:r>
              <a:rPr lang="en-US" altLang="zh-CN" sz="2000" dirty="0">
                <a:solidFill>
                  <a:srgbClr val="FF0000"/>
                </a:solidFill>
                <a:ea typeface="宋体" panose="02010600030101010101" pitchFamily="2" charset="-122"/>
              </a:rPr>
              <a:t>(</a:t>
            </a:r>
            <a:r>
              <a:rPr lang="en-US" altLang="zh-CN" sz="2000" dirty="0" err="1">
                <a:solidFill>
                  <a:srgbClr val="FF0000"/>
                </a:solidFill>
                <a:ea typeface="宋体" panose="02010600030101010101" pitchFamily="2" charset="-122"/>
              </a:rPr>
              <a:t>SpaceEntity</a:t>
            </a:r>
            <a:r>
              <a:rPr lang="zh-CN" altLang="en-US" sz="2000" dirty="0">
                <a:solidFill>
                  <a:srgbClr val="FF0000"/>
                </a:solidFill>
                <a:ea typeface="宋体" panose="02010600030101010101" pitchFamily="2" charset="-122"/>
              </a:rPr>
              <a:t>即</a:t>
            </a:r>
            <a:r>
              <a:rPr lang="en-US" altLang="zh-CN" sz="2000" dirty="0">
                <a:solidFill>
                  <a:srgbClr val="FF0000"/>
                </a:solidFill>
                <a:ea typeface="宋体" panose="02010600030101010101" pitchFamily="2" charset="-122"/>
              </a:rPr>
              <a:t>space</a:t>
            </a:r>
            <a:r>
              <a:rPr lang="zh-CN" altLang="en-US" sz="2000" dirty="0">
                <a:solidFill>
                  <a:srgbClr val="FF0000"/>
                </a:solidFill>
                <a:ea typeface="宋体" panose="02010600030101010101" pitchFamily="2" charset="-122"/>
              </a:rPr>
              <a:t>对象实体</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等同地图对象实例</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管理地图上的实体</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如创建、销毁实体、移动等</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处理相关逻辑如碰撞检测、事件触发等</a:t>
            </a:r>
            <a:r>
              <a:rPr lang="en-US" altLang="zh-CN" sz="2000" dirty="0">
                <a:solidFill>
                  <a:srgbClr val="FF0000"/>
                </a:solidFill>
                <a:ea typeface="宋体" panose="02010600030101010101" pitchFamily="2" charset="-122"/>
              </a:rPr>
              <a:t>)</a:t>
            </a:r>
            <a:endParaRPr lang="en-AU" altLang="zh-CN" sz="2000" dirty="0"/>
          </a:p>
          <a:p>
            <a:r>
              <a:rPr lang="en-AU" altLang="zh-CN" dirty="0" err="1"/>
              <a:t>CellApp</a:t>
            </a:r>
            <a:r>
              <a:rPr lang="zh-CN" altLang="en-AU" dirty="0">
                <a:ea typeface="宋体" panose="02010600030101010101" pitchFamily="2" charset="-122"/>
              </a:rPr>
              <a:t>上的每个玩家</a:t>
            </a:r>
            <a:r>
              <a:rPr lang="en-AU" altLang="zh-CN" dirty="0"/>
              <a:t>Entity</a:t>
            </a:r>
            <a:r>
              <a:rPr lang="zh-CN" altLang="en-AU" dirty="0">
                <a:ea typeface="宋体" panose="02010600030101010101" pitchFamily="2" charset="-122"/>
              </a:rPr>
              <a:t>都有一个</a:t>
            </a:r>
            <a:r>
              <a:rPr lang="en-AU" altLang="zh-CN" dirty="0">
                <a:ea typeface="宋体" panose="02010600030101010101" pitchFamily="2" charset="-122"/>
              </a:rPr>
              <a:t>Witness</a:t>
            </a:r>
            <a:r>
              <a:rPr lang="zh-CN" altLang="en-AU" dirty="0">
                <a:ea typeface="宋体" panose="02010600030101010101" pitchFamily="2" charset="-122"/>
              </a:rPr>
              <a:t>对象</a:t>
            </a:r>
            <a:endParaRPr lang="en-US" altLang="zh-CN" dirty="0">
              <a:ea typeface="宋体" panose="02010600030101010101" pitchFamily="2" charset="-122"/>
            </a:endParaRPr>
          </a:p>
          <a:p>
            <a:pPr marL="0" indent="0">
              <a:buNone/>
            </a:pPr>
            <a:r>
              <a:rPr lang="en-US" altLang="zh-CN" dirty="0">
                <a:ea typeface="宋体" panose="02010600030101010101" pitchFamily="2" charset="-122"/>
              </a:rPr>
              <a:t>        </a:t>
            </a:r>
            <a:r>
              <a:rPr lang="en-US" altLang="zh-CN" sz="2000" dirty="0">
                <a:solidFill>
                  <a:srgbClr val="00B0F0"/>
                </a:solidFill>
                <a:ea typeface="宋体" panose="02010600030101010101" pitchFamily="2" charset="-122"/>
              </a:rPr>
              <a:t>Witness</a:t>
            </a:r>
            <a:r>
              <a:rPr lang="zh-CN" altLang="en-US" sz="2000" dirty="0">
                <a:solidFill>
                  <a:srgbClr val="00B0F0"/>
                </a:solidFill>
                <a:ea typeface="宋体" panose="02010600030101010101" pitchFamily="2" charset="-122"/>
              </a:rPr>
              <a:t>监视周围的</a:t>
            </a:r>
            <a:r>
              <a:rPr lang="en-US" altLang="zh-CN" sz="2000" dirty="0">
                <a:solidFill>
                  <a:srgbClr val="00B0F0"/>
                </a:solidFill>
                <a:ea typeface="宋体" panose="02010600030101010101" pitchFamily="2" charset="-122"/>
              </a:rPr>
              <a:t>Entity</a:t>
            </a:r>
            <a:r>
              <a:rPr lang="zh-CN" altLang="en-US" sz="2000" dirty="0">
                <a:ea typeface="宋体" panose="02010600030101010101" pitchFamily="2" charset="-122"/>
              </a:rPr>
              <a:t>，将发生的事件消息同步到客户端</a:t>
            </a:r>
            <a:endParaRPr lang="en-US" altLang="zh-CN" sz="2000" dirty="0">
              <a:ea typeface="宋体" panose="02010600030101010101" pitchFamily="2" charset="-122"/>
            </a:endParaRPr>
          </a:p>
          <a:p>
            <a:pPr marL="0" indent="0">
              <a:buNone/>
            </a:pPr>
            <a:r>
              <a:rPr lang="en-US" altLang="zh-CN" sz="2000" dirty="0">
                <a:solidFill>
                  <a:srgbClr val="FF0000"/>
                </a:solidFill>
                <a:ea typeface="宋体" panose="02010600030101010101" pitchFamily="2" charset="-122"/>
              </a:rPr>
              <a:t>(Witness</a:t>
            </a:r>
            <a:r>
              <a:rPr lang="zh-CN" altLang="en-US" sz="2000" dirty="0">
                <a:solidFill>
                  <a:srgbClr val="FF0000"/>
                </a:solidFill>
                <a:ea typeface="宋体" panose="02010600030101010101" pitchFamily="2" charset="-122"/>
              </a:rPr>
              <a:t>只对发生在</a:t>
            </a:r>
            <a:r>
              <a:rPr lang="en-US" altLang="zh-CN" sz="2000" dirty="0">
                <a:solidFill>
                  <a:srgbClr val="FF0000"/>
                </a:solidFill>
                <a:ea typeface="宋体" panose="02010600030101010101" pitchFamily="2" charset="-122"/>
              </a:rPr>
              <a:t>AOI</a:t>
            </a:r>
            <a:r>
              <a:rPr lang="zh-CN" altLang="en-US" sz="2000" dirty="0">
                <a:solidFill>
                  <a:srgbClr val="FF0000"/>
                </a:solidFill>
                <a:ea typeface="宋体" panose="02010600030101010101" pitchFamily="2" charset="-122"/>
              </a:rPr>
              <a:t>范围内的相关事件进行同步</a:t>
            </a:r>
            <a:r>
              <a:rPr lang="en-US" altLang="zh-CN" sz="2000" dirty="0">
                <a:solidFill>
                  <a:srgbClr val="FF0000"/>
                </a:solidFill>
                <a:ea typeface="宋体" panose="02010600030101010101" pitchFamily="2" charset="-122"/>
              </a:rPr>
              <a:t>)</a:t>
            </a:r>
            <a:endParaRPr lang="en-AU" altLang="zh-CN" sz="2000" dirty="0">
              <a:solidFill>
                <a:srgbClr val="FF0000"/>
              </a:solidFill>
            </a:endParaRPr>
          </a:p>
          <a:p>
            <a:r>
              <a:rPr lang="en-AU" altLang="zh-CN" dirty="0"/>
              <a:t>Entity</a:t>
            </a:r>
            <a:r>
              <a:rPr lang="zh-CN" altLang="en-AU" dirty="0">
                <a:ea typeface="宋体" panose="02010600030101010101" pitchFamily="2" charset="-122"/>
              </a:rPr>
              <a:t>的兴趣范围</a:t>
            </a:r>
            <a:r>
              <a:rPr lang="en-AU" altLang="zh-CN" dirty="0">
                <a:ea typeface="宋体" panose="02010600030101010101" pitchFamily="2" charset="-122"/>
              </a:rPr>
              <a:t>(AOI)</a:t>
            </a:r>
            <a:r>
              <a:rPr lang="zh-CN" altLang="en-AU" dirty="0">
                <a:ea typeface="宋体" panose="02010600030101010101" pitchFamily="2" charset="-122"/>
              </a:rPr>
              <a:t>缺省是</a:t>
            </a:r>
            <a:r>
              <a:rPr lang="en-AU" altLang="zh-CN" dirty="0">
                <a:ea typeface="宋体" panose="02010600030101010101" pitchFamily="2" charset="-122"/>
              </a:rPr>
              <a:t>500M</a:t>
            </a:r>
            <a:endParaRPr lang="en-AU" altLang="zh-CN" dirty="0"/>
          </a:p>
          <a:p>
            <a:pPr marL="0" lvl="1" indent="0">
              <a:buSzPct val="80000"/>
              <a:buNone/>
            </a:pPr>
            <a:r>
              <a:rPr lang="zh-CN" altLang="en-AU" dirty="0">
                <a:ea typeface="宋体" panose="02010600030101010101" pitchFamily="2" charset="-122"/>
              </a:rPr>
              <a:t>         </a:t>
            </a:r>
            <a:r>
              <a:rPr lang="zh-CN" altLang="en-AU" sz="2000" dirty="0">
                <a:ea typeface="宋体" panose="02010600030101010101" pitchFamily="2" charset="-122"/>
              </a:rPr>
              <a:t>是可以自定义的，依赖于很多因素</a:t>
            </a:r>
            <a:endParaRPr lang="en-AU" altLang="zh-CN" sz="2000" dirty="0"/>
          </a:p>
          <a:p>
            <a:pPr marL="0" indent="0">
              <a:buNone/>
            </a:pPr>
            <a:endParaRPr lang="en-AU"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与</a:t>
            </a:r>
            <a:r>
              <a:rPr lang="en-US" altLang="zh-CN" dirty="0">
                <a:solidFill>
                  <a:schemeClr val="accent1"/>
                </a:solidFill>
                <a:ea typeface="宋体" panose="02010600030101010101" pitchFamily="2" charset="-122"/>
              </a:rPr>
              <a:t>Cell </a:t>
            </a:r>
            <a:r>
              <a:rPr lang="en-US" altLang="zh-CN" sz="2200" dirty="0">
                <a:solidFill>
                  <a:schemeClr val="accent1"/>
                </a:solidFill>
                <a:ea typeface="宋体" panose="02010600030101010101" pitchFamily="2" charset="-122"/>
              </a:rPr>
              <a:t>(</a:t>
            </a:r>
            <a:r>
              <a:rPr lang="zh-CN" altLang="en-US" sz="2200" dirty="0">
                <a:solidFill>
                  <a:schemeClr val="accent1"/>
                </a:solidFill>
                <a:ea typeface="宋体" panose="02010600030101010101" pitchFamily="2" charset="-122"/>
              </a:rPr>
              <a:t>本页跨</a:t>
            </a:r>
            <a:r>
              <a:rPr lang="en-US" altLang="zh-CN" sz="2200" dirty="0">
                <a:solidFill>
                  <a:schemeClr val="accent1"/>
                </a:solidFill>
                <a:ea typeface="宋体" panose="02010600030101010101" pitchFamily="2" charset="-122"/>
              </a:rPr>
              <a:t>Cell</a:t>
            </a:r>
            <a:r>
              <a:rPr lang="zh-CN" altLang="en-US" sz="2200" dirty="0">
                <a:solidFill>
                  <a:schemeClr val="accent1"/>
                </a:solidFill>
                <a:ea typeface="宋体" panose="02010600030101010101" pitchFamily="2" charset="-122"/>
              </a:rPr>
              <a:t>内容未实现</a:t>
            </a:r>
            <a:r>
              <a:rPr lang="en-US" altLang="zh-CN" sz="2200" dirty="0">
                <a:solidFill>
                  <a:schemeClr val="accent1"/>
                </a:solidFill>
                <a:ea typeface="宋体" panose="02010600030101010101" pitchFamily="2" charset="-122"/>
              </a:rPr>
              <a:t>)</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ea typeface="宋体" panose="02010600030101010101" pitchFamily="2" charset="-122"/>
              </a:rPr>
              <a:t>Entity</a:t>
            </a:r>
            <a:r>
              <a:rPr lang="zh-CN" altLang="en-AU" dirty="0">
                <a:ea typeface="宋体" panose="02010600030101010101" pitchFamily="2" charset="-122"/>
              </a:rPr>
              <a:t>穿越</a:t>
            </a:r>
            <a:r>
              <a:rPr lang="en-AU" altLang="zh-CN" dirty="0">
                <a:ea typeface="宋体" panose="02010600030101010101" pitchFamily="2" charset="-122"/>
              </a:rPr>
              <a:t>Cell</a:t>
            </a:r>
            <a:r>
              <a:rPr lang="zh-CN" altLang="en-AU" dirty="0">
                <a:ea typeface="宋体" panose="02010600030101010101" pitchFamily="2" charset="-122"/>
              </a:rPr>
              <a:t>边界</a:t>
            </a:r>
            <a:r>
              <a:rPr lang="zh-CN" altLang="en-US" dirty="0">
                <a:ea typeface="宋体" panose="02010600030101010101" pitchFamily="2" charset="-122"/>
              </a:rPr>
              <a:t>是无缝的</a:t>
            </a:r>
            <a:endParaRPr lang="en-US" altLang="zh-CN" dirty="0">
              <a:ea typeface="宋体" panose="02010600030101010101" pitchFamily="2" charset="-122"/>
            </a:endParaRPr>
          </a:p>
          <a:p>
            <a:pPr marL="0" indent="0">
              <a:buSzPct val="25000"/>
              <a:buNone/>
            </a:pPr>
            <a:r>
              <a:rPr lang="zh-CN" altLang="en-US" dirty="0">
                <a:ea typeface="宋体" panose="02010600030101010101" pitchFamily="2" charset="-122"/>
              </a:rPr>
              <a:t>          </a:t>
            </a:r>
            <a:r>
              <a:rPr lang="zh-CN" altLang="en-AU" sz="2000" dirty="0">
                <a:ea typeface="宋体" panose="02010600030101010101" pitchFamily="2" charset="-122"/>
              </a:rPr>
              <a:t>客户端不会感觉到</a:t>
            </a:r>
            <a:r>
              <a:rPr lang="en-AU" altLang="zh-CN" sz="2000" dirty="0">
                <a:ea typeface="宋体" panose="02010600030101010101" pitchFamily="2" charset="-122"/>
              </a:rPr>
              <a:t>(</a:t>
            </a:r>
            <a:r>
              <a:rPr lang="zh-CN" altLang="en-AU" sz="2000" dirty="0">
                <a:ea typeface="宋体" panose="02010600030101010101" pitchFamily="2" charset="-122"/>
              </a:rPr>
              <a:t>穿越边界的发生</a:t>
            </a:r>
            <a:r>
              <a:rPr lang="en-AU" altLang="zh-CN" sz="2000" dirty="0">
                <a:ea typeface="宋体" panose="02010600030101010101" pitchFamily="2" charset="-122"/>
              </a:rPr>
              <a:t>)</a:t>
            </a:r>
            <a:endParaRPr lang="en-AU" altLang="zh-CN" sz="2000" dirty="0"/>
          </a:p>
          <a:p>
            <a:r>
              <a:rPr lang="zh-CN" altLang="en-AU" dirty="0">
                <a:ea typeface="宋体" panose="02010600030101010101" pitchFamily="2" charset="-122"/>
              </a:rPr>
              <a:t>每个</a:t>
            </a:r>
            <a:r>
              <a:rPr lang="en-AU" altLang="zh-CN" dirty="0"/>
              <a:t>Cell</a:t>
            </a:r>
            <a:r>
              <a:rPr lang="zh-CN" altLang="en-AU" dirty="0">
                <a:ea typeface="宋体" panose="02010600030101010101" pitchFamily="2" charset="-122"/>
              </a:rPr>
              <a:t>维护着一个</a:t>
            </a:r>
            <a:r>
              <a:rPr lang="en-AU" altLang="zh-CN" dirty="0">
                <a:ea typeface="宋体" panose="02010600030101010101" pitchFamily="2" charset="-122"/>
              </a:rPr>
              <a:t>list</a:t>
            </a:r>
            <a:r>
              <a:rPr lang="zh-CN" altLang="en-AU" dirty="0">
                <a:ea typeface="宋体" panose="02010600030101010101" pitchFamily="2" charset="-122"/>
              </a:rPr>
              <a:t>，存放着在其边界外沿的</a:t>
            </a:r>
            <a:r>
              <a:rPr lang="en-AU" altLang="zh-CN" dirty="0">
                <a:ea typeface="宋体" panose="02010600030101010101" pitchFamily="2" charset="-122"/>
              </a:rPr>
              <a:t>Entity</a:t>
            </a:r>
            <a:endParaRPr lang="en-AU" altLang="zh-CN" dirty="0"/>
          </a:p>
          <a:p>
            <a:pPr marL="182245" lvl="1" indent="0">
              <a:buNone/>
            </a:pPr>
            <a:r>
              <a:rPr lang="en-AU" altLang="zh-CN" sz="2000" dirty="0"/>
              <a:t>          Ghost </a:t>
            </a:r>
            <a:r>
              <a:rPr lang="en-AU" altLang="zh-CN" sz="2000" dirty="0">
                <a:ea typeface="宋体" panose="02010600030101010101" pitchFamily="2" charset="-122"/>
              </a:rPr>
              <a:t>entities</a:t>
            </a:r>
          </a:p>
          <a:p>
            <a:pPr marL="182245" lvl="1" indent="0">
              <a:buNone/>
            </a:pPr>
            <a:r>
              <a:rPr lang="en-AU" altLang="zh-CN" sz="2000" dirty="0"/>
              <a:t>         </a:t>
            </a:r>
            <a:r>
              <a:rPr lang="zh-CN" altLang="en-US" sz="2000" dirty="0"/>
              <a:t>半径</a:t>
            </a:r>
            <a:r>
              <a:rPr lang="en-AU" altLang="zh-CN" sz="2000" dirty="0"/>
              <a:t>500m</a:t>
            </a:r>
            <a:r>
              <a:rPr lang="zh-CN" altLang="en-US" sz="2000" dirty="0"/>
              <a:t>，可配置</a:t>
            </a:r>
            <a:r>
              <a:rPr lang="en-AU" altLang="zh-CN" sz="2000" dirty="0"/>
              <a:t> </a:t>
            </a:r>
          </a:p>
          <a:p>
            <a:pPr marL="182245" lvl="1" indent="0">
              <a:buNone/>
            </a:pPr>
            <a:r>
              <a:rPr lang="zh-CN" altLang="en-US" sz="2000" dirty="0"/>
              <a:t>         大于等于</a:t>
            </a:r>
            <a:r>
              <a:rPr lang="en-US" altLang="zh-CN" sz="2000" dirty="0"/>
              <a:t>AOI</a:t>
            </a:r>
            <a:endParaRPr lang="en-AU" altLang="zh-CN" sz="2000" dirty="0">
              <a:ea typeface="宋体" panose="02010600030101010101" pitchFamily="2" charset="-122"/>
            </a:endParaRPr>
          </a:p>
        </p:txBody>
      </p:sp>
      <p:sp>
        <p:nvSpPr>
          <p:cNvPr id="38" name="流程图: 过程 37"/>
          <p:cNvSpPr/>
          <p:nvPr/>
        </p:nvSpPr>
        <p:spPr>
          <a:xfrm>
            <a:off x="5328592" y="3995505"/>
            <a:ext cx="1800200" cy="22322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流程图: 过程 38"/>
          <p:cNvSpPr/>
          <p:nvPr/>
        </p:nvSpPr>
        <p:spPr>
          <a:xfrm>
            <a:off x="6048672" y="3995505"/>
            <a:ext cx="1080120" cy="22322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流程图: 过程 39"/>
          <p:cNvSpPr/>
          <p:nvPr/>
        </p:nvSpPr>
        <p:spPr>
          <a:xfrm>
            <a:off x="7128792" y="3995505"/>
            <a:ext cx="1800200" cy="2232248"/>
          </a:xfrm>
          <a:prstGeom prst="flowChart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1" name="流程图: 过程 40"/>
          <p:cNvSpPr/>
          <p:nvPr/>
        </p:nvSpPr>
        <p:spPr>
          <a:xfrm>
            <a:off x="7128792" y="3995505"/>
            <a:ext cx="1080120" cy="2232248"/>
          </a:xfrm>
          <a:prstGeom prst="flowChart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2" name="流程图: 联系 41"/>
          <p:cNvSpPr/>
          <p:nvPr/>
        </p:nvSpPr>
        <p:spPr>
          <a:xfrm>
            <a:off x="6617940" y="5186908"/>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44" name="流程图: 联系 43"/>
          <p:cNvSpPr/>
          <p:nvPr/>
        </p:nvSpPr>
        <p:spPr>
          <a:xfrm>
            <a:off x="6948264" y="5402932"/>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47" name="TextBox 46"/>
          <p:cNvSpPr txBox="1"/>
          <p:nvPr/>
        </p:nvSpPr>
        <p:spPr>
          <a:xfrm>
            <a:off x="5760640" y="3501008"/>
            <a:ext cx="648072" cy="369332"/>
          </a:xfrm>
          <a:prstGeom prst="rect">
            <a:avLst/>
          </a:prstGeom>
          <a:noFill/>
        </p:spPr>
        <p:txBody>
          <a:bodyPr wrap="square" rtlCol="0">
            <a:spAutoFit/>
          </a:bodyPr>
          <a:lstStyle/>
          <a:p>
            <a:r>
              <a:rPr lang="en-US" altLang="zh-CN" dirty="0"/>
              <a:t>Cell1</a:t>
            </a:r>
            <a:endParaRPr lang="zh-CN" altLang="en-US" dirty="0"/>
          </a:p>
        </p:txBody>
      </p:sp>
      <p:sp>
        <p:nvSpPr>
          <p:cNvPr id="48" name="TextBox 47"/>
          <p:cNvSpPr txBox="1"/>
          <p:nvPr/>
        </p:nvSpPr>
        <p:spPr>
          <a:xfrm>
            <a:off x="7857564" y="3501008"/>
            <a:ext cx="648072" cy="369332"/>
          </a:xfrm>
          <a:prstGeom prst="rect">
            <a:avLst/>
          </a:prstGeom>
          <a:noFill/>
        </p:spPr>
        <p:txBody>
          <a:bodyPr wrap="square" rtlCol="0">
            <a:spAutoFit/>
          </a:bodyPr>
          <a:lstStyle/>
          <a:p>
            <a:r>
              <a:rPr lang="en-US" altLang="zh-CN" dirty="0"/>
              <a:t>Cell2</a:t>
            </a:r>
            <a:endParaRPr lang="zh-CN" altLang="en-US" dirty="0"/>
          </a:p>
        </p:txBody>
      </p:sp>
      <p:sp>
        <p:nvSpPr>
          <p:cNvPr id="49" name="TextBox 48"/>
          <p:cNvSpPr txBox="1"/>
          <p:nvPr/>
        </p:nvSpPr>
        <p:spPr>
          <a:xfrm>
            <a:off x="6547828" y="5886659"/>
            <a:ext cx="1092134" cy="261610"/>
          </a:xfrm>
          <a:prstGeom prst="rect">
            <a:avLst/>
          </a:prstGeom>
          <a:noFill/>
        </p:spPr>
        <p:txBody>
          <a:bodyPr wrap="square" rtlCol="0">
            <a:spAutoFit/>
          </a:bodyPr>
          <a:lstStyle/>
          <a:p>
            <a:r>
              <a:rPr lang="en-US" altLang="zh-CN" sz="1100" dirty="0"/>
              <a:t>500m radius</a:t>
            </a:r>
          </a:p>
        </p:txBody>
      </p:sp>
      <p:sp>
        <p:nvSpPr>
          <p:cNvPr id="55" name="流程图: 联系 54"/>
          <p:cNvSpPr/>
          <p:nvPr/>
        </p:nvSpPr>
        <p:spPr>
          <a:xfrm>
            <a:off x="7693410" y="6587793"/>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56" name="流程图: 联系 55"/>
          <p:cNvSpPr/>
          <p:nvPr/>
        </p:nvSpPr>
        <p:spPr>
          <a:xfrm>
            <a:off x="7704856" y="6329477"/>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57" name="TextBox 56"/>
          <p:cNvSpPr txBox="1"/>
          <p:nvPr/>
        </p:nvSpPr>
        <p:spPr>
          <a:xfrm>
            <a:off x="7819156" y="6254175"/>
            <a:ext cx="1187624" cy="261610"/>
          </a:xfrm>
          <a:prstGeom prst="rect">
            <a:avLst/>
          </a:prstGeom>
          <a:noFill/>
        </p:spPr>
        <p:txBody>
          <a:bodyPr wrap="square" rtlCol="0">
            <a:spAutoFit/>
          </a:bodyPr>
          <a:lstStyle/>
          <a:p>
            <a:r>
              <a:rPr lang="en-US" altLang="zh-CN" sz="1100" dirty="0"/>
              <a:t> Real Entity</a:t>
            </a:r>
            <a:endParaRPr lang="zh-CN" altLang="en-US" sz="1100" dirty="0"/>
          </a:p>
        </p:txBody>
      </p:sp>
      <p:sp>
        <p:nvSpPr>
          <p:cNvPr id="58" name="TextBox 57"/>
          <p:cNvSpPr txBox="1"/>
          <p:nvPr/>
        </p:nvSpPr>
        <p:spPr>
          <a:xfrm>
            <a:off x="7848872" y="6515785"/>
            <a:ext cx="1187624" cy="261610"/>
          </a:xfrm>
          <a:prstGeom prst="rect">
            <a:avLst/>
          </a:prstGeom>
          <a:noFill/>
        </p:spPr>
        <p:txBody>
          <a:bodyPr wrap="square" rtlCol="0">
            <a:spAutoFit/>
          </a:bodyPr>
          <a:lstStyle/>
          <a:p>
            <a:r>
              <a:rPr lang="en-US" altLang="zh-CN" sz="1100" dirty="0"/>
              <a:t>Ghost Entity</a:t>
            </a:r>
            <a:endParaRPr lang="zh-CN" altLang="en-US" sz="1100" dirty="0"/>
          </a:p>
        </p:txBody>
      </p:sp>
      <p:sp>
        <p:nvSpPr>
          <p:cNvPr id="65" name="流程图: 联系 64"/>
          <p:cNvSpPr/>
          <p:nvPr/>
        </p:nvSpPr>
        <p:spPr>
          <a:xfrm>
            <a:off x="6905972" y="4941168"/>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68" name="流程图: 过程 67"/>
          <p:cNvSpPr/>
          <p:nvPr/>
        </p:nvSpPr>
        <p:spPr>
          <a:xfrm>
            <a:off x="6548214" y="5007252"/>
            <a:ext cx="914400" cy="870020"/>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箭头连接符 69"/>
          <p:cNvCxnSpPr>
            <a:stCxn id="44" idx="6"/>
            <a:endCxn id="44" idx="5"/>
          </p:cNvCxnSpPr>
          <p:nvPr/>
        </p:nvCxnSpPr>
        <p:spPr>
          <a:xfrm flipH="1">
            <a:off x="7045825" y="5460082"/>
            <a:ext cx="16739" cy="404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44" idx="4"/>
            <a:endCxn id="68" idx="2"/>
          </p:cNvCxnSpPr>
          <p:nvPr/>
        </p:nvCxnSpPr>
        <p:spPr>
          <a:xfrm>
            <a:off x="7005414" y="5517232"/>
            <a:ext cx="0" cy="36004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74" name="流程图: 联系 73"/>
          <p:cNvSpPr/>
          <p:nvPr/>
        </p:nvSpPr>
        <p:spPr>
          <a:xfrm>
            <a:off x="6257900" y="4610844"/>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76" name="TextBox 75"/>
          <p:cNvSpPr txBox="1"/>
          <p:nvPr/>
        </p:nvSpPr>
        <p:spPr>
          <a:xfrm>
            <a:off x="6072154" y="4005064"/>
            <a:ext cx="1092134" cy="430887"/>
          </a:xfrm>
          <a:prstGeom prst="rect">
            <a:avLst/>
          </a:prstGeom>
          <a:noFill/>
        </p:spPr>
        <p:txBody>
          <a:bodyPr wrap="square" rtlCol="0">
            <a:spAutoFit/>
          </a:bodyPr>
          <a:lstStyle/>
          <a:p>
            <a:r>
              <a:rPr lang="en-US" altLang="zh-CN" sz="1100" dirty="0"/>
              <a:t>500m boundary region</a:t>
            </a:r>
          </a:p>
        </p:txBody>
      </p:sp>
      <p:sp>
        <p:nvSpPr>
          <p:cNvPr id="77" name="TextBox 76"/>
          <p:cNvSpPr txBox="1"/>
          <p:nvPr/>
        </p:nvSpPr>
        <p:spPr>
          <a:xfrm>
            <a:off x="7164288" y="4005064"/>
            <a:ext cx="1092134" cy="430887"/>
          </a:xfrm>
          <a:prstGeom prst="rect">
            <a:avLst/>
          </a:prstGeom>
          <a:noFill/>
        </p:spPr>
        <p:txBody>
          <a:bodyPr wrap="square" rtlCol="0">
            <a:spAutoFit/>
          </a:bodyPr>
          <a:lstStyle/>
          <a:p>
            <a:r>
              <a:rPr lang="en-US" altLang="zh-CN" sz="1100" dirty="0"/>
              <a:t>500m boundary region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Entity: Real</a:t>
            </a:r>
            <a:r>
              <a:rPr lang="zh-CN" altLang="en-US" dirty="0">
                <a:solidFill>
                  <a:schemeClr val="accent1"/>
                </a:solidFill>
                <a:ea typeface="宋体" panose="02010600030101010101" pitchFamily="2" charset="-122"/>
              </a:rPr>
              <a:t>与</a:t>
            </a:r>
            <a:r>
              <a:rPr lang="en-US" altLang="zh-CN" dirty="0">
                <a:solidFill>
                  <a:schemeClr val="accent1"/>
                </a:solidFill>
                <a:ea typeface="宋体" panose="02010600030101010101" pitchFamily="2" charset="-122"/>
              </a:rPr>
              <a:t>Ghost</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ea typeface="宋体" panose="02010600030101010101" pitchFamily="2" charset="-122"/>
              </a:rPr>
              <a:t>Real Entity</a:t>
            </a:r>
            <a:r>
              <a:rPr lang="zh-CN" altLang="en-AU" dirty="0">
                <a:ea typeface="宋体" panose="02010600030101010101" pitchFamily="2" charset="-122"/>
              </a:rPr>
              <a:t>是权威的</a:t>
            </a:r>
            <a:r>
              <a:rPr lang="en-AU" altLang="zh-CN" dirty="0">
                <a:ea typeface="宋体" panose="02010600030101010101" pitchFamily="2" charset="-122"/>
              </a:rPr>
              <a:t>Entity</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即玩家在当前</a:t>
            </a:r>
            <a:r>
              <a:rPr lang="en-US" altLang="zh-CN" sz="2000" dirty="0">
                <a:solidFill>
                  <a:srgbClr val="FF0000"/>
                </a:solidFill>
                <a:ea typeface="宋体" panose="02010600030101010101" pitchFamily="2" charset="-122"/>
              </a:rPr>
              <a:t>cell</a:t>
            </a:r>
            <a:r>
              <a:rPr lang="zh-CN" altLang="en-US" sz="2000" dirty="0">
                <a:solidFill>
                  <a:srgbClr val="FF0000"/>
                </a:solidFill>
                <a:ea typeface="宋体" panose="02010600030101010101" pitchFamily="2" charset="-122"/>
              </a:rPr>
              <a:t>控制的</a:t>
            </a:r>
            <a:r>
              <a:rPr lang="en-US" altLang="zh-CN" sz="2000" dirty="0">
                <a:solidFill>
                  <a:srgbClr val="FF0000"/>
                </a:solidFill>
                <a:ea typeface="宋体" panose="02010600030101010101" pitchFamily="2" charset="-122"/>
              </a:rPr>
              <a:t>entity)</a:t>
            </a:r>
            <a:endParaRPr lang="en-AU" altLang="zh-CN" sz="2000" dirty="0">
              <a:solidFill>
                <a:srgbClr val="FF0000"/>
              </a:solidFill>
            </a:endParaRPr>
          </a:p>
          <a:p>
            <a:r>
              <a:rPr lang="zh-CN" altLang="en-AU" dirty="0">
                <a:ea typeface="宋体" panose="02010600030101010101" pitchFamily="2" charset="-122"/>
              </a:rPr>
              <a:t>一个</a:t>
            </a:r>
            <a:r>
              <a:rPr lang="en-AU" altLang="zh-CN" dirty="0">
                <a:ea typeface="宋体" panose="02010600030101010101" pitchFamily="2" charset="-122"/>
              </a:rPr>
              <a:t>Ghost Entity</a:t>
            </a:r>
            <a:r>
              <a:rPr lang="zh-CN" altLang="en-AU" dirty="0">
                <a:ea typeface="宋体" panose="02010600030101010101" pitchFamily="2" charset="-122"/>
              </a:rPr>
              <a:t>是从邻近的</a:t>
            </a:r>
            <a:r>
              <a:rPr lang="en-AU" altLang="zh-CN" dirty="0">
                <a:ea typeface="宋体" panose="02010600030101010101" pitchFamily="2" charset="-122"/>
              </a:rPr>
              <a:t>Cell</a:t>
            </a:r>
            <a:r>
              <a:rPr lang="zh-CN" altLang="en-AU" dirty="0">
                <a:ea typeface="宋体" panose="02010600030101010101" pitchFamily="2" charset="-122"/>
              </a:rPr>
              <a:t>的对应的</a:t>
            </a:r>
            <a:r>
              <a:rPr lang="en-AU" altLang="zh-CN" dirty="0">
                <a:ea typeface="宋体" panose="02010600030101010101" pitchFamily="2" charset="-122"/>
              </a:rPr>
              <a:t>Entity</a:t>
            </a:r>
            <a:r>
              <a:rPr lang="zh-CN" altLang="en-AU" dirty="0">
                <a:ea typeface="宋体" panose="02010600030101010101" pitchFamily="2" charset="-122"/>
              </a:rPr>
              <a:t>的部分数据的拷贝</a:t>
            </a:r>
            <a:endParaRPr lang="en-US" altLang="zh-CN" dirty="0">
              <a:ea typeface="宋体" panose="02010600030101010101" pitchFamily="2" charset="-122"/>
            </a:endParaRPr>
          </a:p>
          <a:p>
            <a:r>
              <a:rPr lang="zh-CN" altLang="en-US" sz="1800" dirty="0">
                <a:solidFill>
                  <a:srgbClr val="FF0000"/>
                </a:solidFill>
                <a:ea typeface="宋体" panose="02010600030101010101" pitchFamily="2" charset="-122"/>
              </a:rPr>
              <a:t>从图中可以看出两个</a:t>
            </a:r>
            <a:r>
              <a:rPr lang="en-US" altLang="zh-CN" sz="1800" dirty="0">
                <a:solidFill>
                  <a:srgbClr val="FF0000"/>
                </a:solidFill>
                <a:ea typeface="宋体" panose="02010600030101010101" pitchFamily="2" charset="-122"/>
              </a:rPr>
              <a:t>cell</a:t>
            </a:r>
            <a:r>
              <a:rPr lang="zh-CN" altLang="en-US" sz="1800" dirty="0">
                <a:solidFill>
                  <a:srgbClr val="FF0000"/>
                </a:solidFill>
                <a:ea typeface="宋体" panose="02010600030101010101" pitchFamily="2" charset="-122"/>
              </a:rPr>
              <a:t>的交界处</a:t>
            </a:r>
            <a:endParaRPr lang="en-US" altLang="zh-CN" sz="1800" dirty="0">
              <a:solidFill>
                <a:srgbClr val="FF0000"/>
              </a:solidFill>
              <a:ea typeface="宋体" panose="02010600030101010101" pitchFamily="2" charset="-122"/>
            </a:endParaRPr>
          </a:p>
          <a:p>
            <a:pPr marL="0" indent="0">
              <a:buNone/>
            </a:pP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500m</a:t>
            </a:r>
            <a:r>
              <a:rPr lang="zh-CN" altLang="en-US" sz="1800" dirty="0">
                <a:solidFill>
                  <a:srgbClr val="FF0000"/>
                </a:solidFill>
                <a:ea typeface="宋体" panose="02010600030101010101" pitchFamily="2" charset="-122"/>
              </a:rPr>
              <a:t>范围内</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边界外沿范围</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在这</a:t>
            </a:r>
            <a:endParaRPr lang="en-US" altLang="zh-CN" sz="1800" dirty="0">
              <a:solidFill>
                <a:srgbClr val="FF0000"/>
              </a:solidFill>
              <a:ea typeface="宋体" panose="02010600030101010101" pitchFamily="2" charset="-122"/>
            </a:endParaRPr>
          </a:p>
          <a:p>
            <a:pPr marL="0" indent="0">
              <a:buNone/>
            </a:pPr>
            <a:r>
              <a:rPr lang="zh-CN" altLang="en-US" sz="1800" dirty="0">
                <a:solidFill>
                  <a:srgbClr val="FF0000"/>
                </a:solidFill>
                <a:ea typeface="宋体" panose="02010600030101010101" pitchFamily="2" charset="-122"/>
              </a:rPr>
              <a:t>个范围内的</a:t>
            </a:r>
            <a:r>
              <a:rPr lang="en-US" altLang="zh-CN" sz="1800" dirty="0">
                <a:solidFill>
                  <a:srgbClr val="FF0000"/>
                </a:solidFill>
                <a:ea typeface="宋体" panose="02010600030101010101" pitchFamily="2" charset="-122"/>
              </a:rPr>
              <a:t>Entity,</a:t>
            </a:r>
            <a:r>
              <a:rPr lang="zh-CN" altLang="en-US" sz="1800" dirty="0">
                <a:solidFill>
                  <a:srgbClr val="FF0000"/>
                </a:solidFill>
                <a:ea typeface="宋体" panose="02010600030101010101" pitchFamily="2" charset="-122"/>
              </a:rPr>
              <a:t>如名为</a:t>
            </a:r>
            <a:r>
              <a:rPr lang="en-US" altLang="zh-CN" sz="1800" dirty="0">
                <a:solidFill>
                  <a:srgbClr val="FF0000"/>
                </a:solidFill>
                <a:ea typeface="宋体" panose="02010600030101010101" pitchFamily="2" charset="-122"/>
              </a:rPr>
              <a:t>RE1</a:t>
            </a: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Entity,</a:t>
            </a:r>
          </a:p>
          <a:p>
            <a:pPr marL="0" indent="0">
              <a:buNone/>
            </a:pPr>
            <a:r>
              <a:rPr lang="zh-CN" altLang="en-US" sz="1800" dirty="0">
                <a:solidFill>
                  <a:srgbClr val="FF0000"/>
                </a:solidFill>
                <a:ea typeface="宋体" panose="02010600030101010101" pitchFamily="2" charset="-122"/>
              </a:rPr>
              <a:t>属于</a:t>
            </a:r>
            <a:r>
              <a:rPr lang="en-US" altLang="zh-CN" sz="1800" dirty="0">
                <a:solidFill>
                  <a:srgbClr val="FF0000"/>
                </a:solidFill>
                <a:ea typeface="宋体" panose="02010600030101010101" pitchFamily="2" charset="-122"/>
              </a:rPr>
              <a:t>cell2</a:t>
            </a:r>
            <a:r>
              <a:rPr lang="zh-CN" altLang="en-US" sz="1800" dirty="0">
                <a:solidFill>
                  <a:srgbClr val="FF0000"/>
                </a:solidFill>
                <a:ea typeface="宋体" panose="02010600030101010101" pitchFamily="2" charset="-122"/>
              </a:rPr>
              <a:t>所以它在</a:t>
            </a:r>
            <a:r>
              <a:rPr lang="en-US" altLang="zh-CN" sz="1800" dirty="0">
                <a:solidFill>
                  <a:srgbClr val="FF0000"/>
                </a:solidFill>
                <a:ea typeface="宋体" panose="02010600030101010101" pitchFamily="2" charset="-122"/>
              </a:rPr>
              <a:t>Cell2</a:t>
            </a:r>
            <a:r>
              <a:rPr lang="zh-CN" altLang="en-US" sz="1800" dirty="0">
                <a:solidFill>
                  <a:srgbClr val="FF0000"/>
                </a:solidFill>
                <a:ea typeface="宋体" panose="02010600030101010101" pitchFamily="2" charset="-122"/>
              </a:rPr>
              <a:t>里是</a:t>
            </a:r>
            <a:endParaRPr lang="en-US" altLang="zh-CN" sz="1800" dirty="0">
              <a:solidFill>
                <a:srgbClr val="FF0000"/>
              </a:solidFill>
              <a:ea typeface="宋体" panose="02010600030101010101" pitchFamily="2" charset="-122"/>
            </a:endParaRPr>
          </a:p>
          <a:p>
            <a:pPr marL="0" indent="0">
              <a:buNone/>
            </a:pPr>
            <a:r>
              <a:rPr lang="en-AU" altLang="zh-CN" sz="1800" dirty="0">
                <a:solidFill>
                  <a:srgbClr val="FF0000"/>
                </a:solidFill>
                <a:ea typeface="宋体" panose="02010600030101010101" pitchFamily="2" charset="-122"/>
              </a:rPr>
              <a:t>Real Entity,</a:t>
            </a:r>
            <a:r>
              <a:rPr lang="zh-CN" altLang="en-US" sz="1800" dirty="0">
                <a:solidFill>
                  <a:srgbClr val="FF0000"/>
                </a:solidFill>
                <a:ea typeface="宋体" panose="02010600030101010101" pitchFamily="2" charset="-122"/>
              </a:rPr>
              <a:t>由于在这个范围内的</a:t>
            </a:r>
            <a:endParaRPr lang="en-US" altLang="zh-CN" sz="1800" dirty="0">
              <a:solidFill>
                <a:srgbClr val="FF0000"/>
              </a:solidFill>
              <a:ea typeface="宋体" panose="02010600030101010101" pitchFamily="2" charset="-122"/>
            </a:endParaRPr>
          </a:p>
          <a:p>
            <a:pPr marL="0" indent="0">
              <a:buNone/>
            </a:pPr>
            <a:r>
              <a:rPr lang="en-US" altLang="zh-CN" sz="1800" dirty="0">
                <a:solidFill>
                  <a:srgbClr val="FF0000"/>
                </a:solidFill>
                <a:ea typeface="宋体" panose="02010600030101010101" pitchFamily="2" charset="-122"/>
              </a:rPr>
              <a:t>Real Entity</a:t>
            </a:r>
            <a:r>
              <a:rPr lang="zh-CN" altLang="en-US" sz="1800" dirty="0">
                <a:solidFill>
                  <a:srgbClr val="FF0000"/>
                </a:solidFill>
                <a:ea typeface="宋体" panose="02010600030101010101" pitchFamily="2" charset="-122"/>
              </a:rPr>
              <a:t>会</a:t>
            </a:r>
            <a:r>
              <a:rPr lang="en-US" altLang="zh-CN" sz="1800" dirty="0">
                <a:solidFill>
                  <a:srgbClr val="FF0000"/>
                </a:solidFill>
                <a:ea typeface="宋体" panose="02010600030101010101" pitchFamily="2" charset="-122"/>
              </a:rPr>
              <a:t>copy</a:t>
            </a:r>
            <a:r>
              <a:rPr lang="zh-CN" altLang="en-US" sz="1800" dirty="0">
                <a:solidFill>
                  <a:srgbClr val="FF0000"/>
                </a:solidFill>
                <a:ea typeface="宋体" panose="02010600030101010101" pitchFamily="2" charset="-122"/>
              </a:rPr>
              <a:t>到相邻的</a:t>
            </a:r>
            <a:r>
              <a:rPr lang="en-US" altLang="zh-CN" sz="1800" dirty="0">
                <a:solidFill>
                  <a:srgbClr val="FF0000"/>
                </a:solidFill>
                <a:ea typeface="宋体" panose="02010600030101010101" pitchFamily="2" charset="-122"/>
              </a:rPr>
              <a:t>Cell,</a:t>
            </a:r>
            <a:r>
              <a:rPr lang="zh-CN" altLang="en-US" sz="1800" dirty="0">
                <a:solidFill>
                  <a:srgbClr val="FF0000"/>
                </a:solidFill>
                <a:ea typeface="宋体" panose="02010600030101010101" pitchFamily="2" charset="-122"/>
              </a:rPr>
              <a:t>所以在</a:t>
            </a:r>
            <a:endParaRPr lang="en-US" altLang="zh-CN" sz="1800" dirty="0">
              <a:solidFill>
                <a:srgbClr val="FF0000"/>
              </a:solidFill>
              <a:ea typeface="宋体" panose="02010600030101010101" pitchFamily="2" charset="-122"/>
            </a:endParaRPr>
          </a:p>
          <a:p>
            <a:pPr marL="0" indent="0">
              <a:buNone/>
            </a:pPr>
            <a:r>
              <a:rPr lang="en-US" altLang="zh-CN" sz="1800" dirty="0">
                <a:solidFill>
                  <a:srgbClr val="FF0000"/>
                </a:solidFill>
                <a:ea typeface="宋体" panose="02010600030101010101" pitchFamily="2" charset="-122"/>
              </a:rPr>
              <a:t>Cell1</a:t>
            </a:r>
            <a:r>
              <a:rPr lang="zh-CN" altLang="en-US" sz="1800" dirty="0">
                <a:solidFill>
                  <a:srgbClr val="FF0000"/>
                </a:solidFill>
                <a:ea typeface="宋体" panose="02010600030101010101" pitchFamily="2" charset="-122"/>
              </a:rPr>
              <a:t>中复制了一份名为</a:t>
            </a:r>
            <a:r>
              <a:rPr lang="en-US" altLang="zh-CN" sz="1800" dirty="0">
                <a:solidFill>
                  <a:srgbClr val="FF0000"/>
                </a:solidFill>
                <a:ea typeface="宋体" panose="02010600030101010101" pitchFamily="2" charset="-122"/>
              </a:rPr>
              <a:t>GE1</a:t>
            </a:r>
            <a:r>
              <a:rPr lang="zh-CN" altLang="en-US" sz="1800" dirty="0">
                <a:solidFill>
                  <a:srgbClr val="FF0000"/>
                </a:solidFill>
                <a:ea typeface="宋体" panose="02010600030101010101" pitchFamily="2" charset="-122"/>
              </a:rPr>
              <a:t>的</a:t>
            </a:r>
            <a:endParaRPr lang="en-US" altLang="zh-CN" sz="1800" dirty="0">
              <a:solidFill>
                <a:srgbClr val="FF0000"/>
              </a:solidFill>
              <a:ea typeface="宋体" panose="02010600030101010101" pitchFamily="2" charset="-122"/>
            </a:endParaRPr>
          </a:p>
          <a:p>
            <a:pPr marL="0" indent="0">
              <a:buNone/>
            </a:pPr>
            <a:r>
              <a:rPr lang="en-US" altLang="zh-CN" sz="1800" dirty="0">
                <a:solidFill>
                  <a:srgbClr val="FF0000"/>
                </a:solidFill>
                <a:ea typeface="宋体" panose="02010600030101010101" pitchFamily="2" charset="-122"/>
              </a:rPr>
              <a:t>Ghost Entity</a:t>
            </a:r>
          </a:p>
          <a:p>
            <a:pPr marL="0" indent="0">
              <a:buNone/>
            </a:pPr>
            <a:r>
              <a:rPr lang="zh-CN" altLang="en-US" sz="1800" dirty="0">
                <a:solidFill>
                  <a:srgbClr val="FF0000"/>
                </a:solidFill>
                <a:ea typeface="宋体" panose="02010600030101010101" pitchFamily="2" charset="-122"/>
              </a:rPr>
              <a:t>所以每个</a:t>
            </a:r>
            <a:r>
              <a:rPr lang="en-US" altLang="zh-CN" sz="1800" dirty="0">
                <a:solidFill>
                  <a:srgbClr val="FF0000"/>
                </a:solidFill>
                <a:ea typeface="宋体" panose="02010600030101010101" pitchFamily="2" charset="-122"/>
              </a:rPr>
              <a:t>Cell</a:t>
            </a:r>
            <a:r>
              <a:rPr lang="zh-CN" altLang="en-US" sz="1800" dirty="0">
                <a:solidFill>
                  <a:srgbClr val="FF0000"/>
                </a:solidFill>
                <a:ea typeface="宋体" panose="02010600030101010101" pitchFamily="2" charset="-122"/>
              </a:rPr>
              <a:t>都维护者两个</a:t>
            </a:r>
            <a:r>
              <a:rPr lang="en-US" altLang="zh-CN" sz="1800" dirty="0">
                <a:solidFill>
                  <a:srgbClr val="FF0000"/>
                </a:solidFill>
                <a:ea typeface="宋体" panose="02010600030101010101" pitchFamily="2" charset="-122"/>
              </a:rPr>
              <a:t>Entity</a:t>
            </a:r>
            <a:r>
              <a:rPr lang="zh-CN" altLang="en-US" sz="1800" dirty="0">
                <a:solidFill>
                  <a:srgbClr val="FF0000"/>
                </a:solidFill>
                <a:ea typeface="宋体" panose="02010600030101010101" pitchFamily="2" charset="-122"/>
              </a:rPr>
              <a:t>列表</a:t>
            </a:r>
            <a:endParaRPr lang="en-US" altLang="zh-CN" sz="1800" dirty="0">
              <a:solidFill>
                <a:srgbClr val="FF0000"/>
              </a:solidFill>
              <a:ea typeface="宋体" panose="02010600030101010101" pitchFamily="2" charset="-122"/>
            </a:endParaRPr>
          </a:p>
          <a:p>
            <a:pPr marL="0" indent="0">
              <a:buNone/>
            </a:pPr>
            <a:r>
              <a:rPr lang="zh-CN" altLang="en-US" sz="1800" dirty="0">
                <a:solidFill>
                  <a:srgbClr val="FF0000"/>
                </a:solidFill>
                <a:ea typeface="宋体" panose="02010600030101010101" pitchFamily="2" charset="-122"/>
              </a:rPr>
              <a:t>即</a:t>
            </a:r>
            <a:r>
              <a:rPr lang="en-AU" altLang="zh-CN" sz="1800" dirty="0">
                <a:solidFill>
                  <a:srgbClr val="FF0000"/>
                </a:solidFill>
                <a:ea typeface="宋体" panose="02010600030101010101" pitchFamily="2" charset="-122"/>
              </a:rPr>
              <a:t>Ghost Entity </a:t>
            </a:r>
            <a:r>
              <a:rPr lang="zh-CN" altLang="en-US" sz="1800" dirty="0">
                <a:solidFill>
                  <a:srgbClr val="FF0000"/>
                </a:solidFill>
                <a:ea typeface="宋体" panose="02010600030101010101" pitchFamily="2" charset="-122"/>
              </a:rPr>
              <a:t>和 </a:t>
            </a:r>
            <a:r>
              <a:rPr lang="en-AU" altLang="zh-CN" sz="1800" dirty="0">
                <a:solidFill>
                  <a:srgbClr val="FF0000"/>
                </a:solidFill>
                <a:ea typeface="宋体" panose="02010600030101010101" pitchFamily="2" charset="-122"/>
              </a:rPr>
              <a:t>Real Entity </a:t>
            </a:r>
            <a:r>
              <a:rPr lang="en-US" altLang="zh-CN" sz="1800" dirty="0">
                <a:solidFill>
                  <a:srgbClr val="FF0000"/>
                </a:solidFill>
                <a:ea typeface="宋体" panose="02010600030101010101" pitchFamily="2" charset="-122"/>
              </a:rPr>
              <a:t>list</a:t>
            </a:r>
            <a:endParaRPr lang="en-AU" altLang="zh-CN" sz="1800" dirty="0">
              <a:solidFill>
                <a:srgbClr val="FF0000"/>
              </a:solidFill>
              <a:ea typeface="宋体" panose="02010600030101010101" pitchFamily="2" charset="-122"/>
            </a:endParaRPr>
          </a:p>
        </p:txBody>
      </p:sp>
      <p:sp>
        <p:nvSpPr>
          <p:cNvPr id="10" name="流程图: 过程 9"/>
          <p:cNvSpPr/>
          <p:nvPr/>
        </p:nvSpPr>
        <p:spPr>
          <a:xfrm>
            <a:off x="3888432" y="3383414"/>
            <a:ext cx="1800200" cy="22322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过程 10"/>
          <p:cNvSpPr/>
          <p:nvPr/>
        </p:nvSpPr>
        <p:spPr>
          <a:xfrm>
            <a:off x="4608512" y="3383414"/>
            <a:ext cx="1080120" cy="2232248"/>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流程图: 过程 12"/>
          <p:cNvSpPr/>
          <p:nvPr/>
        </p:nvSpPr>
        <p:spPr>
          <a:xfrm>
            <a:off x="5688632" y="3383414"/>
            <a:ext cx="1800200" cy="2232248"/>
          </a:xfrm>
          <a:prstGeom prst="flowChart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4" name="流程图: 过程 13"/>
          <p:cNvSpPr/>
          <p:nvPr/>
        </p:nvSpPr>
        <p:spPr>
          <a:xfrm>
            <a:off x="5688632" y="3383414"/>
            <a:ext cx="1080120" cy="2232248"/>
          </a:xfrm>
          <a:prstGeom prst="flowChartProcess">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p>
        </p:txBody>
      </p:sp>
      <p:sp>
        <p:nvSpPr>
          <p:cNvPr id="8" name="流程图: 联系 7"/>
          <p:cNvSpPr/>
          <p:nvPr/>
        </p:nvSpPr>
        <p:spPr>
          <a:xfrm>
            <a:off x="5142067" y="4368319"/>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5" name="流程图: 联系 14"/>
          <p:cNvSpPr/>
          <p:nvPr/>
        </p:nvSpPr>
        <p:spPr>
          <a:xfrm>
            <a:off x="4968552" y="4767050"/>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6" name="流程图: 联系 15"/>
          <p:cNvSpPr/>
          <p:nvPr/>
        </p:nvSpPr>
        <p:spPr>
          <a:xfrm>
            <a:off x="5400600" y="5330924"/>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8" name="流程图: 联系 17"/>
          <p:cNvSpPr/>
          <p:nvPr/>
        </p:nvSpPr>
        <p:spPr>
          <a:xfrm>
            <a:off x="6048672" y="4796140"/>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9" name="流程图: 联系 18"/>
          <p:cNvSpPr/>
          <p:nvPr/>
        </p:nvSpPr>
        <p:spPr>
          <a:xfrm>
            <a:off x="6480720" y="5330924"/>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12" name="TextBox 11"/>
          <p:cNvSpPr txBox="1"/>
          <p:nvPr/>
        </p:nvSpPr>
        <p:spPr>
          <a:xfrm>
            <a:off x="4320480" y="2888917"/>
            <a:ext cx="648072" cy="369332"/>
          </a:xfrm>
          <a:prstGeom prst="rect">
            <a:avLst/>
          </a:prstGeom>
          <a:noFill/>
        </p:spPr>
        <p:txBody>
          <a:bodyPr wrap="square" rtlCol="0">
            <a:spAutoFit/>
          </a:bodyPr>
          <a:lstStyle/>
          <a:p>
            <a:r>
              <a:rPr lang="en-US" altLang="zh-CN" dirty="0"/>
              <a:t>Cell1</a:t>
            </a:r>
            <a:endParaRPr lang="zh-CN" altLang="en-US" dirty="0"/>
          </a:p>
        </p:txBody>
      </p:sp>
      <p:sp>
        <p:nvSpPr>
          <p:cNvPr id="21" name="TextBox 20"/>
          <p:cNvSpPr txBox="1"/>
          <p:nvPr/>
        </p:nvSpPr>
        <p:spPr>
          <a:xfrm>
            <a:off x="6417404" y="2888917"/>
            <a:ext cx="648072" cy="369332"/>
          </a:xfrm>
          <a:prstGeom prst="rect">
            <a:avLst/>
          </a:prstGeom>
          <a:noFill/>
        </p:spPr>
        <p:txBody>
          <a:bodyPr wrap="square" rtlCol="0">
            <a:spAutoFit/>
          </a:bodyPr>
          <a:lstStyle/>
          <a:p>
            <a:r>
              <a:rPr lang="en-US" altLang="zh-CN" dirty="0"/>
              <a:t>Cell2</a:t>
            </a:r>
            <a:endParaRPr lang="zh-CN" altLang="en-US" dirty="0"/>
          </a:p>
        </p:txBody>
      </p:sp>
      <p:sp>
        <p:nvSpPr>
          <p:cNvPr id="20" name="TextBox 19"/>
          <p:cNvSpPr txBox="1"/>
          <p:nvPr/>
        </p:nvSpPr>
        <p:spPr>
          <a:xfrm>
            <a:off x="4655259" y="3383414"/>
            <a:ext cx="1092134" cy="430887"/>
          </a:xfrm>
          <a:prstGeom prst="rect">
            <a:avLst/>
          </a:prstGeom>
          <a:noFill/>
        </p:spPr>
        <p:txBody>
          <a:bodyPr wrap="square" rtlCol="0">
            <a:spAutoFit/>
          </a:bodyPr>
          <a:lstStyle/>
          <a:p>
            <a:r>
              <a:rPr lang="en-US" altLang="zh-CN" sz="1100" dirty="0"/>
              <a:t>500m boundary region</a:t>
            </a:r>
          </a:p>
        </p:txBody>
      </p:sp>
      <p:sp>
        <p:nvSpPr>
          <p:cNvPr id="23" name="TextBox 22"/>
          <p:cNvSpPr txBox="1"/>
          <p:nvPr/>
        </p:nvSpPr>
        <p:spPr>
          <a:xfrm>
            <a:off x="5688414" y="3383414"/>
            <a:ext cx="1377062" cy="769441"/>
          </a:xfrm>
          <a:prstGeom prst="rect">
            <a:avLst/>
          </a:prstGeom>
          <a:noFill/>
        </p:spPr>
        <p:txBody>
          <a:bodyPr wrap="square" rtlCol="0">
            <a:spAutoFit/>
          </a:bodyPr>
          <a:lstStyle/>
          <a:p>
            <a:r>
              <a:rPr lang="en-US" altLang="zh-CN" sz="1100" dirty="0"/>
              <a:t>500m boundary region</a:t>
            </a:r>
          </a:p>
          <a:p>
            <a:endParaRPr lang="en-US" altLang="zh-CN" sz="1100" dirty="0"/>
          </a:p>
          <a:p>
            <a:r>
              <a:rPr lang="en-US" altLang="zh-CN" sz="1100" dirty="0"/>
              <a:t>    </a:t>
            </a:r>
            <a:endParaRPr lang="zh-CN" altLang="en-US" sz="1100" dirty="0"/>
          </a:p>
        </p:txBody>
      </p:sp>
      <p:sp>
        <p:nvSpPr>
          <p:cNvPr id="24" name="流程图: 联系 23"/>
          <p:cNvSpPr/>
          <p:nvPr/>
        </p:nvSpPr>
        <p:spPr>
          <a:xfrm>
            <a:off x="4248472" y="4853290"/>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25" name="流程图: 联系 24"/>
          <p:cNvSpPr/>
          <p:nvPr/>
        </p:nvSpPr>
        <p:spPr>
          <a:xfrm>
            <a:off x="7230516" y="4031486"/>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26" name="流程图: 联系 25"/>
          <p:cNvSpPr/>
          <p:nvPr/>
        </p:nvSpPr>
        <p:spPr>
          <a:xfrm>
            <a:off x="6230303" y="4365104"/>
            <a:ext cx="114300" cy="103699"/>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29" name="流程图: 联系 28"/>
          <p:cNvSpPr/>
          <p:nvPr/>
        </p:nvSpPr>
        <p:spPr>
          <a:xfrm>
            <a:off x="6265649" y="5975702"/>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30" name="流程图: 联系 29"/>
          <p:cNvSpPr/>
          <p:nvPr/>
        </p:nvSpPr>
        <p:spPr>
          <a:xfrm>
            <a:off x="6264696" y="5717386"/>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27" name="TextBox 26"/>
          <p:cNvSpPr txBox="1"/>
          <p:nvPr/>
        </p:nvSpPr>
        <p:spPr>
          <a:xfrm>
            <a:off x="6378996" y="5642084"/>
            <a:ext cx="1187624" cy="261610"/>
          </a:xfrm>
          <a:prstGeom prst="rect">
            <a:avLst/>
          </a:prstGeom>
          <a:noFill/>
        </p:spPr>
        <p:txBody>
          <a:bodyPr wrap="square" rtlCol="0">
            <a:spAutoFit/>
          </a:bodyPr>
          <a:lstStyle/>
          <a:p>
            <a:r>
              <a:rPr lang="en-US" altLang="zh-CN" sz="1100" dirty="0"/>
              <a:t> Real Entity</a:t>
            </a:r>
            <a:endParaRPr lang="zh-CN" altLang="en-US" sz="1100" dirty="0"/>
          </a:p>
        </p:txBody>
      </p:sp>
      <p:sp>
        <p:nvSpPr>
          <p:cNvPr id="33" name="TextBox 32"/>
          <p:cNvSpPr txBox="1"/>
          <p:nvPr/>
        </p:nvSpPr>
        <p:spPr>
          <a:xfrm>
            <a:off x="6408712" y="5903694"/>
            <a:ext cx="1187624" cy="261610"/>
          </a:xfrm>
          <a:prstGeom prst="rect">
            <a:avLst/>
          </a:prstGeom>
          <a:noFill/>
        </p:spPr>
        <p:txBody>
          <a:bodyPr wrap="square" rtlCol="0">
            <a:spAutoFit/>
          </a:bodyPr>
          <a:lstStyle/>
          <a:p>
            <a:r>
              <a:rPr lang="en-US" altLang="zh-CN" sz="1100" dirty="0"/>
              <a:t>Ghost Entity</a:t>
            </a:r>
            <a:endParaRPr lang="zh-CN" altLang="en-US" sz="1100" dirty="0"/>
          </a:p>
        </p:txBody>
      </p:sp>
      <p:sp>
        <p:nvSpPr>
          <p:cNvPr id="34" name="流程图: 联系 33"/>
          <p:cNvSpPr/>
          <p:nvPr/>
        </p:nvSpPr>
        <p:spPr>
          <a:xfrm>
            <a:off x="5832648" y="4106788"/>
            <a:ext cx="114300" cy="114300"/>
          </a:xfrm>
          <a:prstGeom prst="flowChartConnector">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36" name="流程图: 联系 35"/>
          <p:cNvSpPr/>
          <p:nvPr/>
        </p:nvSpPr>
        <p:spPr>
          <a:xfrm>
            <a:off x="4752528" y="4106788"/>
            <a:ext cx="114300" cy="114300"/>
          </a:xfrm>
          <a:prstGeom prst="flowChartConnector">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cxnSp>
        <p:nvCxnSpPr>
          <p:cNvPr id="7" name="直接箭头连接符 6"/>
          <p:cNvCxnSpPr>
            <a:stCxn id="34" idx="2"/>
            <a:endCxn id="36" idx="6"/>
          </p:cNvCxnSpPr>
          <p:nvPr/>
        </p:nvCxnSpPr>
        <p:spPr>
          <a:xfrm flipH="1">
            <a:off x="4866828" y="4163938"/>
            <a:ext cx="965820"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22" name="直接箭头连接符 21"/>
          <p:cNvCxnSpPr>
            <a:endCxn id="26" idx="2"/>
          </p:cNvCxnSpPr>
          <p:nvPr/>
        </p:nvCxnSpPr>
        <p:spPr>
          <a:xfrm>
            <a:off x="5256367" y="4416953"/>
            <a:ext cx="973936" cy="1"/>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1" name="直接箭头连接符 30"/>
          <p:cNvCxnSpPr>
            <a:endCxn id="18" idx="2"/>
          </p:cNvCxnSpPr>
          <p:nvPr/>
        </p:nvCxnSpPr>
        <p:spPr>
          <a:xfrm>
            <a:off x="5082852" y="4853290"/>
            <a:ext cx="965820"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7" name="直接箭头连接符 36"/>
          <p:cNvCxnSpPr>
            <a:endCxn id="19" idx="2"/>
          </p:cNvCxnSpPr>
          <p:nvPr/>
        </p:nvCxnSpPr>
        <p:spPr>
          <a:xfrm>
            <a:off x="5514900" y="5388074"/>
            <a:ext cx="965820"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5" name="文本框 4"/>
          <p:cNvSpPr txBox="1"/>
          <p:nvPr/>
        </p:nvSpPr>
        <p:spPr>
          <a:xfrm>
            <a:off x="5886908" y="3923918"/>
            <a:ext cx="611560" cy="369332"/>
          </a:xfrm>
          <a:prstGeom prst="rect">
            <a:avLst/>
          </a:prstGeom>
          <a:noFill/>
        </p:spPr>
        <p:txBody>
          <a:bodyPr wrap="square" rtlCol="0">
            <a:spAutoFit/>
          </a:bodyPr>
          <a:lstStyle/>
          <a:p>
            <a:r>
              <a:rPr lang="en-US" altLang="zh-CN" dirty="0">
                <a:solidFill>
                  <a:srgbClr val="00B050"/>
                </a:solidFill>
              </a:rPr>
              <a:t>RE1</a:t>
            </a:r>
            <a:endParaRPr lang="zh-CN" altLang="en-US" dirty="0">
              <a:solidFill>
                <a:srgbClr val="00B050"/>
              </a:solidFill>
            </a:endParaRPr>
          </a:p>
        </p:txBody>
      </p:sp>
      <p:sp>
        <p:nvSpPr>
          <p:cNvPr id="6" name="文本框 5"/>
          <p:cNvSpPr txBox="1"/>
          <p:nvPr/>
        </p:nvSpPr>
        <p:spPr>
          <a:xfrm>
            <a:off x="4608294" y="3765697"/>
            <a:ext cx="611560" cy="369332"/>
          </a:xfrm>
          <a:prstGeom prst="rect">
            <a:avLst/>
          </a:prstGeom>
          <a:noFill/>
        </p:spPr>
        <p:txBody>
          <a:bodyPr wrap="square" rtlCol="0">
            <a:spAutoFit/>
          </a:bodyPr>
          <a:lstStyle/>
          <a:p>
            <a:r>
              <a:rPr lang="en-US" altLang="zh-CN" dirty="0">
                <a:solidFill>
                  <a:schemeClr val="bg1">
                    <a:lumMod val="85000"/>
                  </a:schemeClr>
                </a:solidFill>
              </a:rPr>
              <a:t>GE1</a:t>
            </a:r>
            <a:endParaRPr lang="zh-CN" altLang="en-US" dirty="0">
              <a:solidFill>
                <a:schemeClr val="bg1">
                  <a:lumMod val="8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Ghost Entity</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183126"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zh-CN" altLang="en-AU" dirty="0">
                <a:ea typeface="宋体" panose="02010600030101010101" pitchFamily="2" charset="-122"/>
              </a:rPr>
              <a:t>解决跨越</a:t>
            </a:r>
            <a:r>
              <a:rPr lang="en-AU" altLang="zh-CN" dirty="0">
                <a:ea typeface="宋体" panose="02010600030101010101" pitchFamily="2" charset="-122"/>
              </a:rPr>
              <a:t>Cell</a:t>
            </a:r>
            <a:r>
              <a:rPr lang="zh-CN" altLang="en-AU" dirty="0">
                <a:ea typeface="宋体" panose="02010600030101010101" pitchFamily="2" charset="-122"/>
              </a:rPr>
              <a:t>边界的</a:t>
            </a:r>
            <a:r>
              <a:rPr lang="en-AU" altLang="zh-CN" dirty="0">
                <a:ea typeface="宋体" panose="02010600030101010101" pitchFamily="2" charset="-122"/>
              </a:rPr>
              <a:t>Entity</a:t>
            </a:r>
            <a:r>
              <a:rPr lang="zh-CN" altLang="en-AU" dirty="0">
                <a:ea typeface="宋体" panose="02010600030101010101" pitchFamily="2" charset="-122"/>
              </a:rPr>
              <a:t>的交互问题</a:t>
            </a:r>
            <a:endParaRPr lang="en-AU" altLang="zh-CN" dirty="0"/>
          </a:p>
          <a:p>
            <a:pPr marL="180975" lvl="1" indent="-180975">
              <a:lnSpc>
                <a:spcPct val="90000"/>
              </a:lnSpc>
              <a:buSzPct val="80000"/>
              <a:buFont typeface="Wingdings" panose="05000000000000000000" pitchFamily="2" charset="2"/>
              <a:buChar char="§"/>
            </a:pPr>
            <a:r>
              <a:rPr lang="zh-CN" altLang="en-AU" dirty="0">
                <a:ea typeface="宋体" panose="02010600030101010101" pitchFamily="2" charset="-122"/>
              </a:rPr>
              <a:t>方法调用</a:t>
            </a:r>
            <a:endParaRPr lang="en-US" altLang="zh-CN" dirty="0">
              <a:ea typeface="宋体" panose="02010600030101010101" pitchFamily="2" charset="-122"/>
            </a:endParaRPr>
          </a:p>
          <a:p>
            <a:pPr marL="0" lvl="1" indent="0">
              <a:lnSpc>
                <a:spcPct val="90000"/>
              </a:lnSpc>
              <a:buSzPct val="80000"/>
              <a:buNone/>
            </a:pPr>
            <a:r>
              <a:rPr lang="zh-CN" altLang="en-AU" sz="2400" dirty="0">
                <a:ea typeface="宋体" panose="02010600030101010101" pitchFamily="2" charset="-122"/>
              </a:rPr>
              <a:t>           </a:t>
            </a:r>
            <a:r>
              <a:rPr lang="zh-CN" altLang="en-AU" sz="2000" dirty="0">
                <a:ea typeface="宋体" panose="02010600030101010101" pitchFamily="2" charset="-122"/>
              </a:rPr>
              <a:t>转发给其</a:t>
            </a:r>
            <a:r>
              <a:rPr lang="en-AU" altLang="zh-CN" sz="2000" dirty="0">
                <a:ea typeface="宋体" panose="02010600030101010101" pitchFamily="2" charset="-122"/>
              </a:rPr>
              <a:t>Real Entity</a:t>
            </a:r>
          </a:p>
          <a:p>
            <a:pPr>
              <a:lnSpc>
                <a:spcPct val="90000"/>
              </a:lnSpc>
            </a:pPr>
            <a:r>
              <a:rPr lang="zh-CN" altLang="en-AU" dirty="0">
                <a:ea typeface="宋体" panose="02010600030101010101" pitchFamily="2" charset="-122"/>
              </a:rPr>
              <a:t>属性</a:t>
            </a:r>
            <a:r>
              <a:rPr lang="en-US" altLang="zh-CN" dirty="0">
                <a:ea typeface="宋体" panose="02010600030101010101" pitchFamily="2" charset="-122"/>
              </a:rPr>
              <a:t> </a:t>
            </a:r>
          </a:p>
          <a:p>
            <a:pPr marL="0" indent="0">
              <a:lnSpc>
                <a:spcPct val="90000"/>
              </a:lnSpc>
              <a:buNone/>
            </a:pPr>
            <a:r>
              <a:rPr lang="zh-CN" altLang="en-AU" sz="2000" dirty="0">
                <a:ea typeface="宋体" panose="02010600030101010101" pitchFamily="2" charset="-122"/>
              </a:rPr>
              <a:t>        一个属性可以是</a:t>
            </a:r>
            <a:r>
              <a:rPr lang="en-AU" altLang="zh-CN" sz="2000" dirty="0">
                <a:ea typeface="宋体" panose="02010600030101010101" pitchFamily="2" charset="-122"/>
              </a:rPr>
              <a:t>real only</a:t>
            </a:r>
            <a:r>
              <a:rPr lang="zh-CN" altLang="en-AU" sz="2000" dirty="0">
                <a:ea typeface="宋体" panose="02010600030101010101" pitchFamily="2" charset="-122"/>
              </a:rPr>
              <a:t>的</a:t>
            </a:r>
            <a:r>
              <a:rPr lang="en-US" altLang="zh-CN" sz="2000" dirty="0">
                <a:ea typeface="宋体" panose="02010600030101010101" pitchFamily="2" charset="-122"/>
              </a:rPr>
              <a:t>, </a:t>
            </a:r>
            <a:r>
              <a:rPr lang="zh-CN" altLang="en-AU" sz="2000" dirty="0">
                <a:ea typeface="宋体" panose="02010600030101010101" pitchFamily="2" charset="-122"/>
              </a:rPr>
              <a:t>例如</a:t>
            </a:r>
            <a:r>
              <a:rPr lang="en-AU" altLang="zh-CN" sz="2000" dirty="0"/>
              <a:t>: </a:t>
            </a:r>
            <a:r>
              <a:rPr lang="zh-CN" altLang="en-AU" sz="2000" dirty="0">
                <a:ea typeface="宋体" panose="02010600030101010101" pitchFamily="2" charset="-122"/>
              </a:rPr>
              <a:t>将永远不会存在于</a:t>
            </a:r>
            <a:r>
              <a:rPr lang="en-AU" altLang="zh-CN" sz="2000" dirty="0">
                <a:ea typeface="宋体" panose="02010600030101010101" pitchFamily="2" charset="-122"/>
              </a:rPr>
              <a:t>ghost</a:t>
            </a:r>
            <a:r>
              <a:rPr lang="zh-CN" altLang="en-AU" sz="2000" dirty="0">
                <a:ea typeface="宋体" panose="02010600030101010101" pitchFamily="2" charset="-122"/>
              </a:rPr>
              <a:t>上</a:t>
            </a:r>
            <a:endParaRPr lang="en-US" altLang="zh-CN" sz="2000" dirty="0">
              <a:ea typeface="宋体" panose="02010600030101010101" pitchFamily="2" charset="-122"/>
            </a:endParaRPr>
          </a:p>
          <a:p>
            <a:pPr marL="0" lvl="2" indent="0">
              <a:lnSpc>
                <a:spcPct val="90000"/>
              </a:lnSpc>
              <a:buNone/>
            </a:pPr>
            <a:r>
              <a:rPr lang="zh-CN" altLang="en-AU" sz="2000" dirty="0">
                <a:ea typeface="宋体" panose="02010600030101010101" pitchFamily="2" charset="-122"/>
              </a:rPr>
              <a:t>        如果一个属性对于客户端是可见的，那么该属性必须是可以</a:t>
            </a:r>
            <a:r>
              <a:rPr lang="en-AU" altLang="zh-CN" sz="2000" dirty="0">
                <a:ea typeface="宋体" panose="02010600030101010101" pitchFamily="2" charset="-122"/>
              </a:rPr>
              <a:t>ghost</a:t>
            </a:r>
            <a:r>
              <a:rPr lang="zh-CN" altLang="en-AU" sz="2000" dirty="0">
                <a:ea typeface="宋体" panose="02010600030101010101" pitchFamily="2" charset="-122"/>
              </a:rPr>
              <a:t>的</a:t>
            </a:r>
            <a:r>
              <a:rPr lang="en-US" altLang="zh-CN" sz="2000" dirty="0">
                <a:ea typeface="宋体" panose="02010600030101010101" pitchFamily="2" charset="-122"/>
              </a:rPr>
              <a:t>,</a:t>
            </a:r>
            <a:r>
              <a:rPr lang="zh-CN" altLang="en-US" sz="2000" dirty="0">
                <a:ea typeface="宋体" panose="02010600030101010101" pitchFamily="2" charset="-122"/>
              </a:rPr>
              <a:t>例如：</a:t>
            </a:r>
            <a:r>
              <a:rPr lang="zh-CN" altLang="en-AU" sz="2000" dirty="0">
                <a:ea typeface="宋体" panose="02010600030101010101" pitchFamily="2" charset="-122"/>
              </a:rPr>
              <a:t>当前的武器</a:t>
            </a:r>
            <a:r>
              <a:rPr lang="zh-CN" altLang="en-US" sz="2000" dirty="0">
                <a:ea typeface="宋体" panose="02010600030101010101" pitchFamily="2" charset="-122"/>
              </a:rPr>
              <a:t>、等级</a:t>
            </a:r>
            <a:r>
              <a:rPr lang="zh-CN" altLang="en-US" sz="2000" dirty="0"/>
              <a:t>、</a:t>
            </a:r>
            <a:r>
              <a:rPr lang="zh-CN" altLang="en-US" sz="2000" dirty="0">
                <a:ea typeface="宋体" panose="02010600030101010101" pitchFamily="2" charset="-122"/>
              </a:rPr>
              <a:t>名称</a:t>
            </a:r>
            <a:endParaRPr lang="en-US" altLang="zh-CN" sz="2000" dirty="0">
              <a:ea typeface="宋体" panose="02010600030101010101" pitchFamily="2" charset="-122"/>
            </a:endParaRPr>
          </a:p>
          <a:p>
            <a:pPr>
              <a:lnSpc>
                <a:spcPct val="90000"/>
              </a:lnSpc>
            </a:pPr>
            <a:r>
              <a:rPr lang="en-US" altLang="zh-CN" dirty="0">
                <a:ea typeface="宋体" panose="02010600030101010101" pitchFamily="2" charset="-122"/>
              </a:rPr>
              <a:t>Ghost</a:t>
            </a:r>
            <a:r>
              <a:rPr lang="zh-CN" altLang="en-US" dirty="0">
                <a:ea typeface="宋体" panose="02010600030101010101" pitchFamily="2" charset="-122"/>
              </a:rPr>
              <a:t>属性是只读的</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因为</a:t>
            </a:r>
            <a:r>
              <a:rPr lang="en-US" altLang="zh-CN" sz="2000" dirty="0">
                <a:solidFill>
                  <a:srgbClr val="FF0000"/>
                </a:solidFill>
                <a:ea typeface="宋体" panose="02010600030101010101" pitchFamily="2" charset="-122"/>
              </a:rPr>
              <a:t>ghost</a:t>
            </a:r>
            <a:r>
              <a:rPr lang="zh-CN" altLang="en-US" sz="2000" dirty="0">
                <a:solidFill>
                  <a:srgbClr val="FF0000"/>
                </a:solidFill>
                <a:ea typeface="宋体" panose="02010600030101010101" pitchFamily="2" charset="-122"/>
              </a:rPr>
              <a:t>数据是从</a:t>
            </a:r>
            <a:r>
              <a:rPr lang="en-US" altLang="zh-CN" sz="2000" dirty="0">
                <a:solidFill>
                  <a:srgbClr val="FF0000"/>
                </a:solidFill>
                <a:ea typeface="宋体" panose="02010600030101010101" pitchFamily="2" charset="-122"/>
              </a:rPr>
              <a:t>real entity</a:t>
            </a:r>
            <a:r>
              <a:rPr lang="zh-CN" altLang="en-US" sz="2000" dirty="0">
                <a:solidFill>
                  <a:srgbClr val="FF0000"/>
                </a:solidFill>
                <a:ea typeface="宋体" panose="02010600030101010101" pitchFamily="2" charset="-122"/>
              </a:rPr>
              <a:t>拷贝而来</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只作为</a:t>
            </a:r>
            <a:r>
              <a:rPr lang="en-US" altLang="zh-CN" sz="2000" dirty="0">
                <a:solidFill>
                  <a:srgbClr val="FF0000"/>
                </a:solidFill>
                <a:ea typeface="宋体" panose="02010600030101010101" pitchFamily="2" charset="-122"/>
              </a:rPr>
              <a:t>cell</a:t>
            </a:r>
            <a:r>
              <a:rPr lang="zh-CN" altLang="en-US" sz="2000" dirty="0">
                <a:solidFill>
                  <a:srgbClr val="FF0000"/>
                </a:solidFill>
                <a:ea typeface="宋体" panose="02010600030101010101" pitchFamily="2" charset="-122"/>
              </a:rPr>
              <a:t>之间过渡的镜像数据使用</a:t>
            </a:r>
            <a:r>
              <a:rPr lang="en-US" altLang="zh-CN" sz="2000" dirty="0">
                <a:solidFill>
                  <a:srgbClr val="FF0000"/>
                </a:solidFill>
                <a:ea typeface="宋体" panose="02010600030101010101" pitchFamily="2" charset="-122"/>
              </a:rPr>
              <a:t>)</a:t>
            </a:r>
          </a:p>
          <a:p>
            <a:pPr marL="0" lvl="2" indent="0">
              <a:lnSpc>
                <a:spcPct val="90000"/>
              </a:lnSpc>
              <a:buNone/>
            </a:pPr>
            <a:r>
              <a:rPr lang="zh-CN" altLang="en-AU" sz="2000" dirty="0">
                <a:ea typeface="宋体" panose="02010600030101010101" pitchFamily="2" charset="-122"/>
              </a:rPr>
              <a:t>         要更改属性值只能通过方法调用来更新其对应的</a:t>
            </a:r>
            <a:r>
              <a:rPr lang="en-AU" altLang="zh-CN" sz="2000" dirty="0">
                <a:ea typeface="宋体" panose="02010600030101010101" pitchFamily="2" charset="-122"/>
              </a:rPr>
              <a:t>Real Entity</a:t>
            </a:r>
            <a:endParaRPr lang="en-AU" altLang="zh-CN" sz="2000" dirty="0"/>
          </a:p>
          <a:p>
            <a:pPr marL="0" indent="0">
              <a:lnSpc>
                <a:spcPct val="90000"/>
              </a:lnSpc>
              <a:buNone/>
            </a:pPr>
            <a:endParaRPr lang="en-US" altLang="zh-CN" sz="2000"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的数据更新</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客户端实现</a:t>
            </a:r>
            <a:r>
              <a:rPr lang="en-AU" altLang="zh-CN" dirty="0">
                <a:ea typeface="宋体" panose="02010600030101010101" pitchFamily="2" charset="-122"/>
              </a:rPr>
              <a:t>LOD</a:t>
            </a:r>
            <a:r>
              <a:rPr lang="zh-CN" altLang="en-AU" dirty="0">
                <a:ea typeface="宋体" panose="02010600030101010101" pitchFamily="2" charset="-122"/>
              </a:rPr>
              <a:t>以加速渲染</a:t>
            </a:r>
            <a:endParaRPr lang="en-AU" altLang="zh-CN" dirty="0"/>
          </a:p>
          <a:p>
            <a:r>
              <a:rPr lang="en-AU" altLang="zh-CN" dirty="0" err="1">
                <a:ea typeface="宋体" panose="02010600030101010101" pitchFamily="2" charset="-122"/>
              </a:rPr>
              <a:t>Cellapp</a:t>
            </a:r>
            <a:r>
              <a:rPr lang="zh-CN" altLang="en-AU" dirty="0">
                <a:ea typeface="宋体" panose="02010600030101010101" pitchFamily="2" charset="-122"/>
              </a:rPr>
              <a:t>实现</a:t>
            </a:r>
            <a:r>
              <a:rPr lang="en-AU" altLang="zh-CN" dirty="0">
                <a:ea typeface="宋体" panose="02010600030101010101" pitchFamily="2" charset="-122"/>
              </a:rPr>
              <a:t>LOD</a:t>
            </a:r>
            <a:r>
              <a:rPr lang="zh-CN" altLang="en-AU" dirty="0">
                <a:ea typeface="宋体" panose="02010600030101010101" pitchFamily="2" charset="-122"/>
              </a:rPr>
              <a:t>以减少</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即客户端可以根据</a:t>
            </a:r>
            <a:r>
              <a:rPr lang="en-US" altLang="zh-CN" sz="1600" dirty="0" err="1">
                <a:solidFill>
                  <a:srgbClr val="FF0000"/>
                </a:solidFill>
                <a:ea typeface="宋体" panose="02010600030101010101" pitchFamily="2" charset="-122"/>
              </a:rPr>
              <a:t>lod</a:t>
            </a:r>
            <a:r>
              <a:rPr lang="zh-CN" altLang="en-US" sz="1600" dirty="0">
                <a:solidFill>
                  <a:srgbClr val="FF0000"/>
                </a:solidFill>
                <a:ea typeface="宋体" panose="02010600030101010101" pitchFamily="2" charset="-122"/>
              </a:rPr>
              <a:t>技术来减少渲染</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如距离越远的</a:t>
            </a:r>
            <a:r>
              <a:rPr lang="en-US" altLang="zh-CN" sz="1600" dirty="0">
                <a:solidFill>
                  <a:srgbClr val="FF0000"/>
                </a:solidFill>
                <a:ea typeface="宋体" panose="02010600030101010101" pitchFamily="2" charset="-122"/>
              </a:rPr>
              <a:t>entity</a:t>
            </a:r>
            <a:r>
              <a:rPr lang="zh-CN" altLang="en-US" sz="1600" dirty="0">
                <a:solidFill>
                  <a:srgbClr val="FF0000"/>
                </a:solidFill>
                <a:ea typeface="宋体" panose="02010600030101010101" pitchFamily="2" charset="-122"/>
              </a:rPr>
              <a:t>装备细节就不需要了</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甚至像</a:t>
            </a:r>
            <a:r>
              <a:rPr lang="en-US" altLang="zh-CN" sz="1600" dirty="0">
                <a:solidFill>
                  <a:srgbClr val="FF0000"/>
                </a:solidFill>
                <a:ea typeface="宋体" panose="02010600030101010101" pitchFamily="2" charset="-122"/>
              </a:rPr>
              <a:t>DNF</a:t>
            </a:r>
            <a:r>
              <a:rPr lang="zh-CN" altLang="en-US" sz="1600" dirty="0">
                <a:solidFill>
                  <a:srgbClr val="FF0000"/>
                </a:solidFill>
                <a:ea typeface="宋体" panose="02010600030101010101" pitchFamily="2" charset="-122"/>
              </a:rPr>
              <a:t>站街直接变成透明</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靠近才有装备渲染</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请求才展示具体装备属性</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同样服务端可以通过减少发送的消息包的数据</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不必要的数据不发</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来减轻网络带宽的压力</a:t>
            </a:r>
            <a:r>
              <a:rPr lang="en-US" altLang="zh-CN" sz="1600" dirty="0">
                <a:solidFill>
                  <a:srgbClr val="FF0000"/>
                </a:solidFill>
                <a:ea typeface="宋体" panose="02010600030101010101" pitchFamily="2" charset="-122"/>
              </a:rPr>
              <a:t>)</a:t>
            </a:r>
          </a:p>
          <a:p>
            <a:pPr marL="0" lvl="1" indent="0">
              <a:buSzPct val="80000"/>
              <a:buNone/>
            </a:pPr>
            <a:r>
              <a:rPr lang="zh-CN" altLang="en-AU" sz="2000" dirty="0">
                <a:ea typeface="宋体" panose="02010600030101010101" pitchFamily="2" charset="-122"/>
              </a:rPr>
              <a:t>           带宽的消耗</a:t>
            </a:r>
            <a:endParaRPr lang="en-AU" altLang="zh-CN" sz="2000" dirty="0"/>
          </a:p>
          <a:p>
            <a:pPr marL="0" indent="0">
              <a:buNone/>
            </a:pPr>
            <a:r>
              <a:rPr lang="zh-CN" altLang="en-US" sz="2000" dirty="0"/>
              <a:t>           每个</a:t>
            </a:r>
            <a:r>
              <a:rPr lang="en-AU" altLang="zh-CN" sz="2000" dirty="0"/>
              <a:t>Entity</a:t>
            </a:r>
            <a:r>
              <a:rPr lang="zh-CN" altLang="en-US" sz="2000" dirty="0"/>
              <a:t>的</a:t>
            </a:r>
            <a:r>
              <a:rPr lang="en-AU" altLang="zh-CN" sz="2000" dirty="0"/>
              <a:t>CPU</a:t>
            </a:r>
            <a:r>
              <a:rPr lang="zh-CN" altLang="en-US" sz="2000" dirty="0"/>
              <a:t>消耗</a:t>
            </a:r>
            <a:endParaRPr lang="en-US" altLang="zh-CN" dirty="0">
              <a:ea typeface="宋体" panose="02010600030101010101" pitchFamily="2" charset="-122"/>
            </a:endParaRPr>
          </a:p>
          <a:p>
            <a:r>
              <a:rPr lang="en-US" altLang="zh-CN" dirty="0">
                <a:ea typeface="宋体" panose="02010600030101010101" pitchFamily="2" charset="-122"/>
              </a:rPr>
              <a:t>LOD</a:t>
            </a:r>
            <a:r>
              <a:rPr lang="zh-CN" altLang="en-US" dirty="0">
                <a:ea typeface="宋体" panose="02010600030101010101" pitchFamily="2" charset="-122"/>
              </a:rPr>
              <a:t>在</a:t>
            </a:r>
            <a:r>
              <a:rPr lang="en-US" altLang="zh-CN" dirty="0" err="1">
                <a:ea typeface="宋体" panose="02010600030101010101" pitchFamily="2" charset="-122"/>
              </a:rPr>
              <a:t>Cellapp</a:t>
            </a:r>
            <a:r>
              <a:rPr lang="zh-CN" altLang="en-US" dirty="0">
                <a:ea typeface="宋体" panose="02010600030101010101" pitchFamily="2" charset="-122"/>
              </a:rPr>
              <a:t>上的作用类似于在客户端的作用</a:t>
            </a:r>
            <a:endParaRPr lang="en-US" altLang="zh-CN" dirty="0">
              <a:ea typeface="宋体" panose="02010600030101010101" pitchFamily="2" charset="-122"/>
            </a:endParaRPr>
          </a:p>
          <a:p>
            <a:pPr marL="0" indent="0">
              <a:buNone/>
            </a:pPr>
            <a:r>
              <a:rPr lang="zh-CN" altLang="en-US" sz="2000" dirty="0">
                <a:ea typeface="宋体" panose="02010600030101010101" pitchFamily="2" charset="-122"/>
              </a:rPr>
              <a:t>           细节程度是</a:t>
            </a:r>
            <a:r>
              <a:rPr lang="zh-CN" altLang="en-US" sz="2000" dirty="0">
                <a:solidFill>
                  <a:srgbClr val="00B0F0"/>
                </a:solidFill>
                <a:ea typeface="宋体" panose="02010600030101010101" pitchFamily="2" charset="-122"/>
              </a:rPr>
              <a:t>相对于玩家</a:t>
            </a:r>
            <a:r>
              <a:rPr lang="en-US" altLang="zh-CN" sz="2000" dirty="0">
                <a:solidFill>
                  <a:srgbClr val="00B0F0"/>
                </a:solidFill>
                <a:ea typeface="宋体" panose="02010600030101010101" pitchFamily="2" charset="-122"/>
              </a:rPr>
              <a:t>entity</a:t>
            </a:r>
            <a:r>
              <a:rPr lang="zh-CN" altLang="en-US" sz="2000" dirty="0">
                <a:solidFill>
                  <a:srgbClr val="00B0F0"/>
                </a:solidFill>
                <a:ea typeface="宋体" panose="02010600030101010101" pitchFamily="2" charset="-122"/>
              </a:rPr>
              <a:t>与之的距离</a:t>
            </a:r>
            <a:r>
              <a:rPr lang="zh-CN" altLang="en-US" sz="2000" dirty="0">
                <a:ea typeface="宋体" panose="02010600030101010101" pitchFamily="2" charset="-122"/>
              </a:rPr>
              <a:t>的</a:t>
            </a:r>
            <a:endParaRPr lang="en-US" altLang="zh-CN" sz="2000" dirty="0">
              <a:ea typeface="宋体" panose="02010600030101010101" pitchFamily="2" charset="-122"/>
            </a:endParaRPr>
          </a:p>
          <a:p>
            <a:r>
              <a:rPr lang="zh-CN" altLang="en-AU" dirty="0">
                <a:ea typeface="宋体" panose="02010600030101010101" pitchFamily="2" charset="-122"/>
              </a:rPr>
              <a:t>客户端</a:t>
            </a:r>
            <a:r>
              <a:rPr lang="en-AU" altLang="zh-CN" dirty="0">
                <a:ea typeface="宋体" panose="02010600030101010101" pitchFamily="2" charset="-122"/>
              </a:rPr>
              <a:t>Entity</a:t>
            </a:r>
            <a:r>
              <a:rPr lang="zh-CN" altLang="en-AU" dirty="0">
                <a:ea typeface="宋体" panose="02010600030101010101" pitchFamily="2" charset="-122"/>
              </a:rPr>
              <a:t>方法可以实现</a:t>
            </a:r>
            <a:r>
              <a:rPr lang="en-AU" altLang="zh-CN" dirty="0"/>
              <a:t>LOD</a:t>
            </a:r>
          </a:p>
          <a:p>
            <a:r>
              <a:rPr lang="en-AU" altLang="zh-CN" dirty="0"/>
              <a:t>Entity</a:t>
            </a:r>
            <a:r>
              <a:rPr lang="zh-CN" altLang="en-AU" dirty="0">
                <a:ea typeface="宋体" panose="02010600030101010101" pitchFamily="2" charset="-122"/>
              </a:rPr>
              <a:t>属性实现</a:t>
            </a:r>
            <a:r>
              <a:rPr lang="en-AU" altLang="zh-CN" dirty="0">
                <a:ea typeface="宋体" panose="02010600030101010101" pitchFamily="2" charset="-122"/>
              </a:rPr>
              <a:t>LOD</a:t>
            </a:r>
            <a:r>
              <a:rPr lang="zh-CN" altLang="en-AU" dirty="0">
                <a:ea typeface="宋体" panose="02010600030101010101" pitchFamily="2" charset="-122"/>
              </a:rPr>
              <a:t>可以避免不必要的通信到客户端</a:t>
            </a:r>
            <a:endParaRPr lang="en-AU" altLang="zh-CN" dirty="0"/>
          </a:p>
          <a:p>
            <a:pPr marL="0" lvl="1" indent="0">
              <a:buSzPct val="80000"/>
              <a:buNone/>
            </a:pPr>
            <a:r>
              <a:rPr lang="zh-CN" altLang="en-AU" sz="2000" dirty="0">
                <a:ea typeface="宋体" panose="02010600030101010101" pitchFamily="2" charset="-122"/>
              </a:rPr>
              <a:t>          当前的</a:t>
            </a:r>
            <a:r>
              <a:rPr lang="zh-CN" altLang="en-US" sz="2000" dirty="0">
                <a:ea typeface="宋体" panose="02010600030101010101" pitchFamily="2" charset="-122"/>
              </a:rPr>
              <a:t>血量</a:t>
            </a:r>
            <a:r>
              <a:rPr lang="en-AU" altLang="zh-CN" sz="2000" dirty="0"/>
              <a:t> (</a:t>
            </a:r>
            <a:r>
              <a:rPr lang="zh-CN" altLang="en-AU" sz="2000" dirty="0">
                <a:ea typeface="宋体" panose="02010600030101010101" pitchFamily="2" charset="-122"/>
              </a:rPr>
              <a:t>对于很远的距离</a:t>
            </a:r>
            <a:r>
              <a:rPr lang="en-AU" altLang="zh-CN" sz="2000" dirty="0">
                <a:ea typeface="宋体" panose="02010600030101010101" pitchFamily="2" charset="-122"/>
              </a:rPr>
              <a:t>(</a:t>
            </a:r>
            <a:r>
              <a:rPr lang="zh-CN" altLang="en-AU" sz="2000" dirty="0">
                <a:ea typeface="宋体" panose="02010600030101010101" pitchFamily="2" charset="-122"/>
              </a:rPr>
              <a:t>的</a:t>
            </a:r>
            <a:r>
              <a:rPr lang="en-AU" altLang="zh-CN" sz="2000" dirty="0">
                <a:ea typeface="宋体" panose="02010600030101010101" pitchFamily="2" charset="-122"/>
              </a:rPr>
              <a:t>Entity)</a:t>
            </a:r>
            <a:r>
              <a:rPr lang="zh-CN" altLang="en-AU" sz="2000" dirty="0">
                <a:ea typeface="宋体" panose="02010600030101010101" pitchFamily="2" charset="-122"/>
              </a:rPr>
              <a:t>来说是不可见的</a:t>
            </a:r>
            <a:r>
              <a:rPr lang="en-AU" altLang="zh-CN" sz="2000" dirty="0"/>
              <a:t>)</a:t>
            </a:r>
          </a:p>
          <a:p>
            <a:pPr marL="0" indent="0">
              <a:buNone/>
            </a:pPr>
            <a:endParaRPr lang="en-AU" altLang="zh-CN" dirty="0"/>
          </a:p>
          <a:p>
            <a:endParaRPr lang="en-US" altLang="zh-CN"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err="1">
                <a:solidFill>
                  <a:schemeClr val="accent1"/>
                </a:solidFill>
                <a:ea typeface="宋体" panose="02010600030101010101" pitchFamily="2" charset="-122"/>
              </a:rPr>
              <a:t>Cellapp</a:t>
            </a:r>
            <a:r>
              <a:rPr lang="zh-CN" altLang="en-US" dirty="0">
                <a:solidFill>
                  <a:schemeClr val="accent1"/>
                </a:solidFill>
                <a:ea typeface="宋体" panose="02010600030101010101" pitchFamily="2" charset="-122"/>
              </a:rPr>
              <a:t>管理器</a:t>
            </a:r>
            <a:r>
              <a:rPr lang="en-US" altLang="zh-CN" dirty="0">
                <a:solidFill>
                  <a:schemeClr val="accent1"/>
                </a:solidFill>
                <a:ea typeface="宋体" panose="02010600030101010101" pitchFamily="2" charset="-122"/>
              </a:rPr>
              <a:t>(</a:t>
            </a:r>
            <a:r>
              <a:rPr lang="en-US" altLang="zh-CN" dirty="0" err="1">
                <a:solidFill>
                  <a:schemeClr val="accent1"/>
                </a:solidFill>
                <a:ea typeface="宋体" panose="02010600030101010101" pitchFamily="2" charset="-122"/>
              </a:rPr>
              <a:t>CellappMgr</a:t>
            </a:r>
            <a:r>
              <a:rPr lang="en-US" altLang="zh-CN" dirty="0">
                <a:solidFill>
                  <a:schemeClr val="accent1"/>
                </a:solidFill>
                <a:ea typeface="宋体" panose="02010600030101010101" pitchFamily="2" charset="-122"/>
              </a:rPr>
              <a:t>)</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AU" altLang="zh-CN" dirty="0" err="1">
                <a:ea typeface="宋体" panose="02010600030101010101" pitchFamily="2" charset="-122"/>
              </a:rPr>
              <a:t>Cellapp</a:t>
            </a:r>
            <a:r>
              <a:rPr lang="en-US" altLang="zh-CN" dirty="0" err="1">
                <a:ea typeface="宋体" panose="02010600030101010101" pitchFamily="2" charset="-122"/>
              </a:rPr>
              <a:t>Mgr</a:t>
            </a:r>
            <a:r>
              <a:rPr lang="zh-CN" altLang="en-AU" dirty="0">
                <a:ea typeface="宋体" panose="02010600030101010101" pitchFamily="2" charset="-122"/>
              </a:rPr>
              <a:t>知道</a:t>
            </a:r>
            <a:r>
              <a:rPr lang="en-AU" altLang="zh-CN" dirty="0"/>
              <a:t>:</a:t>
            </a:r>
          </a:p>
          <a:p>
            <a:pPr marL="0" lvl="1" indent="0">
              <a:lnSpc>
                <a:spcPct val="90000"/>
              </a:lnSpc>
              <a:buSzPct val="80000"/>
              <a:buNone/>
            </a:pPr>
            <a:r>
              <a:rPr lang="zh-CN" altLang="en-AU" sz="2000" dirty="0">
                <a:ea typeface="宋体" panose="02010600030101010101" pitchFamily="2" charset="-122"/>
              </a:rPr>
              <a:t>         所有的</a:t>
            </a:r>
            <a:r>
              <a:rPr lang="en-AU" altLang="zh-CN" sz="2000" dirty="0" err="1"/>
              <a:t>Cellapp</a:t>
            </a:r>
            <a:r>
              <a:rPr lang="en-AU" altLang="zh-CN" sz="2000" dirty="0"/>
              <a:t> (</a:t>
            </a:r>
            <a:r>
              <a:rPr lang="zh-CN" altLang="en-AU" sz="2000" dirty="0">
                <a:ea typeface="宋体" panose="02010600030101010101" pitchFamily="2" charset="-122"/>
              </a:rPr>
              <a:t>及它们的负载</a:t>
            </a:r>
            <a:r>
              <a:rPr lang="en-AU" altLang="zh-CN" sz="2000" dirty="0"/>
              <a:t>)</a:t>
            </a:r>
          </a:p>
          <a:p>
            <a:pPr marL="0" lvl="1" indent="0">
              <a:lnSpc>
                <a:spcPct val="90000"/>
              </a:lnSpc>
              <a:buSzPct val="80000"/>
              <a:buNone/>
            </a:pPr>
            <a:r>
              <a:rPr lang="zh-CN" altLang="en-AU" sz="2000" dirty="0">
                <a:ea typeface="宋体" panose="02010600030101010101" pitchFamily="2" charset="-122"/>
              </a:rPr>
              <a:t>         所有的</a:t>
            </a:r>
            <a:r>
              <a:rPr lang="en-AU" altLang="zh-CN" sz="2000" dirty="0">
                <a:ea typeface="宋体" panose="02010600030101010101" pitchFamily="2" charset="-122"/>
              </a:rPr>
              <a:t>Cell</a:t>
            </a:r>
            <a:r>
              <a:rPr lang="zh-CN" altLang="en-AU" sz="2000" dirty="0">
                <a:ea typeface="宋体" panose="02010600030101010101" pitchFamily="2" charset="-122"/>
              </a:rPr>
              <a:t>边界</a:t>
            </a:r>
            <a:endParaRPr lang="en-AU" altLang="zh-CN" sz="2000" dirty="0"/>
          </a:p>
          <a:p>
            <a:pPr marL="0" lvl="1" indent="0">
              <a:lnSpc>
                <a:spcPct val="90000"/>
              </a:lnSpc>
              <a:buSzPct val="80000"/>
              <a:buNone/>
            </a:pPr>
            <a:r>
              <a:rPr lang="zh-CN" altLang="en-AU" sz="2000" dirty="0">
                <a:ea typeface="宋体" panose="02010600030101010101" pitchFamily="2" charset="-122"/>
              </a:rPr>
              <a:t>         所有</a:t>
            </a:r>
            <a:r>
              <a:rPr lang="en-AU" altLang="zh-CN" sz="2000" dirty="0">
                <a:ea typeface="宋体" panose="02010600030101010101" pitchFamily="2" charset="-122"/>
              </a:rPr>
              <a:t>Space</a:t>
            </a:r>
            <a:endParaRPr lang="en-AU" altLang="zh-CN" dirty="0"/>
          </a:p>
          <a:p>
            <a:pPr>
              <a:lnSpc>
                <a:spcPct val="90000"/>
              </a:lnSpc>
            </a:pPr>
            <a:r>
              <a:rPr lang="zh-CN" altLang="en-AU" dirty="0">
                <a:solidFill>
                  <a:srgbClr val="00B0F0"/>
                </a:solidFill>
                <a:ea typeface="宋体" panose="02010600030101010101" pitchFamily="2" charset="-122"/>
              </a:rPr>
              <a:t>管理</a:t>
            </a:r>
            <a:r>
              <a:rPr lang="en-AU" altLang="zh-CN" dirty="0" err="1">
                <a:solidFill>
                  <a:srgbClr val="00B0F0"/>
                </a:solidFill>
                <a:ea typeface="宋体" panose="02010600030101010101" pitchFamily="2" charset="-122"/>
              </a:rPr>
              <a:t>Cellapp</a:t>
            </a:r>
            <a:r>
              <a:rPr lang="zh-CN" altLang="en-AU" dirty="0">
                <a:solidFill>
                  <a:srgbClr val="00B0F0"/>
                </a:solidFill>
                <a:ea typeface="宋体" panose="02010600030101010101" pitchFamily="2" charset="-122"/>
              </a:rPr>
              <a:t>的负载平衡</a:t>
            </a:r>
            <a:r>
              <a:rPr lang="en-AU" altLang="zh-CN" dirty="0">
                <a:solidFill>
                  <a:srgbClr val="00B0F0"/>
                </a:solidFill>
              </a:rPr>
              <a:t> </a:t>
            </a:r>
          </a:p>
          <a:p>
            <a:pPr marL="0" indent="0">
              <a:lnSpc>
                <a:spcPct val="90000"/>
              </a:lnSpc>
              <a:buNone/>
            </a:pPr>
            <a:r>
              <a:rPr lang="en-AU" altLang="zh-CN" sz="2000" dirty="0">
                <a:ea typeface="宋体" panose="02010600030101010101" pitchFamily="2" charset="-122"/>
              </a:rPr>
              <a:t>         </a:t>
            </a:r>
            <a:r>
              <a:rPr lang="zh-CN" altLang="en-AU" sz="2000" dirty="0">
                <a:solidFill>
                  <a:srgbClr val="00B0F0"/>
                </a:solidFill>
                <a:ea typeface="宋体" panose="02010600030101010101" pitchFamily="2" charset="-122"/>
              </a:rPr>
              <a:t>告诉</a:t>
            </a:r>
            <a:r>
              <a:rPr lang="en-AU" altLang="zh-CN" sz="2000" dirty="0" err="1">
                <a:solidFill>
                  <a:srgbClr val="00B0F0"/>
                </a:solidFill>
                <a:ea typeface="宋体" panose="02010600030101010101" pitchFamily="2" charset="-122"/>
              </a:rPr>
              <a:t>Cellapp</a:t>
            </a:r>
            <a:r>
              <a:rPr lang="zh-CN" altLang="en-AU" sz="2000" dirty="0">
                <a:solidFill>
                  <a:srgbClr val="00B0F0"/>
                </a:solidFill>
                <a:ea typeface="宋体" panose="02010600030101010101" pitchFamily="2" charset="-122"/>
              </a:rPr>
              <a:t>们它们的</a:t>
            </a:r>
            <a:r>
              <a:rPr lang="en-AU" altLang="zh-CN" sz="2000" dirty="0">
                <a:solidFill>
                  <a:srgbClr val="00B0F0"/>
                </a:solidFill>
                <a:ea typeface="宋体" panose="02010600030101010101" pitchFamily="2" charset="-122"/>
              </a:rPr>
              <a:t>Cell</a:t>
            </a:r>
            <a:r>
              <a:rPr lang="zh-CN" altLang="en-AU" sz="2000" dirty="0">
                <a:solidFill>
                  <a:srgbClr val="00B0F0"/>
                </a:solidFill>
                <a:ea typeface="宋体" panose="02010600030101010101" pitchFamily="2" charset="-122"/>
              </a:rPr>
              <a:t>边界应该在哪里</a:t>
            </a:r>
            <a:endParaRPr lang="en-AU" altLang="zh-CN" sz="2000" dirty="0">
              <a:solidFill>
                <a:srgbClr val="00B0F0"/>
              </a:solidFill>
            </a:endParaRPr>
          </a:p>
          <a:p>
            <a:pPr>
              <a:lnSpc>
                <a:spcPct val="90000"/>
              </a:lnSpc>
            </a:pPr>
            <a:r>
              <a:rPr lang="zh-CN" altLang="en-AU" dirty="0">
                <a:ea typeface="宋体" panose="02010600030101010101" pitchFamily="2" charset="-122"/>
              </a:rPr>
              <a:t>把新建的</a:t>
            </a:r>
            <a:r>
              <a:rPr lang="en-AU" altLang="zh-CN" dirty="0">
                <a:ea typeface="宋体" panose="02010600030101010101" pitchFamily="2" charset="-122"/>
              </a:rPr>
              <a:t>Entity</a:t>
            </a:r>
            <a:r>
              <a:rPr lang="zh-CN" altLang="en-AU" dirty="0">
                <a:ea typeface="宋体" panose="02010600030101010101" pitchFamily="2" charset="-122"/>
              </a:rPr>
              <a:t>加入到正确的</a:t>
            </a:r>
            <a:r>
              <a:rPr lang="en-AU" altLang="zh-CN" dirty="0">
                <a:ea typeface="宋体" panose="02010600030101010101" pitchFamily="2" charset="-122"/>
              </a:rPr>
              <a:t>Cell</a:t>
            </a:r>
            <a:r>
              <a:rPr lang="zh-CN" altLang="en-AU" dirty="0">
                <a:ea typeface="宋体" panose="02010600030101010101" pitchFamily="2" charset="-122"/>
              </a:rPr>
              <a:t>上</a:t>
            </a:r>
          </a:p>
          <a:p>
            <a:pPr>
              <a:lnSpc>
                <a:spcPct val="90000"/>
              </a:lnSpc>
            </a:pPr>
            <a:r>
              <a:rPr lang="zh-CN" altLang="en-US" dirty="0">
                <a:ea typeface="宋体" panose="02010600030101010101" pitchFamily="2" charset="-122"/>
              </a:rPr>
              <a:t>一</a:t>
            </a:r>
            <a:r>
              <a:rPr lang="zh-CN" altLang="en-AU" dirty="0">
                <a:ea typeface="宋体" panose="02010600030101010101" pitchFamily="2" charset="-122"/>
              </a:rPr>
              <a:t>个服务器群组一个</a:t>
            </a:r>
            <a:r>
              <a:rPr lang="en-AU" altLang="zh-CN" dirty="0" err="1">
                <a:ea typeface="宋体" panose="02010600030101010101" pitchFamily="2" charset="-122"/>
              </a:rPr>
              <a:t>CellappMgr</a:t>
            </a:r>
            <a:r>
              <a:rPr lang="zh-CN" altLang="en-AU" dirty="0">
                <a:ea typeface="宋体" panose="02010600030101010101" pitchFamily="2" charset="-122"/>
              </a:rPr>
              <a:t>实例</a:t>
            </a:r>
            <a:endParaRPr lang="en-AU" altLang="zh-CN" dirty="0"/>
          </a:p>
          <a:p>
            <a:pPr marL="0" indent="0">
              <a:buNone/>
            </a:pPr>
            <a:endParaRPr lang="en-AU" altLang="zh-CN" dirty="0"/>
          </a:p>
          <a:p>
            <a:endParaRPr lang="en-US" altLang="zh-CN"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dirty="0">
                <a:solidFill>
                  <a:schemeClr val="accent1"/>
                </a:solidFill>
                <a:ea typeface="宋体" panose="02010600030101010101" pitchFamily="2" charset="-122"/>
              </a:rPr>
              <a:t>数据库管理器</a:t>
            </a:r>
            <a:r>
              <a:rPr lang="en-US" altLang="zh-CN" dirty="0">
                <a:solidFill>
                  <a:schemeClr val="accent1"/>
                </a:solidFill>
                <a:ea typeface="宋体" panose="02010600030101010101" pitchFamily="2" charset="-122"/>
              </a:rPr>
              <a:t>(</a:t>
            </a:r>
            <a:r>
              <a:rPr lang="en-US" altLang="zh-CN" dirty="0" err="1">
                <a:solidFill>
                  <a:schemeClr val="accent1"/>
                </a:solidFill>
                <a:ea typeface="宋体" panose="02010600030101010101" pitchFamily="2" charset="-122"/>
              </a:rPr>
              <a:t>DBMgr</a:t>
            </a:r>
            <a:r>
              <a:rPr lang="en-US" altLang="zh-CN" dirty="0">
                <a:solidFill>
                  <a:schemeClr val="accent1"/>
                </a:solidFill>
                <a:ea typeface="宋体" panose="02010600030101010101" pitchFamily="2" charset="-122"/>
              </a:rPr>
              <a:t>)</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solidFill>
                  <a:srgbClr val="00B0F0"/>
                </a:solidFill>
                <a:ea typeface="宋体" panose="02010600030101010101" pitchFamily="2" charset="-122"/>
              </a:rPr>
              <a:t>管理</a:t>
            </a:r>
            <a:r>
              <a:rPr lang="en-AU" altLang="zh-CN" dirty="0">
                <a:solidFill>
                  <a:srgbClr val="00B0F0"/>
                </a:solidFill>
                <a:ea typeface="宋体" panose="02010600030101010101" pitchFamily="2" charset="-122"/>
              </a:rPr>
              <a:t>Entity</a:t>
            </a:r>
            <a:r>
              <a:rPr lang="zh-CN" altLang="en-AU" dirty="0">
                <a:solidFill>
                  <a:srgbClr val="00B0F0"/>
                </a:solidFill>
                <a:ea typeface="宋体" panose="02010600030101010101" pitchFamily="2" charset="-122"/>
              </a:rPr>
              <a:t>数据的数据库存储</a:t>
            </a:r>
            <a:endParaRPr lang="en-AU" altLang="zh-CN" dirty="0">
              <a:solidFill>
                <a:srgbClr val="00B0F0"/>
              </a:solidFill>
            </a:endParaRPr>
          </a:p>
          <a:p>
            <a:r>
              <a:rPr lang="zh-CN" altLang="en-AU" dirty="0">
                <a:ea typeface="宋体" panose="02010600030101010101" pitchFamily="2" charset="-122"/>
              </a:rPr>
              <a:t>负责数据库与其余的服务器间的</a:t>
            </a:r>
            <a:r>
              <a:rPr lang="en-AU" altLang="zh-CN" dirty="0">
                <a:ea typeface="宋体" panose="02010600030101010101" pitchFamily="2" charset="-122"/>
              </a:rPr>
              <a:t>Entity</a:t>
            </a:r>
            <a:r>
              <a:rPr lang="zh-CN" altLang="en-AU" dirty="0">
                <a:ea typeface="宋体" panose="02010600030101010101" pitchFamily="2" charset="-122"/>
              </a:rPr>
              <a:t>信息的通信</a:t>
            </a:r>
            <a:endParaRPr lang="en-AU" altLang="zh-CN" dirty="0"/>
          </a:p>
          <a:p>
            <a:r>
              <a:rPr lang="zh-CN" altLang="en-AU" dirty="0">
                <a:ea typeface="宋体" panose="02010600030101010101" pitchFamily="2" charset="-122"/>
              </a:rPr>
              <a:t>支持的数据库类型</a:t>
            </a:r>
            <a:r>
              <a:rPr lang="en-AU" altLang="zh-CN" dirty="0"/>
              <a:t>:</a:t>
            </a:r>
          </a:p>
          <a:p>
            <a:pPr marL="0" indent="0">
              <a:buNone/>
            </a:pPr>
            <a:r>
              <a:rPr lang="en-AU" altLang="zh-CN" sz="2000" dirty="0"/>
              <a:t>        M</a:t>
            </a:r>
            <a:r>
              <a:rPr lang="en-US" altLang="zh-CN" sz="2000" dirty="0" err="1"/>
              <a:t>ySQL</a:t>
            </a:r>
            <a:endParaRPr lang="en-US" altLang="zh-CN" sz="2000" dirty="0"/>
          </a:p>
          <a:p>
            <a:pPr marL="0" indent="0">
              <a:buNone/>
            </a:pPr>
            <a:r>
              <a:rPr lang="en-US" altLang="zh-CN" sz="2000" dirty="0"/>
              <a:t>        </a:t>
            </a:r>
            <a:r>
              <a:rPr lang="en-US" altLang="zh-CN" sz="2000" dirty="0" err="1"/>
              <a:t>MongoDB</a:t>
            </a:r>
            <a:endParaRPr lang="en-US" altLang="zh-CN" sz="2000" dirty="0"/>
          </a:p>
          <a:p>
            <a:pPr marL="0" indent="0">
              <a:buNone/>
            </a:pPr>
            <a:r>
              <a:rPr lang="en-US" altLang="zh-CN" sz="2000" dirty="0"/>
              <a:t>        </a:t>
            </a:r>
            <a:r>
              <a:rPr lang="en-US" altLang="zh-CN" sz="2000" dirty="0" err="1"/>
              <a:t>Redis</a:t>
            </a:r>
            <a:endParaRPr lang="en-US" altLang="zh-CN" sz="2000" dirty="0"/>
          </a:p>
          <a:p>
            <a:pPr marL="0" indent="0">
              <a:buNone/>
            </a:pPr>
            <a:r>
              <a:rPr lang="en-US" altLang="zh-CN" sz="2000" dirty="0"/>
              <a:t>        </a:t>
            </a:r>
            <a:r>
              <a:rPr lang="en-AU" altLang="zh-CN" sz="2000" dirty="0"/>
              <a:t>… </a:t>
            </a:r>
            <a:r>
              <a:rPr lang="zh-CN" altLang="en-AU" sz="2000" dirty="0">
                <a:ea typeface="宋体" panose="02010600030101010101" pitchFamily="2" charset="-122"/>
              </a:rPr>
              <a:t>你自己定制</a:t>
            </a:r>
            <a:endParaRPr lang="en-AU" altLang="zh-CN" sz="2000" dirty="0"/>
          </a:p>
          <a:p>
            <a:r>
              <a:rPr lang="zh-CN" altLang="en-US" dirty="0">
                <a:ea typeface="宋体" panose="02010600030101010101" pitchFamily="2" charset="-122"/>
              </a:rPr>
              <a:t>最好</a:t>
            </a:r>
            <a:r>
              <a:rPr lang="zh-CN" altLang="en-AU" dirty="0">
                <a:ea typeface="宋体" panose="02010600030101010101" pitchFamily="2" charset="-122"/>
              </a:rPr>
              <a:t>独立的机器</a:t>
            </a:r>
            <a:r>
              <a:rPr lang="zh-CN" altLang="en-US" dirty="0">
                <a:ea typeface="宋体" panose="02010600030101010101" pitchFamily="2" charset="-122"/>
              </a:rPr>
              <a:t>运行</a:t>
            </a:r>
            <a:endParaRPr lang="en-AU" altLang="zh-CN" dirty="0"/>
          </a:p>
          <a:p>
            <a:pPr marL="0" indent="0">
              <a:buNone/>
            </a:pPr>
            <a:endParaRPr lang="en-AU" altLang="zh-CN" dirty="0"/>
          </a:p>
          <a:p>
            <a:endParaRPr lang="en-US" altLang="zh-CN"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备份</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存档</a:t>
            </a:r>
          </a:p>
          <a:p>
            <a:pPr marL="0" indent="0">
              <a:buNone/>
            </a:pPr>
            <a:r>
              <a:rPr lang="zh-CN" altLang="en-US" sz="2000" dirty="0"/>
              <a:t>        在</a:t>
            </a:r>
            <a:r>
              <a:rPr lang="en-US" altLang="zh-CN" sz="2000" dirty="0" err="1"/>
              <a:t>Baseapp</a:t>
            </a:r>
            <a:r>
              <a:rPr lang="zh-CN" altLang="en-US" sz="2000" dirty="0"/>
              <a:t>间轮流调度处理</a:t>
            </a:r>
            <a:endParaRPr lang="en-US" altLang="zh-CN" sz="2000" dirty="0"/>
          </a:p>
          <a:p>
            <a:pPr marL="0" indent="0">
              <a:buNone/>
            </a:pPr>
            <a:r>
              <a:rPr lang="en-US" altLang="zh-CN" sz="2000" dirty="0"/>
              <a:t>        </a:t>
            </a:r>
            <a:r>
              <a:rPr lang="en-AU" altLang="zh-CN" sz="2000" dirty="0" err="1"/>
              <a:t>Baseapp</a:t>
            </a:r>
            <a:r>
              <a:rPr lang="zh-CN" altLang="en-US" sz="2000" dirty="0"/>
              <a:t>向</a:t>
            </a:r>
            <a:r>
              <a:rPr lang="en-AU" altLang="zh-CN" sz="2000" dirty="0" err="1"/>
              <a:t>Cellapp</a:t>
            </a:r>
            <a:r>
              <a:rPr lang="zh-CN" altLang="en-US" sz="2000" dirty="0"/>
              <a:t>要</a:t>
            </a:r>
            <a:r>
              <a:rPr lang="en-US" altLang="zh-CN" sz="2000" dirty="0"/>
              <a:t>Entity</a:t>
            </a:r>
            <a:r>
              <a:rPr lang="zh-CN" altLang="en-US" sz="2000" dirty="0"/>
              <a:t>的</a:t>
            </a:r>
            <a:r>
              <a:rPr lang="en-US" altLang="zh-CN" sz="2000" dirty="0"/>
              <a:t>Cell</a:t>
            </a:r>
            <a:r>
              <a:rPr lang="zh-CN" altLang="en-US" sz="2000" dirty="0"/>
              <a:t>部分的数据再定时转给</a:t>
            </a:r>
            <a:r>
              <a:rPr lang="en-US" altLang="zh-CN" sz="2000" dirty="0" err="1"/>
              <a:t>DBMgr</a:t>
            </a:r>
            <a:r>
              <a:rPr lang="zh-CN" altLang="en-US" sz="2000" dirty="0"/>
              <a:t>存储</a:t>
            </a:r>
            <a:endParaRPr lang="en-US" altLang="zh-CN" sz="2000" dirty="0"/>
          </a:p>
          <a:p>
            <a:pPr marL="0" indent="0">
              <a:buNone/>
            </a:pPr>
            <a:endParaRPr lang="en-US" altLang="zh-CN" dirty="0"/>
          </a:p>
          <a:p>
            <a:pPr marL="0" indent="0">
              <a:buNone/>
            </a:pPr>
            <a:r>
              <a:rPr lang="en-US" altLang="zh-CN" sz="2000" dirty="0" err="1">
                <a:solidFill>
                  <a:srgbClr val="FF0000"/>
                </a:solidFill>
              </a:rPr>
              <a:t>cellapp</a:t>
            </a:r>
            <a:r>
              <a:rPr lang="zh-CN" altLang="en-US" sz="2000" dirty="0">
                <a:solidFill>
                  <a:srgbClr val="FF0000"/>
                </a:solidFill>
              </a:rPr>
              <a:t>同步数据到</a:t>
            </a:r>
            <a:r>
              <a:rPr lang="en-US" altLang="zh-CN" sz="2000" dirty="0" err="1">
                <a:solidFill>
                  <a:srgbClr val="FF0000"/>
                </a:solidFill>
              </a:rPr>
              <a:t>Baseapp</a:t>
            </a:r>
            <a:r>
              <a:rPr lang="en-US" altLang="zh-CN" sz="2000" dirty="0">
                <a:solidFill>
                  <a:srgbClr val="FF0000"/>
                </a:solidFill>
              </a:rPr>
              <a:t>,</a:t>
            </a:r>
            <a:r>
              <a:rPr lang="zh-CN" altLang="en-US" sz="2000" dirty="0">
                <a:solidFill>
                  <a:srgbClr val="FF0000"/>
                </a:solidFill>
              </a:rPr>
              <a:t>再由</a:t>
            </a:r>
            <a:r>
              <a:rPr lang="en-US" altLang="zh-CN" sz="2000" dirty="0" err="1">
                <a:solidFill>
                  <a:srgbClr val="FF0000"/>
                </a:solidFill>
              </a:rPr>
              <a:t>Baseapp</a:t>
            </a:r>
            <a:r>
              <a:rPr lang="zh-CN" altLang="en-US" sz="2000" dirty="0">
                <a:solidFill>
                  <a:srgbClr val="FF0000"/>
                </a:solidFill>
              </a:rPr>
              <a:t>同步给</a:t>
            </a:r>
            <a:r>
              <a:rPr lang="en-US" altLang="zh-CN" sz="2000" dirty="0" err="1">
                <a:solidFill>
                  <a:srgbClr val="FF0000"/>
                </a:solidFill>
              </a:rPr>
              <a:t>DBMgr</a:t>
            </a:r>
            <a:r>
              <a:rPr lang="zh-CN" altLang="en-US" sz="2000" dirty="0">
                <a:solidFill>
                  <a:srgbClr val="FF0000"/>
                </a:solidFill>
              </a:rPr>
              <a:t>去落库</a:t>
            </a:r>
            <a:endParaRPr lang="en-AU" altLang="zh-CN" sz="2000" dirty="0">
              <a:solidFill>
                <a:srgbClr val="FF0000"/>
              </a:solidFill>
            </a:endParaRPr>
          </a:p>
          <a:p>
            <a:endParaRPr lang="en-US" altLang="zh-CN"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err="1">
                <a:solidFill>
                  <a:schemeClr val="accent1"/>
                </a:solidFill>
                <a:ea typeface="宋体" panose="02010600030101010101" pitchFamily="2" charset="-122"/>
              </a:rPr>
              <a:t>KBEngine</a:t>
            </a:r>
            <a:r>
              <a:rPr lang="zh-CN" altLang="en-US" dirty="0">
                <a:solidFill>
                  <a:schemeClr val="accent1"/>
                </a:solidFill>
                <a:ea typeface="宋体" panose="02010600030101010101" pitchFamily="2" charset="-122"/>
              </a:rPr>
              <a:t>的机器</a:t>
            </a:r>
            <a:r>
              <a:rPr lang="en-US" altLang="zh-CN" dirty="0">
                <a:solidFill>
                  <a:schemeClr val="accent1"/>
                </a:solidFill>
                <a:ea typeface="宋体" panose="02010600030101010101" pitchFamily="2" charset="-122"/>
              </a:rPr>
              <a:t>Daemon(machine)</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a:ea typeface="宋体" panose="02010600030101010101" pitchFamily="2" charset="-122"/>
              </a:rPr>
              <a:t>Daemon</a:t>
            </a:r>
            <a:r>
              <a:rPr lang="zh-CN" altLang="en-US" dirty="0">
                <a:ea typeface="宋体" panose="02010600030101010101" pitchFamily="2" charset="-122"/>
              </a:rPr>
              <a:t>用于监视服务器进程</a:t>
            </a:r>
            <a:endParaRPr lang="en-US" altLang="zh-CN" dirty="0">
              <a:ea typeface="宋体" panose="02010600030101010101" pitchFamily="2" charset="-122"/>
            </a:endParaRPr>
          </a:p>
          <a:p>
            <a:r>
              <a:rPr lang="zh-CN" altLang="en-AU" dirty="0">
                <a:ea typeface="宋体" panose="02010600030101010101" pitchFamily="2" charset="-122"/>
              </a:rPr>
              <a:t>每个服务器机器上有一个</a:t>
            </a:r>
            <a:r>
              <a:rPr lang="en-AU" altLang="zh-CN" dirty="0">
                <a:ea typeface="宋体" panose="02010600030101010101" pitchFamily="2" charset="-122"/>
              </a:rPr>
              <a:t>machine</a:t>
            </a:r>
          </a:p>
          <a:p>
            <a:r>
              <a:rPr lang="zh-CN" altLang="en-AU" dirty="0">
                <a:ea typeface="宋体" panose="02010600030101010101" pitchFamily="2" charset="-122"/>
              </a:rPr>
              <a:t>启动</a:t>
            </a:r>
            <a:r>
              <a:rPr lang="en-AU" altLang="zh-CN" dirty="0"/>
              <a:t>/</a:t>
            </a:r>
            <a:r>
              <a:rPr lang="zh-CN" altLang="en-AU" dirty="0">
                <a:ea typeface="宋体" panose="02010600030101010101" pitchFamily="2" charset="-122"/>
              </a:rPr>
              <a:t>停止服务器进程</a:t>
            </a:r>
          </a:p>
          <a:p>
            <a:r>
              <a:rPr lang="zh-CN" altLang="en-AU" dirty="0">
                <a:ea typeface="宋体" panose="02010600030101010101" pitchFamily="2" charset="-122"/>
              </a:rPr>
              <a:t>通知服务器群组各个进程的存活状态</a:t>
            </a:r>
            <a:endParaRPr lang="en-AU" altLang="zh-CN" dirty="0"/>
          </a:p>
          <a:p>
            <a:r>
              <a:rPr lang="zh-CN" altLang="en-AU" dirty="0">
                <a:ea typeface="宋体" panose="02010600030101010101" pitchFamily="2" charset="-122"/>
              </a:rPr>
              <a:t>监视机器的使用状态</a:t>
            </a:r>
            <a:endParaRPr lang="en-AU" altLang="zh-CN" dirty="0"/>
          </a:p>
          <a:p>
            <a:pPr marL="0" lvl="1" indent="0">
              <a:buSzPct val="80000"/>
              <a:buNone/>
            </a:pPr>
            <a:r>
              <a:rPr lang="en-AU" altLang="zh-CN" sz="2000" dirty="0">
                <a:ea typeface="宋体" panose="02010600030101010101" pitchFamily="2" charset="-122"/>
              </a:rPr>
              <a:t>        </a:t>
            </a:r>
            <a:r>
              <a:rPr lang="en-AU" altLang="zh-CN" sz="2000" dirty="0"/>
              <a:t>CPU / </a:t>
            </a:r>
            <a:r>
              <a:rPr lang="zh-CN" altLang="en-AU" sz="2000" dirty="0">
                <a:ea typeface="宋体" panose="02010600030101010101" pitchFamily="2" charset="-122"/>
              </a:rPr>
              <a:t>内存 </a:t>
            </a:r>
            <a:r>
              <a:rPr lang="en-AU" altLang="zh-CN" sz="2000" dirty="0"/>
              <a:t>/ </a:t>
            </a:r>
            <a:r>
              <a:rPr lang="zh-CN" altLang="en-AU" sz="2000" dirty="0">
                <a:ea typeface="宋体" panose="02010600030101010101" pitchFamily="2" charset="-122"/>
              </a:rPr>
              <a:t>带宽</a:t>
            </a:r>
            <a:endParaRPr lang="en-US" altLang="zh-CN" sz="2000" dirty="0">
              <a:ea typeface="宋体" panose="02010600030101010101" pitchFamily="2" charset="-122"/>
            </a:endParaRPr>
          </a:p>
          <a:p>
            <a:pPr marL="0" lvl="1" indent="0">
              <a:buSzPct val="80000"/>
              <a:buNone/>
            </a:pPr>
            <a:endParaRPr lang="en-US" altLang="zh-CN" sz="2000" dirty="0">
              <a:ea typeface="宋体" panose="02010600030101010101" pitchFamily="2" charset="-122"/>
            </a:endParaRPr>
          </a:p>
          <a:p>
            <a:pPr marL="0" lvl="1" indent="0">
              <a:buSzPct val="80000"/>
              <a:buNone/>
            </a:pPr>
            <a:endParaRPr lang="en-US" altLang="zh-CN" sz="2000" dirty="0">
              <a:ea typeface="宋体" panose="02010600030101010101" pitchFamily="2" charset="-122"/>
            </a:endParaRPr>
          </a:p>
          <a:p>
            <a:pPr marL="0" lvl="1" indent="0">
              <a:buSzPct val="80000"/>
              <a:buNone/>
            </a:pPr>
            <a:r>
              <a:rPr lang="zh-CN" altLang="en-US" sz="3200" dirty="0">
                <a:solidFill>
                  <a:srgbClr val="FF0000"/>
                </a:solidFill>
                <a:ea typeface="宋体" panose="02010600030101010101" pitchFamily="2" charset="-122"/>
              </a:rPr>
              <a:t>守护进程</a:t>
            </a:r>
            <a:r>
              <a:rPr lang="en-US" altLang="zh-CN" sz="3200" dirty="0">
                <a:solidFill>
                  <a:srgbClr val="FF0000"/>
                </a:solidFill>
                <a:ea typeface="宋体" panose="02010600030101010101" pitchFamily="2" charset="-122"/>
              </a:rPr>
              <a:t>machine</a:t>
            </a:r>
            <a:endParaRPr lang="zh-CN" altLang="en-AU" sz="3200" dirty="0">
              <a:solidFill>
                <a:srgbClr val="FF0000"/>
              </a:solidFill>
              <a:ea typeface="宋体" panose="02010600030101010101" pitchFamily="2" charset="-122"/>
            </a:endParaRPr>
          </a:p>
          <a:p>
            <a:pPr marL="0" indent="0">
              <a:buNone/>
            </a:pPr>
            <a:endParaRPr lang="en-AU" altLang="zh-CN" dirty="0">
              <a:ea typeface="宋体" panose="02010600030101010101" pitchFamily="2" charset="-122"/>
            </a:endParaRPr>
          </a:p>
          <a:p>
            <a:endParaRPr lang="en-AU" altLang="zh-CN" dirty="0"/>
          </a:p>
          <a:p>
            <a:endParaRPr lang="en-US" altLang="zh-CN" dirty="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err="1">
                <a:solidFill>
                  <a:schemeClr val="accent1"/>
                </a:solidFill>
                <a:ea typeface="宋体" panose="02010600030101010101" pitchFamily="2" charset="-122"/>
              </a:rPr>
              <a:t>KBEngine</a:t>
            </a:r>
            <a:r>
              <a:rPr lang="zh-CN" altLang="en-US" dirty="0">
                <a:solidFill>
                  <a:schemeClr val="accent1"/>
                </a:solidFill>
                <a:ea typeface="宋体" panose="02010600030101010101" pitchFamily="2" charset="-122"/>
              </a:rPr>
              <a:t>服务端通常的操作</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ea typeface="宋体" panose="02010600030101010101" pitchFamily="2" charset="-122"/>
              </a:rPr>
              <a:t>一个</a:t>
            </a:r>
            <a:r>
              <a:rPr lang="en-US" altLang="zh-CN" dirty="0" err="1">
                <a:ea typeface="宋体" panose="02010600030101010101" pitchFamily="2" charset="-122"/>
              </a:rPr>
              <a:t>Baseapp</a:t>
            </a: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个及以上</a:t>
            </a:r>
            <a:r>
              <a:rPr lang="en-US" altLang="zh-CN" dirty="0" err="1">
                <a:ea typeface="宋体" panose="02010600030101010101" pitchFamily="2" charset="-122"/>
              </a:rPr>
              <a:t>Cellapp</a:t>
            </a:r>
            <a:endParaRPr lang="en-US" altLang="zh-CN" dirty="0">
              <a:ea typeface="宋体" panose="02010600030101010101" pitchFamily="2" charset="-122"/>
            </a:endParaRPr>
          </a:p>
          <a:p>
            <a:pPr marL="0" indent="0">
              <a:buNone/>
            </a:pPr>
            <a:r>
              <a:rPr lang="zh-CN" altLang="en-US" dirty="0">
                <a:ea typeface="宋体" panose="02010600030101010101" pitchFamily="2" charset="-122"/>
              </a:rPr>
              <a:t>         </a:t>
            </a:r>
            <a:r>
              <a:rPr lang="zh-CN" altLang="en-US" sz="2000" dirty="0">
                <a:ea typeface="宋体" panose="02010600030101010101" pitchFamily="2" charset="-122"/>
              </a:rPr>
              <a:t>不同游戏不同情况</a:t>
            </a: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早</a:t>
            </a:r>
            <a:r>
              <a:rPr lang="en-US" altLang="zh-CN" sz="2000" dirty="0">
                <a:ea typeface="宋体" panose="02010600030101010101" pitchFamily="2" charset="-122"/>
              </a:rPr>
              <a:t>Profile</a:t>
            </a:r>
            <a:r>
              <a:rPr lang="zh-CN" altLang="en-US" sz="2000" dirty="0">
                <a:ea typeface="宋体" panose="02010600030101010101" pitchFamily="2" charset="-122"/>
              </a:rPr>
              <a:t>，经常</a:t>
            </a:r>
            <a:r>
              <a:rPr lang="en-US" altLang="zh-CN" sz="2000" dirty="0">
                <a:ea typeface="宋体" panose="02010600030101010101" pitchFamily="2" charset="-122"/>
              </a:rPr>
              <a:t>Profile</a:t>
            </a:r>
          </a:p>
          <a:p>
            <a:r>
              <a:rPr lang="zh-CN" altLang="en-US" dirty="0">
                <a:ea typeface="宋体" panose="02010600030101010101" pitchFamily="2" charset="-122"/>
              </a:rPr>
              <a:t>情况允许，</a:t>
            </a:r>
            <a:r>
              <a:rPr lang="zh-CN" altLang="en-AU" dirty="0">
                <a:ea typeface="宋体" panose="02010600030101010101" pitchFamily="2" charset="-122"/>
              </a:rPr>
              <a:t>应放在独立的机器的进程</a:t>
            </a:r>
            <a:r>
              <a:rPr lang="en-AU" altLang="zh-CN" dirty="0"/>
              <a:t>:</a:t>
            </a:r>
          </a:p>
          <a:p>
            <a:pPr marL="0" lvl="1" indent="0">
              <a:buSzPct val="80000"/>
              <a:buNone/>
            </a:pPr>
            <a:r>
              <a:rPr lang="en-AU" altLang="zh-CN" sz="2000" dirty="0">
                <a:ea typeface="宋体" panose="02010600030101010101" pitchFamily="2" charset="-122"/>
              </a:rPr>
              <a:t>        </a:t>
            </a:r>
            <a:r>
              <a:rPr lang="en-US" altLang="zh-CN" sz="2000" dirty="0" err="1"/>
              <a:t>DBMgr</a:t>
            </a:r>
            <a:endParaRPr lang="en-US" altLang="zh-CN" sz="2000" dirty="0"/>
          </a:p>
          <a:p>
            <a:pPr marL="0" lvl="1" indent="0">
              <a:buSzPct val="80000"/>
              <a:buNone/>
            </a:pPr>
            <a:r>
              <a:rPr lang="en-US" altLang="zh-CN" sz="2000" dirty="0">
                <a:ea typeface="宋体" panose="02010600030101010101" pitchFamily="2" charset="-122"/>
              </a:rPr>
              <a:t>        </a:t>
            </a:r>
            <a:r>
              <a:rPr lang="zh-CN" altLang="en-US" sz="2000" dirty="0">
                <a:ea typeface="宋体" panose="02010600030101010101" pitchFamily="2" charset="-122"/>
              </a:rPr>
              <a:t>一些工具类进程</a:t>
            </a:r>
            <a:endParaRPr lang="zh-CN" altLang="en-AU" sz="2000" dirty="0">
              <a:ea typeface="宋体" panose="02010600030101010101" pitchFamily="2" charset="-122"/>
            </a:endParaRPr>
          </a:p>
          <a:p>
            <a:pPr marL="0" indent="0">
              <a:buNone/>
            </a:pPr>
            <a:endParaRPr lang="en-AU" altLang="zh-CN" dirty="0">
              <a:ea typeface="宋体" panose="02010600030101010101" pitchFamily="2" charset="-122"/>
            </a:endParaRPr>
          </a:p>
          <a:p>
            <a:endParaRPr lang="en-AU" altLang="zh-CN" dirty="0"/>
          </a:p>
          <a:p>
            <a:endParaRPr lang="en-US" altLang="zh-CN"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登录过程</a:t>
            </a:r>
            <a:endParaRPr lang="zh-CN" altLang="en-US" sz="2200" b="1" dirty="0">
              <a:solidFill>
                <a:schemeClr val="accent1"/>
              </a:solidFill>
              <a:latin typeface="+mn-ea"/>
              <a:ea typeface="+mn-ea"/>
            </a:endParaRPr>
          </a:p>
        </p:txBody>
      </p:sp>
      <p:sp>
        <p:nvSpPr>
          <p:cNvPr id="8" name="Rectangle 3"/>
          <p:cNvSpPr txBox="1">
            <a:spLocks noChangeArrowheads="1"/>
          </p:cNvSpPr>
          <p:nvPr/>
        </p:nvSpPr>
        <p:spPr bwMode="auto">
          <a:xfrm>
            <a:off x="197644" y="1124744"/>
            <a:ext cx="8748712"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zh-CN" altLang="en-US" sz="2400" dirty="0">
                <a:ea typeface="宋体" panose="02010600030101010101" pitchFamily="2" charset="-122"/>
              </a:rPr>
              <a:t>客户端发登录请求</a:t>
            </a:r>
          </a:p>
          <a:p>
            <a:pPr marL="0" indent="0">
              <a:lnSpc>
                <a:spcPct val="80000"/>
              </a:lnSpc>
              <a:buNone/>
            </a:pPr>
            <a:r>
              <a:rPr lang="zh-CN" altLang="en-US" sz="2400" dirty="0">
                <a:ea typeface="宋体" panose="02010600030101010101" pitchFamily="2" charset="-122"/>
              </a:rPr>
              <a:t>        </a:t>
            </a:r>
            <a:r>
              <a:rPr lang="zh-CN" altLang="en-US" sz="2000" dirty="0">
                <a:ea typeface="宋体" panose="02010600030101010101" pitchFamily="2" charset="-122"/>
              </a:rPr>
              <a:t>指定</a:t>
            </a:r>
            <a:r>
              <a:rPr lang="en-US" altLang="zh-CN" sz="2000" dirty="0">
                <a:ea typeface="宋体" panose="02010600030101010101" pitchFamily="2" charset="-122"/>
              </a:rPr>
              <a:t>IP/</a:t>
            </a:r>
            <a:r>
              <a:rPr lang="zh-CN" altLang="en-US" sz="2000" dirty="0">
                <a:ea typeface="宋体" panose="02010600030101010101" pitchFamily="2" charset="-122"/>
              </a:rPr>
              <a:t>端口 </a:t>
            </a:r>
          </a:p>
          <a:p>
            <a:pPr>
              <a:lnSpc>
                <a:spcPct val="80000"/>
              </a:lnSpc>
            </a:pPr>
            <a:r>
              <a:rPr lang="en-US" altLang="zh-CN" sz="2400" dirty="0" err="1">
                <a:ea typeface="宋体" panose="02010600030101010101" pitchFamily="2" charset="-122"/>
              </a:rPr>
              <a:t>Loginapp</a:t>
            </a:r>
            <a:r>
              <a:rPr lang="zh-CN" altLang="en-US" sz="2400" dirty="0">
                <a:ea typeface="宋体" panose="02010600030101010101" pitchFamily="2" charset="-122"/>
              </a:rPr>
              <a:t>收到登录请求</a:t>
            </a:r>
          </a:p>
          <a:p>
            <a:pPr marL="0" indent="0">
              <a:lnSpc>
                <a:spcPct val="80000"/>
              </a:lnSpc>
              <a:buNone/>
            </a:pPr>
            <a:r>
              <a:rPr lang="zh-CN" altLang="en-US" sz="2400" dirty="0">
                <a:ea typeface="宋体" panose="02010600030101010101" pitchFamily="2" charset="-122"/>
              </a:rPr>
              <a:t>        </a:t>
            </a:r>
            <a:r>
              <a:rPr lang="zh-CN" altLang="en-US" sz="2000" dirty="0">
                <a:ea typeface="宋体" panose="02010600030101010101" pitchFamily="2" charset="-122"/>
              </a:rPr>
              <a:t>解密请求消息</a:t>
            </a:r>
            <a:r>
              <a:rPr lang="en-US" altLang="zh-CN" sz="2000" dirty="0">
                <a:ea typeface="宋体" panose="02010600030101010101" pitchFamily="2" charset="-122"/>
              </a:rPr>
              <a:t>(</a:t>
            </a:r>
            <a:r>
              <a:rPr lang="zh-CN" altLang="en-US" sz="2000" dirty="0">
                <a:ea typeface="宋体" panose="02010600030101010101" pitchFamily="2" charset="-122"/>
              </a:rPr>
              <a:t>一些客户端也会选择不加密通讯，那么服务端不进行解密</a:t>
            </a:r>
            <a:r>
              <a:rPr lang="en-US" altLang="zh-CN" sz="2000" dirty="0">
                <a:ea typeface="宋体" panose="02010600030101010101" pitchFamily="2" charset="-122"/>
              </a:rPr>
              <a:t>)</a:t>
            </a:r>
          </a:p>
          <a:p>
            <a:pPr>
              <a:lnSpc>
                <a:spcPct val="80000"/>
              </a:lnSpc>
            </a:pPr>
            <a:r>
              <a:rPr lang="en-US" altLang="zh-CN" sz="2400" dirty="0" err="1">
                <a:ea typeface="宋体" panose="02010600030101010101" pitchFamily="2" charset="-122"/>
              </a:rPr>
              <a:t>Loginapp</a:t>
            </a:r>
            <a:r>
              <a:rPr lang="zh-CN" altLang="en-US" sz="2400" dirty="0">
                <a:ea typeface="宋体" panose="02010600030101010101" pitchFamily="2" charset="-122"/>
              </a:rPr>
              <a:t>转发登录消息到</a:t>
            </a:r>
            <a:r>
              <a:rPr lang="en-US" altLang="zh-CN" sz="2400" dirty="0" err="1">
                <a:ea typeface="宋体" panose="02010600030101010101" pitchFamily="2" charset="-122"/>
              </a:rPr>
              <a:t>DBMgr</a:t>
            </a:r>
            <a:endParaRPr lang="en-US" altLang="zh-CN" sz="2400" dirty="0">
              <a:ea typeface="宋体" panose="02010600030101010101" pitchFamily="2" charset="-122"/>
            </a:endParaRPr>
          </a:p>
          <a:p>
            <a:pPr>
              <a:lnSpc>
                <a:spcPct val="80000"/>
              </a:lnSpc>
            </a:pPr>
            <a:r>
              <a:rPr lang="en-US" altLang="zh-CN" sz="2400" dirty="0" err="1">
                <a:ea typeface="宋体" panose="02010600030101010101" pitchFamily="2" charset="-122"/>
              </a:rPr>
              <a:t>DBMgr</a:t>
            </a:r>
            <a:r>
              <a:rPr lang="zh-CN" altLang="en-US" sz="2400" dirty="0">
                <a:ea typeface="宋体" panose="02010600030101010101" pitchFamily="2" charset="-122"/>
              </a:rPr>
              <a:t>验证用户名</a:t>
            </a:r>
            <a:r>
              <a:rPr lang="en-US" altLang="zh-CN" sz="2400" dirty="0">
                <a:ea typeface="宋体" panose="02010600030101010101" pitchFamily="2" charset="-122"/>
              </a:rPr>
              <a:t>/</a:t>
            </a:r>
            <a:r>
              <a:rPr lang="zh-CN" altLang="en-US" sz="2400" dirty="0">
                <a:ea typeface="宋体" panose="02010600030101010101" pitchFamily="2" charset="-122"/>
              </a:rPr>
              <a:t>密码</a:t>
            </a:r>
          </a:p>
          <a:p>
            <a:pPr marL="0" indent="0">
              <a:lnSpc>
                <a:spcPct val="80000"/>
              </a:lnSpc>
              <a:buNone/>
            </a:pPr>
            <a:r>
              <a:rPr lang="zh-CN" altLang="en-US" sz="2400" dirty="0">
                <a:ea typeface="宋体" panose="02010600030101010101" pitchFamily="2" charset="-122"/>
              </a:rPr>
              <a:t>        </a:t>
            </a:r>
            <a:r>
              <a:rPr lang="zh-CN" altLang="en-US" sz="2000" dirty="0">
                <a:ea typeface="宋体" panose="02010600030101010101" pitchFamily="2" charset="-122"/>
              </a:rPr>
              <a:t>查询数据库</a:t>
            </a:r>
          </a:p>
          <a:p>
            <a:pPr>
              <a:lnSpc>
                <a:spcPct val="80000"/>
              </a:lnSpc>
            </a:pPr>
            <a:r>
              <a:rPr lang="zh-CN" altLang="en-US" sz="2400" dirty="0">
                <a:ea typeface="宋体" panose="02010600030101010101" pitchFamily="2" charset="-122"/>
              </a:rPr>
              <a:t>转发请求到</a:t>
            </a:r>
            <a:r>
              <a:rPr lang="en-US" altLang="zh-CN" sz="2400" dirty="0" err="1">
                <a:ea typeface="宋体" panose="02010600030101010101" pitchFamily="2" charset="-122"/>
              </a:rPr>
              <a:t>BaseappMgr</a:t>
            </a:r>
            <a:endParaRPr lang="en-US" altLang="zh-CN" sz="2400" dirty="0">
              <a:ea typeface="宋体" panose="02010600030101010101" pitchFamily="2" charset="-122"/>
            </a:endParaRPr>
          </a:p>
          <a:p>
            <a:pPr>
              <a:lnSpc>
                <a:spcPct val="80000"/>
              </a:lnSpc>
            </a:pPr>
            <a:r>
              <a:rPr lang="en-US" altLang="zh-CN" sz="2400" dirty="0" err="1">
                <a:ea typeface="宋体" panose="02010600030101010101" pitchFamily="2" charset="-122"/>
              </a:rPr>
              <a:t>BaseappMgr</a:t>
            </a:r>
            <a:r>
              <a:rPr lang="zh-CN" altLang="en-US" sz="2400" dirty="0">
                <a:ea typeface="宋体" panose="02010600030101010101" pitchFamily="2" charset="-122"/>
              </a:rPr>
              <a:t>发送创建</a:t>
            </a:r>
            <a:r>
              <a:rPr lang="en-US" altLang="zh-CN" sz="2400" dirty="0">
                <a:ea typeface="宋体" panose="02010600030101010101" pitchFamily="2" charset="-122"/>
              </a:rPr>
              <a:t>Player Entity</a:t>
            </a:r>
            <a:r>
              <a:rPr lang="zh-CN" altLang="en-US" sz="2400" dirty="0">
                <a:ea typeface="宋体" panose="02010600030101010101" pitchFamily="2" charset="-122"/>
              </a:rPr>
              <a:t>的消息到负载最小的</a:t>
            </a:r>
            <a:r>
              <a:rPr lang="en-US" altLang="zh-CN" sz="2400" dirty="0" err="1">
                <a:ea typeface="宋体" panose="02010600030101010101" pitchFamily="2" charset="-122"/>
              </a:rPr>
              <a:t>Baseapp</a:t>
            </a:r>
            <a:endParaRPr lang="en-US" altLang="zh-CN" sz="2400" dirty="0">
              <a:ea typeface="宋体" panose="02010600030101010101" pitchFamily="2" charset="-122"/>
            </a:endParaRPr>
          </a:p>
          <a:p>
            <a:pPr>
              <a:lnSpc>
                <a:spcPct val="80000"/>
              </a:lnSpc>
            </a:pPr>
            <a:r>
              <a:rPr lang="en-US" altLang="zh-CN" sz="2400" dirty="0" err="1">
                <a:ea typeface="宋体" panose="02010600030101010101" pitchFamily="2" charset="-122"/>
              </a:rPr>
              <a:t>Baseapp</a:t>
            </a:r>
            <a:r>
              <a:rPr lang="zh-CN" altLang="en-US" sz="2400" dirty="0">
                <a:ea typeface="宋体" panose="02010600030101010101" pitchFamily="2" charset="-122"/>
              </a:rPr>
              <a:t>创建一个新的</a:t>
            </a:r>
            <a:r>
              <a:rPr lang="en-US" altLang="zh-CN" sz="2400" dirty="0">
                <a:ea typeface="宋体" panose="02010600030101010101" pitchFamily="2" charset="-122"/>
              </a:rPr>
              <a:t>Proxy</a:t>
            </a:r>
          </a:p>
          <a:p>
            <a:pPr marL="0" indent="0">
              <a:lnSpc>
                <a:spcPct val="80000"/>
              </a:lnSpc>
              <a:buNone/>
            </a:pPr>
            <a:r>
              <a:rPr lang="en-US" altLang="zh-CN" sz="2400" dirty="0">
                <a:ea typeface="宋体" panose="02010600030101010101" pitchFamily="2" charset="-122"/>
              </a:rPr>
              <a:t>        </a:t>
            </a:r>
            <a:r>
              <a:rPr lang="zh-CN" altLang="en-US" sz="2000" dirty="0">
                <a:ea typeface="宋体" panose="02010600030101010101" pitchFamily="2" charset="-122"/>
              </a:rPr>
              <a:t>可能会创建一个新的</a:t>
            </a:r>
            <a:r>
              <a:rPr lang="en-US" altLang="zh-CN" sz="2000" dirty="0">
                <a:ea typeface="宋体" panose="02010600030101010101" pitchFamily="2" charset="-122"/>
              </a:rPr>
              <a:t>Cell Entity</a:t>
            </a:r>
          </a:p>
          <a:p>
            <a:pPr>
              <a:lnSpc>
                <a:spcPct val="80000"/>
              </a:lnSpc>
            </a:pPr>
            <a:r>
              <a:rPr lang="en-US" altLang="zh-CN" sz="2400" dirty="0">
                <a:ea typeface="宋体" panose="02010600030101010101" pitchFamily="2" charset="-122"/>
              </a:rPr>
              <a:t>Proxy</a:t>
            </a:r>
            <a:r>
              <a:rPr lang="zh-CN" altLang="en-US" sz="2400" dirty="0">
                <a:ea typeface="宋体" panose="02010600030101010101" pitchFamily="2" charset="-122"/>
              </a:rPr>
              <a:t>的</a:t>
            </a:r>
            <a:r>
              <a:rPr lang="en-US" altLang="zh-CN" sz="2400" dirty="0">
                <a:ea typeface="宋体" panose="02010600030101010101" pitchFamily="2" charset="-122"/>
              </a:rPr>
              <a:t>TCP</a:t>
            </a:r>
            <a:r>
              <a:rPr lang="zh-CN" altLang="en-US" sz="2400" dirty="0">
                <a:ea typeface="宋体" panose="02010600030101010101" pitchFamily="2" charset="-122"/>
              </a:rPr>
              <a:t>端口被返回给客户端</a:t>
            </a:r>
          </a:p>
          <a:p>
            <a:pPr marL="0" indent="0">
              <a:lnSpc>
                <a:spcPct val="80000"/>
              </a:lnSpc>
              <a:buNone/>
            </a:pPr>
            <a:r>
              <a:rPr lang="zh-CN" altLang="en-US" sz="2400" dirty="0">
                <a:ea typeface="宋体" panose="02010600030101010101" pitchFamily="2" charset="-122"/>
              </a:rPr>
              <a:t>        </a:t>
            </a:r>
            <a:r>
              <a:rPr lang="zh-CN" altLang="en-US" sz="2000" dirty="0">
                <a:ea typeface="宋体" panose="02010600030101010101" pitchFamily="2" charset="-122"/>
              </a:rPr>
              <a:t>途径</a:t>
            </a:r>
            <a:r>
              <a:rPr lang="en-US" altLang="zh-CN" sz="2000" dirty="0" err="1">
                <a:ea typeface="宋体" panose="02010600030101010101" pitchFamily="2" charset="-122"/>
              </a:rPr>
              <a:t>BaseappMgr</a:t>
            </a:r>
            <a:r>
              <a:rPr lang="en-US" altLang="zh-CN" sz="2000" dirty="0">
                <a:ea typeface="宋体" panose="02010600030101010101" pitchFamily="2" charset="-122"/>
              </a:rPr>
              <a:t>, </a:t>
            </a:r>
            <a:r>
              <a:rPr lang="en-US" altLang="zh-CN" sz="2000" dirty="0" err="1">
                <a:ea typeface="宋体" panose="02010600030101010101" pitchFamily="2" charset="-122"/>
              </a:rPr>
              <a:t>DBMgr</a:t>
            </a:r>
            <a:r>
              <a:rPr lang="en-US" altLang="zh-CN" sz="2000" dirty="0">
                <a:ea typeface="宋体" panose="02010600030101010101" pitchFamily="2" charset="-122"/>
              </a:rPr>
              <a:t>, </a:t>
            </a:r>
            <a:r>
              <a:rPr lang="en-US" altLang="zh-CN" sz="2000" dirty="0" err="1">
                <a:ea typeface="宋体" panose="02010600030101010101" pitchFamily="2" charset="-122"/>
              </a:rPr>
              <a:t>Loginapp</a:t>
            </a:r>
            <a:endParaRPr lang="en-US" altLang="zh-CN" sz="2000"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2201" y="1196752"/>
            <a:ext cx="8911799" cy="3416320"/>
          </a:xfrm>
          <a:prstGeom prst="rect">
            <a:avLst/>
          </a:prstGeom>
          <a:noFill/>
        </p:spPr>
        <p:txBody>
          <a:bodyPr wrap="none" rtlCol="0">
            <a:spAutoFit/>
          </a:bodyPr>
          <a:lstStyle/>
          <a:p>
            <a:r>
              <a:rPr lang="en-US" altLang="zh-CN" dirty="0">
                <a:solidFill>
                  <a:srgbClr val="FF0000"/>
                </a:solidFill>
              </a:rPr>
              <a:t>1.</a:t>
            </a:r>
            <a:r>
              <a:rPr lang="zh-CN" altLang="en-US" dirty="0">
                <a:solidFill>
                  <a:srgbClr val="FF0000"/>
                </a:solidFill>
              </a:rPr>
              <a:t>客户端先通过域名得到</a:t>
            </a:r>
            <a:r>
              <a:rPr lang="en-US" altLang="zh-CN" dirty="0" err="1">
                <a:solidFill>
                  <a:srgbClr val="FF0000"/>
                </a:solidFill>
              </a:rPr>
              <a:t>loginapp</a:t>
            </a:r>
            <a:r>
              <a:rPr lang="zh-CN" altLang="en-US" dirty="0">
                <a:solidFill>
                  <a:srgbClr val="FF0000"/>
                </a:solidFill>
              </a:rPr>
              <a:t>的</a:t>
            </a:r>
            <a:r>
              <a:rPr lang="en-US" altLang="zh-CN" dirty="0" err="1">
                <a:solidFill>
                  <a:srgbClr val="FF0000"/>
                </a:solidFill>
              </a:rPr>
              <a:t>ip</a:t>
            </a:r>
            <a:r>
              <a:rPr lang="zh-CN" altLang="en-US" dirty="0">
                <a:solidFill>
                  <a:srgbClr val="FF0000"/>
                </a:solidFill>
              </a:rPr>
              <a:t>地址</a:t>
            </a:r>
            <a:r>
              <a:rPr lang="en-US" altLang="zh-CN" dirty="0">
                <a:solidFill>
                  <a:srgbClr val="FF0000"/>
                </a:solidFill>
              </a:rPr>
              <a:t>,</a:t>
            </a:r>
            <a:r>
              <a:rPr lang="zh-CN" altLang="en-US" dirty="0">
                <a:solidFill>
                  <a:srgbClr val="FF0000"/>
                </a:solidFill>
              </a:rPr>
              <a:t>可能针对多个</a:t>
            </a:r>
            <a:r>
              <a:rPr lang="en-US" altLang="zh-CN" dirty="0" err="1">
                <a:solidFill>
                  <a:srgbClr val="FF0000"/>
                </a:solidFill>
              </a:rPr>
              <a:t>loginapp</a:t>
            </a:r>
            <a:r>
              <a:rPr lang="zh-CN" altLang="en-US" dirty="0">
                <a:solidFill>
                  <a:srgbClr val="FF0000"/>
                </a:solidFill>
              </a:rPr>
              <a:t>配置了不同的</a:t>
            </a:r>
            <a:r>
              <a:rPr lang="en-US" altLang="zh-CN" dirty="0" err="1">
                <a:solidFill>
                  <a:srgbClr val="FF0000"/>
                </a:solidFill>
              </a:rPr>
              <a:t>ip</a:t>
            </a:r>
            <a:r>
              <a:rPr lang="en-US" altLang="zh-CN" dirty="0">
                <a:solidFill>
                  <a:srgbClr val="FF0000"/>
                </a:solidFill>
              </a:rPr>
              <a:t>,</a:t>
            </a:r>
          </a:p>
          <a:p>
            <a:r>
              <a:rPr lang="zh-CN" altLang="en-US" dirty="0">
                <a:solidFill>
                  <a:srgbClr val="FF0000"/>
                </a:solidFill>
              </a:rPr>
              <a:t>所以根据</a:t>
            </a:r>
            <a:r>
              <a:rPr lang="en-US" altLang="zh-CN" dirty="0" err="1">
                <a:solidFill>
                  <a:srgbClr val="FF0000"/>
                </a:solidFill>
              </a:rPr>
              <a:t>dns</a:t>
            </a:r>
            <a:r>
              <a:rPr lang="zh-CN" altLang="en-US" dirty="0">
                <a:solidFill>
                  <a:srgbClr val="FF0000"/>
                </a:solidFill>
              </a:rPr>
              <a:t>的轮询机制</a:t>
            </a:r>
            <a:r>
              <a:rPr lang="en-US" altLang="zh-CN" dirty="0">
                <a:solidFill>
                  <a:srgbClr val="FF0000"/>
                </a:solidFill>
              </a:rPr>
              <a:t>,</a:t>
            </a:r>
            <a:r>
              <a:rPr lang="zh-CN" altLang="en-US" dirty="0">
                <a:solidFill>
                  <a:srgbClr val="FF0000"/>
                </a:solidFill>
              </a:rPr>
              <a:t>可能返回不同的</a:t>
            </a:r>
            <a:r>
              <a:rPr lang="en-US" altLang="zh-CN" dirty="0" err="1">
                <a:solidFill>
                  <a:srgbClr val="FF0000"/>
                </a:solidFill>
              </a:rPr>
              <a:t>ip</a:t>
            </a:r>
            <a:r>
              <a:rPr lang="zh-CN" altLang="en-US" dirty="0">
                <a:solidFill>
                  <a:srgbClr val="FF0000"/>
                </a:solidFill>
              </a:rPr>
              <a:t>地址以实现</a:t>
            </a:r>
            <a:r>
              <a:rPr lang="en-US" altLang="zh-CN" dirty="0" err="1">
                <a:solidFill>
                  <a:srgbClr val="FF0000"/>
                </a:solidFill>
              </a:rPr>
              <a:t>loginapp</a:t>
            </a:r>
            <a:r>
              <a:rPr lang="zh-CN" altLang="en-US" dirty="0">
                <a:solidFill>
                  <a:srgbClr val="FF0000"/>
                </a:solidFill>
              </a:rPr>
              <a:t>的负载均衡</a:t>
            </a:r>
          </a:p>
          <a:p>
            <a:r>
              <a:rPr lang="en-US" altLang="zh-CN" dirty="0">
                <a:solidFill>
                  <a:srgbClr val="FF0000"/>
                </a:solidFill>
              </a:rPr>
              <a:t>2.</a:t>
            </a:r>
            <a:r>
              <a:rPr lang="zh-CN" altLang="en-US" dirty="0">
                <a:solidFill>
                  <a:srgbClr val="FF0000"/>
                </a:solidFill>
              </a:rPr>
              <a:t>客户端拿到</a:t>
            </a:r>
            <a:r>
              <a:rPr lang="en-US" altLang="zh-CN" dirty="0" err="1">
                <a:solidFill>
                  <a:srgbClr val="FF0000"/>
                </a:solidFill>
              </a:rPr>
              <a:t>loginapp</a:t>
            </a:r>
            <a:r>
              <a:rPr lang="zh-CN" altLang="en-US" dirty="0">
                <a:solidFill>
                  <a:srgbClr val="FF0000"/>
                </a:solidFill>
              </a:rPr>
              <a:t>的</a:t>
            </a:r>
            <a:r>
              <a:rPr lang="en-US" altLang="zh-CN" dirty="0" err="1">
                <a:solidFill>
                  <a:srgbClr val="FF0000"/>
                </a:solidFill>
              </a:rPr>
              <a:t>ip</a:t>
            </a:r>
            <a:r>
              <a:rPr lang="zh-CN" altLang="en-US" dirty="0">
                <a:solidFill>
                  <a:srgbClr val="FF0000"/>
                </a:solidFill>
              </a:rPr>
              <a:t>后</a:t>
            </a:r>
            <a:r>
              <a:rPr lang="en-US" altLang="zh-CN" dirty="0">
                <a:solidFill>
                  <a:srgbClr val="FF0000"/>
                </a:solidFill>
              </a:rPr>
              <a:t>,</a:t>
            </a:r>
            <a:r>
              <a:rPr lang="zh-CN" altLang="en-US" dirty="0">
                <a:solidFill>
                  <a:srgbClr val="FF0000"/>
                </a:solidFill>
              </a:rPr>
              <a:t>发起连接</a:t>
            </a:r>
            <a:r>
              <a:rPr lang="en-US" altLang="zh-CN" dirty="0">
                <a:solidFill>
                  <a:srgbClr val="FF0000"/>
                </a:solidFill>
              </a:rPr>
              <a:t>,</a:t>
            </a:r>
            <a:r>
              <a:rPr lang="zh-CN" altLang="en-US" dirty="0">
                <a:solidFill>
                  <a:srgbClr val="FF0000"/>
                </a:solidFill>
              </a:rPr>
              <a:t>然后发起登录请求</a:t>
            </a:r>
          </a:p>
          <a:p>
            <a:r>
              <a:rPr lang="en-US" altLang="zh-CN" dirty="0">
                <a:solidFill>
                  <a:srgbClr val="FF0000"/>
                </a:solidFill>
              </a:rPr>
              <a:t>3.</a:t>
            </a:r>
            <a:r>
              <a:rPr lang="zh-CN" altLang="en-US" dirty="0">
                <a:solidFill>
                  <a:srgbClr val="FF0000"/>
                </a:solidFill>
              </a:rPr>
              <a:t>登录消息通过</a:t>
            </a:r>
            <a:r>
              <a:rPr lang="en-US" altLang="zh-CN" dirty="0" err="1">
                <a:solidFill>
                  <a:srgbClr val="FF0000"/>
                </a:solidFill>
              </a:rPr>
              <a:t>loginapp</a:t>
            </a:r>
            <a:r>
              <a:rPr lang="en-US" altLang="zh-CN" dirty="0">
                <a:solidFill>
                  <a:srgbClr val="FF0000"/>
                </a:solidFill>
              </a:rPr>
              <a:t>-&gt;</a:t>
            </a:r>
            <a:r>
              <a:rPr lang="en-US" altLang="zh-CN" dirty="0" err="1">
                <a:solidFill>
                  <a:srgbClr val="FF0000"/>
                </a:solidFill>
              </a:rPr>
              <a:t>dbmgr</a:t>
            </a:r>
            <a:r>
              <a:rPr lang="en-US" altLang="zh-CN" dirty="0">
                <a:solidFill>
                  <a:srgbClr val="FF0000"/>
                </a:solidFill>
              </a:rPr>
              <a:t>,</a:t>
            </a:r>
            <a:r>
              <a:rPr lang="zh-CN" altLang="en-US" dirty="0">
                <a:solidFill>
                  <a:srgbClr val="FF0000"/>
                </a:solidFill>
              </a:rPr>
              <a:t>在</a:t>
            </a:r>
            <a:r>
              <a:rPr lang="en-US" altLang="zh-CN" dirty="0" err="1">
                <a:solidFill>
                  <a:srgbClr val="FF0000"/>
                </a:solidFill>
              </a:rPr>
              <a:t>dbmgr</a:t>
            </a:r>
            <a:r>
              <a:rPr lang="zh-CN" altLang="en-US" dirty="0">
                <a:solidFill>
                  <a:srgbClr val="FF0000"/>
                </a:solidFill>
              </a:rPr>
              <a:t>进行校验</a:t>
            </a:r>
          </a:p>
          <a:p>
            <a:r>
              <a:rPr lang="en-US" altLang="zh-CN" dirty="0">
                <a:solidFill>
                  <a:srgbClr val="FF0000"/>
                </a:solidFill>
              </a:rPr>
              <a:t>4.</a:t>
            </a:r>
          </a:p>
          <a:p>
            <a:r>
              <a:rPr lang="en-US" altLang="zh-CN" dirty="0">
                <a:solidFill>
                  <a:srgbClr val="FF0000"/>
                </a:solidFill>
              </a:rPr>
              <a:t>a.</a:t>
            </a:r>
            <a:r>
              <a:rPr lang="zh-CN" altLang="en-US" dirty="0">
                <a:solidFill>
                  <a:srgbClr val="FF0000"/>
                </a:solidFill>
              </a:rPr>
              <a:t>校验成功结果返回给</a:t>
            </a:r>
            <a:r>
              <a:rPr lang="en-US" altLang="zh-CN" dirty="0" err="1">
                <a:solidFill>
                  <a:srgbClr val="FF0000"/>
                </a:solidFill>
              </a:rPr>
              <a:t>BaseappMgr</a:t>
            </a:r>
            <a:r>
              <a:rPr lang="zh-CN" altLang="en-US" dirty="0">
                <a:solidFill>
                  <a:srgbClr val="FF0000"/>
                </a:solidFill>
              </a:rPr>
              <a:t>，分配一个</a:t>
            </a:r>
            <a:r>
              <a:rPr lang="en-US" altLang="zh-CN" dirty="0" err="1">
                <a:solidFill>
                  <a:srgbClr val="FF0000"/>
                </a:solidFill>
              </a:rPr>
              <a:t>baseapp</a:t>
            </a:r>
            <a:r>
              <a:rPr lang="zh-CN" altLang="en-US" dirty="0">
                <a:solidFill>
                  <a:srgbClr val="FF0000"/>
                </a:solidFill>
              </a:rPr>
              <a:t>，并在</a:t>
            </a:r>
            <a:r>
              <a:rPr lang="en-US" altLang="zh-CN" dirty="0" err="1">
                <a:solidFill>
                  <a:srgbClr val="FF0000"/>
                </a:solidFill>
              </a:rPr>
              <a:t>baseapp</a:t>
            </a:r>
            <a:r>
              <a:rPr lang="zh-CN" altLang="en-US" dirty="0">
                <a:solidFill>
                  <a:srgbClr val="FF0000"/>
                </a:solidFill>
              </a:rPr>
              <a:t>创建</a:t>
            </a:r>
            <a:r>
              <a:rPr lang="en-US" altLang="zh-CN" dirty="0">
                <a:solidFill>
                  <a:srgbClr val="FF0000"/>
                </a:solidFill>
              </a:rPr>
              <a:t>player entity</a:t>
            </a:r>
            <a:r>
              <a:rPr lang="zh-CN" altLang="en-US" dirty="0">
                <a:solidFill>
                  <a:srgbClr val="FF0000"/>
                </a:solidFill>
              </a:rPr>
              <a:t>，</a:t>
            </a:r>
            <a:endParaRPr lang="en-US" altLang="zh-CN" dirty="0">
              <a:solidFill>
                <a:srgbClr val="FF0000"/>
              </a:solidFill>
            </a:endParaRPr>
          </a:p>
          <a:p>
            <a:r>
              <a:rPr lang="zh-CN" altLang="en-US" dirty="0">
                <a:solidFill>
                  <a:srgbClr val="FF0000"/>
                </a:solidFill>
              </a:rPr>
              <a:t>回复</a:t>
            </a:r>
            <a:r>
              <a:rPr lang="en-US" altLang="zh-CN" dirty="0" err="1">
                <a:solidFill>
                  <a:srgbClr val="FF0000"/>
                </a:solidFill>
              </a:rPr>
              <a:t>baseapp</a:t>
            </a:r>
            <a:r>
              <a:rPr lang="zh-CN" altLang="en-US" dirty="0">
                <a:solidFill>
                  <a:srgbClr val="FF0000"/>
                </a:solidFill>
              </a:rPr>
              <a:t>的</a:t>
            </a:r>
            <a:r>
              <a:rPr lang="en-US" altLang="zh-CN" dirty="0" err="1">
                <a:solidFill>
                  <a:srgbClr val="FF0000"/>
                </a:solidFill>
              </a:rPr>
              <a:t>ip</a:t>
            </a:r>
            <a:r>
              <a:rPr lang="zh-CN" altLang="en-US" dirty="0">
                <a:solidFill>
                  <a:srgbClr val="FF0000"/>
                </a:solidFill>
              </a:rPr>
              <a:t>端口信息</a:t>
            </a:r>
            <a:r>
              <a:rPr lang="en-US" altLang="zh-CN" dirty="0">
                <a:solidFill>
                  <a:srgbClr val="FF0000"/>
                </a:solidFill>
              </a:rPr>
              <a:t>,</a:t>
            </a:r>
            <a:r>
              <a:rPr lang="zh-CN" altLang="en-US" dirty="0">
                <a:solidFill>
                  <a:srgbClr val="FF0000"/>
                </a:solidFill>
              </a:rPr>
              <a:t>通过</a:t>
            </a:r>
            <a:r>
              <a:rPr lang="en-US" altLang="zh-CN" dirty="0" err="1">
                <a:solidFill>
                  <a:srgbClr val="FF0000"/>
                </a:solidFill>
              </a:rPr>
              <a:t>BaseappMgr</a:t>
            </a:r>
            <a:r>
              <a:rPr lang="en-US" altLang="zh-CN" dirty="0">
                <a:solidFill>
                  <a:srgbClr val="FF0000"/>
                </a:solidFill>
              </a:rPr>
              <a:t>, </a:t>
            </a:r>
            <a:r>
              <a:rPr lang="en-US" altLang="zh-CN" dirty="0" err="1">
                <a:solidFill>
                  <a:srgbClr val="FF0000"/>
                </a:solidFill>
              </a:rPr>
              <a:t>DBMgr</a:t>
            </a:r>
            <a:r>
              <a:rPr lang="en-US" altLang="zh-CN" dirty="0">
                <a:solidFill>
                  <a:srgbClr val="FF0000"/>
                </a:solidFill>
              </a:rPr>
              <a:t>, </a:t>
            </a:r>
            <a:r>
              <a:rPr lang="en-US" altLang="zh-CN" dirty="0" err="1">
                <a:solidFill>
                  <a:srgbClr val="FF0000"/>
                </a:solidFill>
              </a:rPr>
              <a:t>Loginapp</a:t>
            </a:r>
            <a:r>
              <a:rPr lang="zh-CN" altLang="en-US" dirty="0">
                <a:solidFill>
                  <a:srgbClr val="FF0000"/>
                </a:solidFill>
              </a:rPr>
              <a:t>返回给客户端</a:t>
            </a:r>
          </a:p>
          <a:p>
            <a:r>
              <a:rPr lang="en-US" altLang="zh-CN" dirty="0">
                <a:solidFill>
                  <a:srgbClr val="FF0000"/>
                </a:solidFill>
              </a:rPr>
              <a:t>b.</a:t>
            </a:r>
            <a:r>
              <a:rPr lang="zh-CN" altLang="en-US" dirty="0">
                <a:solidFill>
                  <a:srgbClr val="FF0000"/>
                </a:solidFill>
              </a:rPr>
              <a:t>校验失败结果通过</a:t>
            </a:r>
            <a:r>
              <a:rPr lang="en-US" altLang="zh-CN" dirty="0" err="1">
                <a:solidFill>
                  <a:srgbClr val="FF0000"/>
                </a:solidFill>
              </a:rPr>
              <a:t>loginapp</a:t>
            </a:r>
            <a:r>
              <a:rPr lang="zh-CN" altLang="en-US" dirty="0">
                <a:solidFill>
                  <a:srgbClr val="FF0000"/>
                </a:solidFill>
              </a:rPr>
              <a:t>返回给客户端</a:t>
            </a:r>
          </a:p>
          <a:p>
            <a:endParaRPr lang="zh-CN" altLang="en-US" dirty="0">
              <a:solidFill>
                <a:srgbClr val="FF0000"/>
              </a:solidFill>
            </a:endParaRPr>
          </a:p>
          <a:p>
            <a:r>
              <a:rPr lang="en-US" altLang="zh-CN" dirty="0">
                <a:solidFill>
                  <a:srgbClr val="FF0000"/>
                </a:solidFill>
              </a:rPr>
              <a:t>5.</a:t>
            </a:r>
            <a:r>
              <a:rPr lang="zh-CN" altLang="en-US" dirty="0">
                <a:solidFill>
                  <a:srgbClr val="FF0000"/>
                </a:solidFill>
              </a:rPr>
              <a:t>客户端收到登录成功消息</a:t>
            </a:r>
            <a:r>
              <a:rPr lang="en-US" altLang="zh-CN" dirty="0">
                <a:solidFill>
                  <a:srgbClr val="FF0000"/>
                </a:solidFill>
              </a:rPr>
              <a:t>,</a:t>
            </a:r>
            <a:r>
              <a:rPr lang="zh-CN" altLang="en-US" dirty="0">
                <a:solidFill>
                  <a:srgbClr val="FF0000"/>
                </a:solidFill>
              </a:rPr>
              <a:t>会先断开与</a:t>
            </a:r>
            <a:r>
              <a:rPr lang="en-US" altLang="zh-CN" dirty="0" err="1">
                <a:solidFill>
                  <a:srgbClr val="FF0000"/>
                </a:solidFill>
              </a:rPr>
              <a:t>loginapp</a:t>
            </a:r>
            <a:r>
              <a:rPr lang="zh-CN" altLang="en-US" dirty="0">
                <a:solidFill>
                  <a:srgbClr val="FF0000"/>
                </a:solidFill>
              </a:rPr>
              <a:t>的连接</a:t>
            </a:r>
            <a:r>
              <a:rPr lang="en-US" altLang="zh-CN" dirty="0">
                <a:solidFill>
                  <a:srgbClr val="FF0000"/>
                </a:solidFill>
              </a:rPr>
              <a:t>(</a:t>
            </a:r>
            <a:r>
              <a:rPr lang="zh-CN" altLang="en-US" dirty="0">
                <a:solidFill>
                  <a:srgbClr val="FF0000"/>
                </a:solidFill>
              </a:rPr>
              <a:t>从客户端日志上看出来的</a:t>
            </a:r>
            <a:r>
              <a:rPr lang="en-US" altLang="zh-CN" dirty="0">
                <a:solidFill>
                  <a:srgbClr val="FF0000"/>
                </a:solidFill>
              </a:rPr>
              <a:t>),</a:t>
            </a:r>
          </a:p>
          <a:p>
            <a:r>
              <a:rPr lang="zh-CN" altLang="en-US" dirty="0">
                <a:solidFill>
                  <a:srgbClr val="FF0000"/>
                </a:solidFill>
              </a:rPr>
              <a:t>转而发起与对应</a:t>
            </a:r>
            <a:r>
              <a:rPr lang="en-US" altLang="zh-CN" dirty="0" err="1">
                <a:solidFill>
                  <a:srgbClr val="FF0000"/>
                </a:solidFill>
              </a:rPr>
              <a:t>baseapp</a:t>
            </a:r>
            <a:r>
              <a:rPr lang="zh-CN" altLang="en-US" dirty="0">
                <a:solidFill>
                  <a:srgbClr val="FF0000"/>
                </a:solidFill>
              </a:rPr>
              <a:t>的连接</a:t>
            </a:r>
            <a:r>
              <a:rPr lang="en-US" altLang="zh-CN" dirty="0">
                <a:solidFill>
                  <a:srgbClr val="FF0000"/>
                </a:solidFill>
              </a:rPr>
              <a:t>,</a:t>
            </a:r>
            <a:r>
              <a:rPr lang="zh-CN" altLang="en-US" dirty="0">
                <a:solidFill>
                  <a:srgbClr val="FF0000"/>
                </a:solidFill>
              </a:rPr>
              <a:t>连接成功后进入游戏</a:t>
            </a:r>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第二章</a:t>
            </a:r>
          </a:p>
        </p:txBody>
      </p:sp>
      <p:sp>
        <p:nvSpPr>
          <p:cNvPr id="12" name="TextBox 11"/>
          <p:cNvSpPr txBox="1"/>
          <p:nvPr/>
        </p:nvSpPr>
        <p:spPr>
          <a:xfrm>
            <a:off x="1619672" y="2924944"/>
            <a:ext cx="633670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a:t>
            </a:r>
            <a:r>
              <a:rPr lang="zh-CN" altLang="en-US" sz="3600" b="1" kern="0" dirty="0">
                <a:solidFill>
                  <a:schemeClr val="tx2"/>
                </a:solidFill>
                <a:latin typeface="Verdana" panose="020B0604030504040204"/>
                <a:ea typeface="宋体" panose="02010600030101010101" pitchFamily="2" charset="-122"/>
              </a:rPr>
              <a:t>实现一个</a:t>
            </a:r>
            <a:r>
              <a:rPr lang="en-US" altLang="zh-CN" sz="3600" b="1" kern="0" dirty="0">
                <a:solidFill>
                  <a:schemeClr val="tx2"/>
                </a:solidFill>
                <a:latin typeface="Verdana" panose="020B0604030504040204"/>
                <a:ea typeface="宋体" panose="02010600030101010101" pitchFamily="2" charset="-122"/>
              </a:rPr>
              <a:t>Entity</a:t>
            </a:r>
            <a:endParaRPr lang="zh-CN" alt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Autofit/>
          </a:bodyPr>
          <a:lstStyle/>
          <a:p>
            <a:pPr algn="l"/>
            <a:r>
              <a:rPr lang="zh-CN" altLang="en-US" sz="4000" b="1" dirty="0">
                <a:solidFill>
                  <a:schemeClr val="accent1"/>
                </a:solidFill>
                <a:latin typeface="+mn-ea"/>
                <a:ea typeface="+mn-ea"/>
              </a:rPr>
              <a:t>游戏项目资产库</a:t>
            </a: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err="1">
                <a:ea typeface="宋体" panose="02010600030101010101" pitchFamily="2" charset="-122"/>
              </a:rPr>
              <a:t>KBEngine</a:t>
            </a:r>
            <a:r>
              <a:rPr lang="zh-CN" altLang="en-US" dirty="0">
                <a:ea typeface="宋体" panose="02010600030101010101" pitchFamily="2" charset="-122"/>
              </a:rPr>
              <a:t>引擎默认资产库</a:t>
            </a:r>
            <a:endParaRPr lang="en-US" altLang="zh-CN" dirty="0">
              <a:ea typeface="宋体" panose="02010600030101010101" pitchFamily="2" charset="-122"/>
            </a:endParaRPr>
          </a:p>
          <a:p>
            <a:pPr marL="0" indent="0">
              <a:buNone/>
            </a:pPr>
            <a:r>
              <a:rPr lang="zh-CN" altLang="en-US" dirty="0">
                <a:ea typeface="宋体" panose="02010600030101010101" pitchFamily="2" charset="-122"/>
              </a:rPr>
              <a:t>     </a:t>
            </a:r>
            <a:r>
              <a:rPr lang="zh-CN" altLang="en-US" sz="2000" dirty="0">
                <a:ea typeface="宋体" panose="02010600030101010101" pitchFamily="2" charset="-122"/>
              </a:rPr>
              <a:t>如果用户没有设置环境变量指向，引擎默认会尝试读取引擎根目录</a:t>
            </a:r>
            <a:r>
              <a:rPr lang="en-US" altLang="zh-CN" sz="2000" dirty="0">
                <a:ea typeface="宋体" panose="02010600030101010101" pitchFamily="2" charset="-122"/>
              </a:rPr>
              <a:t>assets</a:t>
            </a:r>
            <a:r>
              <a:rPr lang="zh-CN" altLang="en-US" sz="2000" dirty="0">
                <a:ea typeface="宋体" panose="02010600030101010101" pitchFamily="2" charset="-122"/>
              </a:rPr>
              <a:t>作为默认的资产库</a:t>
            </a: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资产库的概念类似于</a:t>
            </a:r>
            <a:r>
              <a:rPr lang="en-US" altLang="zh-CN" sz="2000" dirty="0">
                <a:ea typeface="宋体" panose="02010600030101010101" pitchFamily="2" charset="-122"/>
              </a:rPr>
              <a:t>Unity3D</a:t>
            </a:r>
            <a:r>
              <a:rPr lang="zh-CN" altLang="en-US" sz="2000" dirty="0">
                <a:ea typeface="宋体" panose="02010600030101010101" pitchFamily="2" charset="-122"/>
              </a:rPr>
              <a:t>中的</a:t>
            </a:r>
            <a:r>
              <a:rPr lang="en-US" altLang="zh-CN" sz="2000" dirty="0">
                <a:ea typeface="宋体" panose="02010600030101010101" pitchFamily="2" charset="-122"/>
              </a:rPr>
              <a:t>Assets</a:t>
            </a:r>
            <a:r>
              <a:rPr lang="zh-CN" altLang="en-US" sz="2000" dirty="0">
                <a:ea typeface="宋体" panose="02010600030101010101" pitchFamily="2" charset="-122"/>
              </a:rPr>
              <a:t>，不过其中一些文件夹名称结构被固定了</a:t>
            </a:r>
            <a:endParaRPr lang="en-US" altLang="zh-CN" dirty="0">
              <a:ea typeface="宋体" panose="02010600030101010101" pitchFamily="2" charset="-122"/>
            </a:endParaRPr>
          </a:p>
          <a:p>
            <a:r>
              <a:rPr lang="zh-CN" altLang="en-US" dirty="0">
                <a:ea typeface="宋体" panose="02010600030101010101" pitchFamily="2" charset="-122"/>
              </a:rPr>
              <a:t>不同的项目是不同的资产库</a:t>
            </a:r>
            <a:endParaRPr lang="en-US" altLang="zh-CN" dirty="0">
              <a:ea typeface="宋体" panose="02010600030101010101" pitchFamily="2" charset="-122"/>
            </a:endParaRP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要想引擎启动时读取到对应的项目资产库，必须在环境变量中制定</a:t>
            </a:r>
            <a:endParaRPr lang="en-US" altLang="zh-CN" sz="2000" dirty="0">
              <a:ea typeface="宋体" panose="02010600030101010101" pitchFamily="2" charset="-122"/>
            </a:endParaRPr>
          </a:p>
          <a:p>
            <a:pPr marL="0" indent="0">
              <a:buNone/>
            </a:pPr>
            <a:endParaRPr lang="en-AU" altLang="zh-CN" dirty="0">
              <a:ea typeface="宋体" panose="02010600030101010101" pitchFamily="2" charset="-122"/>
            </a:endParaRPr>
          </a:p>
          <a:p>
            <a:endParaRPr lang="en-AU" altLang="zh-CN" dirty="0"/>
          </a:p>
          <a:p>
            <a:endParaRPr lang="en-US" altLang="zh-CN"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4"/>
          <p:cNvSpPr>
            <a:spLocks noChangeArrowheads="1"/>
          </p:cNvSpPr>
          <p:nvPr/>
        </p:nvSpPr>
        <p:spPr bwMode="auto">
          <a:xfrm>
            <a:off x="133846" y="6597353"/>
            <a:ext cx="2219325" cy="260648"/>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7" name="Rectangle 13"/>
          <p:cNvSpPr>
            <a:spLocks noChangeArrowheads="1"/>
          </p:cNvSpPr>
          <p:nvPr/>
        </p:nvSpPr>
        <p:spPr bwMode="auto">
          <a:xfrm>
            <a:off x="133846" y="6261125"/>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8" name="Text Box 82"/>
          <p:cNvSpPr txBox="1">
            <a:spLocks noChangeArrowheads="1"/>
          </p:cNvSpPr>
          <p:nvPr/>
        </p:nvSpPr>
        <p:spPr bwMode="auto">
          <a:xfrm>
            <a:off x="1299071" y="6357962"/>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a:t>
            </a:r>
            <a:r>
              <a:rPr lang="en-GB" sz="1000" dirty="0">
                <a:solidFill>
                  <a:srgbClr val="2B2B85"/>
                </a:solidFill>
                <a:latin typeface="Courier New" panose="02070309020205020404" pitchFamily="49" charset="0"/>
              </a:rPr>
              <a:t>.</a:t>
            </a:r>
            <a:r>
              <a:rPr lang="en-GB" sz="1000" dirty="0" err="1">
                <a:solidFill>
                  <a:srgbClr val="2B2B85"/>
                </a:solidFill>
                <a:latin typeface="Courier New" panose="02070309020205020404" pitchFamily="49" charset="0"/>
              </a:rPr>
              <a:t>py</a:t>
            </a:r>
            <a:endParaRPr lang="en-GB" sz="1000" dirty="0">
              <a:solidFill>
                <a:srgbClr val="2B2B85"/>
              </a:solidFill>
              <a:latin typeface="Courier New" panose="02070309020205020404" pitchFamily="49" charset="0"/>
            </a:endParaRPr>
          </a:p>
        </p:txBody>
      </p:sp>
      <p:sp>
        <p:nvSpPr>
          <p:cNvPr id="119" name="Line 85"/>
          <p:cNvSpPr>
            <a:spLocks noChangeShapeType="1"/>
          </p:cNvSpPr>
          <p:nvPr/>
        </p:nvSpPr>
        <p:spPr bwMode="auto">
          <a:xfrm>
            <a:off x="905371" y="6432575"/>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120" name="Object 86"/>
          <p:cNvGraphicFramePr>
            <a:graphicFrameLocks noChangeAspect="1"/>
          </p:cNvGraphicFramePr>
          <p:nvPr/>
        </p:nvGraphicFramePr>
        <p:xfrm>
          <a:off x="1059359" y="6315100"/>
          <a:ext cx="238125" cy="236537"/>
        </p:xfrm>
        <a:graphic>
          <a:graphicData uri="http://schemas.openxmlformats.org/presentationml/2006/ole">
            <mc:AlternateContent xmlns:mc="http://schemas.openxmlformats.org/markup-compatibility/2006">
              <mc:Choice xmlns:v="urn:schemas-microsoft-com:vml" Requires="v">
                <p:oleObj r:id="rId2" imgW="304800" imgH="304800" progId="PBrush">
                  <p:embed/>
                </p:oleObj>
              </mc:Choice>
              <mc:Fallback>
                <p:oleObj r:id="rId2" imgW="304800" imgH="304800" progId="PBrush">
                  <p:embed/>
                  <p:pic>
                    <p:nvPicPr>
                      <p:cNvPr id="0" name="Picture 18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359" y="6315100"/>
                        <a:ext cx="238125" cy="236537"/>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121" name="Rectangle 87"/>
          <p:cNvSpPr>
            <a:spLocks noChangeArrowheads="1"/>
          </p:cNvSpPr>
          <p:nvPr/>
        </p:nvSpPr>
        <p:spPr bwMode="auto">
          <a:xfrm>
            <a:off x="2510333" y="6299225"/>
            <a:ext cx="1550697"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ea typeface="宋体" panose="02010600030101010101" pitchFamily="2" charset="-122"/>
              </a:rPr>
              <a:t>自定义类型脚本</a:t>
            </a:r>
            <a:endParaRPr lang="en-GB" sz="1400" b="0" dirty="0">
              <a:solidFill>
                <a:srgbClr val="002060"/>
              </a:solidFill>
              <a:ea typeface="宋体" panose="02010600030101010101" pitchFamily="2" charset="-122"/>
            </a:endParaRPr>
          </a:p>
        </p:txBody>
      </p:sp>
      <p:sp>
        <p:nvSpPr>
          <p:cNvPr id="122" name="Line 88"/>
          <p:cNvSpPr>
            <a:spLocks noChangeShapeType="1"/>
          </p:cNvSpPr>
          <p:nvPr/>
        </p:nvSpPr>
        <p:spPr bwMode="auto">
          <a:xfrm>
            <a:off x="2254746" y="6432575"/>
            <a:ext cx="252413"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 name="标题 2"/>
          <p:cNvSpPr>
            <a:spLocks noGrp="1"/>
          </p:cNvSpPr>
          <p:nvPr>
            <p:ph type="ctrTitle"/>
          </p:nvPr>
        </p:nvSpPr>
        <p:spPr>
          <a:xfrm>
            <a:off x="179512" y="131948"/>
            <a:ext cx="8856984" cy="650503"/>
          </a:xfrm>
        </p:spPr>
        <p:txBody>
          <a:bodyPr>
            <a:noAutofit/>
          </a:bodyPr>
          <a:lstStyle/>
          <a:p>
            <a:pPr algn="l"/>
            <a:r>
              <a:rPr lang="zh-CN" altLang="en-US" sz="4000" b="1" dirty="0">
                <a:solidFill>
                  <a:schemeClr val="accent1"/>
                </a:solidFill>
                <a:latin typeface="+mn-ea"/>
                <a:ea typeface="+mn-ea"/>
              </a:rPr>
              <a:t>资产库文件夹结构</a:t>
            </a:r>
          </a:p>
        </p:txBody>
      </p:sp>
      <p:sp>
        <p:nvSpPr>
          <p:cNvPr id="5" name="Rectangle 3"/>
          <p:cNvSpPr>
            <a:spLocks noChangeArrowheads="1"/>
          </p:cNvSpPr>
          <p:nvPr/>
        </p:nvSpPr>
        <p:spPr bwMode="auto">
          <a:xfrm>
            <a:off x="142875" y="5278760"/>
            <a:ext cx="2219325" cy="341313"/>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 name="Rectangle 4"/>
          <p:cNvSpPr>
            <a:spLocks noChangeArrowheads="1"/>
          </p:cNvSpPr>
          <p:nvPr/>
        </p:nvSpPr>
        <p:spPr bwMode="auto">
          <a:xfrm>
            <a:off x="142875" y="5620073"/>
            <a:ext cx="2219325" cy="338137"/>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142875" y="1914848"/>
            <a:ext cx="2219325" cy="341312"/>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142875" y="1576710"/>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Rectangle 7"/>
          <p:cNvSpPr>
            <a:spLocks noChangeArrowheads="1"/>
          </p:cNvSpPr>
          <p:nvPr/>
        </p:nvSpPr>
        <p:spPr bwMode="auto">
          <a:xfrm>
            <a:off x="142875" y="2595885"/>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Rectangle 8"/>
          <p:cNvSpPr>
            <a:spLocks noChangeArrowheads="1"/>
          </p:cNvSpPr>
          <p:nvPr/>
        </p:nvSpPr>
        <p:spPr bwMode="auto">
          <a:xfrm>
            <a:off x="142875" y="2256160"/>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Rectangle 9"/>
          <p:cNvSpPr>
            <a:spLocks noChangeArrowheads="1"/>
          </p:cNvSpPr>
          <p:nvPr/>
        </p:nvSpPr>
        <p:spPr bwMode="auto">
          <a:xfrm>
            <a:off x="142875" y="3275335"/>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Rectangle 10"/>
          <p:cNvSpPr>
            <a:spLocks noChangeArrowheads="1"/>
          </p:cNvSpPr>
          <p:nvPr/>
        </p:nvSpPr>
        <p:spPr bwMode="auto">
          <a:xfrm>
            <a:off x="142875" y="2935610"/>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Rectangle 11"/>
          <p:cNvSpPr>
            <a:spLocks noChangeArrowheads="1"/>
          </p:cNvSpPr>
          <p:nvPr/>
        </p:nvSpPr>
        <p:spPr bwMode="auto">
          <a:xfrm>
            <a:off x="142875" y="4635823"/>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Rectangle 12"/>
          <p:cNvSpPr>
            <a:spLocks noChangeArrowheads="1"/>
          </p:cNvSpPr>
          <p:nvPr/>
        </p:nvSpPr>
        <p:spPr bwMode="auto">
          <a:xfrm>
            <a:off x="142875" y="3615060"/>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Rectangle 13"/>
          <p:cNvSpPr>
            <a:spLocks noChangeArrowheads="1"/>
          </p:cNvSpPr>
          <p:nvPr/>
        </p:nvSpPr>
        <p:spPr bwMode="auto">
          <a:xfrm>
            <a:off x="142875" y="4975548"/>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Rectangle 14"/>
          <p:cNvSpPr>
            <a:spLocks noChangeArrowheads="1"/>
          </p:cNvSpPr>
          <p:nvPr/>
        </p:nvSpPr>
        <p:spPr bwMode="auto">
          <a:xfrm>
            <a:off x="142875" y="1268760"/>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Rectangle 15"/>
          <p:cNvSpPr>
            <a:spLocks noChangeArrowheads="1"/>
          </p:cNvSpPr>
          <p:nvPr/>
        </p:nvSpPr>
        <p:spPr bwMode="auto">
          <a:xfrm>
            <a:off x="142875" y="929035"/>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Rectangle 16"/>
          <p:cNvSpPr>
            <a:spLocks noChangeArrowheads="1"/>
          </p:cNvSpPr>
          <p:nvPr/>
        </p:nvSpPr>
        <p:spPr bwMode="auto">
          <a:xfrm>
            <a:off x="2555875" y="1664023"/>
            <a:ext cx="1505156"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ea typeface="宋体" panose="02010600030101010101" pitchFamily="2" charset="-122"/>
              </a:rPr>
              <a:t>列出了所有的</a:t>
            </a:r>
            <a:r>
              <a:rPr lang="en-US" altLang="zh-CN" sz="1400" b="0" dirty="0">
                <a:solidFill>
                  <a:srgbClr val="002060"/>
                </a:solidFill>
                <a:ea typeface="宋体" panose="02010600030101010101" pitchFamily="2" charset="-122"/>
              </a:rPr>
              <a:t>entity</a:t>
            </a:r>
          </a:p>
        </p:txBody>
      </p:sp>
      <p:sp>
        <p:nvSpPr>
          <p:cNvPr id="19" name="Rectangle 17"/>
          <p:cNvSpPr>
            <a:spLocks noChangeArrowheads="1"/>
          </p:cNvSpPr>
          <p:nvPr/>
        </p:nvSpPr>
        <p:spPr bwMode="auto">
          <a:xfrm>
            <a:off x="3851920" y="5647060"/>
            <a:ext cx="2139950" cy="3490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448945">
              <a:lnSpc>
                <a:spcPct val="80000"/>
              </a:lnSpc>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ea typeface="宋体" panose="02010600030101010101" pitchFamily="2" charset="-122"/>
              </a:rPr>
              <a:t>定义</a:t>
            </a:r>
            <a:r>
              <a:rPr lang="en-US" altLang="zh-CN" sz="1400" b="0" dirty="0">
                <a:solidFill>
                  <a:srgbClr val="002060"/>
                </a:solidFill>
                <a:ea typeface="宋体" panose="02010600030101010101" pitchFamily="2" charset="-122"/>
              </a:rPr>
              <a:t>Entity</a:t>
            </a:r>
            <a:r>
              <a:rPr lang="zh-CN" altLang="en-US" sz="1400" b="0" dirty="0">
                <a:solidFill>
                  <a:srgbClr val="002060"/>
                </a:solidFill>
                <a:ea typeface="宋体" panose="02010600030101010101" pitchFamily="2" charset="-122"/>
              </a:rPr>
              <a:t>的属性和方法</a:t>
            </a:r>
            <a:r>
              <a:rPr lang="en-US" altLang="zh-CN" sz="1400" b="0" dirty="0">
                <a:solidFill>
                  <a:srgbClr val="002060"/>
                </a:solidFill>
                <a:ea typeface="宋体" panose="02010600030101010101" pitchFamily="2" charset="-122"/>
              </a:rPr>
              <a:t> (XML)</a:t>
            </a:r>
            <a:endParaRPr lang="en-GB" sz="1400" b="0" dirty="0">
              <a:solidFill>
                <a:srgbClr val="002060"/>
              </a:solidFill>
              <a:ea typeface="宋体" panose="02010600030101010101" pitchFamily="2" charset="-122"/>
            </a:endParaRPr>
          </a:p>
        </p:txBody>
      </p:sp>
      <p:sp>
        <p:nvSpPr>
          <p:cNvPr id="20" name="Rectangle 18"/>
          <p:cNvSpPr>
            <a:spLocks noChangeArrowheads="1"/>
          </p:cNvSpPr>
          <p:nvPr/>
        </p:nvSpPr>
        <p:spPr bwMode="auto">
          <a:xfrm>
            <a:off x="6300788" y="2968948"/>
            <a:ext cx="990600" cy="1547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defTabSz="448945">
              <a:spcBef>
                <a:spcPts val="200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a:solidFill>
                  <a:srgbClr val="002060"/>
                </a:solidFill>
                <a:ea typeface="宋体" panose="02010600030101010101" pitchFamily="2" charset="-122"/>
              </a:rPr>
              <a:t>实现属性和方法</a:t>
            </a:r>
            <a:r>
              <a:rPr lang="en-US" altLang="zh-CN" sz="1400" b="0">
                <a:solidFill>
                  <a:srgbClr val="002060"/>
                </a:solidFill>
                <a:ea typeface="宋体" panose="02010600030101010101" pitchFamily="2" charset="-122"/>
              </a:rPr>
              <a:t> (Python)</a:t>
            </a:r>
            <a:endParaRPr lang="en-GB" sz="1400" b="0">
              <a:solidFill>
                <a:srgbClr val="002060"/>
              </a:solidFill>
              <a:ea typeface="宋体" panose="02010600030101010101" pitchFamily="2" charset="-122"/>
            </a:endParaRPr>
          </a:p>
        </p:txBody>
      </p:sp>
      <p:sp>
        <p:nvSpPr>
          <p:cNvPr id="21" name="Text Box 19"/>
          <p:cNvSpPr txBox="1">
            <a:spLocks noChangeArrowheads="1"/>
          </p:cNvSpPr>
          <p:nvPr/>
        </p:nvSpPr>
        <p:spPr bwMode="auto">
          <a:xfrm>
            <a:off x="544512" y="1020365"/>
            <a:ext cx="1666875" cy="1538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&lt;assets&gt;</a:t>
            </a:r>
          </a:p>
        </p:txBody>
      </p:sp>
      <p:sp>
        <p:nvSpPr>
          <p:cNvPr id="22" name="Text Box 20"/>
          <p:cNvSpPr txBox="1">
            <a:spLocks noChangeArrowheads="1"/>
          </p:cNvSpPr>
          <p:nvPr/>
        </p:nvSpPr>
        <p:spPr bwMode="auto">
          <a:xfrm>
            <a:off x="763588" y="1362423"/>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scripts</a:t>
            </a:r>
          </a:p>
        </p:txBody>
      </p:sp>
      <p:sp>
        <p:nvSpPr>
          <p:cNvPr id="23" name="Text Box 21"/>
          <p:cNvSpPr txBox="1">
            <a:spLocks noChangeArrowheads="1"/>
          </p:cNvSpPr>
          <p:nvPr/>
        </p:nvSpPr>
        <p:spPr bwMode="auto">
          <a:xfrm>
            <a:off x="1000125" y="1670373"/>
            <a:ext cx="1211263"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entities.xml</a:t>
            </a:r>
          </a:p>
        </p:txBody>
      </p:sp>
      <p:sp>
        <p:nvSpPr>
          <p:cNvPr id="24" name="Text Box 22"/>
          <p:cNvSpPr txBox="1">
            <a:spLocks noChangeArrowheads="1"/>
          </p:cNvSpPr>
          <p:nvPr/>
        </p:nvSpPr>
        <p:spPr bwMode="auto">
          <a:xfrm>
            <a:off x="1058863" y="200851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base</a:t>
            </a:r>
          </a:p>
        </p:txBody>
      </p:sp>
      <p:sp>
        <p:nvSpPr>
          <p:cNvPr id="25" name="Text Box 23"/>
          <p:cNvSpPr txBox="1">
            <a:spLocks noChangeArrowheads="1"/>
          </p:cNvSpPr>
          <p:nvPr/>
        </p:nvSpPr>
        <p:spPr bwMode="auto">
          <a:xfrm>
            <a:off x="1058863" y="268796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cell</a:t>
            </a:r>
          </a:p>
        </p:txBody>
      </p:sp>
      <p:sp>
        <p:nvSpPr>
          <p:cNvPr id="26" name="Text Box 24"/>
          <p:cNvSpPr txBox="1">
            <a:spLocks noChangeArrowheads="1"/>
          </p:cNvSpPr>
          <p:nvPr/>
        </p:nvSpPr>
        <p:spPr bwMode="auto">
          <a:xfrm>
            <a:off x="1058863" y="336741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client</a:t>
            </a:r>
          </a:p>
        </p:txBody>
      </p:sp>
      <p:sp>
        <p:nvSpPr>
          <p:cNvPr id="27" name="Text Box 25"/>
          <p:cNvSpPr txBox="1">
            <a:spLocks noChangeArrowheads="1"/>
          </p:cNvSpPr>
          <p:nvPr/>
        </p:nvSpPr>
        <p:spPr bwMode="auto">
          <a:xfrm>
            <a:off x="1058863" y="5366073"/>
            <a:ext cx="106362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entity_defs</a:t>
            </a:r>
          </a:p>
        </p:txBody>
      </p:sp>
      <p:sp>
        <p:nvSpPr>
          <p:cNvPr id="28" name="Line 26"/>
          <p:cNvSpPr>
            <a:spLocks noChangeShapeType="1"/>
          </p:cNvSpPr>
          <p:nvPr/>
        </p:nvSpPr>
        <p:spPr bwMode="auto">
          <a:xfrm>
            <a:off x="320675" y="1270348"/>
            <a:ext cx="1588" cy="169862"/>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Text Box 27"/>
          <p:cNvSpPr txBox="1">
            <a:spLocks noChangeArrowheads="1"/>
          </p:cNvSpPr>
          <p:nvPr/>
        </p:nvSpPr>
        <p:spPr bwMode="auto">
          <a:xfrm>
            <a:off x="1266825" y="2348235"/>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&lt;entity&gt;</a:t>
            </a:r>
            <a:r>
              <a:rPr lang="en-GB" sz="1000" dirty="0">
                <a:solidFill>
                  <a:srgbClr val="2B2B85"/>
                </a:solidFill>
                <a:latin typeface="Courier New" panose="02070309020205020404" pitchFamily="49" charset="0"/>
              </a:rPr>
              <a:t>.</a:t>
            </a:r>
            <a:r>
              <a:rPr lang="en-GB" sz="1000" dirty="0" err="1">
                <a:solidFill>
                  <a:srgbClr val="2B2B85"/>
                </a:solidFill>
                <a:latin typeface="Courier New" panose="02070309020205020404" pitchFamily="49" charset="0"/>
              </a:rPr>
              <a:t>py</a:t>
            </a:r>
            <a:endParaRPr lang="en-GB" sz="1000" dirty="0">
              <a:solidFill>
                <a:srgbClr val="2B2B85"/>
              </a:solidFill>
              <a:latin typeface="Courier New" panose="02070309020205020404" pitchFamily="49" charset="0"/>
            </a:endParaRPr>
          </a:p>
        </p:txBody>
      </p:sp>
      <p:sp>
        <p:nvSpPr>
          <p:cNvPr id="30" name="Rectangle 28"/>
          <p:cNvSpPr>
            <a:spLocks noChangeArrowheads="1"/>
          </p:cNvSpPr>
          <p:nvPr/>
        </p:nvSpPr>
        <p:spPr bwMode="auto">
          <a:xfrm>
            <a:off x="2555875" y="2313310"/>
            <a:ext cx="997068"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0" dirty="0" err="1">
                <a:solidFill>
                  <a:srgbClr val="002060"/>
                </a:solidFill>
                <a:ea typeface="宋体" panose="02010600030101010101" pitchFamily="2" charset="-122"/>
              </a:rPr>
              <a:t>Baseapp</a:t>
            </a:r>
            <a:r>
              <a:rPr lang="zh-CN" altLang="en-US" sz="1400" b="0" dirty="0">
                <a:solidFill>
                  <a:srgbClr val="002060"/>
                </a:solidFill>
                <a:ea typeface="宋体" panose="02010600030101010101" pitchFamily="2" charset="-122"/>
              </a:rPr>
              <a:t>脚本</a:t>
            </a:r>
            <a:endParaRPr lang="en-GB" sz="1400" b="0" dirty="0">
              <a:solidFill>
                <a:srgbClr val="002060"/>
              </a:solidFill>
            </a:endParaRPr>
          </a:p>
        </p:txBody>
      </p:sp>
      <p:sp>
        <p:nvSpPr>
          <p:cNvPr id="31" name="Text Box 29"/>
          <p:cNvSpPr txBox="1">
            <a:spLocks noChangeArrowheads="1"/>
          </p:cNvSpPr>
          <p:nvPr/>
        </p:nvSpPr>
        <p:spPr bwMode="auto">
          <a:xfrm>
            <a:off x="1266825" y="3029273"/>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a:solidFill>
                  <a:srgbClr val="2B2B85"/>
                </a:solidFill>
                <a:latin typeface="Courier New" panose="02070309020205020404" pitchFamily="49" charset="0"/>
              </a:rPr>
              <a:t>&lt;entity&gt;</a:t>
            </a:r>
            <a:r>
              <a:rPr lang="en-GB" sz="1000">
                <a:solidFill>
                  <a:srgbClr val="2B2B85"/>
                </a:solidFill>
                <a:latin typeface="Courier New" panose="02070309020205020404" pitchFamily="49" charset="0"/>
              </a:rPr>
              <a:t>.py</a:t>
            </a:r>
          </a:p>
        </p:txBody>
      </p:sp>
      <p:sp>
        <p:nvSpPr>
          <p:cNvPr id="32" name="Rectangle 30"/>
          <p:cNvSpPr>
            <a:spLocks noChangeArrowheads="1"/>
          </p:cNvSpPr>
          <p:nvPr/>
        </p:nvSpPr>
        <p:spPr bwMode="auto">
          <a:xfrm>
            <a:off x="2555875" y="2997523"/>
            <a:ext cx="921727"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0" dirty="0" err="1">
                <a:solidFill>
                  <a:srgbClr val="002060"/>
                </a:solidFill>
                <a:ea typeface="宋体" panose="02010600030101010101" pitchFamily="2" charset="-122"/>
              </a:rPr>
              <a:t>Cellapp</a:t>
            </a:r>
            <a:r>
              <a:rPr lang="zh-CN" altLang="en-US" sz="1400" b="0" dirty="0">
                <a:solidFill>
                  <a:srgbClr val="002060"/>
                </a:solidFill>
                <a:ea typeface="宋体" panose="02010600030101010101" pitchFamily="2" charset="-122"/>
              </a:rPr>
              <a:t>脚本</a:t>
            </a:r>
            <a:endParaRPr lang="en-GB" sz="1400" b="0" dirty="0">
              <a:solidFill>
                <a:srgbClr val="002060"/>
              </a:solidFill>
            </a:endParaRPr>
          </a:p>
        </p:txBody>
      </p:sp>
      <p:sp>
        <p:nvSpPr>
          <p:cNvPr id="33" name="Text Box 31"/>
          <p:cNvSpPr txBox="1">
            <a:spLocks noChangeArrowheads="1"/>
          </p:cNvSpPr>
          <p:nvPr/>
        </p:nvSpPr>
        <p:spPr bwMode="auto">
          <a:xfrm>
            <a:off x="1266825" y="3708723"/>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a:solidFill>
                  <a:srgbClr val="2B2B85"/>
                </a:solidFill>
                <a:latin typeface="Courier New" panose="02070309020205020404" pitchFamily="49" charset="0"/>
              </a:rPr>
              <a:t>&lt;entity&gt;</a:t>
            </a:r>
            <a:r>
              <a:rPr lang="en-GB" sz="1000">
                <a:solidFill>
                  <a:srgbClr val="2B2B85"/>
                </a:solidFill>
                <a:latin typeface="Courier New" panose="02070309020205020404" pitchFamily="49" charset="0"/>
              </a:rPr>
              <a:t>.py</a:t>
            </a:r>
          </a:p>
        </p:txBody>
      </p:sp>
      <p:sp>
        <p:nvSpPr>
          <p:cNvPr id="34" name="Rectangle 32"/>
          <p:cNvSpPr>
            <a:spLocks noChangeArrowheads="1"/>
          </p:cNvSpPr>
          <p:nvPr/>
        </p:nvSpPr>
        <p:spPr bwMode="auto">
          <a:xfrm>
            <a:off x="2555875" y="3681735"/>
            <a:ext cx="3512436"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0" dirty="0">
                <a:solidFill>
                  <a:srgbClr val="002060"/>
                </a:solidFill>
                <a:ea typeface="宋体" panose="02010600030101010101" pitchFamily="2" charset="-122"/>
              </a:rPr>
              <a:t>Client</a:t>
            </a:r>
            <a:r>
              <a:rPr lang="zh-CN" altLang="en-US" sz="1400" b="0" dirty="0">
                <a:solidFill>
                  <a:srgbClr val="002060"/>
                </a:solidFill>
                <a:ea typeface="宋体" panose="02010600030101010101" pitchFamily="2" charset="-122"/>
              </a:rPr>
              <a:t>脚本</a:t>
            </a:r>
            <a:r>
              <a:rPr lang="en-US" altLang="zh-CN" sz="1400" b="0" dirty="0">
                <a:solidFill>
                  <a:srgbClr val="002060"/>
                </a:solidFill>
                <a:ea typeface="宋体" panose="02010600030101010101" pitchFamily="2" charset="-122"/>
              </a:rPr>
              <a:t>(</a:t>
            </a:r>
            <a:r>
              <a:rPr lang="zh-CN" altLang="en-US" sz="1400" b="0" dirty="0">
                <a:solidFill>
                  <a:srgbClr val="002060"/>
                </a:solidFill>
                <a:ea typeface="宋体" panose="02010600030101010101" pitchFamily="2" charset="-122"/>
              </a:rPr>
              <a:t>只在包含</a:t>
            </a:r>
            <a:r>
              <a:rPr lang="en-US" altLang="zh-CN" sz="1400" b="0" dirty="0">
                <a:solidFill>
                  <a:srgbClr val="002060"/>
                </a:solidFill>
                <a:ea typeface="宋体" panose="02010600030101010101" pitchFamily="2" charset="-122"/>
              </a:rPr>
              <a:t>Python</a:t>
            </a:r>
            <a:r>
              <a:rPr lang="zh-CN" altLang="en-US" sz="1400" b="0" dirty="0">
                <a:solidFill>
                  <a:srgbClr val="002060"/>
                </a:solidFill>
                <a:ea typeface="宋体" panose="02010600030101010101" pitchFamily="2" charset="-122"/>
              </a:rPr>
              <a:t>解析器的原生环境</a:t>
            </a:r>
            <a:endParaRPr lang="en-US" altLang="zh-CN" sz="1400" b="0" dirty="0">
              <a:solidFill>
                <a:srgbClr val="002060"/>
              </a:solidFill>
              <a:ea typeface="宋体" panose="02010600030101010101" pitchFamily="2" charset="-122"/>
            </a:endParaRPr>
          </a:p>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ea typeface="宋体" panose="02010600030101010101" pitchFamily="2" charset="-122"/>
              </a:rPr>
              <a:t>有效</a:t>
            </a:r>
            <a:r>
              <a:rPr lang="zh-CN" altLang="en-US" sz="1400" dirty="0">
                <a:solidFill>
                  <a:srgbClr val="002060"/>
                </a:solidFill>
                <a:ea typeface="宋体" panose="02010600030101010101" pitchFamily="2" charset="-122"/>
              </a:rPr>
              <a:t>，</a:t>
            </a:r>
            <a:r>
              <a:rPr lang="en-US" altLang="zh-CN" sz="1400" b="0" dirty="0">
                <a:solidFill>
                  <a:srgbClr val="002060"/>
                </a:solidFill>
                <a:ea typeface="宋体" panose="02010600030101010101" pitchFamily="2" charset="-122"/>
              </a:rPr>
              <a:t>Unity3D</a:t>
            </a:r>
            <a:r>
              <a:rPr lang="zh-CN" altLang="en-US" sz="1400" b="0" dirty="0">
                <a:solidFill>
                  <a:srgbClr val="002060"/>
                </a:solidFill>
                <a:ea typeface="宋体" panose="02010600030101010101" pitchFamily="2" charset="-122"/>
              </a:rPr>
              <a:t>等插件环境不需要在此实现</a:t>
            </a:r>
            <a:r>
              <a:rPr lang="en-US" altLang="zh-CN" sz="1400" b="0" dirty="0">
                <a:solidFill>
                  <a:srgbClr val="002060"/>
                </a:solidFill>
                <a:ea typeface="宋体" panose="02010600030101010101" pitchFamily="2" charset="-122"/>
              </a:rPr>
              <a:t>)</a:t>
            </a:r>
            <a:endParaRPr lang="en-GB" sz="1400" b="0" dirty="0">
              <a:solidFill>
                <a:srgbClr val="002060"/>
              </a:solidFill>
            </a:endParaRPr>
          </a:p>
        </p:txBody>
      </p:sp>
      <p:sp>
        <p:nvSpPr>
          <p:cNvPr id="35" name="Text Box 33"/>
          <p:cNvSpPr txBox="1">
            <a:spLocks noChangeArrowheads="1"/>
          </p:cNvSpPr>
          <p:nvPr/>
        </p:nvSpPr>
        <p:spPr bwMode="auto">
          <a:xfrm>
            <a:off x="1266825" y="5707385"/>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a:solidFill>
                  <a:srgbClr val="2B2B85"/>
                </a:solidFill>
                <a:latin typeface="Courier New" panose="02070309020205020404" pitchFamily="49" charset="0"/>
              </a:rPr>
              <a:t>&lt;entity&gt;</a:t>
            </a:r>
            <a:r>
              <a:rPr lang="en-GB" sz="1000">
                <a:solidFill>
                  <a:srgbClr val="2B2B85"/>
                </a:solidFill>
                <a:latin typeface="Courier New" panose="02070309020205020404" pitchFamily="49" charset="0"/>
              </a:rPr>
              <a:t>.def</a:t>
            </a:r>
          </a:p>
        </p:txBody>
      </p:sp>
      <p:sp>
        <p:nvSpPr>
          <p:cNvPr id="36" name="Rectangle 34"/>
          <p:cNvSpPr>
            <a:spLocks noChangeArrowheads="1"/>
          </p:cNvSpPr>
          <p:nvPr/>
        </p:nvSpPr>
        <p:spPr bwMode="auto">
          <a:xfrm>
            <a:off x="2555875" y="5697860"/>
            <a:ext cx="845145"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ea typeface="宋体" panose="02010600030101010101" pitchFamily="2" charset="-122"/>
              </a:rPr>
              <a:t>定义文件</a:t>
            </a:r>
            <a:endParaRPr lang="en-GB" sz="1400" b="0" dirty="0">
              <a:solidFill>
                <a:srgbClr val="002060"/>
              </a:solidFill>
              <a:latin typeface="Verdana" panose="020B0604030504040204" pitchFamily="34" charset="0"/>
            </a:endParaRPr>
          </a:p>
        </p:txBody>
      </p:sp>
      <p:sp>
        <p:nvSpPr>
          <p:cNvPr id="37" name="Line 35"/>
          <p:cNvSpPr>
            <a:spLocks noChangeShapeType="1"/>
          </p:cNvSpPr>
          <p:nvPr/>
        </p:nvSpPr>
        <p:spPr bwMode="auto">
          <a:xfrm>
            <a:off x="320675" y="1440210"/>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38"/>
          <p:cNvSpPr>
            <a:spLocks noChangeShapeType="1"/>
          </p:cNvSpPr>
          <p:nvPr/>
        </p:nvSpPr>
        <p:spPr bwMode="auto">
          <a:xfrm>
            <a:off x="596900" y="1748160"/>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39"/>
          <p:cNvSpPr>
            <a:spLocks noChangeShapeType="1"/>
          </p:cNvSpPr>
          <p:nvPr/>
        </p:nvSpPr>
        <p:spPr bwMode="auto">
          <a:xfrm>
            <a:off x="596900" y="2086298"/>
            <a:ext cx="257175" cy="0"/>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Line 40"/>
          <p:cNvSpPr>
            <a:spLocks noChangeShapeType="1"/>
          </p:cNvSpPr>
          <p:nvPr/>
        </p:nvSpPr>
        <p:spPr bwMode="auto">
          <a:xfrm>
            <a:off x="873125" y="2205360"/>
            <a:ext cx="1588" cy="244475"/>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Line 41"/>
          <p:cNvSpPr>
            <a:spLocks noChangeShapeType="1"/>
          </p:cNvSpPr>
          <p:nvPr/>
        </p:nvSpPr>
        <p:spPr bwMode="auto">
          <a:xfrm>
            <a:off x="873125" y="2426023"/>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Line 42"/>
          <p:cNvSpPr>
            <a:spLocks noChangeShapeType="1"/>
          </p:cNvSpPr>
          <p:nvPr/>
        </p:nvSpPr>
        <p:spPr bwMode="auto">
          <a:xfrm>
            <a:off x="596900" y="2765748"/>
            <a:ext cx="257175"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Line 43"/>
          <p:cNvSpPr>
            <a:spLocks noChangeShapeType="1"/>
          </p:cNvSpPr>
          <p:nvPr/>
        </p:nvSpPr>
        <p:spPr bwMode="auto">
          <a:xfrm>
            <a:off x="596900" y="3445198"/>
            <a:ext cx="257175"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 name="Line 44"/>
          <p:cNvSpPr>
            <a:spLocks noChangeShapeType="1"/>
          </p:cNvSpPr>
          <p:nvPr/>
        </p:nvSpPr>
        <p:spPr bwMode="auto">
          <a:xfrm>
            <a:off x="596900" y="5443860"/>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45"/>
          <p:cNvSpPr>
            <a:spLocks noChangeShapeType="1"/>
          </p:cNvSpPr>
          <p:nvPr/>
        </p:nvSpPr>
        <p:spPr bwMode="auto">
          <a:xfrm>
            <a:off x="873125" y="2886398"/>
            <a:ext cx="1588" cy="242887"/>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46"/>
          <p:cNvSpPr>
            <a:spLocks noChangeShapeType="1"/>
          </p:cNvSpPr>
          <p:nvPr/>
        </p:nvSpPr>
        <p:spPr bwMode="auto">
          <a:xfrm>
            <a:off x="873125" y="3107060"/>
            <a:ext cx="258763" cy="0"/>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47"/>
          <p:cNvSpPr>
            <a:spLocks noChangeShapeType="1"/>
          </p:cNvSpPr>
          <p:nvPr/>
        </p:nvSpPr>
        <p:spPr bwMode="auto">
          <a:xfrm>
            <a:off x="873125" y="3564260"/>
            <a:ext cx="1588" cy="244475"/>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Line 48"/>
          <p:cNvSpPr>
            <a:spLocks noChangeShapeType="1"/>
          </p:cNvSpPr>
          <p:nvPr/>
        </p:nvSpPr>
        <p:spPr bwMode="auto">
          <a:xfrm>
            <a:off x="873125" y="3786510"/>
            <a:ext cx="258763"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 name="Line 49"/>
          <p:cNvSpPr>
            <a:spLocks noChangeShapeType="1"/>
          </p:cNvSpPr>
          <p:nvPr/>
        </p:nvSpPr>
        <p:spPr bwMode="auto">
          <a:xfrm>
            <a:off x="873125" y="5562923"/>
            <a:ext cx="1588" cy="244475"/>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Line 50"/>
          <p:cNvSpPr>
            <a:spLocks noChangeShapeType="1"/>
          </p:cNvSpPr>
          <p:nvPr/>
        </p:nvSpPr>
        <p:spPr bwMode="auto">
          <a:xfrm>
            <a:off x="873125" y="5785173"/>
            <a:ext cx="3095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54" name="Object 51"/>
          <p:cNvGraphicFramePr>
            <a:graphicFrameLocks noChangeAspect="1"/>
          </p:cNvGraphicFramePr>
          <p:nvPr/>
        </p:nvGraphicFramePr>
        <p:xfrm>
          <a:off x="733425" y="1640210"/>
          <a:ext cx="201613" cy="214313"/>
        </p:xfrm>
        <a:graphic>
          <a:graphicData uri="http://schemas.openxmlformats.org/presentationml/2006/ole">
            <mc:AlternateContent xmlns:mc="http://schemas.openxmlformats.org/markup-compatibility/2006">
              <mc:Choice xmlns:v="urn:schemas-microsoft-com:vml" Requires="v">
                <p:oleObj r:id="rId4" imgW="142875" imgH="152400" progId="PBrush">
                  <p:embed/>
                </p:oleObj>
              </mc:Choice>
              <mc:Fallback>
                <p:oleObj r:id="rId4" imgW="142875" imgH="152400" progId="PBrush">
                  <p:embed/>
                  <p:pic>
                    <p:nvPicPr>
                      <p:cNvPr id="0" name="Picture 18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425" y="1640210"/>
                        <a:ext cx="201613" cy="214313"/>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59" name="Object 56"/>
          <p:cNvGraphicFramePr>
            <a:graphicFrameLocks noChangeAspect="1"/>
          </p:cNvGraphicFramePr>
          <p:nvPr/>
        </p:nvGraphicFramePr>
        <p:xfrm>
          <a:off x="1027113" y="5651823"/>
          <a:ext cx="177800" cy="266700"/>
        </p:xfrm>
        <a:graphic>
          <a:graphicData uri="http://schemas.openxmlformats.org/presentationml/2006/ole">
            <mc:AlternateContent xmlns:mc="http://schemas.openxmlformats.org/markup-compatibility/2006">
              <mc:Choice xmlns:v="urn:schemas-microsoft-com:vml" Requires="v">
                <p:oleObj r:id="rId6" imgW="285750" imgH="428625" progId="PBrush">
                  <p:embed/>
                </p:oleObj>
              </mc:Choice>
              <mc:Fallback>
                <p:oleObj r:id="rId6" imgW="285750" imgH="428625" progId="PBrush">
                  <p:embed/>
                  <p:pic>
                    <p:nvPicPr>
                      <p:cNvPr id="0" name="Picture 18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7113" y="5651823"/>
                        <a:ext cx="177800" cy="2667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60" name="AutoShape 57"/>
          <p:cNvSpPr/>
          <p:nvPr/>
        </p:nvSpPr>
        <p:spPr bwMode="auto">
          <a:xfrm>
            <a:off x="6169025" y="2326010"/>
            <a:ext cx="130175" cy="2992438"/>
          </a:xfrm>
          <a:prstGeom prst="rightBrace">
            <a:avLst>
              <a:gd name="adj1" fmla="val 191565"/>
              <a:gd name="adj2" fmla="val 50000"/>
            </a:avLst>
          </a:prstGeom>
          <a:noFill/>
          <a:ln w="9360">
            <a:solidFill>
              <a:srgbClr val="2B2B85"/>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Line 58"/>
          <p:cNvSpPr>
            <a:spLocks noChangeShapeType="1"/>
          </p:cNvSpPr>
          <p:nvPr/>
        </p:nvSpPr>
        <p:spPr bwMode="auto">
          <a:xfrm>
            <a:off x="2211388" y="1748160"/>
            <a:ext cx="304800" cy="1588"/>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59"/>
          <p:cNvSpPr>
            <a:spLocks noChangeShapeType="1"/>
          </p:cNvSpPr>
          <p:nvPr/>
        </p:nvSpPr>
        <p:spPr bwMode="auto">
          <a:xfrm>
            <a:off x="2265363" y="2426023"/>
            <a:ext cx="250825"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61"/>
          <p:cNvSpPr>
            <a:spLocks noChangeShapeType="1"/>
          </p:cNvSpPr>
          <p:nvPr/>
        </p:nvSpPr>
        <p:spPr bwMode="auto">
          <a:xfrm>
            <a:off x="2265363" y="3107060"/>
            <a:ext cx="252412" cy="0"/>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Line 62"/>
          <p:cNvSpPr>
            <a:spLocks noChangeShapeType="1"/>
          </p:cNvSpPr>
          <p:nvPr/>
        </p:nvSpPr>
        <p:spPr bwMode="auto">
          <a:xfrm>
            <a:off x="2265363" y="3786510"/>
            <a:ext cx="252412" cy="1588"/>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66" name="Object 63"/>
          <p:cNvGraphicFramePr>
            <a:graphicFrameLocks noChangeAspect="1"/>
          </p:cNvGraphicFramePr>
          <p:nvPr/>
        </p:nvGraphicFramePr>
        <p:xfrm>
          <a:off x="1027113" y="2306960"/>
          <a:ext cx="238125" cy="236538"/>
        </p:xfrm>
        <a:graphic>
          <a:graphicData uri="http://schemas.openxmlformats.org/presentationml/2006/ole">
            <mc:AlternateContent xmlns:mc="http://schemas.openxmlformats.org/markup-compatibility/2006">
              <mc:Choice xmlns:v="urn:schemas-microsoft-com:vml" Requires="v">
                <p:oleObj r:id="rId8" imgW="304800" imgH="304800" progId="PBrush">
                  <p:embed/>
                </p:oleObj>
              </mc:Choice>
              <mc:Fallback>
                <p:oleObj r:id="rId8" imgW="304800" imgH="304800" progId="PBrush">
                  <p:embed/>
                  <p:pic>
                    <p:nvPicPr>
                      <p:cNvPr id="0" name="Picture 18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2306960"/>
                        <a:ext cx="238125" cy="236538"/>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67" name="Object 64"/>
          <p:cNvGraphicFramePr>
            <a:graphicFrameLocks noChangeAspect="1"/>
          </p:cNvGraphicFramePr>
          <p:nvPr/>
        </p:nvGraphicFramePr>
        <p:xfrm>
          <a:off x="1027113" y="2987998"/>
          <a:ext cx="238125" cy="234950"/>
        </p:xfrm>
        <a:graphic>
          <a:graphicData uri="http://schemas.openxmlformats.org/presentationml/2006/ole">
            <mc:AlternateContent xmlns:mc="http://schemas.openxmlformats.org/markup-compatibility/2006">
              <mc:Choice xmlns:v="urn:schemas-microsoft-com:vml" Requires="v">
                <p:oleObj r:id="rId9" imgW="304800" imgH="304800" progId="PBrush">
                  <p:embed/>
                </p:oleObj>
              </mc:Choice>
              <mc:Fallback>
                <p:oleObj r:id="rId9" imgW="304800" imgH="304800" progId="PBrush">
                  <p:embed/>
                  <p:pic>
                    <p:nvPicPr>
                      <p:cNvPr id="0" name="Picture 18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2987998"/>
                        <a:ext cx="238125" cy="2349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68" name="Object 65"/>
          <p:cNvGraphicFramePr>
            <a:graphicFrameLocks noChangeAspect="1"/>
          </p:cNvGraphicFramePr>
          <p:nvPr/>
        </p:nvGraphicFramePr>
        <p:xfrm>
          <a:off x="1027113" y="3667448"/>
          <a:ext cx="238125" cy="234950"/>
        </p:xfrm>
        <a:graphic>
          <a:graphicData uri="http://schemas.openxmlformats.org/presentationml/2006/ole">
            <mc:AlternateContent xmlns:mc="http://schemas.openxmlformats.org/markup-compatibility/2006">
              <mc:Choice xmlns:v="urn:schemas-microsoft-com:vml" Requires="v">
                <p:oleObj r:id="rId9" imgW="304800" imgH="304800" progId="PBrush">
                  <p:embed/>
                </p:oleObj>
              </mc:Choice>
              <mc:Fallback>
                <p:oleObj r:id="rId9" imgW="304800" imgH="304800" progId="PBrush">
                  <p:embed/>
                  <p:pic>
                    <p:nvPicPr>
                      <p:cNvPr id="0" name="Picture 18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3667448"/>
                        <a:ext cx="238125" cy="2349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69" name="Rectangle 66"/>
          <p:cNvSpPr>
            <a:spLocks noChangeArrowheads="1"/>
          </p:cNvSpPr>
          <p:nvPr/>
        </p:nvSpPr>
        <p:spPr bwMode="auto">
          <a:xfrm>
            <a:off x="142875" y="3954785"/>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0" name="Rectangle 67"/>
          <p:cNvSpPr>
            <a:spLocks noChangeArrowheads="1"/>
          </p:cNvSpPr>
          <p:nvPr/>
        </p:nvSpPr>
        <p:spPr bwMode="auto">
          <a:xfrm>
            <a:off x="142875" y="4294510"/>
            <a:ext cx="2219325" cy="341313"/>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 name="Text Box 68"/>
          <p:cNvSpPr txBox="1">
            <a:spLocks noChangeArrowheads="1"/>
          </p:cNvSpPr>
          <p:nvPr/>
        </p:nvSpPr>
        <p:spPr bwMode="auto">
          <a:xfrm>
            <a:off x="1058863" y="4050035"/>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common</a:t>
            </a:r>
          </a:p>
        </p:txBody>
      </p:sp>
      <p:sp>
        <p:nvSpPr>
          <p:cNvPr id="72" name="Text Box 69"/>
          <p:cNvSpPr txBox="1">
            <a:spLocks noChangeArrowheads="1"/>
          </p:cNvSpPr>
          <p:nvPr/>
        </p:nvSpPr>
        <p:spPr bwMode="auto">
          <a:xfrm>
            <a:off x="1266825" y="4389760"/>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a:t>
            </a:r>
            <a:r>
              <a:rPr lang="en-GB" sz="1000" dirty="0">
                <a:solidFill>
                  <a:srgbClr val="2B2B85"/>
                </a:solidFill>
                <a:latin typeface="Courier New" panose="02070309020205020404" pitchFamily="49" charset="0"/>
              </a:rPr>
              <a:t>.</a:t>
            </a:r>
            <a:r>
              <a:rPr lang="en-GB" sz="1000" dirty="0" err="1">
                <a:solidFill>
                  <a:srgbClr val="2B2B85"/>
                </a:solidFill>
                <a:latin typeface="Courier New" panose="02070309020205020404" pitchFamily="49" charset="0"/>
              </a:rPr>
              <a:t>py</a:t>
            </a:r>
            <a:endParaRPr lang="en-GB" sz="1000" dirty="0">
              <a:solidFill>
                <a:srgbClr val="2B2B85"/>
              </a:solidFill>
              <a:latin typeface="Courier New" panose="02070309020205020404" pitchFamily="49" charset="0"/>
            </a:endParaRPr>
          </a:p>
        </p:txBody>
      </p:sp>
      <p:sp>
        <p:nvSpPr>
          <p:cNvPr id="73" name="Line 70"/>
          <p:cNvSpPr>
            <a:spLocks noChangeShapeType="1"/>
          </p:cNvSpPr>
          <p:nvPr/>
        </p:nvSpPr>
        <p:spPr bwMode="auto">
          <a:xfrm>
            <a:off x="596900" y="4126235"/>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Line 71"/>
          <p:cNvSpPr>
            <a:spLocks noChangeShapeType="1"/>
          </p:cNvSpPr>
          <p:nvPr/>
        </p:nvSpPr>
        <p:spPr bwMode="auto">
          <a:xfrm>
            <a:off x="873125" y="4245298"/>
            <a:ext cx="1588" cy="241300"/>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72"/>
          <p:cNvSpPr>
            <a:spLocks noChangeShapeType="1"/>
          </p:cNvSpPr>
          <p:nvPr/>
        </p:nvSpPr>
        <p:spPr bwMode="auto">
          <a:xfrm>
            <a:off x="873125" y="4464373"/>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77" name="Object 74"/>
          <p:cNvGraphicFramePr>
            <a:graphicFrameLocks noChangeAspect="1"/>
          </p:cNvGraphicFramePr>
          <p:nvPr/>
        </p:nvGraphicFramePr>
        <p:xfrm>
          <a:off x="1027113" y="4346898"/>
          <a:ext cx="238125" cy="236537"/>
        </p:xfrm>
        <a:graphic>
          <a:graphicData uri="http://schemas.openxmlformats.org/presentationml/2006/ole">
            <mc:AlternateContent xmlns:mc="http://schemas.openxmlformats.org/markup-compatibility/2006">
              <mc:Choice xmlns:v="urn:schemas-microsoft-com:vml" Requires="v">
                <p:oleObj r:id="rId9" imgW="304800" imgH="304800" progId="PBrush">
                  <p:embed/>
                </p:oleObj>
              </mc:Choice>
              <mc:Fallback>
                <p:oleObj r:id="rId9" imgW="304800" imgH="304800" progId="PBrush">
                  <p:embed/>
                  <p:pic>
                    <p:nvPicPr>
                      <p:cNvPr id="0" name="Picture 18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4346898"/>
                        <a:ext cx="238125" cy="236537"/>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79" name="Rectangle 76"/>
          <p:cNvSpPr>
            <a:spLocks noChangeArrowheads="1"/>
          </p:cNvSpPr>
          <p:nvPr/>
        </p:nvSpPr>
        <p:spPr bwMode="auto">
          <a:xfrm>
            <a:off x="2519363" y="4329435"/>
            <a:ext cx="943400"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AU" sz="1400" b="0" dirty="0">
                <a:solidFill>
                  <a:srgbClr val="002060"/>
                </a:solidFill>
                <a:ea typeface="宋体" panose="02010600030101010101" pitchFamily="2" charset="-122"/>
              </a:rPr>
              <a:t>公用的</a:t>
            </a:r>
            <a:r>
              <a:rPr lang="en-AU" sz="1400" b="0" dirty="0">
                <a:solidFill>
                  <a:srgbClr val="002060"/>
                </a:solidFill>
                <a:ea typeface="宋体" panose="02010600030101010101" pitchFamily="2" charset="-122"/>
              </a:rPr>
              <a:t>script</a:t>
            </a:r>
            <a:endParaRPr lang="en-GB" sz="1400" b="0" dirty="0">
              <a:solidFill>
                <a:srgbClr val="002060"/>
              </a:solidFill>
              <a:ea typeface="宋体" panose="02010600030101010101" pitchFamily="2" charset="-122"/>
            </a:endParaRPr>
          </a:p>
        </p:txBody>
      </p:sp>
      <p:sp>
        <p:nvSpPr>
          <p:cNvPr id="80" name="Line 77"/>
          <p:cNvSpPr>
            <a:spLocks noChangeShapeType="1"/>
          </p:cNvSpPr>
          <p:nvPr/>
        </p:nvSpPr>
        <p:spPr bwMode="auto">
          <a:xfrm>
            <a:off x="2265363" y="4464373"/>
            <a:ext cx="252412"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Rectangle 78"/>
          <p:cNvSpPr>
            <a:spLocks noChangeArrowheads="1"/>
          </p:cNvSpPr>
          <p:nvPr/>
        </p:nvSpPr>
        <p:spPr bwMode="auto">
          <a:xfrm>
            <a:off x="3762375" y="4245298"/>
            <a:ext cx="1668463" cy="521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448945">
              <a:lnSpc>
                <a:spcPct val="8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0" dirty="0">
                <a:solidFill>
                  <a:srgbClr val="002060"/>
                </a:solidFill>
                <a:ea typeface="宋体" panose="02010600030101010101" pitchFamily="2" charset="-122"/>
                <a:cs typeface="Arial" panose="020B0604020202020204" pitchFamily="34" charset="0"/>
              </a:rPr>
              <a:t>Cell, Base, Client </a:t>
            </a:r>
            <a:r>
              <a:rPr lang="zh-CN" altLang="en-US" sz="1400" b="0" dirty="0">
                <a:solidFill>
                  <a:srgbClr val="002060"/>
                </a:solidFill>
                <a:ea typeface="宋体" panose="02010600030101010101" pitchFamily="2" charset="-122"/>
                <a:cs typeface="Arial" panose="020B0604020202020204" pitchFamily="34" charset="0"/>
              </a:rPr>
              <a:t>相互之间共用的实现函数</a:t>
            </a:r>
            <a:endParaRPr lang="en-US" altLang="zh-CN" sz="1400" b="0" dirty="0">
              <a:solidFill>
                <a:srgbClr val="002060"/>
              </a:solidFill>
              <a:ea typeface="宋体" panose="02010600030101010101" pitchFamily="2" charset="-122"/>
              <a:cs typeface="Arial" panose="020B0604020202020204" pitchFamily="34" charset="0"/>
            </a:endParaRPr>
          </a:p>
          <a:p>
            <a:pPr defTabSz="448945">
              <a:lnSpc>
                <a:spcPct val="80000"/>
              </a:lnSpc>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400" b="0" dirty="0">
              <a:solidFill>
                <a:srgbClr val="002060"/>
              </a:solidFill>
              <a:ea typeface="宋体" panose="02010600030101010101" pitchFamily="2" charset="-122"/>
              <a:cs typeface="Arial" panose="020B0604020202020204" pitchFamily="34" charset="0"/>
            </a:endParaRPr>
          </a:p>
        </p:txBody>
      </p:sp>
      <p:sp>
        <p:nvSpPr>
          <p:cNvPr id="82" name="Freeform 79"/>
          <p:cNvSpPr/>
          <p:nvPr/>
        </p:nvSpPr>
        <p:spPr bwMode="auto">
          <a:xfrm>
            <a:off x="3527425" y="4437385"/>
            <a:ext cx="219075" cy="1588"/>
          </a:xfrm>
          <a:custGeom>
            <a:avLst/>
            <a:gdLst>
              <a:gd name="T0" fmla="*/ 0 w 295"/>
              <a:gd name="T1" fmla="*/ 0 h 1"/>
              <a:gd name="T2" fmla="*/ 295 w 295"/>
              <a:gd name="T3" fmla="*/ 0 h 1"/>
            </a:gdLst>
            <a:ahLst/>
            <a:cxnLst>
              <a:cxn ang="0">
                <a:pos x="T0" y="T1"/>
              </a:cxn>
              <a:cxn ang="0">
                <a:pos x="T2" y="T3"/>
              </a:cxn>
            </a:cxnLst>
            <a:rect l="0" t="0" r="r" b="b"/>
            <a:pathLst>
              <a:path w="295" h="1">
                <a:moveTo>
                  <a:pt x="0" y="0"/>
                </a:moveTo>
                <a:lnTo>
                  <a:pt x="295" y="0"/>
                </a:lnTo>
              </a:path>
            </a:pathLst>
          </a:custGeom>
          <a:noFill/>
          <a:ln w="9360">
            <a:solidFill>
              <a:srgbClr val="2B2B85"/>
            </a:solidFill>
            <a:prstDash val="dash"/>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3" name="Freeform 80"/>
          <p:cNvSpPr/>
          <p:nvPr/>
        </p:nvSpPr>
        <p:spPr bwMode="auto">
          <a:xfrm flipV="1">
            <a:off x="3455988" y="5785173"/>
            <a:ext cx="277812" cy="34925"/>
          </a:xfrm>
          <a:custGeom>
            <a:avLst/>
            <a:gdLst>
              <a:gd name="T0" fmla="*/ 0 w 295"/>
              <a:gd name="T1" fmla="*/ 0 h 1"/>
              <a:gd name="T2" fmla="*/ 295 w 295"/>
              <a:gd name="T3" fmla="*/ 0 h 1"/>
            </a:gdLst>
            <a:ahLst/>
            <a:cxnLst>
              <a:cxn ang="0">
                <a:pos x="T0" y="T1"/>
              </a:cxn>
              <a:cxn ang="0">
                <a:pos x="T2" y="T3"/>
              </a:cxn>
            </a:cxnLst>
            <a:rect l="0" t="0" r="r" b="b"/>
            <a:pathLst>
              <a:path w="295" h="1">
                <a:moveTo>
                  <a:pt x="0" y="0"/>
                </a:moveTo>
                <a:lnTo>
                  <a:pt x="295" y="0"/>
                </a:lnTo>
              </a:path>
            </a:pathLst>
          </a:custGeom>
          <a:noFill/>
          <a:ln w="9360">
            <a:solidFill>
              <a:srgbClr val="2B2B85"/>
            </a:solidFill>
            <a:prstDash val="dash"/>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4" name="Text Box 81"/>
          <p:cNvSpPr txBox="1">
            <a:spLocks noChangeArrowheads="1"/>
          </p:cNvSpPr>
          <p:nvPr/>
        </p:nvSpPr>
        <p:spPr bwMode="auto">
          <a:xfrm>
            <a:off x="1100138" y="4732660"/>
            <a:ext cx="10223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a:solidFill>
                  <a:srgbClr val="2B2B85"/>
                </a:solidFill>
                <a:latin typeface="Courier New" panose="02070309020205020404" pitchFamily="49" charset="0"/>
              </a:rPr>
              <a:t>server_common</a:t>
            </a:r>
          </a:p>
        </p:txBody>
      </p:sp>
      <p:sp>
        <p:nvSpPr>
          <p:cNvPr id="85" name="Text Box 82"/>
          <p:cNvSpPr txBox="1">
            <a:spLocks noChangeArrowheads="1"/>
          </p:cNvSpPr>
          <p:nvPr/>
        </p:nvSpPr>
        <p:spPr bwMode="auto">
          <a:xfrm>
            <a:off x="1308100" y="5072385"/>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a:t>
            </a:r>
            <a:r>
              <a:rPr lang="en-GB" sz="1000" dirty="0">
                <a:solidFill>
                  <a:srgbClr val="2B2B85"/>
                </a:solidFill>
                <a:latin typeface="Courier New" panose="02070309020205020404" pitchFamily="49" charset="0"/>
              </a:rPr>
              <a:t>.</a:t>
            </a:r>
            <a:r>
              <a:rPr lang="en-GB" sz="1000" dirty="0" err="1">
                <a:solidFill>
                  <a:srgbClr val="2B2B85"/>
                </a:solidFill>
                <a:latin typeface="Courier New" panose="02070309020205020404" pitchFamily="49" charset="0"/>
              </a:rPr>
              <a:t>py</a:t>
            </a:r>
            <a:endParaRPr lang="en-GB" sz="1000" dirty="0">
              <a:solidFill>
                <a:srgbClr val="2B2B85"/>
              </a:solidFill>
              <a:latin typeface="Courier New" panose="02070309020205020404" pitchFamily="49" charset="0"/>
            </a:endParaRPr>
          </a:p>
        </p:txBody>
      </p:sp>
      <p:sp>
        <p:nvSpPr>
          <p:cNvPr id="86" name="Line 83"/>
          <p:cNvSpPr>
            <a:spLocks noChangeShapeType="1"/>
          </p:cNvSpPr>
          <p:nvPr/>
        </p:nvSpPr>
        <p:spPr bwMode="auto">
          <a:xfrm>
            <a:off x="604838" y="4807273"/>
            <a:ext cx="257175"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Line 84"/>
          <p:cNvSpPr>
            <a:spLocks noChangeShapeType="1"/>
          </p:cNvSpPr>
          <p:nvPr/>
        </p:nvSpPr>
        <p:spPr bwMode="auto">
          <a:xfrm>
            <a:off x="914400" y="4927923"/>
            <a:ext cx="1588" cy="241300"/>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Line 85"/>
          <p:cNvSpPr>
            <a:spLocks noChangeShapeType="1"/>
          </p:cNvSpPr>
          <p:nvPr/>
        </p:nvSpPr>
        <p:spPr bwMode="auto">
          <a:xfrm>
            <a:off x="914400" y="5146998"/>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89" name="Object 86"/>
          <p:cNvGraphicFramePr>
            <a:graphicFrameLocks noChangeAspect="1"/>
          </p:cNvGraphicFramePr>
          <p:nvPr/>
        </p:nvGraphicFramePr>
        <p:xfrm>
          <a:off x="1068388" y="5029523"/>
          <a:ext cx="238125" cy="236537"/>
        </p:xfrm>
        <a:graphic>
          <a:graphicData uri="http://schemas.openxmlformats.org/presentationml/2006/ole">
            <mc:AlternateContent xmlns:mc="http://schemas.openxmlformats.org/markup-compatibility/2006">
              <mc:Choice xmlns:v="urn:schemas-microsoft-com:vml" Requires="v">
                <p:oleObj r:id="rId9" imgW="304800" imgH="304800" progId="PBrush">
                  <p:embed/>
                </p:oleObj>
              </mc:Choice>
              <mc:Fallback>
                <p:oleObj r:id="rId9" imgW="304800" imgH="304800" progId="PBrush">
                  <p:embed/>
                  <p:pic>
                    <p:nvPicPr>
                      <p:cNvPr id="0" name="Picture 18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5029523"/>
                        <a:ext cx="238125" cy="236537"/>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90" name="Rectangle 87"/>
          <p:cNvSpPr>
            <a:spLocks noChangeArrowheads="1"/>
          </p:cNvSpPr>
          <p:nvPr/>
        </p:nvSpPr>
        <p:spPr bwMode="auto">
          <a:xfrm>
            <a:off x="2519363" y="5013648"/>
            <a:ext cx="943400"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AU" sz="1400" b="0" dirty="0">
                <a:solidFill>
                  <a:srgbClr val="002060"/>
                </a:solidFill>
                <a:ea typeface="宋体" panose="02010600030101010101" pitchFamily="2" charset="-122"/>
              </a:rPr>
              <a:t>公用的</a:t>
            </a:r>
            <a:r>
              <a:rPr lang="en-AU" sz="1400" b="0" dirty="0">
                <a:solidFill>
                  <a:srgbClr val="002060"/>
                </a:solidFill>
                <a:ea typeface="宋体" panose="02010600030101010101" pitchFamily="2" charset="-122"/>
              </a:rPr>
              <a:t>script</a:t>
            </a:r>
            <a:endParaRPr lang="en-GB" sz="1400" b="0" dirty="0">
              <a:solidFill>
                <a:srgbClr val="002060"/>
              </a:solidFill>
              <a:ea typeface="宋体" panose="02010600030101010101" pitchFamily="2" charset="-122"/>
            </a:endParaRPr>
          </a:p>
        </p:txBody>
      </p:sp>
      <p:sp>
        <p:nvSpPr>
          <p:cNvPr id="91" name="Line 88"/>
          <p:cNvSpPr>
            <a:spLocks noChangeShapeType="1"/>
          </p:cNvSpPr>
          <p:nvPr/>
        </p:nvSpPr>
        <p:spPr bwMode="auto">
          <a:xfrm>
            <a:off x="2263775" y="5146998"/>
            <a:ext cx="252413"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Freeform 89"/>
          <p:cNvSpPr/>
          <p:nvPr/>
        </p:nvSpPr>
        <p:spPr bwMode="auto">
          <a:xfrm>
            <a:off x="3527425" y="5121598"/>
            <a:ext cx="219075" cy="1587"/>
          </a:xfrm>
          <a:custGeom>
            <a:avLst/>
            <a:gdLst>
              <a:gd name="T0" fmla="*/ 0 w 295"/>
              <a:gd name="T1" fmla="*/ 0 h 1"/>
              <a:gd name="T2" fmla="*/ 295 w 295"/>
              <a:gd name="T3" fmla="*/ 0 h 1"/>
            </a:gdLst>
            <a:ahLst/>
            <a:cxnLst>
              <a:cxn ang="0">
                <a:pos x="T0" y="T1"/>
              </a:cxn>
              <a:cxn ang="0">
                <a:pos x="T2" y="T3"/>
              </a:cxn>
            </a:cxnLst>
            <a:rect l="0" t="0" r="r" b="b"/>
            <a:pathLst>
              <a:path w="295" h="1">
                <a:moveTo>
                  <a:pt x="0" y="0"/>
                </a:moveTo>
                <a:lnTo>
                  <a:pt x="295" y="0"/>
                </a:lnTo>
              </a:path>
            </a:pathLst>
          </a:custGeom>
          <a:noFill/>
          <a:ln w="9360">
            <a:solidFill>
              <a:srgbClr val="2B2B85"/>
            </a:solidFill>
            <a:prstDash val="dash"/>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4" name="Rectangle 91"/>
          <p:cNvSpPr>
            <a:spLocks noChangeArrowheads="1"/>
          </p:cNvSpPr>
          <p:nvPr/>
        </p:nvSpPr>
        <p:spPr bwMode="auto">
          <a:xfrm>
            <a:off x="3776663" y="4951735"/>
            <a:ext cx="1668462" cy="344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448945">
              <a:lnSpc>
                <a:spcPct val="80000"/>
              </a:lnSpc>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0" dirty="0">
                <a:solidFill>
                  <a:srgbClr val="002060"/>
                </a:solidFill>
                <a:ea typeface="宋体" panose="02010600030101010101" pitchFamily="2" charset="-122"/>
              </a:rPr>
              <a:t>Cell, Base </a:t>
            </a:r>
            <a:r>
              <a:rPr lang="zh-CN" altLang="en-US" sz="1400" b="0" dirty="0">
                <a:solidFill>
                  <a:srgbClr val="002060"/>
                </a:solidFill>
                <a:latin typeface="宋体" panose="02010600030101010101" pitchFamily="2" charset="-122"/>
                <a:ea typeface="宋体" panose="02010600030101010101" pitchFamily="2" charset="-122"/>
              </a:rPr>
              <a:t>相互之间共用的实现函数</a:t>
            </a:r>
            <a:endParaRPr lang="en-GB" sz="1400" b="0" dirty="0">
              <a:solidFill>
                <a:srgbClr val="002060"/>
              </a:solidFill>
              <a:latin typeface="宋体" panose="02010600030101010101" pitchFamily="2" charset="-122"/>
              <a:ea typeface="宋体" panose="02010600030101010101" pitchFamily="2" charset="-122"/>
            </a:endParaRPr>
          </a:p>
        </p:txBody>
      </p:sp>
      <p:pic>
        <p:nvPicPr>
          <p:cNvPr id="1027"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8211" y="956451"/>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54524" y="1300535"/>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2556" y="1987060"/>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5576" y="2636912"/>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9"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5576" y="3355212"/>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5576" y="4005064"/>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5576" y="4723364"/>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5576" y="5301208"/>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 name="Line 88"/>
          <p:cNvSpPr>
            <a:spLocks noChangeShapeType="1"/>
          </p:cNvSpPr>
          <p:nvPr/>
        </p:nvSpPr>
        <p:spPr bwMode="auto">
          <a:xfrm>
            <a:off x="2267744" y="5805264"/>
            <a:ext cx="252413"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7" name="Rectangle 14"/>
          <p:cNvSpPr>
            <a:spLocks noChangeArrowheads="1"/>
          </p:cNvSpPr>
          <p:nvPr/>
        </p:nvSpPr>
        <p:spPr bwMode="auto">
          <a:xfrm>
            <a:off x="148210" y="5949280"/>
            <a:ext cx="2213989"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9" name="Line 26"/>
          <p:cNvSpPr>
            <a:spLocks noChangeShapeType="1"/>
          </p:cNvSpPr>
          <p:nvPr/>
        </p:nvSpPr>
        <p:spPr bwMode="auto">
          <a:xfrm>
            <a:off x="322263" y="1518340"/>
            <a:ext cx="36637" cy="5209338"/>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4" name="Text Box 25"/>
          <p:cNvSpPr txBox="1">
            <a:spLocks noChangeArrowheads="1"/>
          </p:cNvSpPr>
          <p:nvPr/>
        </p:nvSpPr>
        <p:spPr bwMode="auto">
          <a:xfrm>
            <a:off x="1060103" y="6084373"/>
            <a:ext cx="106362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err="1">
                <a:solidFill>
                  <a:srgbClr val="2B2B85"/>
                </a:solidFill>
                <a:latin typeface="Courier New" panose="02070309020205020404" pitchFamily="49" charset="0"/>
              </a:rPr>
              <a:t>user_type</a:t>
            </a:r>
            <a:endParaRPr lang="en-GB" sz="1000" dirty="0">
              <a:solidFill>
                <a:srgbClr val="2B2B85"/>
              </a:solidFill>
              <a:latin typeface="Courier New" panose="02070309020205020404" pitchFamily="49" charset="0"/>
            </a:endParaRPr>
          </a:p>
        </p:txBody>
      </p:sp>
      <p:sp>
        <p:nvSpPr>
          <p:cNvPr id="115" name="Line 44"/>
          <p:cNvSpPr>
            <a:spLocks noChangeShapeType="1"/>
          </p:cNvSpPr>
          <p:nvPr/>
        </p:nvSpPr>
        <p:spPr bwMode="auto">
          <a:xfrm>
            <a:off x="598140" y="6162160"/>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16"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56816" y="6019508"/>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Line 75"/>
          <p:cNvSpPr>
            <a:spLocks noChangeShapeType="1"/>
          </p:cNvSpPr>
          <p:nvPr/>
        </p:nvSpPr>
        <p:spPr bwMode="auto">
          <a:xfrm>
            <a:off x="593725" y="1525910"/>
            <a:ext cx="11325" cy="4637838"/>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5" name="Line 71"/>
          <p:cNvSpPr>
            <a:spLocks noChangeShapeType="1"/>
          </p:cNvSpPr>
          <p:nvPr/>
        </p:nvSpPr>
        <p:spPr bwMode="auto">
          <a:xfrm>
            <a:off x="899592" y="6212036"/>
            <a:ext cx="1588" cy="241300"/>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 name="Text Box 20"/>
          <p:cNvSpPr txBox="1">
            <a:spLocks noChangeArrowheads="1"/>
          </p:cNvSpPr>
          <p:nvPr/>
        </p:nvSpPr>
        <p:spPr bwMode="auto">
          <a:xfrm>
            <a:off x="838449" y="665924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res</a:t>
            </a:r>
          </a:p>
        </p:txBody>
      </p:sp>
      <p:sp>
        <p:nvSpPr>
          <p:cNvPr id="128" name="Line 35"/>
          <p:cNvSpPr>
            <a:spLocks noChangeShapeType="1"/>
          </p:cNvSpPr>
          <p:nvPr/>
        </p:nvSpPr>
        <p:spPr bwMode="auto">
          <a:xfrm>
            <a:off x="395536" y="6737027"/>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29"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29385" y="6597352"/>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6"/>
          <p:cNvSpPr>
            <a:spLocks noChangeArrowheads="1"/>
          </p:cNvSpPr>
          <p:nvPr/>
        </p:nvSpPr>
        <p:spPr bwMode="auto">
          <a:xfrm>
            <a:off x="148212" y="3521323"/>
            <a:ext cx="2213988"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2" name="Rectangle 8"/>
          <p:cNvSpPr>
            <a:spLocks noChangeArrowheads="1"/>
          </p:cNvSpPr>
          <p:nvPr/>
        </p:nvSpPr>
        <p:spPr bwMode="auto">
          <a:xfrm>
            <a:off x="148212" y="2256558"/>
            <a:ext cx="2213988" cy="337028"/>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Autofit/>
          </a:bodyPr>
          <a:lstStyle/>
          <a:p>
            <a:pPr algn="l"/>
            <a:r>
              <a:rPr lang="zh-CN" altLang="en-US" sz="4000" b="1" dirty="0">
                <a:solidFill>
                  <a:schemeClr val="accent1"/>
                </a:solidFill>
                <a:latin typeface="+mn-ea"/>
                <a:ea typeface="+mn-ea"/>
              </a:rPr>
              <a:t>资产库文件夹结构</a:t>
            </a:r>
          </a:p>
        </p:txBody>
      </p:sp>
      <p:sp>
        <p:nvSpPr>
          <p:cNvPr id="16" name="Rectangle 14"/>
          <p:cNvSpPr>
            <a:spLocks noChangeArrowheads="1"/>
          </p:cNvSpPr>
          <p:nvPr/>
        </p:nvSpPr>
        <p:spPr bwMode="auto">
          <a:xfrm>
            <a:off x="142875" y="1916832"/>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Rectangle 15"/>
          <p:cNvSpPr>
            <a:spLocks noChangeArrowheads="1"/>
          </p:cNvSpPr>
          <p:nvPr/>
        </p:nvSpPr>
        <p:spPr bwMode="auto">
          <a:xfrm>
            <a:off x="142875" y="929035"/>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Text Box 19"/>
          <p:cNvSpPr txBox="1">
            <a:spLocks noChangeArrowheads="1"/>
          </p:cNvSpPr>
          <p:nvPr/>
        </p:nvSpPr>
        <p:spPr bwMode="auto">
          <a:xfrm>
            <a:off x="544512" y="1020365"/>
            <a:ext cx="1666875" cy="1538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&lt;assets&gt;</a:t>
            </a: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211" y="956451"/>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7" name="Rectangle 14"/>
          <p:cNvSpPr>
            <a:spLocks noChangeArrowheads="1"/>
          </p:cNvSpPr>
          <p:nvPr/>
        </p:nvSpPr>
        <p:spPr bwMode="auto">
          <a:xfrm>
            <a:off x="142875" y="1268760"/>
            <a:ext cx="2219325"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8" name="Text Box 20"/>
          <p:cNvSpPr txBox="1">
            <a:spLocks noChangeArrowheads="1"/>
          </p:cNvSpPr>
          <p:nvPr/>
        </p:nvSpPr>
        <p:spPr bwMode="auto">
          <a:xfrm>
            <a:off x="763588" y="1362423"/>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scripts</a:t>
            </a:r>
          </a:p>
        </p:txBody>
      </p:sp>
      <p:sp>
        <p:nvSpPr>
          <p:cNvPr id="150" name="Line 35"/>
          <p:cNvSpPr>
            <a:spLocks noChangeShapeType="1"/>
          </p:cNvSpPr>
          <p:nvPr/>
        </p:nvSpPr>
        <p:spPr bwMode="auto">
          <a:xfrm>
            <a:off x="320675" y="1440210"/>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524" y="1300535"/>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 name="Rectangle 6"/>
          <p:cNvSpPr>
            <a:spLocks noChangeArrowheads="1"/>
          </p:cNvSpPr>
          <p:nvPr/>
        </p:nvSpPr>
        <p:spPr bwMode="auto">
          <a:xfrm>
            <a:off x="142875" y="1576710"/>
            <a:ext cx="2219325"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3" name="Text Box 22"/>
          <p:cNvSpPr txBox="1">
            <a:spLocks noChangeArrowheads="1"/>
          </p:cNvSpPr>
          <p:nvPr/>
        </p:nvSpPr>
        <p:spPr bwMode="auto">
          <a:xfrm>
            <a:off x="1058863" y="165025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data</a:t>
            </a:r>
          </a:p>
        </p:txBody>
      </p:sp>
      <p:sp>
        <p:nvSpPr>
          <p:cNvPr id="156" name="Line 41"/>
          <p:cNvSpPr>
            <a:spLocks noChangeShapeType="1"/>
          </p:cNvSpPr>
          <p:nvPr/>
        </p:nvSpPr>
        <p:spPr bwMode="auto">
          <a:xfrm>
            <a:off x="611560" y="1771229"/>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5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556" y="1628800"/>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8" name="Text Box 22"/>
          <p:cNvSpPr txBox="1">
            <a:spLocks noChangeArrowheads="1"/>
          </p:cNvSpPr>
          <p:nvPr/>
        </p:nvSpPr>
        <p:spPr bwMode="auto">
          <a:xfrm>
            <a:off x="1058863" y="200851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err="1">
                <a:solidFill>
                  <a:srgbClr val="2B2B85"/>
                </a:solidFill>
                <a:latin typeface="Courier New" panose="02070309020205020404" pitchFamily="49" charset="0"/>
              </a:rPr>
              <a:t>db</a:t>
            </a:r>
            <a:endParaRPr lang="en-GB" sz="1000" dirty="0">
              <a:solidFill>
                <a:srgbClr val="2B2B85"/>
              </a:solidFill>
              <a:latin typeface="Courier New" panose="02070309020205020404" pitchFamily="49" charset="0"/>
            </a:endParaRPr>
          </a:p>
        </p:txBody>
      </p:sp>
      <p:sp>
        <p:nvSpPr>
          <p:cNvPr id="159" name="Line 41"/>
          <p:cNvSpPr>
            <a:spLocks noChangeShapeType="1"/>
          </p:cNvSpPr>
          <p:nvPr/>
        </p:nvSpPr>
        <p:spPr bwMode="auto">
          <a:xfrm>
            <a:off x="611560" y="2129489"/>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60"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556" y="1987060"/>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 name="Text Box 22"/>
          <p:cNvSpPr txBox="1">
            <a:spLocks noChangeArrowheads="1"/>
          </p:cNvSpPr>
          <p:nvPr/>
        </p:nvSpPr>
        <p:spPr bwMode="auto">
          <a:xfrm>
            <a:off x="1058863" y="2368550"/>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bots</a:t>
            </a:r>
          </a:p>
        </p:txBody>
      </p:sp>
      <p:sp>
        <p:nvSpPr>
          <p:cNvPr id="164" name="Line 41"/>
          <p:cNvSpPr>
            <a:spLocks noChangeShapeType="1"/>
          </p:cNvSpPr>
          <p:nvPr/>
        </p:nvSpPr>
        <p:spPr bwMode="auto">
          <a:xfrm>
            <a:off x="611560" y="2489529"/>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16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556" y="2347100"/>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7" name="Rectangle 14"/>
          <p:cNvSpPr>
            <a:spLocks noChangeArrowheads="1"/>
          </p:cNvSpPr>
          <p:nvPr/>
        </p:nvSpPr>
        <p:spPr bwMode="auto">
          <a:xfrm>
            <a:off x="148212" y="3212579"/>
            <a:ext cx="2213988"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8" name="Rectangle 14"/>
          <p:cNvSpPr>
            <a:spLocks noChangeArrowheads="1"/>
          </p:cNvSpPr>
          <p:nvPr/>
        </p:nvSpPr>
        <p:spPr bwMode="auto">
          <a:xfrm>
            <a:off x="148212" y="2564904"/>
            <a:ext cx="2213988" cy="339725"/>
          </a:xfrm>
          <a:prstGeom prst="rect">
            <a:avLst/>
          </a:prstGeom>
          <a:solidFill>
            <a:srgbClr val="F8F8F8"/>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9" name="Rectangle 6"/>
          <p:cNvSpPr>
            <a:spLocks noChangeArrowheads="1"/>
          </p:cNvSpPr>
          <p:nvPr/>
        </p:nvSpPr>
        <p:spPr bwMode="auto">
          <a:xfrm>
            <a:off x="148212" y="2872854"/>
            <a:ext cx="2213988" cy="339725"/>
          </a:xfrm>
          <a:prstGeom prst="rect">
            <a:avLst/>
          </a:prstGeom>
          <a:solidFill>
            <a:srgbClr val="E6F1FE"/>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Text Box 22"/>
          <p:cNvSpPr txBox="1">
            <a:spLocks noChangeArrowheads="1"/>
          </p:cNvSpPr>
          <p:nvPr/>
        </p:nvSpPr>
        <p:spPr bwMode="auto">
          <a:xfrm>
            <a:off x="1058863" y="2977856"/>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server</a:t>
            </a:r>
          </a:p>
        </p:txBody>
      </p:sp>
      <p:sp>
        <p:nvSpPr>
          <p:cNvPr id="25" name="Text Box 23"/>
          <p:cNvSpPr txBox="1">
            <a:spLocks noChangeArrowheads="1"/>
          </p:cNvSpPr>
          <p:nvPr/>
        </p:nvSpPr>
        <p:spPr bwMode="auto">
          <a:xfrm>
            <a:off x="1058863" y="3657306"/>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spaces</a:t>
            </a:r>
          </a:p>
        </p:txBody>
      </p:sp>
      <p:sp>
        <p:nvSpPr>
          <p:cNvPr id="29" name="Text Box 27"/>
          <p:cNvSpPr txBox="1">
            <a:spLocks noChangeArrowheads="1"/>
          </p:cNvSpPr>
          <p:nvPr/>
        </p:nvSpPr>
        <p:spPr bwMode="auto">
          <a:xfrm>
            <a:off x="1266825" y="3317581"/>
            <a:ext cx="1209675"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i="1" dirty="0">
                <a:solidFill>
                  <a:srgbClr val="2B2B85"/>
                </a:solidFill>
                <a:latin typeface="Courier New" panose="02070309020205020404" pitchFamily="49" charset="0"/>
              </a:rPr>
              <a:t>kbengine.xml</a:t>
            </a:r>
            <a:endParaRPr lang="en-GB" sz="1000" dirty="0">
              <a:solidFill>
                <a:srgbClr val="2B2B85"/>
              </a:solidFill>
              <a:latin typeface="Courier New" panose="02070309020205020404" pitchFamily="49" charset="0"/>
            </a:endParaRPr>
          </a:p>
        </p:txBody>
      </p:sp>
      <p:sp>
        <p:nvSpPr>
          <p:cNvPr id="30" name="Rectangle 28"/>
          <p:cNvSpPr>
            <a:spLocks noChangeArrowheads="1"/>
          </p:cNvSpPr>
          <p:nvPr/>
        </p:nvSpPr>
        <p:spPr bwMode="auto">
          <a:xfrm>
            <a:off x="2555874" y="3282656"/>
            <a:ext cx="1440061"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rPr>
              <a:t>服务端配置文件</a:t>
            </a:r>
            <a:endParaRPr lang="en-GB" sz="1400" b="0" dirty="0">
              <a:solidFill>
                <a:srgbClr val="002060"/>
              </a:solidFill>
            </a:endParaRPr>
          </a:p>
        </p:txBody>
      </p:sp>
      <p:sp>
        <p:nvSpPr>
          <p:cNvPr id="32" name="Rectangle 30"/>
          <p:cNvSpPr>
            <a:spLocks noChangeArrowheads="1"/>
          </p:cNvSpPr>
          <p:nvPr/>
        </p:nvSpPr>
        <p:spPr bwMode="auto">
          <a:xfrm>
            <a:off x="2555875" y="3645604"/>
            <a:ext cx="5904557"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rPr>
              <a:t>空间的资源数据，例如：提供实体服务端导航的碰撞信息</a:t>
            </a:r>
            <a:endParaRPr lang="en-GB" sz="1400" b="0" dirty="0">
              <a:solidFill>
                <a:srgbClr val="002060"/>
              </a:solidFill>
            </a:endParaRPr>
          </a:p>
        </p:txBody>
      </p:sp>
      <p:sp>
        <p:nvSpPr>
          <p:cNvPr id="41" name="Line 39"/>
          <p:cNvSpPr>
            <a:spLocks noChangeShapeType="1"/>
          </p:cNvSpPr>
          <p:nvPr/>
        </p:nvSpPr>
        <p:spPr bwMode="auto">
          <a:xfrm>
            <a:off x="596900" y="3055644"/>
            <a:ext cx="257175" cy="0"/>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Line 40"/>
          <p:cNvSpPr>
            <a:spLocks noChangeShapeType="1"/>
          </p:cNvSpPr>
          <p:nvPr/>
        </p:nvSpPr>
        <p:spPr bwMode="auto">
          <a:xfrm>
            <a:off x="873125" y="3174706"/>
            <a:ext cx="1588" cy="244475"/>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Line 41"/>
          <p:cNvSpPr>
            <a:spLocks noChangeShapeType="1"/>
          </p:cNvSpPr>
          <p:nvPr/>
        </p:nvSpPr>
        <p:spPr bwMode="auto">
          <a:xfrm>
            <a:off x="873125" y="3395369"/>
            <a:ext cx="258763"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4" name="Line 42"/>
          <p:cNvSpPr>
            <a:spLocks noChangeShapeType="1"/>
          </p:cNvSpPr>
          <p:nvPr/>
        </p:nvSpPr>
        <p:spPr bwMode="auto">
          <a:xfrm>
            <a:off x="596900" y="3735094"/>
            <a:ext cx="257175" cy="1587"/>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59"/>
          <p:cNvSpPr>
            <a:spLocks noChangeShapeType="1"/>
          </p:cNvSpPr>
          <p:nvPr/>
        </p:nvSpPr>
        <p:spPr bwMode="auto">
          <a:xfrm>
            <a:off x="2265363" y="3395369"/>
            <a:ext cx="250825"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61"/>
          <p:cNvSpPr>
            <a:spLocks noChangeShapeType="1"/>
          </p:cNvSpPr>
          <p:nvPr/>
        </p:nvSpPr>
        <p:spPr bwMode="auto">
          <a:xfrm>
            <a:off x="2265363" y="3717612"/>
            <a:ext cx="252412" cy="0"/>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9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556" y="2912498"/>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6" y="3606258"/>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nvGraphicFramePr>
        <p:xfrm>
          <a:off x="1043608" y="3263606"/>
          <a:ext cx="177800" cy="266700"/>
        </p:xfrm>
        <a:graphic>
          <a:graphicData uri="http://schemas.openxmlformats.org/presentationml/2006/ole">
            <mc:AlternateContent xmlns:mc="http://schemas.openxmlformats.org/markup-compatibility/2006">
              <mc:Choice xmlns:v="urn:schemas-microsoft-com:vml" Requires="v">
                <p:oleObj r:id="rId3" imgW="285750" imgH="428625" progId="PBrush">
                  <p:embed/>
                </p:oleObj>
              </mc:Choice>
              <mc:Fallback>
                <p:oleObj r:id="rId3" imgW="285750" imgH="428625" progId="PBrush">
                  <p:embed/>
                  <p:pic>
                    <p:nvPicPr>
                      <p:cNvPr id="0" name="Picture 2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263606"/>
                        <a:ext cx="177800" cy="2667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22" name="Text Box 20"/>
          <p:cNvSpPr txBox="1">
            <a:spLocks noChangeArrowheads="1"/>
          </p:cNvSpPr>
          <p:nvPr/>
        </p:nvSpPr>
        <p:spPr bwMode="auto">
          <a:xfrm>
            <a:off x="741214" y="2626792"/>
            <a:ext cx="806450" cy="15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1pPr>
            <a:lvl2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2pPr>
            <a:lvl3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3pPr>
            <a:lvl4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4pPr>
            <a:lvl5pPr algn="l" defTabSz="448945">
              <a:spcBef>
                <a:spcPct val="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5pPr>
            <a:lvl6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6pPr>
            <a:lvl7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7pPr>
            <a:lvl8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8pPr>
            <a:lvl9pPr defTabSz="448945"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defRPr>
            </a:lvl9pPr>
          </a:lstStyle>
          <a:p>
            <a:pPr>
              <a:spcBef>
                <a:spcPts val="875"/>
              </a:spcBef>
              <a:buClr>
                <a:srgbClr val="2B2B85"/>
              </a:buClr>
              <a:buSzPct val="100000"/>
              <a:buFont typeface="Courier New" panose="02070309020205020404" pitchFamily="49" charset="0"/>
              <a:buNone/>
            </a:pPr>
            <a:r>
              <a:rPr lang="en-GB" sz="1000" dirty="0">
                <a:solidFill>
                  <a:srgbClr val="2B2B85"/>
                </a:solidFill>
                <a:latin typeface="Courier New" panose="02070309020205020404" pitchFamily="49" charset="0"/>
              </a:rPr>
              <a:t>res</a:t>
            </a:r>
          </a:p>
        </p:txBody>
      </p:sp>
      <p:sp>
        <p:nvSpPr>
          <p:cNvPr id="37" name="Line 35"/>
          <p:cNvSpPr>
            <a:spLocks noChangeShapeType="1"/>
          </p:cNvSpPr>
          <p:nvPr/>
        </p:nvSpPr>
        <p:spPr bwMode="auto">
          <a:xfrm>
            <a:off x="298301" y="2704579"/>
            <a:ext cx="257175" cy="1588"/>
          </a:xfrm>
          <a:prstGeom prst="line">
            <a:avLst/>
          </a:prstGeom>
          <a:noFill/>
          <a:ln w="19080">
            <a:solidFill>
              <a:srgbClr val="2B2B85"/>
            </a:solidFill>
            <a:prstDash val="dash"/>
            <a:miter lim="800000"/>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pic>
        <p:nvPicPr>
          <p:cNvPr id="9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150" y="2564904"/>
            <a:ext cx="301052" cy="21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 name="Line 26"/>
          <p:cNvSpPr>
            <a:spLocks noChangeShapeType="1"/>
          </p:cNvSpPr>
          <p:nvPr/>
        </p:nvSpPr>
        <p:spPr bwMode="auto">
          <a:xfrm>
            <a:off x="320674" y="1270348"/>
            <a:ext cx="2854" cy="1464418"/>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5" name="Line 75"/>
          <p:cNvSpPr>
            <a:spLocks noChangeShapeType="1"/>
          </p:cNvSpPr>
          <p:nvPr/>
        </p:nvSpPr>
        <p:spPr bwMode="auto">
          <a:xfrm>
            <a:off x="593726" y="1527466"/>
            <a:ext cx="17834" cy="2206039"/>
          </a:xfrm>
          <a:prstGeom prst="line">
            <a:avLst/>
          </a:prstGeom>
          <a:noFill/>
          <a:ln w="19080">
            <a:solidFill>
              <a:srgbClr val="2B2B85"/>
            </a:solidFill>
            <a:prstDash val="dash"/>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1" name="Line 59"/>
          <p:cNvSpPr>
            <a:spLocks noChangeShapeType="1"/>
          </p:cNvSpPr>
          <p:nvPr/>
        </p:nvSpPr>
        <p:spPr bwMode="auto">
          <a:xfrm>
            <a:off x="2267744" y="1744985"/>
            <a:ext cx="250825"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2" name="Line 59"/>
          <p:cNvSpPr>
            <a:spLocks noChangeShapeType="1"/>
          </p:cNvSpPr>
          <p:nvPr/>
        </p:nvSpPr>
        <p:spPr bwMode="auto">
          <a:xfrm>
            <a:off x="2267744" y="2060848"/>
            <a:ext cx="250825"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3" name="Line 59"/>
          <p:cNvSpPr>
            <a:spLocks noChangeShapeType="1"/>
          </p:cNvSpPr>
          <p:nvPr/>
        </p:nvSpPr>
        <p:spPr bwMode="auto">
          <a:xfrm>
            <a:off x="2267744" y="2419301"/>
            <a:ext cx="250825" cy="1587"/>
          </a:xfrm>
          <a:prstGeom prst="line">
            <a:avLst/>
          </a:prstGeom>
          <a:noFill/>
          <a:ln w="19080">
            <a:solidFill>
              <a:srgbClr val="2B2B85"/>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 name="Rectangle 28"/>
          <p:cNvSpPr>
            <a:spLocks noChangeArrowheads="1"/>
          </p:cNvSpPr>
          <p:nvPr/>
        </p:nvSpPr>
        <p:spPr bwMode="auto">
          <a:xfrm>
            <a:off x="2555875" y="1628800"/>
            <a:ext cx="3600301"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rPr>
              <a:t>服务端逻辑数据文件，例如：策划导表数据</a:t>
            </a:r>
            <a:endParaRPr lang="en-GB" sz="1400" b="0" dirty="0">
              <a:solidFill>
                <a:srgbClr val="002060"/>
              </a:solidFill>
            </a:endParaRPr>
          </a:p>
        </p:txBody>
      </p:sp>
      <p:sp>
        <p:nvSpPr>
          <p:cNvPr id="175" name="Rectangle 28"/>
          <p:cNvSpPr>
            <a:spLocks noChangeArrowheads="1"/>
          </p:cNvSpPr>
          <p:nvPr/>
        </p:nvSpPr>
        <p:spPr bwMode="auto">
          <a:xfrm>
            <a:off x="2555776" y="1989420"/>
            <a:ext cx="1440061" cy="215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rPr>
              <a:t>数据库扩展</a:t>
            </a:r>
            <a:endParaRPr lang="en-GB" sz="1400" b="0" dirty="0">
              <a:solidFill>
                <a:srgbClr val="002060"/>
              </a:solidFill>
            </a:endParaRPr>
          </a:p>
        </p:txBody>
      </p:sp>
      <p:sp>
        <p:nvSpPr>
          <p:cNvPr id="176" name="Rectangle 28"/>
          <p:cNvSpPr>
            <a:spLocks noChangeArrowheads="1"/>
          </p:cNvSpPr>
          <p:nvPr/>
        </p:nvSpPr>
        <p:spPr bwMode="auto">
          <a:xfrm>
            <a:off x="2555776" y="2276872"/>
            <a:ext cx="3600400"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448945">
              <a:spcBef>
                <a:spcPct val="0"/>
              </a:spcBef>
              <a:buClr>
                <a:srgbClr val="2B2B85"/>
              </a:buClr>
              <a:buSzPct val="100000"/>
              <a:buFont typeface="Verdana" panose="020B0604030504040204"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0" dirty="0">
                <a:solidFill>
                  <a:srgbClr val="002060"/>
                </a:solidFill>
              </a:rPr>
              <a:t>机器人压力测试，</a:t>
            </a:r>
            <a:r>
              <a:rPr lang="zh-CN" altLang="en-US" sz="1400" b="0" dirty="0">
                <a:solidFill>
                  <a:srgbClr val="00B0F0"/>
                </a:solidFill>
              </a:rPr>
              <a:t>虚拟客户端脚本</a:t>
            </a:r>
            <a:r>
              <a:rPr lang="en-US" altLang="zh-CN" sz="1400" b="0" dirty="0">
                <a:solidFill>
                  <a:srgbClr val="002060"/>
                </a:solidFill>
              </a:rPr>
              <a:t>, </a:t>
            </a:r>
            <a:r>
              <a:rPr lang="zh-CN" altLang="en-US" sz="1400" b="0" dirty="0">
                <a:solidFill>
                  <a:srgbClr val="002060"/>
                </a:solidFill>
              </a:rPr>
              <a:t>可以简化</a:t>
            </a:r>
            <a:r>
              <a:rPr lang="en-US" altLang="zh-CN" sz="1400" b="0" dirty="0">
                <a:solidFill>
                  <a:srgbClr val="002060"/>
                </a:solidFill>
              </a:rPr>
              <a:t>scripts/client</a:t>
            </a:r>
            <a:r>
              <a:rPr lang="zh-CN" altLang="en-US" sz="1400" b="0" dirty="0">
                <a:solidFill>
                  <a:srgbClr val="002060"/>
                </a:solidFill>
              </a:rPr>
              <a:t>下的脚本实现</a:t>
            </a:r>
            <a:endParaRPr lang="en-GB" sz="1400" b="0" dirty="0">
              <a:solidFill>
                <a:srgbClr val="00206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的实现</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每个</a:t>
            </a:r>
            <a:r>
              <a:rPr lang="en-AU" altLang="zh-CN" dirty="0"/>
              <a:t>Entity</a:t>
            </a:r>
            <a:r>
              <a:rPr lang="zh-CN" altLang="en-AU" dirty="0">
                <a:ea typeface="宋体" panose="02010600030101010101" pitchFamily="2" charset="-122"/>
              </a:rPr>
              <a:t>必须</a:t>
            </a:r>
            <a:r>
              <a:rPr lang="en-AU" altLang="zh-CN" dirty="0"/>
              <a:t>:</a:t>
            </a:r>
          </a:p>
          <a:p>
            <a:pPr marL="182245" lvl="1" indent="0">
              <a:buNone/>
            </a:pPr>
            <a:r>
              <a:rPr lang="zh-CN" altLang="en-AU" sz="2000" dirty="0">
                <a:ea typeface="宋体" panose="02010600030101010101" pitchFamily="2" charset="-122"/>
              </a:rPr>
              <a:t>        </a:t>
            </a:r>
            <a:r>
              <a:rPr lang="zh-CN" altLang="en-AU" sz="2000" dirty="0">
                <a:solidFill>
                  <a:srgbClr val="00B0F0"/>
                </a:solidFill>
                <a:ea typeface="宋体" panose="02010600030101010101" pitchFamily="2" charset="-122"/>
              </a:rPr>
              <a:t>在</a:t>
            </a:r>
            <a:r>
              <a:rPr lang="en-AU" altLang="zh-CN" sz="2000" dirty="0">
                <a:solidFill>
                  <a:srgbClr val="00B0F0"/>
                </a:solidFill>
                <a:latin typeface="Courier New" panose="02070309020205020404" pitchFamily="49" charset="0"/>
              </a:rPr>
              <a:t>entities.xml</a:t>
            </a:r>
            <a:r>
              <a:rPr lang="zh-CN" altLang="en-AU" sz="2000" dirty="0">
                <a:solidFill>
                  <a:srgbClr val="00B0F0"/>
                </a:solidFill>
                <a:latin typeface="Courier New" panose="02070309020205020404" pitchFamily="49" charset="0"/>
                <a:ea typeface="宋体" panose="02010600030101010101" pitchFamily="2" charset="-122"/>
              </a:rPr>
              <a:t>文件的列表里</a:t>
            </a:r>
            <a:endParaRPr lang="en-AU" altLang="zh-CN" sz="2000" dirty="0">
              <a:solidFill>
                <a:srgbClr val="00B0F0"/>
              </a:solidFill>
              <a:latin typeface="Courier New" panose="02070309020205020404" pitchFamily="49" charset="0"/>
              <a:ea typeface="宋体" panose="02010600030101010101" pitchFamily="2" charset="-122"/>
            </a:endParaRPr>
          </a:p>
          <a:p>
            <a:pPr marL="182245" lvl="1" indent="0">
              <a:buNone/>
            </a:pPr>
            <a:r>
              <a:rPr lang="zh-CN" altLang="en-AU" sz="2000" dirty="0">
                <a:ea typeface="宋体" panose="02010600030101010101" pitchFamily="2" charset="-122"/>
              </a:rPr>
              <a:t>        </a:t>
            </a:r>
            <a:r>
              <a:rPr lang="zh-CN" altLang="en-AU" sz="2000" dirty="0">
                <a:solidFill>
                  <a:srgbClr val="00B0F0"/>
                </a:solidFill>
                <a:ea typeface="宋体" panose="02010600030101010101" pitchFamily="2" charset="-122"/>
              </a:rPr>
              <a:t>必须有一个</a:t>
            </a:r>
            <a:r>
              <a:rPr lang="en-AU" altLang="zh-CN" sz="2000" dirty="0">
                <a:solidFill>
                  <a:srgbClr val="00B0F0"/>
                </a:solidFill>
                <a:latin typeface="Courier New" panose="02070309020205020404" pitchFamily="49" charset="0"/>
              </a:rPr>
              <a:t>&lt;</a:t>
            </a:r>
            <a:r>
              <a:rPr lang="en-AU" altLang="zh-CN" sz="2000" dirty="0" err="1">
                <a:solidFill>
                  <a:srgbClr val="00B0F0"/>
                </a:solidFill>
                <a:latin typeface="Courier New" panose="02070309020205020404" pitchFamily="49" charset="0"/>
              </a:rPr>
              <a:t>Entity_name</a:t>
            </a:r>
            <a:r>
              <a:rPr lang="en-AU" altLang="zh-CN" sz="2000" dirty="0">
                <a:solidFill>
                  <a:srgbClr val="00B0F0"/>
                </a:solidFill>
                <a:latin typeface="Courier New" panose="02070309020205020404" pitchFamily="49" charset="0"/>
              </a:rPr>
              <a:t>&gt;.def</a:t>
            </a:r>
            <a:r>
              <a:rPr lang="zh-CN" altLang="en-AU" sz="2000" dirty="0">
                <a:solidFill>
                  <a:srgbClr val="00B0F0"/>
                </a:solidFill>
                <a:latin typeface="Courier New" panose="02070309020205020404" pitchFamily="49" charset="0"/>
                <a:ea typeface="宋体" panose="02010600030101010101" pitchFamily="2" charset="-122"/>
              </a:rPr>
              <a:t>文件</a:t>
            </a:r>
            <a:r>
              <a:rPr lang="en-US" altLang="zh-CN" sz="2000" dirty="0">
                <a:solidFill>
                  <a:srgbClr val="FF0000"/>
                </a:solidFill>
                <a:latin typeface="Courier New" panose="02070309020205020404" pitchFamily="49" charset="0"/>
                <a:ea typeface="宋体" panose="02010600030101010101" pitchFamily="2" charset="-122"/>
              </a:rPr>
              <a:t>(scripts/</a:t>
            </a:r>
            <a:r>
              <a:rPr lang="en-US" altLang="zh-CN" sz="2000" dirty="0" err="1">
                <a:solidFill>
                  <a:srgbClr val="FF0000"/>
                </a:solidFill>
                <a:latin typeface="Courier New" panose="02070309020205020404" pitchFamily="49" charset="0"/>
                <a:ea typeface="宋体" panose="02010600030101010101" pitchFamily="2" charset="-122"/>
              </a:rPr>
              <a:t>entity_defs</a:t>
            </a:r>
            <a:r>
              <a:rPr lang="zh-CN" altLang="en-US" sz="2000" dirty="0">
                <a:solidFill>
                  <a:srgbClr val="FF0000"/>
                </a:solidFill>
                <a:latin typeface="Courier New" panose="02070309020205020404" pitchFamily="49" charset="0"/>
                <a:ea typeface="宋体" panose="02010600030101010101" pitchFamily="2" charset="-122"/>
              </a:rPr>
              <a:t>目录下定义</a:t>
            </a:r>
            <a:r>
              <a:rPr lang="en-US" altLang="zh-CN" sz="2000" dirty="0">
                <a:solidFill>
                  <a:srgbClr val="FF0000"/>
                </a:solidFill>
                <a:latin typeface="Courier New" panose="02070309020205020404" pitchFamily="49" charset="0"/>
                <a:ea typeface="宋体" panose="02010600030101010101" pitchFamily="2" charset="-122"/>
              </a:rPr>
              <a:t>,</a:t>
            </a:r>
            <a:r>
              <a:rPr lang="zh-CN" altLang="en-US" sz="2000" dirty="0">
                <a:solidFill>
                  <a:srgbClr val="FF0000"/>
                </a:solidFill>
                <a:latin typeface="Courier New" panose="02070309020205020404" pitchFamily="49" charset="0"/>
                <a:ea typeface="宋体" panose="02010600030101010101" pitchFamily="2" charset="-122"/>
              </a:rPr>
              <a:t>如默认的</a:t>
            </a:r>
            <a:r>
              <a:rPr lang="en-US" altLang="zh-CN" sz="2000" dirty="0">
                <a:solidFill>
                  <a:srgbClr val="FF0000"/>
                </a:solidFill>
                <a:latin typeface="Courier New" panose="02070309020205020404" pitchFamily="49" charset="0"/>
                <a:ea typeface="宋体" panose="02010600030101010101" pitchFamily="2" charset="-122"/>
              </a:rPr>
              <a:t>Account.def)</a:t>
            </a:r>
          </a:p>
          <a:p>
            <a:pPr marL="182245" lvl="1" indent="0">
              <a:buNone/>
            </a:pPr>
            <a:r>
              <a:rPr lang="en-US" altLang="zh-CN" sz="2000" dirty="0">
                <a:solidFill>
                  <a:srgbClr val="00B0F0"/>
                </a:solidFill>
                <a:latin typeface="Courier New" panose="02070309020205020404" pitchFamily="49" charset="0"/>
                <a:ea typeface="宋体" panose="02010600030101010101" pitchFamily="2" charset="-122"/>
              </a:rPr>
              <a:t>   </a:t>
            </a:r>
            <a:r>
              <a:rPr lang="zh-CN" altLang="en-US" sz="2000" dirty="0">
                <a:solidFill>
                  <a:srgbClr val="00B0F0"/>
                </a:solidFill>
                <a:latin typeface="Courier New" panose="02070309020205020404" pitchFamily="49" charset="0"/>
                <a:ea typeface="宋体" panose="02010600030101010101" pitchFamily="2" charset="-122"/>
              </a:rPr>
              <a:t>必须有</a:t>
            </a:r>
            <a:r>
              <a:rPr lang="en-AU" altLang="zh-CN" sz="2000" dirty="0">
                <a:solidFill>
                  <a:srgbClr val="00B0F0"/>
                </a:solidFill>
                <a:latin typeface="Courier New" panose="02070309020205020404" pitchFamily="49" charset="0"/>
              </a:rPr>
              <a:t>&lt;</a:t>
            </a:r>
            <a:r>
              <a:rPr lang="en-AU" altLang="zh-CN" sz="2000" dirty="0" err="1">
                <a:solidFill>
                  <a:srgbClr val="00B0F0"/>
                </a:solidFill>
                <a:latin typeface="Courier New" panose="02070309020205020404" pitchFamily="49" charset="0"/>
              </a:rPr>
              <a:t>Entity_name</a:t>
            </a:r>
            <a:r>
              <a:rPr lang="en-AU" altLang="zh-CN" sz="2000" dirty="0">
                <a:solidFill>
                  <a:srgbClr val="00B0F0"/>
                </a:solidFill>
                <a:latin typeface="Courier New" panose="02070309020205020404" pitchFamily="49" charset="0"/>
              </a:rPr>
              <a:t>&gt;.</a:t>
            </a:r>
            <a:r>
              <a:rPr lang="en-AU" altLang="zh-CN" sz="2000" dirty="0" err="1">
                <a:solidFill>
                  <a:srgbClr val="00B0F0"/>
                </a:solidFill>
                <a:latin typeface="Courier New" panose="02070309020205020404" pitchFamily="49" charset="0"/>
              </a:rPr>
              <a:t>py</a:t>
            </a:r>
            <a:r>
              <a:rPr lang="zh-CN" altLang="en-AU" sz="2000" dirty="0">
                <a:solidFill>
                  <a:srgbClr val="00B0F0"/>
                </a:solidFill>
                <a:latin typeface="Courier New" panose="02070309020205020404" pitchFamily="49" charset="0"/>
                <a:ea typeface="宋体" panose="02010600030101010101" pitchFamily="2" charset="-122"/>
              </a:rPr>
              <a:t>文件</a:t>
            </a:r>
            <a:r>
              <a:rPr lang="en-US" altLang="zh-CN" sz="2000" dirty="0">
                <a:solidFill>
                  <a:srgbClr val="FF0000"/>
                </a:solidFill>
                <a:latin typeface="Courier New" panose="02070309020205020404" pitchFamily="49" charset="0"/>
                <a:ea typeface="宋体" panose="02010600030101010101" pitchFamily="2" charset="-122"/>
              </a:rPr>
              <a:t>(scripts/base</a:t>
            </a:r>
            <a:r>
              <a:rPr lang="zh-CN" altLang="en-US" sz="2000" dirty="0">
                <a:solidFill>
                  <a:srgbClr val="FF0000"/>
                </a:solidFill>
                <a:latin typeface="Courier New" panose="02070309020205020404" pitchFamily="49" charset="0"/>
                <a:ea typeface="宋体" panose="02010600030101010101" pitchFamily="2" charset="-122"/>
              </a:rPr>
              <a:t>或</a:t>
            </a:r>
            <a:r>
              <a:rPr lang="en-US" altLang="zh-CN" sz="2000" dirty="0">
                <a:solidFill>
                  <a:srgbClr val="FF0000"/>
                </a:solidFill>
                <a:latin typeface="Courier New" panose="02070309020205020404" pitchFamily="49" charset="0"/>
                <a:ea typeface="宋体" panose="02010600030101010101" pitchFamily="2" charset="-122"/>
              </a:rPr>
              <a:t>cell</a:t>
            </a:r>
            <a:r>
              <a:rPr lang="zh-CN" altLang="en-US" sz="2000" dirty="0">
                <a:solidFill>
                  <a:srgbClr val="FF0000"/>
                </a:solidFill>
                <a:latin typeface="Courier New" panose="02070309020205020404" pitchFamily="49" charset="0"/>
                <a:ea typeface="宋体" panose="02010600030101010101" pitchFamily="2" charset="-122"/>
              </a:rPr>
              <a:t>目录下定义</a:t>
            </a:r>
            <a:r>
              <a:rPr lang="en-US" altLang="zh-CN" sz="2000" dirty="0">
                <a:solidFill>
                  <a:srgbClr val="FF0000"/>
                </a:solidFill>
                <a:latin typeface="Courier New" panose="02070309020205020404" pitchFamily="49" charset="0"/>
                <a:ea typeface="宋体" panose="02010600030101010101" pitchFamily="2" charset="-122"/>
              </a:rPr>
              <a:t>,</a:t>
            </a:r>
            <a:r>
              <a:rPr lang="zh-CN" altLang="en-US" sz="2000" dirty="0">
                <a:solidFill>
                  <a:srgbClr val="FF0000"/>
                </a:solidFill>
                <a:latin typeface="Courier New" panose="02070309020205020404" pitchFamily="49" charset="0"/>
                <a:ea typeface="宋体" panose="02010600030101010101" pitchFamily="2" charset="-122"/>
              </a:rPr>
              <a:t>如默认的</a:t>
            </a:r>
            <a:r>
              <a:rPr lang="en-US" altLang="zh-CN" sz="2000" dirty="0">
                <a:solidFill>
                  <a:srgbClr val="FF0000"/>
                </a:solidFill>
                <a:latin typeface="Courier New" panose="02070309020205020404" pitchFamily="49" charset="0"/>
                <a:ea typeface="宋体" panose="02010600030101010101" pitchFamily="2" charset="-122"/>
              </a:rPr>
              <a:t>Account.py</a:t>
            </a:r>
            <a:r>
              <a:rPr lang="zh-CN" altLang="en-US" sz="2000" dirty="0">
                <a:solidFill>
                  <a:srgbClr val="FF0000"/>
                </a:solidFill>
                <a:latin typeface="Courier New" panose="02070309020205020404" pitchFamily="49" charset="0"/>
                <a:ea typeface="宋体" panose="02010600030101010101" pitchFamily="2" charset="-122"/>
              </a:rPr>
              <a:t>登录时使用所以只在</a:t>
            </a:r>
            <a:r>
              <a:rPr lang="en-US" altLang="zh-CN" sz="2000" dirty="0">
                <a:solidFill>
                  <a:srgbClr val="FF0000"/>
                </a:solidFill>
                <a:latin typeface="Courier New" panose="02070309020205020404" pitchFamily="49" charset="0"/>
                <a:ea typeface="宋体" panose="02010600030101010101" pitchFamily="2" charset="-122"/>
              </a:rPr>
              <a:t>base</a:t>
            </a:r>
            <a:r>
              <a:rPr lang="zh-CN" altLang="en-US" sz="2000" dirty="0">
                <a:solidFill>
                  <a:srgbClr val="FF0000"/>
                </a:solidFill>
                <a:latin typeface="Courier New" panose="02070309020205020404" pitchFamily="49" charset="0"/>
                <a:ea typeface="宋体" panose="02010600030101010101" pitchFamily="2" charset="-122"/>
              </a:rPr>
              <a:t>目录下</a:t>
            </a:r>
            <a:r>
              <a:rPr lang="en-US" altLang="zh-CN" sz="2000" dirty="0">
                <a:solidFill>
                  <a:srgbClr val="FF0000"/>
                </a:solidFill>
                <a:latin typeface="Courier New" panose="02070309020205020404" pitchFamily="49" charset="0"/>
                <a:ea typeface="宋体" panose="02010600030101010101" pitchFamily="2" charset="-122"/>
              </a:rPr>
              <a:t>)</a:t>
            </a:r>
            <a:endParaRPr lang="zh-CN" altLang="en-AU" sz="2000" dirty="0">
              <a:solidFill>
                <a:srgbClr val="00B0F0"/>
              </a:solidFill>
              <a:latin typeface="Courier New" panose="02070309020205020404" pitchFamily="49" charset="0"/>
              <a:ea typeface="宋体" panose="02010600030101010101" pitchFamily="2" charset="-122"/>
            </a:endParaRPr>
          </a:p>
          <a:p>
            <a:r>
              <a:rPr lang="zh-CN" altLang="en-AU" dirty="0">
                <a:ea typeface="宋体" panose="02010600030101010101" pitchFamily="2" charset="-122"/>
              </a:rPr>
              <a:t>每个</a:t>
            </a:r>
            <a:r>
              <a:rPr lang="en-AU" altLang="zh-CN" dirty="0">
                <a:ea typeface="宋体" panose="02010600030101010101" pitchFamily="2" charset="-122"/>
              </a:rPr>
              <a:t>Entity</a:t>
            </a:r>
            <a:r>
              <a:rPr lang="zh-CN" altLang="en-AU" dirty="0">
                <a:ea typeface="宋体" panose="02010600030101010101" pitchFamily="2" charset="-122"/>
              </a:rPr>
              <a:t>可以</a:t>
            </a:r>
            <a:r>
              <a:rPr lang="en-AU" altLang="zh-CN" dirty="0"/>
              <a:t>:</a:t>
            </a:r>
          </a:p>
          <a:p>
            <a:pPr marL="0" indent="0">
              <a:buNone/>
            </a:pPr>
            <a:r>
              <a:rPr lang="en-AU" altLang="zh-CN" sz="2000" dirty="0">
                <a:ea typeface="宋体" panose="02010600030101010101" pitchFamily="2" charset="-122"/>
              </a:rPr>
              <a:t>         </a:t>
            </a:r>
            <a:r>
              <a:rPr lang="zh-CN" altLang="en-AU" sz="2000" dirty="0">
                <a:ea typeface="宋体" panose="02010600030101010101" pitchFamily="2" charset="-122"/>
              </a:rPr>
              <a:t>有最多</a:t>
            </a:r>
            <a:r>
              <a:rPr lang="en-AU" altLang="zh-CN" sz="2000" dirty="0">
                <a:ea typeface="宋体" panose="02010600030101010101" pitchFamily="2" charset="-122"/>
              </a:rPr>
              <a:t>3</a:t>
            </a:r>
            <a:r>
              <a:rPr lang="zh-CN" altLang="en-AU" sz="2000" dirty="0">
                <a:ea typeface="宋体" panose="02010600030101010101" pitchFamily="2" charset="-122"/>
              </a:rPr>
              <a:t>个部分的实现</a:t>
            </a:r>
            <a:r>
              <a:rPr lang="en-AU" altLang="zh-CN" sz="2000" dirty="0">
                <a:ea typeface="宋体" panose="02010600030101010101" pitchFamily="2" charset="-122"/>
              </a:rPr>
              <a:t> </a:t>
            </a:r>
            <a:r>
              <a:rPr lang="en-AU" altLang="zh-CN" sz="2000" dirty="0"/>
              <a:t>(Client/Cell/Base)</a:t>
            </a:r>
          </a:p>
          <a:p>
            <a:pPr marL="0" indent="0">
              <a:buNone/>
            </a:pPr>
            <a:r>
              <a:rPr lang="en-AU" altLang="zh-CN" sz="2000" dirty="0">
                <a:ea typeface="宋体" panose="02010600030101010101" pitchFamily="2" charset="-122"/>
              </a:rPr>
              <a:t>         </a:t>
            </a:r>
            <a:r>
              <a:rPr lang="zh-CN" altLang="en-US" sz="2000" dirty="0">
                <a:ea typeface="宋体" panose="02010600030101010101" pitchFamily="2" charset="-122"/>
              </a:rPr>
              <a:t>使用</a:t>
            </a:r>
            <a:r>
              <a:rPr lang="en-AU" altLang="zh-CN" sz="2000" dirty="0">
                <a:latin typeface="Courier New" panose="02070309020205020404" pitchFamily="49" charset="0"/>
              </a:rPr>
              <a:t>common</a:t>
            </a:r>
            <a:r>
              <a:rPr lang="zh-CN" altLang="en-AU" sz="2000" dirty="0">
                <a:ea typeface="宋体" panose="02010600030101010101" pitchFamily="2" charset="-122"/>
              </a:rPr>
              <a:t>路径下的共享的脚本</a:t>
            </a:r>
            <a:endParaRPr lang="en-AU" altLang="zh-CN" dirty="0">
              <a:ea typeface="宋体" panose="02010600030101010101" pitchFamily="2" charset="-122"/>
            </a:endParaRPr>
          </a:p>
          <a:p>
            <a:r>
              <a:rPr lang="en-AU" altLang="zh-CN" dirty="0"/>
              <a:t>Client / Server</a:t>
            </a:r>
            <a:r>
              <a:rPr lang="zh-CN" altLang="en-AU" dirty="0">
                <a:ea typeface="宋体" panose="02010600030101010101" pitchFamily="2" charset="-122"/>
              </a:rPr>
              <a:t>的定义文件必须匹配</a:t>
            </a:r>
            <a:endParaRPr lang="en-US" altLang="zh-CN" dirty="0">
              <a:ea typeface="宋体" panose="02010600030101010101" pitchFamily="2" charset="-122"/>
            </a:endParaRPr>
          </a:p>
          <a:p>
            <a:pPr marL="0" indent="0">
              <a:buNone/>
            </a:pPr>
            <a:r>
              <a:rPr lang="en-US" altLang="zh-CN" sz="2000" dirty="0">
                <a:ea typeface="宋体" panose="02010600030101010101" pitchFamily="2" charset="-122"/>
              </a:rPr>
              <a:t>      </a:t>
            </a:r>
            <a:r>
              <a:rPr lang="zh-CN" altLang="en-US" sz="2000" dirty="0">
                <a:ea typeface="宋体" panose="02010600030101010101" pitchFamily="2" charset="-122"/>
              </a:rPr>
              <a:t>在客户端插件环境中，插件会根据计算协议的</a:t>
            </a:r>
            <a:r>
              <a:rPr lang="en-US" altLang="zh-CN" sz="2000" dirty="0">
                <a:ea typeface="宋体" panose="02010600030101010101" pitchFamily="2" charset="-122"/>
              </a:rPr>
              <a:t>MD5</a:t>
            </a:r>
            <a:r>
              <a:rPr lang="zh-CN" altLang="en-US" sz="2000" dirty="0">
                <a:ea typeface="宋体" panose="02010600030101010101" pitchFamily="2" charset="-122"/>
              </a:rPr>
              <a:t>值比对，保证协议是最新的，当协议不匹配时会从服务端网络导入并存储到本地</a:t>
            </a:r>
            <a:endParaRPr lang="en-AU" altLang="zh-CN" sz="2000" dirty="0"/>
          </a:p>
          <a:p>
            <a:endParaRPr lang="en-AU" altLang="zh-CN" dirty="0"/>
          </a:p>
          <a:p>
            <a:endParaRPr lang="en-US" altLang="zh-CN"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2" name="直接连接符 171"/>
          <p:cNvCxnSpPr/>
          <p:nvPr/>
        </p:nvCxnSpPr>
        <p:spPr>
          <a:xfrm>
            <a:off x="96288" y="4702261"/>
            <a:ext cx="6491936" cy="1"/>
          </a:xfrm>
          <a:prstGeom prst="line">
            <a:avLst/>
          </a:prstGeom>
        </p:spPr>
        <p:style>
          <a:lnRef idx="3">
            <a:schemeClr val="dk1"/>
          </a:lnRef>
          <a:fillRef idx="0">
            <a:schemeClr val="dk1"/>
          </a:fillRef>
          <a:effectRef idx="2">
            <a:schemeClr val="dk1"/>
          </a:effectRef>
          <a:fontRef idx="minor">
            <a:schemeClr val="tx1"/>
          </a:fontRef>
        </p:style>
      </p:cxnSp>
      <p:sp>
        <p:nvSpPr>
          <p:cNvPr id="144" name="矩形 143"/>
          <p:cNvSpPr/>
          <p:nvPr/>
        </p:nvSpPr>
        <p:spPr>
          <a:xfrm>
            <a:off x="107504" y="967137"/>
            <a:ext cx="6480720" cy="367240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sp>
        <p:nvSpPr>
          <p:cNvPr id="143" name="矩形 142"/>
          <p:cNvSpPr/>
          <p:nvPr/>
        </p:nvSpPr>
        <p:spPr>
          <a:xfrm>
            <a:off x="467544" y="3231560"/>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142" name="矩形 141"/>
          <p:cNvSpPr/>
          <p:nvPr/>
        </p:nvSpPr>
        <p:spPr>
          <a:xfrm>
            <a:off x="467544" y="1863408"/>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9" name="Rectangle 5"/>
          <p:cNvSpPr>
            <a:spLocks noChangeArrowheads="1"/>
          </p:cNvSpPr>
          <p:nvPr/>
        </p:nvSpPr>
        <p:spPr bwMode="auto">
          <a:xfrm>
            <a:off x="6876256" y="980728"/>
            <a:ext cx="2102499" cy="1410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分布式的</a:t>
            </a:r>
            <a:r>
              <a:rPr lang="en-US" altLang="zh-CN" dirty="0">
                <a:solidFill>
                  <a:schemeClr val="accent1"/>
                </a:solidFill>
                <a:ea typeface="宋体" panose="02010600030101010101" pitchFamily="2" charset="-122"/>
              </a:rPr>
              <a:t>Entity</a:t>
            </a:r>
            <a:endParaRPr lang="zh-CN" altLang="en-US" sz="2200" b="1" dirty="0">
              <a:solidFill>
                <a:schemeClr val="accent1"/>
              </a:solidFill>
              <a:latin typeface="+mn-ea"/>
              <a:ea typeface="+mn-ea"/>
            </a:endParaRPr>
          </a:p>
        </p:txBody>
      </p:sp>
      <p:sp>
        <p:nvSpPr>
          <p:cNvPr id="53" name="Rectangle 37"/>
          <p:cNvSpPr>
            <a:spLocks noChangeArrowheads="1"/>
          </p:cNvSpPr>
          <p:nvPr/>
        </p:nvSpPr>
        <p:spPr bwMode="auto">
          <a:xfrm>
            <a:off x="7001293" y="1223164"/>
            <a:ext cx="139253" cy="110421"/>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4" name="Rectangle 37"/>
          <p:cNvSpPr>
            <a:spLocks noChangeArrowheads="1"/>
          </p:cNvSpPr>
          <p:nvPr/>
        </p:nvSpPr>
        <p:spPr bwMode="auto">
          <a:xfrm>
            <a:off x="7001293" y="1439188"/>
            <a:ext cx="139253"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5" name="Rectangle 37"/>
          <p:cNvSpPr>
            <a:spLocks noChangeArrowheads="1"/>
          </p:cNvSpPr>
          <p:nvPr/>
        </p:nvSpPr>
        <p:spPr bwMode="auto">
          <a:xfrm>
            <a:off x="7001293" y="1621617"/>
            <a:ext cx="139253"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solidFill>
                <a:schemeClr val="accent3">
                  <a:lumMod val="60000"/>
                  <a:lumOff val="40000"/>
                </a:schemeClr>
              </a:solidFill>
            </a:endParaRPr>
          </a:p>
        </p:txBody>
      </p:sp>
      <p:sp>
        <p:nvSpPr>
          <p:cNvPr id="56" name="Rectangle 37"/>
          <p:cNvSpPr>
            <a:spLocks noChangeArrowheads="1"/>
          </p:cNvSpPr>
          <p:nvPr/>
        </p:nvSpPr>
        <p:spPr bwMode="auto">
          <a:xfrm>
            <a:off x="7001293" y="1837641"/>
            <a:ext cx="139253"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57" name="Rectangle 37"/>
          <p:cNvSpPr>
            <a:spLocks noChangeArrowheads="1"/>
          </p:cNvSpPr>
          <p:nvPr/>
        </p:nvSpPr>
        <p:spPr bwMode="auto">
          <a:xfrm>
            <a:off x="7001293" y="2053665"/>
            <a:ext cx="139253" cy="110421"/>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58" name="Text Box 49"/>
          <p:cNvSpPr txBox="1">
            <a:spLocks noChangeArrowheads="1"/>
          </p:cNvSpPr>
          <p:nvPr/>
        </p:nvSpPr>
        <p:spPr bwMode="auto">
          <a:xfrm>
            <a:off x="7140546" y="1100897"/>
            <a:ext cx="1829053" cy="116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400" b="0" dirty="0">
                <a:solidFill>
                  <a:schemeClr val="bg2"/>
                </a:solidFill>
                <a:ea typeface="宋体" panose="02010600030101010101" pitchFamily="2" charset="-122"/>
              </a:rPr>
              <a:t>Base Entity</a:t>
            </a:r>
          </a:p>
          <a:p>
            <a:pPr algn="l"/>
            <a:r>
              <a:rPr lang="en-US" altLang="zh-CN" sz="1400" b="0" dirty="0">
                <a:solidFill>
                  <a:schemeClr val="bg2"/>
                </a:solidFill>
                <a:ea typeface="宋体" panose="02010600030101010101" pitchFamily="2" charset="-122"/>
              </a:rPr>
              <a:t>Real Entity</a:t>
            </a:r>
          </a:p>
          <a:p>
            <a:pPr algn="l"/>
            <a:r>
              <a:rPr lang="en-US" altLang="zh-CN" sz="1400" dirty="0">
                <a:solidFill>
                  <a:schemeClr val="bg2"/>
                </a:solidFill>
                <a:ea typeface="宋体" panose="02010600030101010101" pitchFamily="2" charset="-122"/>
              </a:rPr>
              <a:t>Ghost</a:t>
            </a:r>
            <a:r>
              <a:rPr lang="en-US" altLang="zh-CN" sz="1400" b="0" dirty="0">
                <a:solidFill>
                  <a:schemeClr val="bg2"/>
                </a:solidFill>
                <a:ea typeface="宋体" panose="02010600030101010101" pitchFamily="2" charset="-122"/>
              </a:rPr>
              <a:t> Entity</a:t>
            </a:r>
            <a:endParaRPr lang="en-AU" altLang="zh-CN" sz="1400" b="0" dirty="0">
              <a:solidFill>
                <a:schemeClr val="bg2"/>
              </a:solidFill>
              <a:ea typeface="宋体" panose="02010600030101010101" pitchFamily="2" charset="-122"/>
            </a:endParaRPr>
          </a:p>
          <a:p>
            <a:pPr algn="l"/>
            <a:r>
              <a:rPr lang="en-US" altLang="zh-CN" sz="1400" dirty="0">
                <a:solidFill>
                  <a:schemeClr val="bg2"/>
                </a:solidFill>
                <a:ea typeface="宋体" panose="02010600030101010101" pitchFamily="2" charset="-122"/>
              </a:rPr>
              <a:t>Player Entity</a:t>
            </a:r>
          </a:p>
          <a:p>
            <a:pPr algn="l"/>
            <a:r>
              <a:rPr lang="en-US" altLang="zh-CN" sz="1400" b="0" dirty="0">
                <a:solidFill>
                  <a:schemeClr val="bg2"/>
                </a:solidFill>
                <a:ea typeface="宋体" panose="02010600030101010101" pitchFamily="2" charset="-122"/>
              </a:rPr>
              <a:t>Client Entity</a:t>
            </a:r>
            <a:endParaRPr lang="en-AU" altLang="zh-CN" sz="1400" b="0" dirty="0">
              <a:solidFill>
                <a:schemeClr val="bg2"/>
              </a:solidFill>
              <a:ea typeface="宋体" panose="02010600030101010101" pitchFamily="2" charset="-122"/>
            </a:endParaRPr>
          </a:p>
        </p:txBody>
      </p:sp>
      <p:sp>
        <p:nvSpPr>
          <p:cNvPr id="60" name="Rectangle 15"/>
          <p:cNvSpPr>
            <a:spLocks noChangeArrowheads="1"/>
          </p:cNvSpPr>
          <p:nvPr/>
        </p:nvSpPr>
        <p:spPr bwMode="auto">
          <a:xfrm>
            <a:off x="1403648" y="2339588"/>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Rectangle 29"/>
          <p:cNvSpPr>
            <a:spLocks noChangeArrowheads="1"/>
          </p:cNvSpPr>
          <p:nvPr/>
        </p:nvSpPr>
        <p:spPr bwMode="auto">
          <a:xfrm>
            <a:off x="1591852" y="2395473"/>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3" name="TextBox 2"/>
          <p:cNvSpPr txBox="1"/>
          <p:nvPr/>
        </p:nvSpPr>
        <p:spPr>
          <a:xfrm>
            <a:off x="1763688" y="2690336"/>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62" name="TextBox 61"/>
          <p:cNvSpPr txBox="1"/>
          <p:nvPr/>
        </p:nvSpPr>
        <p:spPr>
          <a:xfrm>
            <a:off x="1591852" y="2330296"/>
            <a:ext cx="99828" cy="369332"/>
          </a:xfrm>
          <a:prstGeom prst="rect">
            <a:avLst/>
          </a:prstGeom>
          <a:noFill/>
        </p:spPr>
        <p:txBody>
          <a:bodyPr wrap="square" rtlCol="0">
            <a:spAutoFit/>
          </a:bodyPr>
          <a:lstStyle/>
          <a:p>
            <a:r>
              <a:rPr lang="en-US" altLang="zh-CN" dirty="0"/>
              <a:t>A</a:t>
            </a:r>
            <a:endParaRPr lang="zh-CN" altLang="en-US" dirty="0"/>
          </a:p>
        </p:txBody>
      </p:sp>
      <p:sp>
        <p:nvSpPr>
          <p:cNvPr id="63" name="Rectangle 29"/>
          <p:cNvSpPr>
            <a:spLocks noChangeArrowheads="1"/>
          </p:cNvSpPr>
          <p:nvPr/>
        </p:nvSpPr>
        <p:spPr bwMode="auto">
          <a:xfrm>
            <a:off x="2339752" y="2404765"/>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64" name="TextBox 63"/>
          <p:cNvSpPr txBox="1"/>
          <p:nvPr/>
        </p:nvSpPr>
        <p:spPr>
          <a:xfrm>
            <a:off x="2339752" y="2339588"/>
            <a:ext cx="99828" cy="369332"/>
          </a:xfrm>
          <a:prstGeom prst="rect">
            <a:avLst/>
          </a:prstGeom>
          <a:noFill/>
        </p:spPr>
        <p:txBody>
          <a:bodyPr wrap="square" rtlCol="0">
            <a:spAutoFit/>
          </a:bodyPr>
          <a:lstStyle/>
          <a:p>
            <a:r>
              <a:rPr lang="en-US" altLang="zh-CN" dirty="0"/>
              <a:t>B</a:t>
            </a:r>
            <a:endParaRPr lang="zh-CN" altLang="en-US" dirty="0"/>
          </a:p>
        </p:txBody>
      </p:sp>
      <p:sp>
        <p:nvSpPr>
          <p:cNvPr id="65" name="Rectangle 15"/>
          <p:cNvSpPr>
            <a:spLocks noChangeArrowheads="1"/>
          </p:cNvSpPr>
          <p:nvPr/>
        </p:nvSpPr>
        <p:spPr bwMode="auto">
          <a:xfrm>
            <a:off x="3419872" y="2348880"/>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TextBox 66"/>
          <p:cNvSpPr txBox="1"/>
          <p:nvPr/>
        </p:nvSpPr>
        <p:spPr>
          <a:xfrm>
            <a:off x="3779912" y="2699628"/>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69" name="Rectangle 29"/>
          <p:cNvSpPr>
            <a:spLocks noChangeArrowheads="1"/>
          </p:cNvSpPr>
          <p:nvPr/>
        </p:nvSpPr>
        <p:spPr bwMode="auto">
          <a:xfrm>
            <a:off x="4067944" y="2414057"/>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70" name="TextBox 69"/>
          <p:cNvSpPr txBox="1"/>
          <p:nvPr/>
        </p:nvSpPr>
        <p:spPr>
          <a:xfrm>
            <a:off x="4067944" y="2348880"/>
            <a:ext cx="99828" cy="369332"/>
          </a:xfrm>
          <a:prstGeom prst="rect">
            <a:avLst/>
          </a:prstGeom>
          <a:noFill/>
        </p:spPr>
        <p:txBody>
          <a:bodyPr wrap="square" rtlCol="0">
            <a:spAutoFit/>
          </a:bodyPr>
          <a:lstStyle/>
          <a:p>
            <a:r>
              <a:rPr lang="en-US" altLang="zh-CN" dirty="0"/>
              <a:t>C</a:t>
            </a:r>
            <a:endParaRPr lang="zh-CN" altLang="en-US" dirty="0"/>
          </a:p>
        </p:txBody>
      </p:sp>
      <p:sp>
        <p:nvSpPr>
          <p:cNvPr id="74" name="Rectangle 15"/>
          <p:cNvSpPr>
            <a:spLocks noChangeArrowheads="1"/>
          </p:cNvSpPr>
          <p:nvPr/>
        </p:nvSpPr>
        <p:spPr bwMode="auto">
          <a:xfrm>
            <a:off x="467544" y="1062028"/>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6" name="TextBox 75"/>
          <p:cNvSpPr txBox="1"/>
          <p:nvPr/>
        </p:nvSpPr>
        <p:spPr>
          <a:xfrm>
            <a:off x="827584"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78" name="Rectangle 29"/>
          <p:cNvSpPr>
            <a:spLocks noChangeArrowheads="1"/>
          </p:cNvSpPr>
          <p:nvPr/>
        </p:nvSpPr>
        <p:spPr bwMode="auto">
          <a:xfrm>
            <a:off x="1087796" y="1127205"/>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9" name="TextBox 78"/>
          <p:cNvSpPr txBox="1"/>
          <p:nvPr/>
        </p:nvSpPr>
        <p:spPr>
          <a:xfrm>
            <a:off x="1087796" y="1062028"/>
            <a:ext cx="99828" cy="369332"/>
          </a:xfrm>
          <a:prstGeom prst="rect">
            <a:avLst/>
          </a:prstGeom>
          <a:noFill/>
        </p:spPr>
        <p:txBody>
          <a:bodyPr wrap="square" rtlCol="0">
            <a:spAutoFit/>
          </a:bodyPr>
          <a:lstStyle/>
          <a:p>
            <a:r>
              <a:rPr lang="en-US" altLang="zh-CN" dirty="0"/>
              <a:t>A</a:t>
            </a:r>
            <a:endParaRPr lang="zh-CN" altLang="en-US" dirty="0"/>
          </a:p>
        </p:txBody>
      </p:sp>
      <p:sp>
        <p:nvSpPr>
          <p:cNvPr id="80" name="Rectangle 15"/>
          <p:cNvSpPr>
            <a:spLocks noChangeArrowheads="1"/>
          </p:cNvSpPr>
          <p:nvPr/>
        </p:nvSpPr>
        <p:spPr bwMode="auto">
          <a:xfrm>
            <a:off x="2483768" y="107132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1" name="TextBox 80"/>
          <p:cNvSpPr txBox="1"/>
          <p:nvPr/>
        </p:nvSpPr>
        <p:spPr>
          <a:xfrm>
            <a:off x="2843808" y="1422068"/>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82" name="Rectangle 29"/>
          <p:cNvSpPr>
            <a:spLocks noChangeArrowheads="1"/>
          </p:cNvSpPr>
          <p:nvPr/>
        </p:nvSpPr>
        <p:spPr bwMode="auto">
          <a:xfrm>
            <a:off x="3131840" y="1136497"/>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83" name="TextBox 82"/>
          <p:cNvSpPr txBox="1"/>
          <p:nvPr/>
        </p:nvSpPr>
        <p:spPr>
          <a:xfrm>
            <a:off x="3131840" y="1071320"/>
            <a:ext cx="99828" cy="369332"/>
          </a:xfrm>
          <a:prstGeom prst="rect">
            <a:avLst/>
          </a:prstGeom>
          <a:noFill/>
        </p:spPr>
        <p:txBody>
          <a:bodyPr wrap="square" rtlCol="0">
            <a:spAutoFit/>
          </a:bodyPr>
          <a:lstStyle/>
          <a:p>
            <a:r>
              <a:rPr lang="en-US" altLang="zh-CN" dirty="0"/>
              <a:t>B</a:t>
            </a:r>
            <a:endParaRPr lang="zh-CN" altLang="en-US" dirty="0"/>
          </a:p>
        </p:txBody>
      </p:sp>
      <p:sp>
        <p:nvSpPr>
          <p:cNvPr id="84" name="Rectangle 15"/>
          <p:cNvSpPr>
            <a:spLocks noChangeArrowheads="1"/>
          </p:cNvSpPr>
          <p:nvPr/>
        </p:nvSpPr>
        <p:spPr bwMode="auto">
          <a:xfrm>
            <a:off x="4499992" y="1062028"/>
            <a:ext cx="1656184" cy="657115"/>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5" name="TextBox 84"/>
          <p:cNvSpPr txBox="1"/>
          <p:nvPr/>
        </p:nvSpPr>
        <p:spPr>
          <a:xfrm>
            <a:off x="4860032"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86" name="Rectangle 29"/>
          <p:cNvSpPr>
            <a:spLocks noChangeArrowheads="1"/>
          </p:cNvSpPr>
          <p:nvPr/>
        </p:nvSpPr>
        <p:spPr bwMode="auto">
          <a:xfrm>
            <a:off x="5148064" y="1189921"/>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87" name="TextBox 86"/>
          <p:cNvSpPr txBox="1"/>
          <p:nvPr/>
        </p:nvSpPr>
        <p:spPr>
          <a:xfrm>
            <a:off x="5148064" y="1124744"/>
            <a:ext cx="99828" cy="369332"/>
          </a:xfrm>
          <a:prstGeom prst="rect">
            <a:avLst/>
          </a:prstGeom>
          <a:noFill/>
        </p:spPr>
        <p:txBody>
          <a:bodyPr wrap="square" rtlCol="0">
            <a:spAutoFit/>
          </a:bodyPr>
          <a:lstStyle/>
          <a:p>
            <a:r>
              <a:rPr lang="en-US" altLang="zh-CN" dirty="0"/>
              <a:t>C</a:t>
            </a:r>
            <a:endParaRPr lang="zh-CN" altLang="en-US" dirty="0"/>
          </a:p>
        </p:txBody>
      </p:sp>
      <p:sp>
        <p:nvSpPr>
          <p:cNvPr id="88" name="Rectangle 15"/>
          <p:cNvSpPr>
            <a:spLocks noChangeArrowheads="1"/>
          </p:cNvSpPr>
          <p:nvPr/>
        </p:nvSpPr>
        <p:spPr bwMode="auto">
          <a:xfrm>
            <a:off x="539552" y="379833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9" name="Rectangle 29"/>
          <p:cNvSpPr>
            <a:spLocks noChangeArrowheads="1"/>
          </p:cNvSpPr>
          <p:nvPr/>
        </p:nvSpPr>
        <p:spPr bwMode="auto">
          <a:xfrm>
            <a:off x="727756" y="385421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0" name="TextBox 89"/>
          <p:cNvSpPr txBox="1"/>
          <p:nvPr/>
        </p:nvSpPr>
        <p:spPr>
          <a:xfrm>
            <a:off x="467544" y="4149080"/>
            <a:ext cx="1656184" cy="369332"/>
          </a:xfrm>
          <a:prstGeom prst="rect">
            <a:avLst/>
          </a:prstGeom>
          <a:noFill/>
        </p:spPr>
        <p:txBody>
          <a:bodyPr wrap="square" rtlCol="0">
            <a:spAutoFit/>
          </a:bodyPr>
          <a:lstStyle/>
          <a:p>
            <a:r>
              <a:rPr lang="en-US" altLang="zh-CN" b="1" dirty="0"/>
              <a:t>  Cellapp1-cell1</a:t>
            </a:r>
            <a:endParaRPr lang="zh-CN" altLang="en-US" b="1" dirty="0"/>
          </a:p>
        </p:txBody>
      </p:sp>
      <p:sp>
        <p:nvSpPr>
          <p:cNvPr id="91" name="TextBox 90"/>
          <p:cNvSpPr txBox="1"/>
          <p:nvPr/>
        </p:nvSpPr>
        <p:spPr>
          <a:xfrm>
            <a:off x="727756" y="3789040"/>
            <a:ext cx="99828" cy="369332"/>
          </a:xfrm>
          <a:prstGeom prst="rect">
            <a:avLst/>
          </a:prstGeom>
          <a:noFill/>
        </p:spPr>
        <p:txBody>
          <a:bodyPr wrap="square" rtlCol="0">
            <a:spAutoFit/>
          </a:bodyPr>
          <a:lstStyle/>
          <a:p>
            <a:r>
              <a:rPr lang="en-US" altLang="zh-CN" dirty="0"/>
              <a:t>A</a:t>
            </a:r>
            <a:endParaRPr lang="zh-CN" altLang="en-US" dirty="0"/>
          </a:p>
        </p:txBody>
      </p:sp>
      <p:sp>
        <p:nvSpPr>
          <p:cNvPr id="92" name="Rectangle 29"/>
          <p:cNvSpPr>
            <a:spLocks noChangeArrowheads="1"/>
          </p:cNvSpPr>
          <p:nvPr/>
        </p:nvSpPr>
        <p:spPr bwMode="auto">
          <a:xfrm>
            <a:off x="1259632" y="386350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3" name="TextBox 92"/>
          <p:cNvSpPr txBox="1"/>
          <p:nvPr/>
        </p:nvSpPr>
        <p:spPr>
          <a:xfrm>
            <a:off x="1259632" y="3798332"/>
            <a:ext cx="99828" cy="369332"/>
          </a:xfrm>
          <a:prstGeom prst="rect">
            <a:avLst/>
          </a:prstGeom>
          <a:noFill/>
        </p:spPr>
        <p:txBody>
          <a:bodyPr wrap="square" rtlCol="0">
            <a:spAutoFit/>
          </a:bodyPr>
          <a:lstStyle/>
          <a:p>
            <a:r>
              <a:rPr lang="en-US" altLang="zh-CN" dirty="0"/>
              <a:t>B</a:t>
            </a:r>
            <a:endParaRPr lang="zh-CN" altLang="en-US" dirty="0"/>
          </a:p>
        </p:txBody>
      </p:sp>
      <p:sp>
        <p:nvSpPr>
          <p:cNvPr id="94" name="Rectangle 15"/>
          <p:cNvSpPr>
            <a:spLocks noChangeArrowheads="1"/>
          </p:cNvSpPr>
          <p:nvPr/>
        </p:nvSpPr>
        <p:spPr bwMode="auto">
          <a:xfrm>
            <a:off x="2555776"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95" name="TextBox 94"/>
          <p:cNvSpPr txBox="1"/>
          <p:nvPr/>
        </p:nvSpPr>
        <p:spPr>
          <a:xfrm>
            <a:off x="2699792" y="4158372"/>
            <a:ext cx="1548172" cy="369332"/>
          </a:xfrm>
          <a:prstGeom prst="rect">
            <a:avLst/>
          </a:prstGeom>
          <a:noFill/>
        </p:spPr>
        <p:txBody>
          <a:bodyPr wrap="square" rtlCol="0">
            <a:spAutoFit/>
          </a:bodyPr>
          <a:lstStyle/>
          <a:p>
            <a:r>
              <a:rPr lang="en-US" altLang="zh-CN" b="1" dirty="0"/>
              <a:t>Cellapp2-cell2</a:t>
            </a:r>
            <a:endParaRPr lang="zh-CN" altLang="en-US" b="1" dirty="0"/>
          </a:p>
        </p:txBody>
      </p:sp>
      <p:sp>
        <p:nvSpPr>
          <p:cNvPr id="96" name="Rectangle 29"/>
          <p:cNvSpPr>
            <a:spLocks noChangeArrowheads="1"/>
          </p:cNvSpPr>
          <p:nvPr/>
        </p:nvSpPr>
        <p:spPr bwMode="auto">
          <a:xfrm>
            <a:off x="1763688"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7" name="TextBox 96"/>
          <p:cNvSpPr txBox="1"/>
          <p:nvPr/>
        </p:nvSpPr>
        <p:spPr>
          <a:xfrm>
            <a:off x="1763688" y="3807624"/>
            <a:ext cx="99828" cy="369332"/>
          </a:xfrm>
          <a:prstGeom prst="rect">
            <a:avLst/>
          </a:prstGeom>
          <a:noFill/>
        </p:spPr>
        <p:txBody>
          <a:bodyPr wrap="square" rtlCol="0">
            <a:spAutoFit/>
          </a:bodyPr>
          <a:lstStyle/>
          <a:p>
            <a:r>
              <a:rPr lang="en-US" altLang="zh-CN" dirty="0"/>
              <a:t>C</a:t>
            </a:r>
            <a:endParaRPr lang="zh-CN" altLang="en-US" dirty="0"/>
          </a:p>
        </p:txBody>
      </p:sp>
      <p:sp>
        <p:nvSpPr>
          <p:cNvPr id="98" name="Rectangle 15"/>
          <p:cNvSpPr>
            <a:spLocks noChangeArrowheads="1"/>
          </p:cNvSpPr>
          <p:nvPr/>
        </p:nvSpPr>
        <p:spPr bwMode="auto">
          <a:xfrm>
            <a:off x="4644008"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99" name="TextBox 98"/>
          <p:cNvSpPr txBox="1"/>
          <p:nvPr/>
        </p:nvSpPr>
        <p:spPr>
          <a:xfrm>
            <a:off x="4760204" y="4139788"/>
            <a:ext cx="1611996" cy="369332"/>
          </a:xfrm>
          <a:prstGeom prst="rect">
            <a:avLst/>
          </a:prstGeom>
          <a:noFill/>
        </p:spPr>
        <p:txBody>
          <a:bodyPr wrap="square" rtlCol="0">
            <a:spAutoFit/>
          </a:bodyPr>
          <a:lstStyle/>
          <a:p>
            <a:r>
              <a:rPr lang="en-US" altLang="zh-CN" b="1" dirty="0"/>
              <a:t>Cellapp3-cell3</a:t>
            </a:r>
            <a:endParaRPr lang="zh-CN" altLang="en-US" b="1" dirty="0"/>
          </a:p>
        </p:txBody>
      </p:sp>
      <p:sp>
        <p:nvSpPr>
          <p:cNvPr id="105" name="Rectangle 29"/>
          <p:cNvSpPr>
            <a:spLocks noChangeArrowheads="1"/>
          </p:cNvSpPr>
          <p:nvPr/>
        </p:nvSpPr>
        <p:spPr bwMode="auto">
          <a:xfrm>
            <a:off x="27718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6" name="TextBox 105"/>
          <p:cNvSpPr txBox="1"/>
          <p:nvPr/>
        </p:nvSpPr>
        <p:spPr>
          <a:xfrm>
            <a:off x="2771800" y="3789040"/>
            <a:ext cx="99828" cy="369332"/>
          </a:xfrm>
          <a:prstGeom prst="rect">
            <a:avLst/>
          </a:prstGeom>
          <a:noFill/>
        </p:spPr>
        <p:txBody>
          <a:bodyPr wrap="square" rtlCol="0">
            <a:spAutoFit/>
          </a:bodyPr>
          <a:lstStyle/>
          <a:p>
            <a:r>
              <a:rPr lang="en-US" altLang="zh-CN" dirty="0"/>
              <a:t>A</a:t>
            </a:r>
            <a:endParaRPr lang="zh-CN" altLang="en-US" dirty="0"/>
          </a:p>
        </p:txBody>
      </p:sp>
      <p:sp>
        <p:nvSpPr>
          <p:cNvPr id="107" name="Rectangle 29"/>
          <p:cNvSpPr>
            <a:spLocks noChangeArrowheads="1"/>
          </p:cNvSpPr>
          <p:nvPr/>
        </p:nvSpPr>
        <p:spPr bwMode="auto">
          <a:xfrm>
            <a:off x="33036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8" name="TextBox 107"/>
          <p:cNvSpPr txBox="1"/>
          <p:nvPr/>
        </p:nvSpPr>
        <p:spPr>
          <a:xfrm>
            <a:off x="3303676" y="3798332"/>
            <a:ext cx="99828" cy="369332"/>
          </a:xfrm>
          <a:prstGeom prst="rect">
            <a:avLst/>
          </a:prstGeom>
          <a:noFill/>
        </p:spPr>
        <p:txBody>
          <a:bodyPr wrap="square" rtlCol="0">
            <a:spAutoFit/>
          </a:bodyPr>
          <a:lstStyle/>
          <a:p>
            <a:r>
              <a:rPr lang="en-US" altLang="zh-CN" dirty="0"/>
              <a:t>B</a:t>
            </a:r>
            <a:endParaRPr lang="zh-CN" altLang="en-US" dirty="0"/>
          </a:p>
        </p:txBody>
      </p:sp>
      <p:sp>
        <p:nvSpPr>
          <p:cNvPr id="109" name="Rectangle 29"/>
          <p:cNvSpPr>
            <a:spLocks noChangeArrowheads="1"/>
          </p:cNvSpPr>
          <p:nvPr/>
        </p:nvSpPr>
        <p:spPr bwMode="auto">
          <a:xfrm>
            <a:off x="3807732" y="387280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0" name="TextBox 109"/>
          <p:cNvSpPr txBox="1"/>
          <p:nvPr/>
        </p:nvSpPr>
        <p:spPr>
          <a:xfrm>
            <a:off x="3807732" y="3807624"/>
            <a:ext cx="99828" cy="369332"/>
          </a:xfrm>
          <a:prstGeom prst="rect">
            <a:avLst/>
          </a:prstGeom>
          <a:noFill/>
        </p:spPr>
        <p:txBody>
          <a:bodyPr wrap="square" rtlCol="0">
            <a:spAutoFit/>
          </a:bodyPr>
          <a:lstStyle/>
          <a:p>
            <a:r>
              <a:rPr lang="en-US" altLang="zh-CN" dirty="0"/>
              <a:t>C</a:t>
            </a:r>
            <a:endParaRPr lang="zh-CN" altLang="en-US" dirty="0"/>
          </a:p>
        </p:txBody>
      </p:sp>
      <p:sp>
        <p:nvSpPr>
          <p:cNvPr id="111" name="Rectangle 29"/>
          <p:cNvSpPr>
            <a:spLocks noChangeArrowheads="1"/>
          </p:cNvSpPr>
          <p:nvPr/>
        </p:nvSpPr>
        <p:spPr bwMode="auto">
          <a:xfrm>
            <a:off x="48764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2" name="TextBox 111"/>
          <p:cNvSpPr txBox="1"/>
          <p:nvPr/>
        </p:nvSpPr>
        <p:spPr>
          <a:xfrm>
            <a:off x="4876400" y="3789040"/>
            <a:ext cx="99828" cy="369332"/>
          </a:xfrm>
          <a:prstGeom prst="rect">
            <a:avLst/>
          </a:prstGeom>
          <a:noFill/>
        </p:spPr>
        <p:txBody>
          <a:bodyPr wrap="square" rtlCol="0">
            <a:spAutoFit/>
          </a:bodyPr>
          <a:lstStyle/>
          <a:p>
            <a:r>
              <a:rPr lang="en-US" altLang="zh-CN" dirty="0"/>
              <a:t>A</a:t>
            </a:r>
            <a:endParaRPr lang="zh-CN" altLang="en-US" dirty="0"/>
          </a:p>
        </p:txBody>
      </p:sp>
      <p:sp>
        <p:nvSpPr>
          <p:cNvPr id="113" name="Rectangle 29"/>
          <p:cNvSpPr>
            <a:spLocks noChangeArrowheads="1"/>
          </p:cNvSpPr>
          <p:nvPr/>
        </p:nvSpPr>
        <p:spPr bwMode="auto">
          <a:xfrm>
            <a:off x="54082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4" name="TextBox 113"/>
          <p:cNvSpPr txBox="1"/>
          <p:nvPr/>
        </p:nvSpPr>
        <p:spPr>
          <a:xfrm>
            <a:off x="5408276" y="3798332"/>
            <a:ext cx="99828" cy="369332"/>
          </a:xfrm>
          <a:prstGeom prst="rect">
            <a:avLst/>
          </a:prstGeom>
          <a:noFill/>
        </p:spPr>
        <p:txBody>
          <a:bodyPr wrap="square" rtlCol="0">
            <a:spAutoFit/>
          </a:bodyPr>
          <a:lstStyle/>
          <a:p>
            <a:r>
              <a:rPr lang="en-US" altLang="zh-CN" dirty="0"/>
              <a:t>B</a:t>
            </a:r>
            <a:endParaRPr lang="zh-CN" altLang="en-US" dirty="0"/>
          </a:p>
        </p:txBody>
      </p:sp>
      <p:sp>
        <p:nvSpPr>
          <p:cNvPr id="115" name="Rectangle 29"/>
          <p:cNvSpPr>
            <a:spLocks noChangeArrowheads="1"/>
          </p:cNvSpPr>
          <p:nvPr/>
        </p:nvSpPr>
        <p:spPr bwMode="auto">
          <a:xfrm>
            <a:off x="5912332"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6" name="TextBox 115"/>
          <p:cNvSpPr txBox="1"/>
          <p:nvPr/>
        </p:nvSpPr>
        <p:spPr>
          <a:xfrm>
            <a:off x="5912332" y="3807624"/>
            <a:ext cx="99828" cy="369332"/>
          </a:xfrm>
          <a:prstGeom prst="rect">
            <a:avLst/>
          </a:prstGeom>
          <a:noFill/>
        </p:spPr>
        <p:txBody>
          <a:bodyPr wrap="square" rtlCol="0">
            <a:spAutoFit/>
          </a:bodyPr>
          <a:lstStyle/>
          <a:p>
            <a:r>
              <a:rPr lang="en-US" altLang="zh-CN" dirty="0"/>
              <a:t>C</a:t>
            </a:r>
            <a:endParaRPr lang="zh-CN" altLang="en-US" dirty="0"/>
          </a:p>
        </p:txBody>
      </p:sp>
      <p:cxnSp>
        <p:nvCxnSpPr>
          <p:cNvPr id="128" name="直接箭头连接符 127"/>
          <p:cNvCxnSpPr>
            <a:stCxn id="62" idx="3"/>
            <a:endCxn id="89" idx="0"/>
          </p:cNvCxnSpPr>
          <p:nvPr/>
        </p:nvCxnSpPr>
        <p:spPr>
          <a:xfrm flipH="1">
            <a:off x="849678" y="2514962"/>
            <a:ext cx="842002" cy="1339255"/>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cxnSp>
        <p:nvCxnSpPr>
          <p:cNvPr id="132" name="直接箭头连接符 131"/>
          <p:cNvCxnSpPr>
            <a:stCxn id="64" idx="1"/>
          </p:cNvCxnSpPr>
          <p:nvPr/>
        </p:nvCxnSpPr>
        <p:spPr>
          <a:xfrm flipH="1">
            <a:off x="1403648" y="2524254"/>
            <a:ext cx="936104" cy="1348547"/>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cxnSp>
        <p:nvCxnSpPr>
          <p:cNvPr id="138" name="直接箭头连接符 137"/>
          <p:cNvCxnSpPr>
            <a:stCxn id="70" idx="1"/>
            <a:endCxn id="110" idx="3"/>
          </p:cNvCxnSpPr>
          <p:nvPr/>
        </p:nvCxnSpPr>
        <p:spPr>
          <a:xfrm flipH="1">
            <a:off x="3907560" y="2533546"/>
            <a:ext cx="160384" cy="1458744"/>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cxnSp>
        <p:nvCxnSpPr>
          <p:cNvPr id="146" name="直接箭头连接符 145"/>
          <p:cNvCxnSpPr>
            <a:stCxn id="79" idx="3"/>
            <a:endCxn id="62" idx="3"/>
          </p:cNvCxnSpPr>
          <p:nvPr/>
        </p:nvCxnSpPr>
        <p:spPr>
          <a:xfrm>
            <a:off x="1187624" y="1246694"/>
            <a:ext cx="504056" cy="1268268"/>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cxnSp>
        <p:nvCxnSpPr>
          <p:cNvPr id="148" name="直接箭头连接符 147"/>
          <p:cNvCxnSpPr>
            <a:stCxn id="83" idx="3"/>
            <a:endCxn id="64" idx="3"/>
          </p:cNvCxnSpPr>
          <p:nvPr/>
        </p:nvCxnSpPr>
        <p:spPr>
          <a:xfrm flipH="1">
            <a:off x="2439580" y="1255986"/>
            <a:ext cx="792088" cy="1268268"/>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cxnSp>
        <p:nvCxnSpPr>
          <p:cNvPr id="150" name="直接箭头连接符 149"/>
          <p:cNvCxnSpPr>
            <a:stCxn id="87" idx="3"/>
            <a:endCxn id="70" idx="3"/>
          </p:cNvCxnSpPr>
          <p:nvPr/>
        </p:nvCxnSpPr>
        <p:spPr>
          <a:xfrm flipH="1">
            <a:off x="4167772" y="1309410"/>
            <a:ext cx="1080120" cy="1224136"/>
          </a:xfrm>
          <a:prstGeom prst="straightConnector1">
            <a:avLst/>
          </a:prstGeom>
          <a:ln>
            <a:headEnd type="arrow"/>
            <a:tailEnd type="arrow"/>
          </a:ln>
        </p:spPr>
        <p:style>
          <a:lnRef idx="2">
            <a:schemeClr val="accent5"/>
          </a:lnRef>
          <a:fillRef idx="0">
            <a:schemeClr val="accent5"/>
          </a:fillRef>
          <a:effectRef idx="1">
            <a:schemeClr val="accent5"/>
          </a:effectRef>
          <a:fontRef idx="minor">
            <a:schemeClr val="tx1"/>
          </a:fontRef>
        </p:style>
      </p:cxnSp>
      <p:sp>
        <p:nvSpPr>
          <p:cNvPr id="151" name="矩形 150"/>
          <p:cNvSpPr/>
          <p:nvPr/>
        </p:nvSpPr>
        <p:spPr>
          <a:xfrm>
            <a:off x="96288" y="4751386"/>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152" name="矩形 151"/>
          <p:cNvSpPr/>
          <p:nvPr/>
        </p:nvSpPr>
        <p:spPr>
          <a:xfrm>
            <a:off x="3375684" y="4751386"/>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153" name="矩形 152"/>
          <p:cNvSpPr/>
          <p:nvPr/>
        </p:nvSpPr>
        <p:spPr>
          <a:xfrm>
            <a:off x="96288" y="5733256"/>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155" name="Rectangle 29"/>
          <p:cNvSpPr>
            <a:spLocks noChangeArrowheads="1"/>
          </p:cNvSpPr>
          <p:nvPr/>
        </p:nvSpPr>
        <p:spPr bwMode="auto">
          <a:xfrm>
            <a:off x="1043608" y="48623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56" name="TextBox 155"/>
          <p:cNvSpPr txBox="1"/>
          <p:nvPr/>
        </p:nvSpPr>
        <p:spPr>
          <a:xfrm>
            <a:off x="1043608" y="4797152"/>
            <a:ext cx="99828" cy="369332"/>
          </a:xfrm>
          <a:prstGeom prst="rect">
            <a:avLst/>
          </a:prstGeom>
          <a:noFill/>
        </p:spPr>
        <p:txBody>
          <a:bodyPr wrap="square" rtlCol="0">
            <a:spAutoFit/>
          </a:bodyPr>
          <a:lstStyle/>
          <a:p>
            <a:r>
              <a:rPr lang="en-US" altLang="zh-CN" dirty="0"/>
              <a:t>A</a:t>
            </a:r>
            <a:endParaRPr lang="zh-CN" altLang="en-US" dirty="0"/>
          </a:p>
        </p:txBody>
      </p:sp>
      <p:sp>
        <p:nvSpPr>
          <p:cNvPr id="157" name="Rectangle 29"/>
          <p:cNvSpPr>
            <a:spLocks noChangeArrowheads="1"/>
          </p:cNvSpPr>
          <p:nvPr/>
        </p:nvSpPr>
        <p:spPr bwMode="auto">
          <a:xfrm>
            <a:off x="2167916" y="487162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58" name="TextBox 157"/>
          <p:cNvSpPr txBox="1"/>
          <p:nvPr/>
        </p:nvSpPr>
        <p:spPr>
          <a:xfrm>
            <a:off x="2167916" y="4806444"/>
            <a:ext cx="99828" cy="369332"/>
          </a:xfrm>
          <a:prstGeom prst="rect">
            <a:avLst/>
          </a:prstGeom>
          <a:noFill/>
        </p:spPr>
        <p:txBody>
          <a:bodyPr wrap="square" rtlCol="0">
            <a:spAutoFit/>
          </a:bodyPr>
          <a:lstStyle/>
          <a:p>
            <a:r>
              <a:rPr lang="en-US" altLang="zh-CN" dirty="0"/>
              <a:t>B</a:t>
            </a:r>
            <a:endParaRPr lang="zh-CN" altLang="en-US" dirty="0"/>
          </a:p>
        </p:txBody>
      </p:sp>
      <p:sp>
        <p:nvSpPr>
          <p:cNvPr id="159" name="Rectangle 29"/>
          <p:cNvSpPr>
            <a:spLocks noChangeArrowheads="1"/>
          </p:cNvSpPr>
          <p:nvPr/>
        </p:nvSpPr>
        <p:spPr bwMode="auto">
          <a:xfrm>
            <a:off x="4887852" y="48530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60" name="TextBox 159"/>
          <p:cNvSpPr txBox="1"/>
          <p:nvPr/>
        </p:nvSpPr>
        <p:spPr>
          <a:xfrm>
            <a:off x="4904220" y="4787860"/>
            <a:ext cx="99828" cy="369332"/>
          </a:xfrm>
          <a:prstGeom prst="rect">
            <a:avLst/>
          </a:prstGeom>
          <a:noFill/>
        </p:spPr>
        <p:txBody>
          <a:bodyPr wrap="square" rtlCol="0">
            <a:spAutoFit/>
          </a:bodyPr>
          <a:lstStyle/>
          <a:p>
            <a:r>
              <a:rPr lang="en-US" altLang="zh-CN" dirty="0"/>
              <a:t>C</a:t>
            </a:r>
            <a:endParaRPr lang="zh-CN" altLang="en-US" dirty="0"/>
          </a:p>
        </p:txBody>
      </p:sp>
      <p:sp>
        <p:nvSpPr>
          <p:cNvPr id="161" name="Rectangle 29"/>
          <p:cNvSpPr>
            <a:spLocks noChangeArrowheads="1"/>
          </p:cNvSpPr>
          <p:nvPr/>
        </p:nvSpPr>
        <p:spPr bwMode="auto">
          <a:xfrm>
            <a:off x="4644008" y="5347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62" name="TextBox 161"/>
          <p:cNvSpPr txBox="1"/>
          <p:nvPr/>
        </p:nvSpPr>
        <p:spPr>
          <a:xfrm>
            <a:off x="4660376" y="5282624"/>
            <a:ext cx="99828" cy="369332"/>
          </a:xfrm>
          <a:prstGeom prst="rect">
            <a:avLst/>
          </a:prstGeom>
          <a:noFill/>
        </p:spPr>
        <p:txBody>
          <a:bodyPr wrap="square" rtlCol="0">
            <a:spAutoFit/>
          </a:bodyPr>
          <a:lstStyle/>
          <a:p>
            <a:r>
              <a:rPr lang="en-US" altLang="zh-CN" dirty="0"/>
              <a:t>A</a:t>
            </a:r>
            <a:endParaRPr lang="zh-CN" altLang="en-US" dirty="0"/>
          </a:p>
        </p:txBody>
      </p:sp>
      <p:sp>
        <p:nvSpPr>
          <p:cNvPr id="163" name="Rectangle 29"/>
          <p:cNvSpPr>
            <a:spLocks noChangeArrowheads="1"/>
          </p:cNvSpPr>
          <p:nvPr/>
        </p:nvSpPr>
        <p:spPr bwMode="auto">
          <a:xfrm>
            <a:off x="5192252" y="535709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64" name="TextBox 163"/>
          <p:cNvSpPr txBox="1"/>
          <p:nvPr/>
        </p:nvSpPr>
        <p:spPr>
          <a:xfrm>
            <a:off x="5175884" y="5291916"/>
            <a:ext cx="99828" cy="369332"/>
          </a:xfrm>
          <a:prstGeom prst="rect">
            <a:avLst/>
          </a:prstGeom>
          <a:noFill/>
        </p:spPr>
        <p:txBody>
          <a:bodyPr wrap="square" rtlCol="0">
            <a:spAutoFit/>
          </a:bodyPr>
          <a:lstStyle/>
          <a:p>
            <a:r>
              <a:rPr lang="en-US" altLang="zh-CN" dirty="0"/>
              <a:t>B</a:t>
            </a:r>
            <a:endParaRPr lang="zh-CN" altLang="en-US" dirty="0"/>
          </a:p>
        </p:txBody>
      </p:sp>
      <p:cxnSp>
        <p:nvCxnSpPr>
          <p:cNvPr id="166" name="直接箭头连接符 165"/>
          <p:cNvCxnSpPr>
            <a:stCxn id="90" idx="2"/>
          </p:cNvCxnSpPr>
          <p:nvPr/>
        </p:nvCxnSpPr>
        <p:spPr>
          <a:xfrm>
            <a:off x="1295636" y="4518412"/>
            <a:ext cx="207840" cy="4599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68" name="直接箭头连接符 167"/>
          <p:cNvCxnSpPr>
            <a:stCxn id="95" idx="2"/>
          </p:cNvCxnSpPr>
          <p:nvPr/>
        </p:nvCxnSpPr>
        <p:spPr>
          <a:xfrm>
            <a:off x="3473878" y="4527704"/>
            <a:ext cx="234026" cy="44140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70" name="直接箭头连接符 169"/>
          <p:cNvCxnSpPr>
            <a:stCxn id="99" idx="2"/>
          </p:cNvCxnSpPr>
          <p:nvPr/>
        </p:nvCxnSpPr>
        <p:spPr>
          <a:xfrm flipH="1">
            <a:off x="3303676" y="4509120"/>
            <a:ext cx="2262526" cy="136815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175" name="Rectangle 29"/>
          <p:cNvSpPr>
            <a:spLocks noChangeArrowheads="1"/>
          </p:cNvSpPr>
          <p:nvPr/>
        </p:nvSpPr>
        <p:spPr bwMode="auto">
          <a:xfrm>
            <a:off x="1735868"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76" name="TextBox 175"/>
          <p:cNvSpPr txBox="1"/>
          <p:nvPr/>
        </p:nvSpPr>
        <p:spPr>
          <a:xfrm>
            <a:off x="1735868" y="1052736"/>
            <a:ext cx="99828" cy="369332"/>
          </a:xfrm>
          <a:prstGeom prst="rect">
            <a:avLst/>
          </a:prstGeom>
          <a:noFill/>
        </p:spPr>
        <p:txBody>
          <a:bodyPr wrap="square" rtlCol="0">
            <a:spAutoFit/>
          </a:bodyPr>
          <a:lstStyle/>
          <a:p>
            <a:r>
              <a:rPr lang="en-US" altLang="zh-CN" dirty="0"/>
              <a:t>B</a:t>
            </a:r>
            <a:endParaRPr lang="zh-CN" altLang="en-US" dirty="0"/>
          </a:p>
        </p:txBody>
      </p:sp>
      <p:sp>
        <p:nvSpPr>
          <p:cNvPr id="177" name="Rectangle 29"/>
          <p:cNvSpPr>
            <a:spLocks noChangeArrowheads="1"/>
          </p:cNvSpPr>
          <p:nvPr/>
        </p:nvSpPr>
        <p:spPr bwMode="auto">
          <a:xfrm>
            <a:off x="1735868"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78" name="TextBox 177"/>
          <p:cNvSpPr txBox="1"/>
          <p:nvPr/>
        </p:nvSpPr>
        <p:spPr>
          <a:xfrm>
            <a:off x="1735868" y="1331476"/>
            <a:ext cx="99828" cy="369332"/>
          </a:xfrm>
          <a:prstGeom prst="rect">
            <a:avLst/>
          </a:prstGeom>
          <a:noFill/>
        </p:spPr>
        <p:txBody>
          <a:bodyPr wrap="square" rtlCol="0">
            <a:spAutoFit/>
          </a:bodyPr>
          <a:lstStyle/>
          <a:p>
            <a:r>
              <a:rPr lang="en-US" altLang="zh-CN" dirty="0"/>
              <a:t>C</a:t>
            </a:r>
            <a:endParaRPr lang="zh-CN" altLang="en-US" dirty="0"/>
          </a:p>
        </p:txBody>
      </p:sp>
      <p:sp>
        <p:nvSpPr>
          <p:cNvPr id="179" name="Rectangle 29"/>
          <p:cNvSpPr>
            <a:spLocks noChangeArrowheads="1"/>
          </p:cNvSpPr>
          <p:nvPr/>
        </p:nvSpPr>
        <p:spPr bwMode="auto">
          <a:xfrm>
            <a:off x="3779912"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80" name="TextBox 179"/>
          <p:cNvSpPr txBox="1"/>
          <p:nvPr/>
        </p:nvSpPr>
        <p:spPr>
          <a:xfrm>
            <a:off x="3779912" y="1052736"/>
            <a:ext cx="99828" cy="369332"/>
          </a:xfrm>
          <a:prstGeom prst="rect">
            <a:avLst/>
          </a:prstGeom>
          <a:noFill/>
        </p:spPr>
        <p:txBody>
          <a:bodyPr wrap="square" rtlCol="0">
            <a:spAutoFit/>
          </a:bodyPr>
          <a:lstStyle/>
          <a:p>
            <a:r>
              <a:rPr lang="en-US" altLang="zh-CN" dirty="0"/>
              <a:t>A</a:t>
            </a:r>
            <a:endParaRPr lang="zh-CN" altLang="en-US" dirty="0"/>
          </a:p>
        </p:txBody>
      </p:sp>
      <p:sp>
        <p:nvSpPr>
          <p:cNvPr id="181" name="Rectangle 29"/>
          <p:cNvSpPr>
            <a:spLocks noChangeArrowheads="1"/>
          </p:cNvSpPr>
          <p:nvPr/>
        </p:nvSpPr>
        <p:spPr bwMode="auto">
          <a:xfrm>
            <a:off x="3779912"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82" name="TextBox 181"/>
          <p:cNvSpPr txBox="1"/>
          <p:nvPr/>
        </p:nvSpPr>
        <p:spPr>
          <a:xfrm>
            <a:off x="3779912" y="1331476"/>
            <a:ext cx="99828" cy="369332"/>
          </a:xfrm>
          <a:prstGeom prst="rect">
            <a:avLst/>
          </a:prstGeom>
          <a:noFill/>
        </p:spPr>
        <p:txBody>
          <a:bodyPr wrap="square" rtlCol="0">
            <a:spAutoFit/>
          </a:bodyPr>
          <a:lstStyle/>
          <a:p>
            <a:r>
              <a:rPr lang="en-US" altLang="zh-CN" dirty="0"/>
              <a:t>C</a:t>
            </a:r>
            <a:endParaRPr lang="zh-CN" altLang="en-US" dirty="0"/>
          </a:p>
        </p:txBody>
      </p:sp>
      <p:sp>
        <p:nvSpPr>
          <p:cNvPr id="183" name="Rectangle 29"/>
          <p:cNvSpPr>
            <a:spLocks noChangeArrowheads="1"/>
          </p:cNvSpPr>
          <p:nvPr/>
        </p:nvSpPr>
        <p:spPr bwMode="auto">
          <a:xfrm>
            <a:off x="5768316"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84" name="TextBox 183"/>
          <p:cNvSpPr txBox="1"/>
          <p:nvPr/>
        </p:nvSpPr>
        <p:spPr>
          <a:xfrm>
            <a:off x="5768316" y="1052736"/>
            <a:ext cx="99828" cy="369332"/>
          </a:xfrm>
          <a:prstGeom prst="rect">
            <a:avLst/>
          </a:prstGeom>
          <a:noFill/>
        </p:spPr>
        <p:txBody>
          <a:bodyPr wrap="square" rtlCol="0">
            <a:spAutoFit/>
          </a:bodyPr>
          <a:lstStyle/>
          <a:p>
            <a:r>
              <a:rPr lang="en-US" altLang="zh-CN" dirty="0"/>
              <a:t>A</a:t>
            </a:r>
            <a:endParaRPr lang="zh-CN" altLang="en-US" dirty="0"/>
          </a:p>
        </p:txBody>
      </p:sp>
      <p:sp>
        <p:nvSpPr>
          <p:cNvPr id="185" name="Rectangle 29"/>
          <p:cNvSpPr>
            <a:spLocks noChangeArrowheads="1"/>
          </p:cNvSpPr>
          <p:nvPr/>
        </p:nvSpPr>
        <p:spPr bwMode="auto">
          <a:xfrm>
            <a:off x="5768316"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86" name="TextBox 185"/>
          <p:cNvSpPr txBox="1"/>
          <p:nvPr/>
        </p:nvSpPr>
        <p:spPr>
          <a:xfrm>
            <a:off x="5768316" y="1331476"/>
            <a:ext cx="99828" cy="369332"/>
          </a:xfrm>
          <a:prstGeom prst="rect">
            <a:avLst/>
          </a:prstGeom>
          <a:noFill/>
        </p:spPr>
        <p:txBody>
          <a:bodyPr wrap="square" rtlCol="0">
            <a:spAutoFit/>
          </a:bodyPr>
          <a:lstStyle/>
          <a:p>
            <a:r>
              <a:rPr lang="en-US" altLang="zh-CN" dirty="0"/>
              <a:t>B</a:t>
            </a:r>
            <a:endParaRPr lang="zh-CN" altLang="en-US" dirty="0"/>
          </a:p>
        </p:txBody>
      </p:sp>
      <p:sp>
        <p:nvSpPr>
          <p:cNvPr id="5" name="右大括号 4"/>
          <p:cNvSpPr/>
          <p:nvPr/>
        </p:nvSpPr>
        <p:spPr>
          <a:xfrm>
            <a:off x="6660232" y="4748407"/>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943352" y="5538718"/>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100" name="Rectangle 29"/>
          <p:cNvSpPr>
            <a:spLocks noChangeArrowheads="1"/>
          </p:cNvSpPr>
          <p:nvPr/>
        </p:nvSpPr>
        <p:spPr bwMode="auto">
          <a:xfrm>
            <a:off x="1663860" y="536638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1" name="TextBox 100"/>
          <p:cNvSpPr txBox="1"/>
          <p:nvPr/>
        </p:nvSpPr>
        <p:spPr>
          <a:xfrm>
            <a:off x="1647492" y="5301208"/>
            <a:ext cx="99828" cy="369332"/>
          </a:xfrm>
          <a:prstGeom prst="rect">
            <a:avLst/>
          </a:prstGeom>
          <a:noFill/>
        </p:spPr>
        <p:txBody>
          <a:bodyPr wrap="square" rtlCol="0">
            <a:spAutoFit/>
          </a:bodyPr>
          <a:lstStyle/>
          <a:p>
            <a:r>
              <a:rPr lang="en-US" altLang="zh-CN" dirty="0"/>
              <a:t>C</a:t>
            </a:r>
            <a:endParaRPr lang="zh-CN" altLang="en-US" dirty="0"/>
          </a:p>
        </p:txBody>
      </p:sp>
      <p:sp>
        <p:nvSpPr>
          <p:cNvPr id="102" name="Rectangle 29"/>
          <p:cNvSpPr>
            <a:spLocks noChangeArrowheads="1"/>
          </p:cNvSpPr>
          <p:nvPr/>
        </p:nvSpPr>
        <p:spPr bwMode="auto">
          <a:xfrm>
            <a:off x="2720720" y="6357958"/>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3" name="Rectangle 29"/>
          <p:cNvSpPr>
            <a:spLocks noChangeArrowheads="1"/>
          </p:cNvSpPr>
          <p:nvPr/>
        </p:nvSpPr>
        <p:spPr bwMode="auto">
          <a:xfrm>
            <a:off x="3252596" y="6367250"/>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4" name="Rectangle 29"/>
          <p:cNvSpPr>
            <a:spLocks noChangeArrowheads="1"/>
          </p:cNvSpPr>
          <p:nvPr/>
        </p:nvSpPr>
        <p:spPr bwMode="auto">
          <a:xfrm>
            <a:off x="3756652" y="6376542"/>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7" name="TextBox 116"/>
          <p:cNvSpPr txBox="1"/>
          <p:nvPr/>
        </p:nvSpPr>
        <p:spPr>
          <a:xfrm>
            <a:off x="2714612" y="6286520"/>
            <a:ext cx="99828" cy="369332"/>
          </a:xfrm>
          <a:prstGeom prst="rect">
            <a:avLst/>
          </a:prstGeom>
          <a:noFill/>
        </p:spPr>
        <p:txBody>
          <a:bodyPr wrap="square" rtlCol="0">
            <a:spAutoFit/>
          </a:bodyPr>
          <a:lstStyle/>
          <a:p>
            <a:r>
              <a:rPr lang="en-US" altLang="zh-CN" dirty="0"/>
              <a:t>A</a:t>
            </a:r>
            <a:endParaRPr lang="zh-CN" altLang="en-US" dirty="0"/>
          </a:p>
        </p:txBody>
      </p:sp>
      <p:sp>
        <p:nvSpPr>
          <p:cNvPr id="118" name="TextBox 117"/>
          <p:cNvSpPr txBox="1"/>
          <p:nvPr/>
        </p:nvSpPr>
        <p:spPr>
          <a:xfrm>
            <a:off x="3246488" y="6295812"/>
            <a:ext cx="99828" cy="369332"/>
          </a:xfrm>
          <a:prstGeom prst="rect">
            <a:avLst/>
          </a:prstGeom>
          <a:noFill/>
        </p:spPr>
        <p:txBody>
          <a:bodyPr wrap="square" rtlCol="0">
            <a:spAutoFit/>
          </a:bodyPr>
          <a:lstStyle/>
          <a:p>
            <a:r>
              <a:rPr lang="en-US" altLang="zh-CN" dirty="0"/>
              <a:t>B</a:t>
            </a:r>
            <a:endParaRPr lang="zh-CN" altLang="en-US" dirty="0"/>
          </a:p>
        </p:txBody>
      </p:sp>
      <p:sp>
        <p:nvSpPr>
          <p:cNvPr id="119" name="TextBox 118"/>
          <p:cNvSpPr txBox="1"/>
          <p:nvPr/>
        </p:nvSpPr>
        <p:spPr>
          <a:xfrm>
            <a:off x="3750544" y="6305104"/>
            <a:ext cx="99828" cy="369332"/>
          </a:xfrm>
          <a:prstGeom prst="rect">
            <a:avLst/>
          </a:prstGeom>
          <a:noFill/>
        </p:spPr>
        <p:txBody>
          <a:bodyPr wrap="square" rtlCol="0">
            <a:spAutoFit/>
          </a:bodyPr>
          <a:lstStyle/>
          <a:p>
            <a:r>
              <a:rPr lang="en-US" altLang="zh-CN" dirty="0"/>
              <a:t>C</a:t>
            </a:r>
            <a:endParaRPr lang="zh-CN" altLang="en-US" dirty="0"/>
          </a:p>
        </p:txBody>
      </p:sp>
      <p:sp>
        <p:nvSpPr>
          <p:cNvPr id="6" name="文本框 5"/>
          <p:cNvSpPr txBox="1"/>
          <p:nvPr/>
        </p:nvSpPr>
        <p:spPr>
          <a:xfrm>
            <a:off x="6540325" y="2884294"/>
            <a:ext cx="2618024" cy="1169551"/>
          </a:xfrm>
          <a:prstGeom prst="rect">
            <a:avLst/>
          </a:prstGeom>
          <a:noFill/>
        </p:spPr>
        <p:txBody>
          <a:bodyPr wrap="none" rtlCol="0">
            <a:spAutoFit/>
          </a:bodyPr>
          <a:lstStyle/>
          <a:p>
            <a:r>
              <a:rPr lang="zh-CN" altLang="en-US" sz="1400" dirty="0">
                <a:solidFill>
                  <a:srgbClr val="FF0000"/>
                </a:solidFill>
              </a:rPr>
              <a:t>同一个</a:t>
            </a:r>
            <a:r>
              <a:rPr lang="en-US" altLang="zh-CN" sz="1400" dirty="0">
                <a:solidFill>
                  <a:srgbClr val="FF0000"/>
                </a:solidFill>
              </a:rPr>
              <a:t>Space</a:t>
            </a:r>
            <a:r>
              <a:rPr lang="zh-CN" altLang="en-US" sz="1400" dirty="0">
                <a:solidFill>
                  <a:srgbClr val="FF0000"/>
                </a:solidFill>
              </a:rPr>
              <a:t>划分成三个</a:t>
            </a:r>
            <a:r>
              <a:rPr lang="en-US" altLang="zh-CN" sz="1400" dirty="0">
                <a:solidFill>
                  <a:srgbClr val="FF0000"/>
                </a:solidFill>
              </a:rPr>
              <a:t>cell,</a:t>
            </a:r>
          </a:p>
          <a:p>
            <a:r>
              <a:rPr lang="zh-CN" altLang="en-US" sz="1400" dirty="0">
                <a:solidFill>
                  <a:srgbClr val="FF0000"/>
                </a:solidFill>
              </a:rPr>
              <a:t>三个</a:t>
            </a:r>
            <a:r>
              <a:rPr lang="en-US" altLang="zh-CN" sz="1400" dirty="0">
                <a:solidFill>
                  <a:srgbClr val="FF0000"/>
                </a:solidFill>
              </a:rPr>
              <a:t>cell</a:t>
            </a:r>
            <a:r>
              <a:rPr lang="zh-CN" altLang="en-US" sz="1400" dirty="0">
                <a:solidFill>
                  <a:srgbClr val="FF0000"/>
                </a:solidFill>
              </a:rPr>
              <a:t>分别被三个</a:t>
            </a:r>
            <a:r>
              <a:rPr lang="en-US" altLang="zh-CN" sz="1400" dirty="0" err="1">
                <a:solidFill>
                  <a:srgbClr val="FF0000"/>
                </a:solidFill>
              </a:rPr>
              <a:t>cellapp</a:t>
            </a:r>
            <a:r>
              <a:rPr lang="zh-CN" altLang="en-US" sz="1400" dirty="0">
                <a:solidFill>
                  <a:srgbClr val="FF0000"/>
                </a:solidFill>
              </a:rPr>
              <a:t>管理</a:t>
            </a:r>
            <a:r>
              <a:rPr lang="en-US" altLang="zh-CN" sz="1400" dirty="0">
                <a:solidFill>
                  <a:srgbClr val="FF0000"/>
                </a:solidFill>
              </a:rPr>
              <a:t>,</a:t>
            </a:r>
          </a:p>
          <a:p>
            <a:r>
              <a:rPr lang="zh-CN" altLang="en-US" sz="1400" dirty="0">
                <a:solidFill>
                  <a:srgbClr val="FF0000"/>
                </a:solidFill>
              </a:rPr>
              <a:t>每个</a:t>
            </a:r>
            <a:r>
              <a:rPr lang="en-US" altLang="zh-CN" sz="1400" dirty="0">
                <a:solidFill>
                  <a:srgbClr val="FF0000"/>
                </a:solidFill>
              </a:rPr>
              <a:t>cell\</a:t>
            </a:r>
            <a:r>
              <a:rPr lang="en-US" altLang="zh-CN" sz="1400" dirty="0" err="1">
                <a:solidFill>
                  <a:srgbClr val="FF0000"/>
                </a:solidFill>
              </a:rPr>
              <a:t>cellapp</a:t>
            </a:r>
            <a:r>
              <a:rPr lang="zh-CN" altLang="en-US" sz="1400" dirty="0">
                <a:solidFill>
                  <a:srgbClr val="FF0000"/>
                </a:solidFill>
              </a:rPr>
              <a:t>记录着自己</a:t>
            </a:r>
            <a:endParaRPr lang="en-US" altLang="zh-CN" sz="1400" dirty="0">
              <a:solidFill>
                <a:srgbClr val="FF0000"/>
              </a:solidFill>
            </a:endParaRPr>
          </a:p>
          <a:p>
            <a:r>
              <a:rPr lang="zh-CN" altLang="en-US" sz="1400" dirty="0">
                <a:solidFill>
                  <a:srgbClr val="FF0000"/>
                </a:solidFill>
              </a:rPr>
              <a:t>的</a:t>
            </a:r>
            <a:r>
              <a:rPr lang="en-US" altLang="zh-CN" sz="1400" dirty="0">
                <a:solidFill>
                  <a:srgbClr val="FF0000"/>
                </a:solidFill>
              </a:rPr>
              <a:t>Real Entity</a:t>
            </a:r>
            <a:r>
              <a:rPr lang="zh-CN" altLang="en-US" sz="1400" dirty="0">
                <a:solidFill>
                  <a:srgbClr val="FF0000"/>
                </a:solidFill>
              </a:rPr>
              <a:t>和来自其他</a:t>
            </a:r>
            <a:r>
              <a:rPr lang="en-US" altLang="zh-CN" sz="1400" dirty="0">
                <a:solidFill>
                  <a:srgbClr val="FF0000"/>
                </a:solidFill>
              </a:rPr>
              <a:t>cell</a:t>
            </a:r>
            <a:r>
              <a:rPr lang="zh-CN" altLang="en-US" sz="1400" dirty="0">
                <a:solidFill>
                  <a:srgbClr val="FF0000"/>
                </a:solidFill>
              </a:rPr>
              <a:t>的</a:t>
            </a:r>
            <a:endParaRPr lang="en-US" altLang="zh-CN" sz="1400" dirty="0">
              <a:solidFill>
                <a:srgbClr val="FF0000"/>
              </a:solidFill>
            </a:endParaRPr>
          </a:p>
          <a:p>
            <a:r>
              <a:rPr lang="en-US" altLang="zh-CN" sz="1400" dirty="0">
                <a:solidFill>
                  <a:srgbClr val="FF0000"/>
                </a:solidFill>
              </a:rPr>
              <a:t>Real Entity </a:t>
            </a:r>
            <a:r>
              <a:rPr lang="zh-CN" altLang="en-US" sz="1400" dirty="0">
                <a:solidFill>
                  <a:srgbClr val="FF0000"/>
                </a:solidFill>
              </a:rPr>
              <a:t>的副本</a:t>
            </a:r>
            <a:r>
              <a:rPr lang="en-US" altLang="zh-CN" sz="1400" dirty="0">
                <a:solidFill>
                  <a:srgbClr val="FF0000"/>
                </a:solidFill>
              </a:rPr>
              <a:t>Ghost Entity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分布式的</a:t>
            </a:r>
            <a:r>
              <a:rPr lang="en-US" altLang="zh-CN" dirty="0">
                <a:solidFill>
                  <a:schemeClr val="accent1"/>
                </a:solidFill>
                <a:ea typeface="宋体" panose="02010600030101010101" pitchFamily="2" charset="-122"/>
              </a:rPr>
              <a:t>Entity</a:t>
            </a:r>
            <a:endParaRPr lang="zh-CN" altLang="en-US" sz="2200" b="1" dirty="0">
              <a:solidFill>
                <a:schemeClr val="accent1"/>
              </a:solidFill>
              <a:latin typeface="+mn-ea"/>
              <a:ea typeface="+mn-ea"/>
            </a:endParaRPr>
          </a:p>
        </p:txBody>
      </p:sp>
      <p:sp>
        <p:nvSpPr>
          <p:cNvPr id="10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79705" indent="-179705" defTabSz="448945">
              <a:lnSpc>
                <a:spcPct val="90000"/>
              </a:lnSpc>
              <a:spcBef>
                <a:spcPts val="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dirty="0">
                <a:latin typeface="Verdana" panose="020B0604030504040204" pitchFamily="34" charset="0"/>
              </a:rPr>
              <a:t>CellApp</a:t>
            </a:r>
            <a:r>
              <a:rPr lang="en-GB" altLang="zh-CN" dirty="0">
                <a:latin typeface="Verdana" panose="020B0604030504040204" pitchFamily="34" charset="0"/>
                <a:ea typeface="宋体" panose="02010600030101010101" pitchFamily="2" charset="-122"/>
              </a:rPr>
              <a:t>1,CellApp2</a:t>
            </a:r>
            <a:r>
              <a:rPr lang="zh-CN" altLang="en-GB" dirty="0">
                <a:latin typeface="Verdana" panose="020B0604030504040204" pitchFamily="34" charset="0"/>
                <a:ea typeface="宋体" panose="02010600030101010101" pitchFamily="2" charset="-122"/>
              </a:rPr>
              <a:t>和</a:t>
            </a:r>
            <a:r>
              <a:rPr lang="en-GB" altLang="zh-CN" dirty="0">
                <a:latin typeface="Verdana" panose="020B0604030504040204" pitchFamily="34" charset="0"/>
                <a:ea typeface="宋体" panose="02010600030101010101" pitchFamily="2" charset="-122"/>
              </a:rPr>
              <a:t>CellApp3</a:t>
            </a:r>
            <a:r>
              <a:rPr lang="zh-CN" altLang="en-GB" dirty="0">
                <a:latin typeface="Verdana" panose="020B0604030504040204" pitchFamily="34" charset="0"/>
                <a:ea typeface="宋体" panose="02010600030101010101" pitchFamily="2" charset="-122"/>
              </a:rPr>
              <a:t>都各自有一个</a:t>
            </a:r>
            <a:r>
              <a:rPr lang="en-GB" altLang="zh-CN" dirty="0">
                <a:latin typeface="Verdana" panose="020B0604030504040204" pitchFamily="34" charset="0"/>
              </a:rPr>
              <a:t>Space1</a:t>
            </a:r>
            <a:r>
              <a:rPr lang="zh-CN" altLang="en-US" dirty="0">
                <a:latin typeface="Verdana" panose="020B0604030504040204" pitchFamily="34" charset="0"/>
              </a:rPr>
              <a:t>的</a:t>
            </a:r>
            <a:r>
              <a:rPr lang="en-GB" altLang="zh-CN" dirty="0">
                <a:latin typeface="Verdana" panose="020B0604030504040204" pitchFamily="34" charset="0"/>
                <a:ea typeface="宋体" panose="02010600030101010101" pitchFamily="2" charset="-122"/>
              </a:rPr>
              <a:t>Cell</a:t>
            </a:r>
            <a:endParaRPr lang="en-US" altLang="zh-CN" dirty="0">
              <a:latin typeface="Verdana" panose="020B0604030504040204" pitchFamily="34" charset="0"/>
              <a:ea typeface="宋体" panose="02010600030101010101" pitchFamily="2" charset="-122"/>
            </a:endParaRPr>
          </a:p>
          <a:p>
            <a:pPr marL="179705" indent="-179705" defTabSz="448945">
              <a:lnSpc>
                <a:spcPct val="90000"/>
              </a:lnSpc>
              <a:spcBef>
                <a:spcPts val="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dirty="0">
                <a:latin typeface="Verdana" panose="020B0604030504040204" pitchFamily="34" charset="0"/>
                <a:ea typeface="宋体" panose="02010600030101010101" pitchFamily="2" charset="-122"/>
              </a:rPr>
              <a:t>三</a:t>
            </a:r>
            <a:r>
              <a:rPr lang="zh-CN" altLang="en-GB" dirty="0">
                <a:latin typeface="Verdana" panose="020B0604030504040204" pitchFamily="34" charset="0"/>
                <a:ea typeface="宋体" panose="02010600030101010101" pitchFamily="2" charset="-122"/>
              </a:rPr>
              <a:t>个</a:t>
            </a:r>
            <a:r>
              <a:rPr lang="en-GB" altLang="zh-CN" dirty="0">
                <a:latin typeface="Verdana" panose="020B0604030504040204" pitchFamily="34" charset="0"/>
                <a:ea typeface="宋体" panose="02010600030101010101" pitchFamily="2" charset="-122"/>
              </a:rPr>
              <a:t>Entity</a:t>
            </a:r>
            <a:r>
              <a:rPr lang="en-GB" altLang="zh-CN" dirty="0">
                <a:latin typeface="Verdana" panose="020B0604030504040204" pitchFamily="34" charset="0"/>
              </a:rPr>
              <a:t> A,B</a:t>
            </a:r>
            <a:r>
              <a:rPr lang="zh-CN" altLang="en-GB" dirty="0">
                <a:latin typeface="Verdana" panose="020B0604030504040204" pitchFamily="34" charset="0"/>
                <a:ea typeface="宋体" panose="02010600030101010101" pitchFamily="2" charset="-122"/>
              </a:rPr>
              <a:t>和</a:t>
            </a:r>
            <a:r>
              <a:rPr lang="en-GB" altLang="zh-CN" dirty="0">
                <a:latin typeface="Verdana" panose="020B0604030504040204" pitchFamily="34" charset="0"/>
              </a:rPr>
              <a:t>C</a:t>
            </a:r>
            <a:r>
              <a:rPr lang="zh-CN" altLang="en-GB" dirty="0">
                <a:latin typeface="Verdana" panose="020B0604030504040204" pitchFamily="34" charset="0"/>
                <a:ea typeface="宋体" panose="02010600030101010101" pitchFamily="2" charset="-122"/>
              </a:rPr>
              <a:t>都在</a:t>
            </a:r>
            <a:r>
              <a:rPr lang="en-GB" altLang="zh-CN" dirty="0">
                <a:latin typeface="Verdana" panose="020B0604030504040204" pitchFamily="34" charset="0"/>
              </a:rPr>
              <a:t>Space1</a:t>
            </a:r>
            <a:endParaRPr lang="zh-CN" altLang="en-GB" dirty="0">
              <a:latin typeface="Verdana" panose="020B0604030504040204" pitchFamily="34" charset="0"/>
              <a:ea typeface="宋体" panose="02010600030101010101" pitchFamily="2" charset="-122"/>
            </a:endParaRPr>
          </a:p>
          <a:p>
            <a:endParaRPr lang="en-AU" altLang="zh-CN" dirty="0"/>
          </a:p>
          <a:p>
            <a:endParaRPr lang="en-US" altLang="zh-CN" dirty="0">
              <a:ea typeface="宋体" panose="02010600030101010101" pitchFamily="2" charset="-122"/>
            </a:endParaRPr>
          </a:p>
        </p:txBody>
      </p:sp>
      <p:cxnSp>
        <p:nvCxnSpPr>
          <p:cNvPr id="101" name="直接连接符 100"/>
          <p:cNvCxnSpPr/>
          <p:nvPr/>
        </p:nvCxnSpPr>
        <p:spPr>
          <a:xfrm>
            <a:off x="611560" y="4054189"/>
            <a:ext cx="6491936" cy="1"/>
          </a:xfrm>
          <a:prstGeom prst="line">
            <a:avLst/>
          </a:prstGeom>
        </p:spPr>
        <p:style>
          <a:lnRef idx="3">
            <a:schemeClr val="dk1"/>
          </a:lnRef>
          <a:fillRef idx="0">
            <a:schemeClr val="dk1"/>
          </a:fillRef>
          <a:effectRef idx="2">
            <a:schemeClr val="dk1"/>
          </a:effectRef>
          <a:fontRef idx="minor">
            <a:schemeClr val="tx1"/>
          </a:fontRef>
        </p:style>
      </p:cxnSp>
      <p:sp>
        <p:nvSpPr>
          <p:cNvPr id="102" name="Rectangle 15"/>
          <p:cNvSpPr>
            <a:spLocks noChangeArrowheads="1"/>
          </p:cNvSpPr>
          <p:nvPr/>
        </p:nvSpPr>
        <p:spPr bwMode="auto">
          <a:xfrm>
            <a:off x="1054824" y="315026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103" name="Rectangle 29"/>
          <p:cNvSpPr>
            <a:spLocks noChangeArrowheads="1"/>
          </p:cNvSpPr>
          <p:nvPr/>
        </p:nvSpPr>
        <p:spPr bwMode="auto">
          <a:xfrm>
            <a:off x="1243028" y="320614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04" name="TextBox 103"/>
          <p:cNvSpPr txBox="1"/>
          <p:nvPr/>
        </p:nvSpPr>
        <p:spPr>
          <a:xfrm>
            <a:off x="1414864" y="3501008"/>
            <a:ext cx="1224136" cy="369332"/>
          </a:xfrm>
          <a:prstGeom prst="rect">
            <a:avLst/>
          </a:prstGeom>
          <a:noFill/>
        </p:spPr>
        <p:txBody>
          <a:bodyPr wrap="square" rtlCol="0">
            <a:spAutoFit/>
          </a:bodyPr>
          <a:lstStyle/>
          <a:p>
            <a:r>
              <a:rPr lang="en-US" altLang="zh-CN" b="1" dirty="0"/>
              <a:t>Cellapp1</a:t>
            </a:r>
            <a:endParaRPr lang="zh-CN" altLang="en-US" b="1" dirty="0"/>
          </a:p>
        </p:txBody>
      </p:sp>
      <p:sp>
        <p:nvSpPr>
          <p:cNvPr id="117" name="TextBox 116"/>
          <p:cNvSpPr txBox="1"/>
          <p:nvPr/>
        </p:nvSpPr>
        <p:spPr>
          <a:xfrm>
            <a:off x="1243028" y="3140968"/>
            <a:ext cx="99828" cy="369332"/>
          </a:xfrm>
          <a:prstGeom prst="rect">
            <a:avLst/>
          </a:prstGeom>
          <a:noFill/>
        </p:spPr>
        <p:txBody>
          <a:bodyPr wrap="square" rtlCol="0">
            <a:spAutoFit/>
          </a:bodyPr>
          <a:lstStyle/>
          <a:p>
            <a:r>
              <a:rPr lang="en-US" altLang="zh-CN" dirty="0"/>
              <a:t>A</a:t>
            </a:r>
            <a:endParaRPr lang="zh-CN" altLang="en-US" dirty="0"/>
          </a:p>
        </p:txBody>
      </p:sp>
      <p:sp>
        <p:nvSpPr>
          <p:cNvPr id="118" name="Rectangle 29"/>
          <p:cNvSpPr>
            <a:spLocks noChangeArrowheads="1"/>
          </p:cNvSpPr>
          <p:nvPr/>
        </p:nvSpPr>
        <p:spPr bwMode="auto">
          <a:xfrm>
            <a:off x="1774904" y="32154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9" name="TextBox 118"/>
          <p:cNvSpPr txBox="1"/>
          <p:nvPr/>
        </p:nvSpPr>
        <p:spPr>
          <a:xfrm>
            <a:off x="1774904" y="3150260"/>
            <a:ext cx="99828" cy="369332"/>
          </a:xfrm>
          <a:prstGeom prst="rect">
            <a:avLst/>
          </a:prstGeom>
          <a:noFill/>
        </p:spPr>
        <p:txBody>
          <a:bodyPr wrap="square" rtlCol="0">
            <a:spAutoFit/>
          </a:bodyPr>
          <a:lstStyle/>
          <a:p>
            <a:r>
              <a:rPr lang="en-US" altLang="zh-CN" dirty="0"/>
              <a:t>B</a:t>
            </a:r>
            <a:endParaRPr lang="zh-CN" altLang="en-US" dirty="0"/>
          </a:p>
        </p:txBody>
      </p:sp>
      <p:sp>
        <p:nvSpPr>
          <p:cNvPr id="120" name="Rectangle 15"/>
          <p:cNvSpPr>
            <a:spLocks noChangeArrowheads="1"/>
          </p:cNvSpPr>
          <p:nvPr/>
        </p:nvSpPr>
        <p:spPr bwMode="auto">
          <a:xfrm>
            <a:off x="3071048"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121" name="TextBox 120"/>
          <p:cNvSpPr txBox="1"/>
          <p:nvPr/>
        </p:nvSpPr>
        <p:spPr>
          <a:xfrm>
            <a:off x="3431088" y="3510300"/>
            <a:ext cx="1224136" cy="369332"/>
          </a:xfrm>
          <a:prstGeom prst="rect">
            <a:avLst/>
          </a:prstGeom>
          <a:noFill/>
        </p:spPr>
        <p:txBody>
          <a:bodyPr wrap="square" rtlCol="0">
            <a:spAutoFit/>
          </a:bodyPr>
          <a:lstStyle/>
          <a:p>
            <a:r>
              <a:rPr lang="en-US" altLang="zh-CN" b="1" dirty="0"/>
              <a:t>Cellapp2</a:t>
            </a:r>
            <a:endParaRPr lang="zh-CN" altLang="en-US" b="1" dirty="0"/>
          </a:p>
        </p:txBody>
      </p:sp>
      <p:sp>
        <p:nvSpPr>
          <p:cNvPr id="122" name="Rectangle 29"/>
          <p:cNvSpPr>
            <a:spLocks noChangeArrowheads="1"/>
          </p:cNvSpPr>
          <p:nvPr/>
        </p:nvSpPr>
        <p:spPr bwMode="auto">
          <a:xfrm>
            <a:off x="2278960"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23" name="TextBox 122"/>
          <p:cNvSpPr txBox="1"/>
          <p:nvPr/>
        </p:nvSpPr>
        <p:spPr>
          <a:xfrm>
            <a:off x="2278960" y="3159552"/>
            <a:ext cx="99828" cy="369332"/>
          </a:xfrm>
          <a:prstGeom prst="rect">
            <a:avLst/>
          </a:prstGeom>
          <a:noFill/>
        </p:spPr>
        <p:txBody>
          <a:bodyPr wrap="square" rtlCol="0">
            <a:spAutoFit/>
          </a:bodyPr>
          <a:lstStyle/>
          <a:p>
            <a:r>
              <a:rPr lang="en-US" altLang="zh-CN" dirty="0"/>
              <a:t>C</a:t>
            </a:r>
            <a:endParaRPr lang="zh-CN" altLang="en-US" dirty="0"/>
          </a:p>
        </p:txBody>
      </p:sp>
      <p:sp>
        <p:nvSpPr>
          <p:cNvPr id="124" name="Rectangle 15"/>
          <p:cNvSpPr>
            <a:spLocks noChangeArrowheads="1"/>
          </p:cNvSpPr>
          <p:nvPr/>
        </p:nvSpPr>
        <p:spPr bwMode="auto">
          <a:xfrm>
            <a:off x="5159280"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125" name="TextBox 124"/>
          <p:cNvSpPr txBox="1"/>
          <p:nvPr/>
        </p:nvSpPr>
        <p:spPr>
          <a:xfrm>
            <a:off x="5519320" y="3491716"/>
            <a:ext cx="1224136" cy="369332"/>
          </a:xfrm>
          <a:prstGeom prst="rect">
            <a:avLst/>
          </a:prstGeom>
          <a:noFill/>
        </p:spPr>
        <p:txBody>
          <a:bodyPr wrap="square" rtlCol="0">
            <a:spAutoFit/>
          </a:bodyPr>
          <a:lstStyle/>
          <a:p>
            <a:r>
              <a:rPr lang="en-US" altLang="zh-CN" b="1" dirty="0"/>
              <a:t>Cellapp3</a:t>
            </a:r>
            <a:endParaRPr lang="zh-CN" altLang="en-US" b="1" dirty="0"/>
          </a:p>
        </p:txBody>
      </p:sp>
      <p:sp>
        <p:nvSpPr>
          <p:cNvPr id="126" name="Rectangle 29"/>
          <p:cNvSpPr>
            <a:spLocks noChangeArrowheads="1"/>
          </p:cNvSpPr>
          <p:nvPr/>
        </p:nvSpPr>
        <p:spPr bwMode="auto">
          <a:xfrm>
            <a:off x="32870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27" name="TextBox 126"/>
          <p:cNvSpPr txBox="1"/>
          <p:nvPr/>
        </p:nvSpPr>
        <p:spPr>
          <a:xfrm>
            <a:off x="3287072" y="3140968"/>
            <a:ext cx="99828" cy="369332"/>
          </a:xfrm>
          <a:prstGeom prst="rect">
            <a:avLst/>
          </a:prstGeom>
          <a:noFill/>
        </p:spPr>
        <p:txBody>
          <a:bodyPr wrap="square" rtlCol="0">
            <a:spAutoFit/>
          </a:bodyPr>
          <a:lstStyle/>
          <a:p>
            <a:r>
              <a:rPr lang="en-US" altLang="zh-CN" dirty="0"/>
              <a:t>A</a:t>
            </a:r>
            <a:endParaRPr lang="zh-CN" altLang="en-US" dirty="0"/>
          </a:p>
        </p:txBody>
      </p:sp>
      <p:sp>
        <p:nvSpPr>
          <p:cNvPr id="129" name="Rectangle 29"/>
          <p:cNvSpPr>
            <a:spLocks noChangeArrowheads="1"/>
          </p:cNvSpPr>
          <p:nvPr/>
        </p:nvSpPr>
        <p:spPr bwMode="auto">
          <a:xfrm>
            <a:off x="38189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30" name="TextBox 129"/>
          <p:cNvSpPr txBox="1"/>
          <p:nvPr/>
        </p:nvSpPr>
        <p:spPr>
          <a:xfrm>
            <a:off x="3818948" y="3150260"/>
            <a:ext cx="99828" cy="369332"/>
          </a:xfrm>
          <a:prstGeom prst="rect">
            <a:avLst/>
          </a:prstGeom>
          <a:noFill/>
        </p:spPr>
        <p:txBody>
          <a:bodyPr wrap="square" rtlCol="0">
            <a:spAutoFit/>
          </a:bodyPr>
          <a:lstStyle/>
          <a:p>
            <a:r>
              <a:rPr lang="en-US" altLang="zh-CN" dirty="0"/>
              <a:t>B</a:t>
            </a:r>
            <a:endParaRPr lang="zh-CN" altLang="en-US" dirty="0"/>
          </a:p>
        </p:txBody>
      </p:sp>
      <p:sp>
        <p:nvSpPr>
          <p:cNvPr id="131" name="Rectangle 29"/>
          <p:cNvSpPr>
            <a:spLocks noChangeArrowheads="1"/>
          </p:cNvSpPr>
          <p:nvPr/>
        </p:nvSpPr>
        <p:spPr bwMode="auto">
          <a:xfrm>
            <a:off x="4323004" y="32247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33" name="TextBox 132"/>
          <p:cNvSpPr txBox="1"/>
          <p:nvPr/>
        </p:nvSpPr>
        <p:spPr>
          <a:xfrm>
            <a:off x="4323004" y="3159552"/>
            <a:ext cx="99828" cy="369332"/>
          </a:xfrm>
          <a:prstGeom prst="rect">
            <a:avLst/>
          </a:prstGeom>
          <a:noFill/>
        </p:spPr>
        <p:txBody>
          <a:bodyPr wrap="square" rtlCol="0">
            <a:spAutoFit/>
          </a:bodyPr>
          <a:lstStyle/>
          <a:p>
            <a:r>
              <a:rPr lang="en-US" altLang="zh-CN" dirty="0"/>
              <a:t>C</a:t>
            </a:r>
            <a:endParaRPr lang="zh-CN" altLang="en-US" dirty="0"/>
          </a:p>
        </p:txBody>
      </p:sp>
      <p:sp>
        <p:nvSpPr>
          <p:cNvPr id="134" name="Rectangle 29"/>
          <p:cNvSpPr>
            <a:spLocks noChangeArrowheads="1"/>
          </p:cNvSpPr>
          <p:nvPr/>
        </p:nvSpPr>
        <p:spPr bwMode="auto">
          <a:xfrm>
            <a:off x="53916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35" name="TextBox 134"/>
          <p:cNvSpPr txBox="1"/>
          <p:nvPr/>
        </p:nvSpPr>
        <p:spPr>
          <a:xfrm>
            <a:off x="5391672" y="3140968"/>
            <a:ext cx="99828" cy="369332"/>
          </a:xfrm>
          <a:prstGeom prst="rect">
            <a:avLst/>
          </a:prstGeom>
          <a:noFill/>
        </p:spPr>
        <p:txBody>
          <a:bodyPr wrap="square" rtlCol="0">
            <a:spAutoFit/>
          </a:bodyPr>
          <a:lstStyle/>
          <a:p>
            <a:r>
              <a:rPr lang="en-US" altLang="zh-CN" dirty="0"/>
              <a:t>A</a:t>
            </a:r>
            <a:endParaRPr lang="zh-CN" altLang="en-US" dirty="0"/>
          </a:p>
        </p:txBody>
      </p:sp>
      <p:sp>
        <p:nvSpPr>
          <p:cNvPr id="136" name="Rectangle 29"/>
          <p:cNvSpPr>
            <a:spLocks noChangeArrowheads="1"/>
          </p:cNvSpPr>
          <p:nvPr/>
        </p:nvSpPr>
        <p:spPr bwMode="auto">
          <a:xfrm>
            <a:off x="59235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37" name="TextBox 136"/>
          <p:cNvSpPr txBox="1"/>
          <p:nvPr/>
        </p:nvSpPr>
        <p:spPr>
          <a:xfrm>
            <a:off x="5923548" y="3150260"/>
            <a:ext cx="99828" cy="369332"/>
          </a:xfrm>
          <a:prstGeom prst="rect">
            <a:avLst/>
          </a:prstGeom>
          <a:noFill/>
        </p:spPr>
        <p:txBody>
          <a:bodyPr wrap="square" rtlCol="0">
            <a:spAutoFit/>
          </a:bodyPr>
          <a:lstStyle/>
          <a:p>
            <a:r>
              <a:rPr lang="en-US" altLang="zh-CN" dirty="0"/>
              <a:t>B</a:t>
            </a:r>
            <a:endParaRPr lang="zh-CN" altLang="en-US" dirty="0"/>
          </a:p>
        </p:txBody>
      </p:sp>
      <p:sp>
        <p:nvSpPr>
          <p:cNvPr id="139" name="Rectangle 29"/>
          <p:cNvSpPr>
            <a:spLocks noChangeArrowheads="1"/>
          </p:cNvSpPr>
          <p:nvPr/>
        </p:nvSpPr>
        <p:spPr bwMode="auto">
          <a:xfrm>
            <a:off x="6427604"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40" name="TextBox 139"/>
          <p:cNvSpPr txBox="1"/>
          <p:nvPr/>
        </p:nvSpPr>
        <p:spPr>
          <a:xfrm>
            <a:off x="6427604" y="3159552"/>
            <a:ext cx="99828" cy="369332"/>
          </a:xfrm>
          <a:prstGeom prst="rect">
            <a:avLst/>
          </a:prstGeom>
          <a:noFill/>
        </p:spPr>
        <p:txBody>
          <a:bodyPr wrap="square" rtlCol="0">
            <a:spAutoFit/>
          </a:bodyPr>
          <a:lstStyle/>
          <a:p>
            <a:r>
              <a:rPr lang="en-US" altLang="zh-CN" dirty="0"/>
              <a:t>C</a:t>
            </a:r>
            <a:endParaRPr lang="zh-CN" altLang="en-US" dirty="0"/>
          </a:p>
        </p:txBody>
      </p:sp>
      <p:sp>
        <p:nvSpPr>
          <p:cNvPr id="141" name="矩形 140"/>
          <p:cNvSpPr/>
          <p:nvPr/>
        </p:nvSpPr>
        <p:spPr>
          <a:xfrm>
            <a:off x="611560" y="4103314"/>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145" name="矩形 144"/>
          <p:cNvSpPr/>
          <p:nvPr/>
        </p:nvSpPr>
        <p:spPr>
          <a:xfrm>
            <a:off x="3890956" y="4103314"/>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147" name="矩形 146"/>
          <p:cNvSpPr/>
          <p:nvPr/>
        </p:nvSpPr>
        <p:spPr>
          <a:xfrm>
            <a:off x="611560" y="5085184"/>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149" name="Rectangle 29"/>
          <p:cNvSpPr>
            <a:spLocks noChangeArrowheads="1"/>
          </p:cNvSpPr>
          <p:nvPr/>
        </p:nvSpPr>
        <p:spPr bwMode="auto">
          <a:xfrm>
            <a:off x="1558880" y="421425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54" name="TextBox 153"/>
          <p:cNvSpPr txBox="1"/>
          <p:nvPr/>
        </p:nvSpPr>
        <p:spPr>
          <a:xfrm>
            <a:off x="1558880" y="4149080"/>
            <a:ext cx="99828" cy="369332"/>
          </a:xfrm>
          <a:prstGeom prst="rect">
            <a:avLst/>
          </a:prstGeom>
          <a:noFill/>
        </p:spPr>
        <p:txBody>
          <a:bodyPr wrap="square" rtlCol="0">
            <a:spAutoFit/>
          </a:bodyPr>
          <a:lstStyle/>
          <a:p>
            <a:r>
              <a:rPr lang="en-US" altLang="zh-CN" dirty="0"/>
              <a:t>A</a:t>
            </a:r>
            <a:endParaRPr lang="zh-CN" altLang="en-US" dirty="0"/>
          </a:p>
        </p:txBody>
      </p:sp>
      <p:sp>
        <p:nvSpPr>
          <p:cNvPr id="165" name="Rectangle 29"/>
          <p:cNvSpPr>
            <a:spLocks noChangeArrowheads="1"/>
          </p:cNvSpPr>
          <p:nvPr/>
        </p:nvSpPr>
        <p:spPr bwMode="auto">
          <a:xfrm>
            <a:off x="2683188" y="422354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67" name="TextBox 166"/>
          <p:cNvSpPr txBox="1"/>
          <p:nvPr/>
        </p:nvSpPr>
        <p:spPr>
          <a:xfrm>
            <a:off x="2683188" y="4158372"/>
            <a:ext cx="99828" cy="369332"/>
          </a:xfrm>
          <a:prstGeom prst="rect">
            <a:avLst/>
          </a:prstGeom>
          <a:noFill/>
        </p:spPr>
        <p:txBody>
          <a:bodyPr wrap="square" rtlCol="0">
            <a:spAutoFit/>
          </a:bodyPr>
          <a:lstStyle/>
          <a:p>
            <a:r>
              <a:rPr lang="en-US" altLang="zh-CN" dirty="0"/>
              <a:t>B</a:t>
            </a:r>
            <a:endParaRPr lang="zh-CN" altLang="en-US" dirty="0"/>
          </a:p>
        </p:txBody>
      </p:sp>
      <p:sp>
        <p:nvSpPr>
          <p:cNvPr id="169" name="Rectangle 29"/>
          <p:cNvSpPr>
            <a:spLocks noChangeArrowheads="1"/>
          </p:cNvSpPr>
          <p:nvPr/>
        </p:nvSpPr>
        <p:spPr bwMode="auto">
          <a:xfrm>
            <a:off x="5403124" y="420496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71" name="TextBox 170"/>
          <p:cNvSpPr txBox="1"/>
          <p:nvPr/>
        </p:nvSpPr>
        <p:spPr>
          <a:xfrm>
            <a:off x="5419492" y="4139788"/>
            <a:ext cx="99828" cy="369332"/>
          </a:xfrm>
          <a:prstGeom prst="rect">
            <a:avLst/>
          </a:prstGeom>
          <a:noFill/>
        </p:spPr>
        <p:txBody>
          <a:bodyPr wrap="square" rtlCol="0">
            <a:spAutoFit/>
          </a:bodyPr>
          <a:lstStyle/>
          <a:p>
            <a:r>
              <a:rPr lang="en-US" altLang="zh-CN" dirty="0"/>
              <a:t>C</a:t>
            </a:r>
            <a:endParaRPr lang="zh-CN" altLang="en-US" dirty="0"/>
          </a:p>
        </p:txBody>
      </p:sp>
      <p:sp>
        <p:nvSpPr>
          <p:cNvPr id="173" name="Rectangle 29"/>
          <p:cNvSpPr>
            <a:spLocks noChangeArrowheads="1"/>
          </p:cNvSpPr>
          <p:nvPr/>
        </p:nvSpPr>
        <p:spPr bwMode="auto">
          <a:xfrm>
            <a:off x="5159280" y="4699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74" name="TextBox 173"/>
          <p:cNvSpPr txBox="1"/>
          <p:nvPr/>
        </p:nvSpPr>
        <p:spPr>
          <a:xfrm>
            <a:off x="5175648" y="4634552"/>
            <a:ext cx="99828" cy="369332"/>
          </a:xfrm>
          <a:prstGeom prst="rect">
            <a:avLst/>
          </a:prstGeom>
          <a:noFill/>
        </p:spPr>
        <p:txBody>
          <a:bodyPr wrap="square" rtlCol="0">
            <a:spAutoFit/>
          </a:bodyPr>
          <a:lstStyle/>
          <a:p>
            <a:r>
              <a:rPr lang="en-US" altLang="zh-CN" dirty="0"/>
              <a:t>A</a:t>
            </a:r>
            <a:endParaRPr lang="zh-CN" altLang="en-US" dirty="0"/>
          </a:p>
        </p:txBody>
      </p:sp>
      <p:sp>
        <p:nvSpPr>
          <p:cNvPr id="187" name="Rectangle 29"/>
          <p:cNvSpPr>
            <a:spLocks noChangeArrowheads="1"/>
          </p:cNvSpPr>
          <p:nvPr/>
        </p:nvSpPr>
        <p:spPr bwMode="auto">
          <a:xfrm>
            <a:off x="5707524" y="470902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88" name="TextBox 187"/>
          <p:cNvSpPr txBox="1"/>
          <p:nvPr/>
        </p:nvSpPr>
        <p:spPr>
          <a:xfrm>
            <a:off x="5691156" y="4643844"/>
            <a:ext cx="99828" cy="369332"/>
          </a:xfrm>
          <a:prstGeom prst="rect">
            <a:avLst/>
          </a:prstGeom>
          <a:noFill/>
        </p:spPr>
        <p:txBody>
          <a:bodyPr wrap="square" rtlCol="0">
            <a:spAutoFit/>
          </a:bodyPr>
          <a:lstStyle/>
          <a:p>
            <a:r>
              <a:rPr lang="en-US" altLang="zh-CN" dirty="0"/>
              <a:t>B</a:t>
            </a:r>
            <a:endParaRPr lang="zh-CN" altLang="en-US" dirty="0"/>
          </a:p>
        </p:txBody>
      </p:sp>
      <p:cxnSp>
        <p:nvCxnSpPr>
          <p:cNvPr id="189" name="直接箭头连接符 188"/>
          <p:cNvCxnSpPr>
            <a:stCxn id="104" idx="2"/>
          </p:cNvCxnSpPr>
          <p:nvPr/>
        </p:nvCxnSpPr>
        <p:spPr>
          <a:xfrm flipH="1">
            <a:off x="2018748" y="3870340"/>
            <a:ext cx="8184" cy="4599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90" name="直接箭头连接符 189"/>
          <p:cNvCxnSpPr>
            <a:stCxn id="121" idx="2"/>
          </p:cNvCxnSpPr>
          <p:nvPr/>
        </p:nvCxnSpPr>
        <p:spPr>
          <a:xfrm>
            <a:off x="4043156" y="3879632"/>
            <a:ext cx="180020" cy="44140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191" name="直接箭头连接符 190"/>
          <p:cNvCxnSpPr>
            <a:stCxn id="125" idx="2"/>
          </p:cNvCxnSpPr>
          <p:nvPr/>
        </p:nvCxnSpPr>
        <p:spPr>
          <a:xfrm flipH="1">
            <a:off x="3818948" y="3861048"/>
            <a:ext cx="2312440" cy="136815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192" name="右大括号 191"/>
          <p:cNvSpPr/>
          <p:nvPr/>
        </p:nvSpPr>
        <p:spPr>
          <a:xfrm>
            <a:off x="7175504" y="4100335"/>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3" name="TextBox 192"/>
          <p:cNvSpPr txBox="1"/>
          <p:nvPr/>
        </p:nvSpPr>
        <p:spPr>
          <a:xfrm>
            <a:off x="7458624" y="4890646"/>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48" name="Rectangle 29"/>
          <p:cNvSpPr>
            <a:spLocks noChangeArrowheads="1"/>
          </p:cNvSpPr>
          <p:nvPr/>
        </p:nvSpPr>
        <p:spPr bwMode="auto">
          <a:xfrm>
            <a:off x="2167916" y="471831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TextBox 48"/>
          <p:cNvSpPr txBox="1"/>
          <p:nvPr/>
        </p:nvSpPr>
        <p:spPr>
          <a:xfrm>
            <a:off x="2151548" y="4653136"/>
            <a:ext cx="99828" cy="369332"/>
          </a:xfrm>
          <a:prstGeom prst="rect">
            <a:avLst/>
          </a:prstGeom>
          <a:noFill/>
        </p:spPr>
        <p:txBody>
          <a:bodyPr wrap="square" rtlCol="0">
            <a:spAutoFit/>
          </a:bodyPr>
          <a:lstStyle/>
          <a:p>
            <a:r>
              <a:rPr lang="en-US" altLang="zh-CN" dirty="0"/>
              <a:t>C</a:t>
            </a:r>
            <a:endParaRPr lang="zh-CN" altLang="en-US" dirty="0"/>
          </a:p>
        </p:txBody>
      </p:sp>
      <p:sp>
        <p:nvSpPr>
          <p:cNvPr id="50" name="Rectangle 29"/>
          <p:cNvSpPr>
            <a:spLocks noChangeArrowheads="1"/>
          </p:cNvSpPr>
          <p:nvPr/>
        </p:nvSpPr>
        <p:spPr bwMode="auto">
          <a:xfrm>
            <a:off x="3149348" y="5715016"/>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1" name="Rectangle 29"/>
          <p:cNvSpPr>
            <a:spLocks noChangeArrowheads="1"/>
          </p:cNvSpPr>
          <p:nvPr/>
        </p:nvSpPr>
        <p:spPr bwMode="auto">
          <a:xfrm>
            <a:off x="3681224" y="5724308"/>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2" name="Rectangle 29"/>
          <p:cNvSpPr>
            <a:spLocks noChangeArrowheads="1"/>
          </p:cNvSpPr>
          <p:nvPr/>
        </p:nvSpPr>
        <p:spPr bwMode="auto">
          <a:xfrm>
            <a:off x="4185280" y="5733600"/>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3" name="TextBox 52"/>
          <p:cNvSpPr txBox="1"/>
          <p:nvPr/>
        </p:nvSpPr>
        <p:spPr>
          <a:xfrm>
            <a:off x="3143240" y="5643578"/>
            <a:ext cx="99828" cy="369332"/>
          </a:xfrm>
          <a:prstGeom prst="rect">
            <a:avLst/>
          </a:prstGeom>
          <a:noFill/>
        </p:spPr>
        <p:txBody>
          <a:bodyPr wrap="square" rtlCol="0">
            <a:spAutoFit/>
          </a:bodyPr>
          <a:lstStyle/>
          <a:p>
            <a:r>
              <a:rPr lang="en-US" altLang="zh-CN" dirty="0"/>
              <a:t>A</a:t>
            </a:r>
            <a:endParaRPr lang="zh-CN" altLang="en-US" dirty="0"/>
          </a:p>
        </p:txBody>
      </p:sp>
      <p:sp>
        <p:nvSpPr>
          <p:cNvPr id="54" name="TextBox 53"/>
          <p:cNvSpPr txBox="1"/>
          <p:nvPr/>
        </p:nvSpPr>
        <p:spPr>
          <a:xfrm>
            <a:off x="3675116" y="5652870"/>
            <a:ext cx="99828" cy="369332"/>
          </a:xfrm>
          <a:prstGeom prst="rect">
            <a:avLst/>
          </a:prstGeom>
          <a:noFill/>
        </p:spPr>
        <p:txBody>
          <a:bodyPr wrap="square" rtlCol="0">
            <a:spAutoFit/>
          </a:bodyPr>
          <a:lstStyle/>
          <a:p>
            <a:r>
              <a:rPr lang="en-US" altLang="zh-CN" dirty="0"/>
              <a:t>B</a:t>
            </a:r>
            <a:endParaRPr lang="zh-CN" altLang="en-US" dirty="0"/>
          </a:p>
        </p:txBody>
      </p:sp>
      <p:sp>
        <p:nvSpPr>
          <p:cNvPr id="55" name="TextBox 54"/>
          <p:cNvSpPr txBox="1"/>
          <p:nvPr/>
        </p:nvSpPr>
        <p:spPr>
          <a:xfrm>
            <a:off x="4179172" y="5662162"/>
            <a:ext cx="99828" cy="369332"/>
          </a:xfrm>
          <a:prstGeom prst="rect">
            <a:avLst/>
          </a:prstGeom>
          <a:noFill/>
        </p:spPr>
        <p:txBody>
          <a:bodyPr wrap="square" rtlCol="0">
            <a:spAutoFit/>
          </a:bodyPr>
          <a:lstStyle/>
          <a:p>
            <a:r>
              <a:rPr lang="en-US" altLang="zh-CN" dirty="0"/>
              <a:t>C</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分布式的</a:t>
            </a:r>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从</a:t>
            </a:r>
            <a:r>
              <a:rPr lang="en-US" altLang="zh-CN" dirty="0">
                <a:solidFill>
                  <a:schemeClr val="accent1"/>
                </a:solidFill>
                <a:ea typeface="宋体" panose="02010600030101010101" pitchFamily="2" charset="-122"/>
              </a:rPr>
              <a:t>Cellapp1</a:t>
            </a:r>
            <a:r>
              <a:rPr lang="zh-CN" altLang="en-US" dirty="0">
                <a:solidFill>
                  <a:schemeClr val="accent1"/>
                </a:solidFill>
                <a:ea typeface="宋体" panose="02010600030101010101" pitchFamily="2" charset="-122"/>
              </a:rPr>
              <a:t>来看</a:t>
            </a:r>
            <a:endParaRPr lang="zh-CN" altLang="en-US" sz="2200" b="1" dirty="0">
              <a:solidFill>
                <a:schemeClr val="accent1"/>
              </a:solidFill>
              <a:latin typeface="+mn-ea"/>
              <a:ea typeface="+mn-ea"/>
            </a:endParaRPr>
          </a:p>
        </p:txBody>
      </p:sp>
      <p:sp>
        <p:nvSpPr>
          <p:cNvPr id="10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79705" indent="-179705" defTabSz="448945">
              <a:lnSpc>
                <a:spcPct val="90000"/>
              </a:lnSpc>
              <a:spcBef>
                <a:spcPts val="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dirty="0">
                <a:latin typeface="Verdana" panose="020B0604030504040204" pitchFamily="34" charset="0"/>
                <a:ea typeface="宋体" panose="02010600030101010101" pitchFamily="2" charset="-122"/>
              </a:rPr>
              <a:t>Space1</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CellApp1</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t>
            </a:r>
            <a:r>
              <a:rPr lang="zh-CN" altLang="en-GB" dirty="0">
                <a:latin typeface="Verdana" panose="020B0604030504040204" pitchFamily="34" charset="0"/>
                <a:ea typeface="宋体" panose="02010600030101010101" pitchFamily="2" charset="-122"/>
              </a:rPr>
              <a:t>：</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2000" dirty="0">
                <a:latin typeface="Verdana" panose="020B0604030504040204" pitchFamily="34" charset="0"/>
                <a:ea typeface="宋体" panose="02010600030101010101" pitchFamily="2" charset="-122"/>
              </a:rPr>
              <a:t>        </a:t>
            </a:r>
            <a:r>
              <a:rPr lang="en-GB" altLang="zh-CN" sz="2000" dirty="0">
                <a:latin typeface="Verdana" panose="020B0604030504040204" pitchFamily="34" charset="0"/>
                <a:ea typeface="宋体" panose="02010600030101010101" pitchFamily="2" charset="-122"/>
              </a:rPr>
              <a:t>A</a:t>
            </a:r>
            <a:r>
              <a:rPr lang="zh-CN" altLang="en-GB" sz="2000" dirty="0">
                <a:latin typeface="Verdana" panose="020B0604030504040204" pitchFamily="34" charset="0"/>
                <a:ea typeface="宋体" panose="02010600030101010101" pitchFamily="2" charset="-122"/>
              </a:rPr>
              <a:t>和</a:t>
            </a:r>
            <a:r>
              <a:rPr lang="en-GB" altLang="zh-CN" sz="2000" dirty="0">
                <a:latin typeface="Verdana" panose="020B0604030504040204" pitchFamily="34" charset="0"/>
                <a:ea typeface="宋体" panose="02010600030101010101" pitchFamily="2" charset="-122"/>
              </a:rPr>
              <a:t>B</a:t>
            </a:r>
            <a:r>
              <a:rPr lang="zh-CN" altLang="en-GB" sz="2000" dirty="0">
                <a:latin typeface="Verdana" panose="020B0604030504040204" pitchFamily="34" charset="0"/>
                <a:ea typeface="宋体" panose="02010600030101010101" pitchFamily="2" charset="-122"/>
              </a:rPr>
              <a:t>是</a:t>
            </a:r>
            <a:r>
              <a:rPr lang="en-GB" altLang="zh-CN" sz="2000" dirty="0">
                <a:latin typeface="Verdana" panose="020B0604030504040204" pitchFamily="34" charset="0"/>
                <a:ea typeface="宋体" panose="02010600030101010101" pitchFamily="2" charset="-122"/>
              </a:rPr>
              <a:t>Real Entity</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a:latin typeface="Verdana" panose="020B0604030504040204" pitchFamily="34" charset="0"/>
                <a:ea typeface="宋体" panose="02010600030101010101" pitchFamily="2" charset="-122"/>
              </a:rPr>
              <a:t>        </a:t>
            </a:r>
            <a:r>
              <a:rPr lang="en-GB" altLang="zh-CN" sz="2000" dirty="0">
                <a:latin typeface="Verdana" panose="020B0604030504040204" pitchFamily="34" charset="0"/>
              </a:rPr>
              <a:t>C</a:t>
            </a:r>
            <a:r>
              <a:rPr lang="zh-CN" altLang="en-GB" sz="2000" dirty="0">
                <a:latin typeface="Verdana" panose="020B0604030504040204" pitchFamily="34" charset="0"/>
                <a:ea typeface="宋体" panose="02010600030101010101" pitchFamily="2" charset="-122"/>
              </a:rPr>
              <a:t>是一个从</a:t>
            </a:r>
            <a:r>
              <a:rPr lang="en-GB" altLang="zh-CN" sz="2000" dirty="0">
                <a:latin typeface="Verdana" panose="020B0604030504040204" pitchFamily="34" charset="0"/>
                <a:ea typeface="宋体" panose="02010600030101010101" pitchFamily="2" charset="-122"/>
              </a:rPr>
              <a:t>CellApp2</a:t>
            </a:r>
            <a:r>
              <a:rPr lang="zh-CN" altLang="en-GB" sz="2000" dirty="0">
                <a:latin typeface="Verdana" panose="020B0604030504040204" pitchFamily="34" charset="0"/>
                <a:ea typeface="宋体" panose="02010600030101010101" pitchFamily="2" charset="-122"/>
              </a:rPr>
              <a:t>上</a:t>
            </a:r>
            <a:r>
              <a:rPr lang="en-GB" altLang="zh-CN" sz="2000" dirty="0">
                <a:latin typeface="Verdana" panose="020B0604030504040204" pitchFamily="34" charset="0"/>
                <a:ea typeface="宋体" panose="02010600030101010101" pitchFamily="2" charset="-122"/>
              </a:rPr>
              <a:t>ghost</a:t>
            </a:r>
            <a:r>
              <a:rPr lang="zh-CN" altLang="en-GB" sz="2000" dirty="0">
                <a:latin typeface="Verdana" panose="020B0604030504040204" pitchFamily="34" charset="0"/>
                <a:ea typeface="宋体" panose="02010600030101010101" pitchFamily="2" charset="-122"/>
              </a:rPr>
              <a:t>来的</a:t>
            </a:r>
            <a:r>
              <a:rPr lang="en-GB" altLang="zh-CN" sz="2000" dirty="0">
                <a:latin typeface="Verdana" panose="020B0604030504040204" pitchFamily="34" charset="0"/>
                <a:ea typeface="宋体" panose="02010600030101010101" pitchFamily="2" charset="-122"/>
              </a:rPr>
              <a:t>ghost Entity</a:t>
            </a:r>
            <a:endParaRPr lang="en-US" altLang="zh-CN" sz="2000" dirty="0">
              <a:latin typeface="Verdana" panose="020B0604030504040204" pitchFamily="34" charset="0"/>
              <a:ea typeface="宋体" panose="02010600030101010101" pitchFamily="2" charset="-122"/>
            </a:endParaRPr>
          </a:p>
          <a:p>
            <a:endParaRPr lang="en-US" altLang="zh-CN" dirty="0">
              <a:ea typeface="宋体" panose="02010600030101010101" pitchFamily="2" charset="-122"/>
            </a:endParaRPr>
          </a:p>
        </p:txBody>
      </p:sp>
      <p:cxnSp>
        <p:nvCxnSpPr>
          <p:cNvPr id="27" name="直接连接符 26"/>
          <p:cNvCxnSpPr/>
          <p:nvPr/>
        </p:nvCxnSpPr>
        <p:spPr>
          <a:xfrm>
            <a:off x="611560" y="4054189"/>
            <a:ext cx="6491936" cy="1"/>
          </a:xfrm>
          <a:prstGeom prst="line">
            <a:avLst/>
          </a:prstGeom>
        </p:spPr>
        <p:style>
          <a:lnRef idx="3">
            <a:schemeClr val="dk1"/>
          </a:lnRef>
          <a:fillRef idx="0">
            <a:schemeClr val="dk1"/>
          </a:fillRef>
          <a:effectRef idx="2">
            <a:schemeClr val="dk1"/>
          </a:effectRef>
          <a:fontRef idx="minor">
            <a:schemeClr val="tx1"/>
          </a:fontRef>
        </p:style>
      </p:cxnSp>
      <p:sp>
        <p:nvSpPr>
          <p:cNvPr id="28" name="Rectangle 15"/>
          <p:cNvSpPr>
            <a:spLocks noChangeArrowheads="1"/>
          </p:cNvSpPr>
          <p:nvPr/>
        </p:nvSpPr>
        <p:spPr bwMode="auto">
          <a:xfrm>
            <a:off x="1054824" y="315026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29" name="Rectangle 29"/>
          <p:cNvSpPr>
            <a:spLocks noChangeArrowheads="1"/>
          </p:cNvSpPr>
          <p:nvPr/>
        </p:nvSpPr>
        <p:spPr bwMode="auto">
          <a:xfrm>
            <a:off x="1243028" y="320614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30" name="TextBox 29"/>
          <p:cNvSpPr txBox="1"/>
          <p:nvPr/>
        </p:nvSpPr>
        <p:spPr>
          <a:xfrm>
            <a:off x="1414864" y="3501008"/>
            <a:ext cx="1224136" cy="369332"/>
          </a:xfrm>
          <a:prstGeom prst="rect">
            <a:avLst/>
          </a:prstGeom>
          <a:noFill/>
        </p:spPr>
        <p:txBody>
          <a:bodyPr wrap="square" rtlCol="0">
            <a:spAutoFit/>
          </a:bodyPr>
          <a:lstStyle/>
          <a:p>
            <a:r>
              <a:rPr lang="en-US" altLang="zh-CN" b="1" dirty="0"/>
              <a:t>Cellapp1</a:t>
            </a:r>
            <a:endParaRPr lang="zh-CN" altLang="en-US" b="1" dirty="0"/>
          </a:p>
        </p:txBody>
      </p:sp>
      <p:sp>
        <p:nvSpPr>
          <p:cNvPr id="31" name="TextBox 30"/>
          <p:cNvSpPr txBox="1"/>
          <p:nvPr/>
        </p:nvSpPr>
        <p:spPr>
          <a:xfrm>
            <a:off x="1243028" y="3140968"/>
            <a:ext cx="99828" cy="369332"/>
          </a:xfrm>
          <a:prstGeom prst="rect">
            <a:avLst/>
          </a:prstGeom>
          <a:noFill/>
        </p:spPr>
        <p:txBody>
          <a:bodyPr wrap="square" rtlCol="0">
            <a:spAutoFit/>
          </a:bodyPr>
          <a:lstStyle/>
          <a:p>
            <a:r>
              <a:rPr lang="en-US" altLang="zh-CN" dirty="0"/>
              <a:t>A</a:t>
            </a:r>
            <a:endParaRPr lang="zh-CN" altLang="en-US" dirty="0"/>
          </a:p>
        </p:txBody>
      </p:sp>
      <p:sp>
        <p:nvSpPr>
          <p:cNvPr id="32" name="Rectangle 29"/>
          <p:cNvSpPr>
            <a:spLocks noChangeArrowheads="1"/>
          </p:cNvSpPr>
          <p:nvPr/>
        </p:nvSpPr>
        <p:spPr bwMode="auto">
          <a:xfrm>
            <a:off x="1774904" y="32154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33" name="TextBox 32"/>
          <p:cNvSpPr txBox="1"/>
          <p:nvPr/>
        </p:nvSpPr>
        <p:spPr>
          <a:xfrm>
            <a:off x="1774904" y="3150260"/>
            <a:ext cx="99828" cy="369332"/>
          </a:xfrm>
          <a:prstGeom prst="rect">
            <a:avLst/>
          </a:prstGeom>
          <a:noFill/>
        </p:spPr>
        <p:txBody>
          <a:bodyPr wrap="square" rtlCol="0">
            <a:spAutoFit/>
          </a:bodyPr>
          <a:lstStyle/>
          <a:p>
            <a:r>
              <a:rPr lang="en-US" altLang="zh-CN" dirty="0"/>
              <a:t>B</a:t>
            </a:r>
            <a:endParaRPr lang="zh-CN" altLang="en-US" dirty="0"/>
          </a:p>
        </p:txBody>
      </p:sp>
      <p:sp>
        <p:nvSpPr>
          <p:cNvPr id="34" name="Rectangle 15"/>
          <p:cNvSpPr>
            <a:spLocks noChangeArrowheads="1"/>
          </p:cNvSpPr>
          <p:nvPr/>
        </p:nvSpPr>
        <p:spPr bwMode="auto">
          <a:xfrm>
            <a:off x="3071048"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5" name="TextBox 34"/>
          <p:cNvSpPr txBox="1"/>
          <p:nvPr/>
        </p:nvSpPr>
        <p:spPr>
          <a:xfrm>
            <a:off x="3431088" y="3510300"/>
            <a:ext cx="1224136" cy="369332"/>
          </a:xfrm>
          <a:prstGeom prst="rect">
            <a:avLst/>
          </a:prstGeom>
          <a:noFill/>
        </p:spPr>
        <p:txBody>
          <a:bodyPr wrap="square" rtlCol="0">
            <a:spAutoFit/>
          </a:bodyPr>
          <a:lstStyle/>
          <a:p>
            <a:r>
              <a:rPr lang="en-US" altLang="zh-CN" b="1" dirty="0"/>
              <a:t>Cellapp2</a:t>
            </a:r>
            <a:endParaRPr lang="zh-CN" altLang="en-US" b="1" dirty="0"/>
          </a:p>
        </p:txBody>
      </p:sp>
      <p:sp>
        <p:nvSpPr>
          <p:cNvPr id="36" name="Rectangle 29"/>
          <p:cNvSpPr>
            <a:spLocks noChangeArrowheads="1"/>
          </p:cNvSpPr>
          <p:nvPr/>
        </p:nvSpPr>
        <p:spPr bwMode="auto">
          <a:xfrm>
            <a:off x="2278960"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37" name="TextBox 36"/>
          <p:cNvSpPr txBox="1"/>
          <p:nvPr/>
        </p:nvSpPr>
        <p:spPr>
          <a:xfrm>
            <a:off x="2278960" y="3159552"/>
            <a:ext cx="99828" cy="369332"/>
          </a:xfrm>
          <a:prstGeom prst="rect">
            <a:avLst/>
          </a:prstGeom>
          <a:noFill/>
        </p:spPr>
        <p:txBody>
          <a:bodyPr wrap="square" rtlCol="0">
            <a:spAutoFit/>
          </a:bodyPr>
          <a:lstStyle/>
          <a:p>
            <a:r>
              <a:rPr lang="en-US" altLang="zh-CN" dirty="0"/>
              <a:t>C</a:t>
            </a:r>
            <a:endParaRPr lang="zh-CN" altLang="en-US" dirty="0"/>
          </a:p>
        </p:txBody>
      </p:sp>
      <p:sp>
        <p:nvSpPr>
          <p:cNvPr id="38" name="Rectangle 15"/>
          <p:cNvSpPr>
            <a:spLocks noChangeArrowheads="1"/>
          </p:cNvSpPr>
          <p:nvPr/>
        </p:nvSpPr>
        <p:spPr bwMode="auto">
          <a:xfrm>
            <a:off x="5159280"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9" name="TextBox 38"/>
          <p:cNvSpPr txBox="1"/>
          <p:nvPr/>
        </p:nvSpPr>
        <p:spPr>
          <a:xfrm>
            <a:off x="5519320" y="3491716"/>
            <a:ext cx="1224136" cy="369332"/>
          </a:xfrm>
          <a:prstGeom prst="rect">
            <a:avLst/>
          </a:prstGeom>
          <a:noFill/>
        </p:spPr>
        <p:txBody>
          <a:bodyPr wrap="square" rtlCol="0">
            <a:spAutoFit/>
          </a:bodyPr>
          <a:lstStyle/>
          <a:p>
            <a:r>
              <a:rPr lang="en-US" altLang="zh-CN" b="1" dirty="0"/>
              <a:t>Cellapp3</a:t>
            </a:r>
            <a:endParaRPr lang="zh-CN" altLang="en-US" b="1" dirty="0"/>
          </a:p>
        </p:txBody>
      </p:sp>
      <p:sp>
        <p:nvSpPr>
          <p:cNvPr id="40" name="Rectangle 29"/>
          <p:cNvSpPr>
            <a:spLocks noChangeArrowheads="1"/>
          </p:cNvSpPr>
          <p:nvPr/>
        </p:nvSpPr>
        <p:spPr bwMode="auto">
          <a:xfrm>
            <a:off x="32870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1" name="TextBox 40"/>
          <p:cNvSpPr txBox="1"/>
          <p:nvPr/>
        </p:nvSpPr>
        <p:spPr>
          <a:xfrm>
            <a:off x="3287072" y="3140968"/>
            <a:ext cx="99828" cy="369332"/>
          </a:xfrm>
          <a:prstGeom prst="rect">
            <a:avLst/>
          </a:prstGeom>
          <a:noFill/>
        </p:spPr>
        <p:txBody>
          <a:bodyPr wrap="square" rtlCol="0">
            <a:spAutoFit/>
          </a:bodyPr>
          <a:lstStyle/>
          <a:p>
            <a:r>
              <a:rPr lang="en-US" altLang="zh-CN" dirty="0"/>
              <a:t>A</a:t>
            </a:r>
            <a:endParaRPr lang="zh-CN" altLang="en-US" dirty="0"/>
          </a:p>
        </p:txBody>
      </p:sp>
      <p:sp>
        <p:nvSpPr>
          <p:cNvPr id="42" name="Rectangle 29"/>
          <p:cNvSpPr>
            <a:spLocks noChangeArrowheads="1"/>
          </p:cNvSpPr>
          <p:nvPr/>
        </p:nvSpPr>
        <p:spPr bwMode="auto">
          <a:xfrm>
            <a:off x="38189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3" name="TextBox 42"/>
          <p:cNvSpPr txBox="1"/>
          <p:nvPr/>
        </p:nvSpPr>
        <p:spPr>
          <a:xfrm>
            <a:off x="3818948" y="3150260"/>
            <a:ext cx="99828" cy="369332"/>
          </a:xfrm>
          <a:prstGeom prst="rect">
            <a:avLst/>
          </a:prstGeom>
          <a:noFill/>
        </p:spPr>
        <p:txBody>
          <a:bodyPr wrap="square" rtlCol="0">
            <a:spAutoFit/>
          </a:bodyPr>
          <a:lstStyle/>
          <a:p>
            <a:r>
              <a:rPr lang="en-US" altLang="zh-CN" dirty="0"/>
              <a:t>B</a:t>
            </a:r>
            <a:endParaRPr lang="zh-CN" altLang="en-US" dirty="0"/>
          </a:p>
        </p:txBody>
      </p:sp>
      <p:sp>
        <p:nvSpPr>
          <p:cNvPr id="44" name="Rectangle 29"/>
          <p:cNvSpPr>
            <a:spLocks noChangeArrowheads="1"/>
          </p:cNvSpPr>
          <p:nvPr/>
        </p:nvSpPr>
        <p:spPr bwMode="auto">
          <a:xfrm>
            <a:off x="4323004" y="32247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5" name="TextBox 44"/>
          <p:cNvSpPr txBox="1"/>
          <p:nvPr/>
        </p:nvSpPr>
        <p:spPr>
          <a:xfrm>
            <a:off x="4323004" y="3159552"/>
            <a:ext cx="99828" cy="369332"/>
          </a:xfrm>
          <a:prstGeom prst="rect">
            <a:avLst/>
          </a:prstGeom>
          <a:noFill/>
        </p:spPr>
        <p:txBody>
          <a:bodyPr wrap="square" rtlCol="0">
            <a:spAutoFit/>
          </a:bodyPr>
          <a:lstStyle/>
          <a:p>
            <a:r>
              <a:rPr lang="en-US" altLang="zh-CN" dirty="0"/>
              <a:t>C</a:t>
            </a:r>
            <a:endParaRPr lang="zh-CN" altLang="en-US" dirty="0"/>
          </a:p>
        </p:txBody>
      </p:sp>
      <p:sp>
        <p:nvSpPr>
          <p:cNvPr id="46" name="Rectangle 29"/>
          <p:cNvSpPr>
            <a:spLocks noChangeArrowheads="1"/>
          </p:cNvSpPr>
          <p:nvPr/>
        </p:nvSpPr>
        <p:spPr bwMode="auto">
          <a:xfrm>
            <a:off x="53916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7" name="TextBox 46"/>
          <p:cNvSpPr txBox="1"/>
          <p:nvPr/>
        </p:nvSpPr>
        <p:spPr>
          <a:xfrm>
            <a:off x="5391672" y="3140968"/>
            <a:ext cx="99828" cy="369332"/>
          </a:xfrm>
          <a:prstGeom prst="rect">
            <a:avLst/>
          </a:prstGeom>
          <a:noFill/>
        </p:spPr>
        <p:txBody>
          <a:bodyPr wrap="square" rtlCol="0">
            <a:spAutoFit/>
          </a:bodyPr>
          <a:lstStyle/>
          <a:p>
            <a:r>
              <a:rPr lang="en-US" altLang="zh-CN" dirty="0"/>
              <a:t>A</a:t>
            </a:r>
            <a:endParaRPr lang="zh-CN" altLang="en-US" dirty="0"/>
          </a:p>
        </p:txBody>
      </p:sp>
      <p:sp>
        <p:nvSpPr>
          <p:cNvPr id="48" name="Rectangle 29"/>
          <p:cNvSpPr>
            <a:spLocks noChangeArrowheads="1"/>
          </p:cNvSpPr>
          <p:nvPr/>
        </p:nvSpPr>
        <p:spPr bwMode="auto">
          <a:xfrm>
            <a:off x="59235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TextBox 48"/>
          <p:cNvSpPr txBox="1"/>
          <p:nvPr/>
        </p:nvSpPr>
        <p:spPr>
          <a:xfrm>
            <a:off x="5923548" y="3150260"/>
            <a:ext cx="99828" cy="369332"/>
          </a:xfrm>
          <a:prstGeom prst="rect">
            <a:avLst/>
          </a:prstGeom>
          <a:noFill/>
        </p:spPr>
        <p:txBody>
          <a:bodyPr wrap="square" rtlCol="0">
            <a:spAutoFit/>
          </a:bodyPr>
          <a:lstStyle/>
          <a:p>
            <a:r>
              <a:rPr lang="en-US" altLang="zh-CN" dirty="0"/>
              <a:t>B</a:t>
            </a:r>
            <a:endParaRPr lang="zh-CN" altLang="en-US" dirty="0"/>
          </a:p>
        </p:txBody>
      </p:sp>
      <p:sp>
        <p:nvSpPr>
          <p:cNvPr id="50" name="Rectangle 29"/>
          <p:cNvSpPr>
            <a:spLocks noChangeArrowheads="1"/>
          </p:cNvSpPr>
          <p:nvPr/>
        </p:nvSpPr>
        <p:spPr bwMode="auto">
          <a:xfrm>
            <a:off x="6427604"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1" name="TextBox 50"/>
          <p:cNvSpPr txBox="1"/>
          <p:nvPr/>
        </p:nvSpPr>
        <p:spPr>
          <a:xfrm>
            <a:off x="6427604" y="3159552"/>
            <a:ext cx="99828" cy="369332"/>
          </a:xfrm>
          <a:prstGeom prst="rect">
            <a:avLst/>
          </a:prstGeom>
          <a:noFill/>
        </p:spPr>
        <p:txBody>
          <a:bodyPr wrap="square" rtlCol="0">
            <a:spAutoFit/>
          </a:bodyPr>
          <a:lstStyle/>
          <a:p>
            <a:r>
              <a:rPr lang="en-US" altLang="zh-CN" dirty="0"/>
              <a:t>C</a:t>
            </a:r>
            <a:endParaRPr lang="zh-CN" altLang="en-US" dirty="0"/>
          </a:p>
        </p:txBody>
      </p:sp>
      <p:sp>
        <p:nvSpPr>
          <p:cNvPr id="52" name="矩形 51"/>
          <p:cNvSpPr/>
          <p:nvPr/>
        </p:nvSpPr>
        <p:spPr>
          <a:xfrm>
            <a:off x="611560" y="4103314"/>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53" name="矩形 52"/>
          <p:cNvSpPr/>
          <p:nvPr/>
        </p:nvSpPr>
        <p:spPr>
          <a:xfrm>
            <a:off x="3890956" y="4103314"/>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54" name="矩形 53"/>
          <p:cNvSpPr/>
          <p:nvPr/>
        </p:nvSpPr>
        <p:spPr>
          <a:xfrm>
            <a:off x="611560" y="5085184"/>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55" name="Rectangle 29"/>
          <p:cNvSpPr>
            <a:spLocks noChangeArrowheads="1"/>
          </p:cNvSpPr>
          <p:nvPr/>
        </p:nvSpPr>
        <p:spPr bwMode="auto">
          <a:xfrm>
            <a:off x="1558880" y="421425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6" name="TextBox 55"/>
          <p:cNvSpPr txBox="1"/>
          <p:nvPr/>
        </p:nvSpPr>
        <p:spPr>
          <a:xfrm>
            <a:off x="1558880" y="4149080"/>
            <a:ext cx="99828" cy="369332"/>
          </a:xfrm>
          <a:prstGeom prst="rect">
            <a:avLst/>
          </a:prstGeom>
          <a:noFill/>
        </p:spPr>
        <p:txBody>
          <a:bodyPr wrap="square" rtlCol="0">
            <a:spAutoFit/>
          </a:bodyPr>
          <a:lstStyle/>
          <a:p>
            <a:r>
              <a:rPr lang="en-US" altLang="zh-CN" dirty="0"/>
              <a:t>A</a:t>
            </a:r>
            <a:endParaRPr lang="zh-CN" altLang="en-US" dirty="0"/>
          </a:p>
        </p:txBody>
      </p:sp>
      <p:sp>
        <p:nvSpPr>
          <p:cNvPr id="57" name="Rectangle 29"/>
          <p:cNvSpPr>
            <a:spLocks noChangeArrowheads="1"/>
          </p:cNvSpPr>
          <p:nvPr/>
        </p:nvSpPr>
        <p:spPr bwMode="auto">
          <a:xfrm>
            <a:off x="2683188" y="422354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8" name="TextBox 57"/>
          <p:cNvSpPr txBox="1"/>
          <p:nvPr/>
        </p:nvSpPr>
        <p:spPr>
          <a:xfrm>
            <a:off x="2683188" y="4158372"/>
            <a:ext cx="99828" cy="369332"/>
          </a:xfrm>
          <a:prstGeom prst="rect">
            <a:avLst/>
          </a:prstGeom>
          <a:noFill/>
        </p:spPr>
        <p:txBody>
          <a:bodyPr wrap="square" rtlCol="0">
            <a:spAutoFit/>
          </a:bodyPr>
          <a:lstStyle/>
          <a:p>
            <a:r>
              <a:rPr lang="en-US" altLang="zh-CN" dirty="0"/>
              <a:t>B</a:t>
            </a:r>
            <a:endParaRPr lang="zh-CN" altLang="en-US" dirty="0"/>
          </a:p>
        </p:txBody>
      </p:sp>
      <p:sp>
        <p:nvSpPr>
          <p:cNvPr id="59" name="Rectangle 29"/>
          <p:cNvSpPr>
            <a:spLocks noChangeArrowheads="1"/>
          </p:cNvSpPr>
          <p:nvPr/>
        </p:nvSpPr>
        <p:spPr bwMode="auto">
          <a:xfrm>
            <a:off x="5403124" y="420496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60" name="TextBox 59"/>
          <p:cNvSpPr txBox="1"/>
          <p:nvPr/>
        </p:nvSpPr>
        <p:spPr>
          <a:xfrm>
            <a:off x="5419492" y="4139788"/>
            <a:ext cx="99828" cy="369332"/>
          </a:xfrm>
          <a:prstGeom prst="rect">
            <a:avLst/>
          </a:prstGeom>
          <a:noFill/>
        </p:spPr>
        <p:txBody>
          <a:bodyPr wrap="square" rtlCol="0">
            <a:spAutoFit/>
          </a:bodyPr>
          <a:lstStyle/>
          <a:p>
            <a:r>
              <a:rPr lang="en-US" altLang="zh-CN" dirty="0"/>
              <a:t>C</a:t>
            </a:r>
            <a:endParaRPr lang="zh-CN" altLang="en-US" dirty="0"/>
          </a:p>
        </p:txBody>
      </p:sp>
      <p:sp>
        <p:nvSpPr>
          <p:cNvPr id="61" name="Rectangle 29"/>
          <p:cNvSpPr>
            <a:spLocks noChangeArrowheads="1"/>
          </p:cNvSpPr>
          <p:nvPr/>
        </p:nvSpPr>
        <p:spPr bwMode="auto">
          <a:xfrm>
            <a:off x="5159280" y="4699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2" name="TextBox 61"/>
          <p:cNvSpPr txBox="1"/>
          <p:nvPr/>
        </p:nvSpPr>
        <p:spPr>
          <a:xfrm>
            <a:off x="5175648" y="4634552"/>
            <a:ext cx="99828" cy="369332"/>
          </a:xfrm>
          <a:prstGeom prst="rect">
            <a:avLst/>
          </a:prstGeom>
          <a:noFill/>
        </p:spPr>
        <p:txBody>
          <a:bodyPr wrap="square" rtlCol="0">
            <a:spAutoFit/>
          </a:bodyPr>
          <a:lstStyle/>
          <a:p>
            <a:r>
              <a:rPr lang="en-US" altLang="zh-CN" dirty="0"/>
              <a:t>A</a:t>
            </a:r>
            <a:endParaRPr lang="zh-CN" altLang="en-US" dirty="0"/>
          </a:p>
        </p:txBody>
      </p:sp>
      <p:sp>
        <p:nvSpPr>
          <p:cNvPr id="63" name="Rectangle 29"/>
          <p:cNvSpPr>
            <a:spLocks noChangeArrowheads="1"/>
          </p:cNvSpPr>
          <p:nvPr/>
        </p:nvSpPr>
        <p:spPr bwMode="auto">
          <a:xfrm>
            <a:off x="5707524" y="470902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4" name="TextBox 63"/>
          <p:cNvSpPr txBox="1"/>
          <p:nvPr/>
        </p:nvSpPr>
        <p:spPr>
          <a:xfrm>
            <a:off x="5691156" y="4643844"/>
            <a:ext cx="99828" cy="369332"/>
          </a:xfrm>
          <a:prstGeom prst="rect">
            <a:avLst/>
          </a:prstGeom>
          <a:noFill/>
        </p:spPr>
        <p:txBody>
          <a:bodyPr wrap="square" rtlCol="0">
            <a:spAutoFit/>
          </a:bodyPr>
          <a:lstStyle/>
          <a:p>
            <a:r>
              <a:rPr lang="en-US" altLang="zh-CN" dirty="0"/>
              <a:t>B</a:t>
            </a:r>
            <a:endParaRPr lang="zh-CN" altLang="en-US" dirty="0"/>
          </a:p>
        </p:txBody>
      </p:sp>
      <p:cxnSp>
        <p:nvCxnSpPr>
          <p:cNvPr id="65" name="直接箭头连接符 64"/>
          <p:cNvCxnSpPr>
            <a:stCxn id="30" idx="2"/>
          </p:cNvCxnSpPr>
          <p:nvPr/>
        </p:nvCxnSpPr>
        <p:spPr>
          <a:xfrm flipH="1">
            <a:off x="2018748" y="3870340"/>
            <a:ext cx="8184" cy="4599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6" name="直接箭头连接符 65"/>
          <p:cNvCxnSpPr>
            <a:stCxn id="35" idx="2"/>
          </p:cNvCxnSpPr>
          <p:nvPr/>
        </p:nvCxnSpPr>
        <p:spPr>
          <a:xfrm>
            <a:off x="4043156" y="3879632"/>
            <a:ext cx="180020" cy="44140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7" name="直接箭头连接符 66"/>
          <p:cNvCxnSpPr>
            <a:stCxn id="39" idx="2"/>
          </p:cNvCxnSpPr>
          <p:nvPr/>
        </p:nvCxnSpPr>
        <p:spPr>
          <a:xfrm flipH="1">
            <a:off x="3818948" y="3861048"/>
            <a:ext cx="2312440" cy="136815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68" name="右大括号 67"/>
          <p:cNvSpPr/>
          <p:nvPr/>
        </p:nvSpPr>
        <p:spPr>
          <a:xfrm>
            <a:off x="7175504" y="4100335"/>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TextBox 68"/>
          <p:cNvSpPr txBox="1"/>
          <p:nvPr/>
        </p:nvSpPr>
        <p:spPr>
          <a:xfrm>
            <a:off x="7458624" y="4890646"/>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70" name="Rectangle 29"/>
          <p:cNvSpPr>
            <a:spLocks noChangeArrowheads="1"/>
          </p:cNvSpPr>
          <p:nvPr/>
        </p:nvSpPr>
        <p:spPr bwMode="auto">
          <a:xfrm>
            <a:off x="2167916" y="471831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1" name="TextBox 70"/>
          <p:cNvSpPr txBox="1"/>
          <p:nvPr/>
        </p:nvSpPr>
        <p:spPr>
          <a:xfrm>
            <a:off x="2151548" y="4653136"/>
            <a:ext cx="99828" cy="369332"/>
          </a:xfrm>
          <a:prstGeom prst="rect">
            <a:avLst/>
          </a:prstGeom>
          <a:noFill/>
        </p:spPr>
        <p:txBody>
          <a:bodyPr wrap="square" rtlCol="0">
            <a:spAutoFit/>
          </a:bodyPr>
          <a:lstStyle/>
          <a:p>
            <a:r>
              <a:rPr lang="en-US" altLang="zh-CN" dirty="0"/>
              <a:t>C</a:t>
            </a:r>
            <a:endParaRPr lang="zh-CN" altLang="en-US" dirty="0"/>
          </a:p>
        </p:txBody>
      </p:sp>
      <p:sp>
        <p:nvSpPr>
          <p:cNvPr id="72" name="Rectangle 29"/>
          <p:cNvSpPr>
            <a:spLocks noChangeArrowheads="1"/>
          </p:cNvSpPr>
          <p:nvPr/>
        </p:nvSpPr>
        <p:spPr bwMode="auto">
          <a:xfrm>
            <a:off x="3220786" y="5715016"/>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3" name="Rectangle 29"/>
          <p:cNvSpPr>
            <a:spLocks noChangeArrowheads="1"/>
          </p:cNvSpPr>
          <p:nvPr/>
        </p:nvSpPr>
        <p:spPr bwMode="auto">
          <a:xfrm>
            <a:off x="3752662" y="5724308"/>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4" name="Rectangle 29"/>
          <p:cNvSpPr>
            <a:spLocks noChangeArrowheads="1"/>
          </p:cNvSpPr>
          <p:nvPr/>
        </p:nvSpPr>
        <p:spPr bwMode="auto">
          <a:xfrm>
            <a:off x="4256718" y="5733600"/>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5" name="TextBox 74"/>
          <p:cNvSpPr txBox="1"/>
          <p:nvPr/>
        </p:nvSpPr>
        <p:spPr>
          <a:xfrm>
            <a:off x="3214678" y="5643578"/>
            <a:ext cx="99828" cy="369332"/>
          </a:xfrm>
          <a:prstGeom prst="rect">
            <a:avLst/>
          </a:prstGeom>
          <a:noFill/>
        </p:spPr>
        <p:txBody>
          <a:bodyPr wrap="square" rtlCol="0">
            <a:spAutoFit/>
          </a:bodyPr>
          <a:lstStyle/>
          <a:p>
            <a:r>
              <a:rPr lang="en-US" altLang="zh-CN" dirty="0"/>
              <a:t>A</a:t>
            </a:r>
            <a:endParaRPr lang="zh-CN" altLang="en-US" dirty="0"/>
          </a:p>
        </p:txBody>
      </p:sp>
      <p:sp>
        <p:nvSpPr>
          <p:cNvPr id="76" name="TextBox 75"/>
          <p:cNvSpPr txBox="1"/>
          <p:nvPr/>
        </p:nvSpPr>
        <p:spPr>
          <a:xfrm>
            <a:off x="3746554" y="5652870"/>
            <a:ext cx="99828" cy="369332"/>
          </a:xfrm>
          <a:prstGeom prst="rect">
            <a:avLst/>
          </a:prstGeom>
          <a:noFill/>
        </p:spPr>
        <p:txBody>
          <a:bodyPr wrap="square" rtlCol="0">
            <a:spAutoFit/>
          </a:bodyPr>
          <a:lstStyle/>
          <a:p>
            <a:r>
              <a:rPr lang="en-US" altLang="zh-CN" dirty="0"/>
              <a:t>B</a:t>
            </a:r>
            <a:endParaRPr lang="zh-CN" altLang="en-US" dirty="0"/>
          </a:p>
        </p:txBody>
      </p:sp>
      <p:sp>
        <p:nvSpPr>
          <p:cNvPr id="77" name="TextBox 76"/>
          <p:cNvSpPr txBox="1"/>
          <p:nvPr/>
        </p:nvSpPr>
        <p:spPr>
          <a:xfrm>
            <a:off x="4250610" y="5662162"/>
            <a:ext cx="99828" cy="369332"/>
          </a:xfrm>
          <a:prstGeom prst="rect">
            <a:avLst/>
          </a:prstGeom>
          <a:noFill/>
        </p:spPr>
        <p:txBody>
          <a:bodyPr wrap="square" rtlCol="0">
            <a:spAutoFit/>
          </a:bodyPr>
          <a:lstStyle/>
          <a:p>
            <a:r>
              <a:rPr lang="en-US" altLang="zh-CN" dirty="0"/>
              <a:t>C</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分布式的</a:t>
            </a:r>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从</a:t>
            </a:r>
            <a:r>
              <a:rPr lang="en-US" altLang="zh-CN" dirty="0">
                <a:solidFill>
                  <a:schemeClr val="accent1"/>
                </a:solidFill>
                <a:ea typeface="宋体" panose="02010600030101010101" pitchFamily="2" charset="-122"/>
              </a:rPr>
              <a:t>Cellapp2</a:t>
            </a:r>
            <a:r>
              <a:rPr lang="zh-CN" altLang="en-US" dirty="0">
                <a:solidFill>
                  <a:schemeClr val="accent1"/>
                </a:solidFill>
                <a:ea typeface="宋体" panose="02010600030101010101" pitchFamily="2" charset="-122"/>
              </a:rPr>
              <a:t>来看</a:t>
            </a:r>
            <a:endParaRPr lang="zh-CN" altLang="en-US" sz="2200" b="1" dirty="0">
              <a:solidFill>
                <a:schemeClr val="accent1"/>
              </a:solidFill>
              <a:latin typeface="+mn-ea"/>
              <a:ea typeface="+mn-ea"/>
            </a:endParaRPr>
          </a:p>
        </p:txBody>
      </p:sp>
      <p:sp>
        <p:nvSpPr>
          <p:cNvPr id="10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79705" indent="-179705" defTabSz="448945">
              <a:lnSpc>
                <a:spcPct val="90000"/>
              </a:lnSpc>
              <a:spcBef>
                <a:spcPts val="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dirty="0">
                <a:latin typeface="Verdana" panose="020B0604030504040204" pitchFamily="34" charset="0"/>
                <a:ea typeface="宋体" panose="02010600030101010101" pitchFamily="2" charset="-122"/>
              </a:rPr>
              <a:t>Space1</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CellApp2</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t>
            </a:r>
            <a:r>
              <a:rPr lang="zh-CN" altLang="en-GB" dirty="0">
                <a:latin typeface="Verdana" panose="020B0604030504040204" pitchFamily="34" charset="0"/>
                <a:ea typeface="宋体" panose="02010600030101010101" pitchFamily="2" charset="-122"/>
              </a:rPr>
              <a:t>：</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2000" dirty="0">
                <a:latin typeface="Verdana" panose="020B0604030504040204" pitchFamily="34" charset="0"/>
                <a:ea typeface="宋体" panose="02010600030101010101" pitchFamily="2" charset="-122"/>
              </a:rPr>
              <a:t>        C</a:t>
            </a:r>
            <a:r>
              <a:rPr lang="zh-CN" altLang="en-GB" sz="2000" dirty="0">
                <a:latin typeface="Verdana" panose="020B0604030504040204" pitchFamily="34" charset="0"/>
                <a:ea typeface="宋体" panose="02010600030101010101" pitchFamily="2" charset="-122"/>
              </a:rPr>
              <a:t>是</a:t>
            </a:r>
            <a:r>
              <a:rPr lang="en-GB" altLang="zh-CN" sz="2000" dirty="0">
                <a:latin typeface="Verdana" panose="020B0604030504040204" pitchFamily="34" charset="0"/>
                <a:ea typeface="宋体" panose="02010600030101010101" pitchFamily="2" charset="-122"/>
              </a:rPr>
              <a:t>Real Entity</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a:latin typeface="Verdana" panose="020B0604030504040204" pitchFamily="34" charset="0"/>
                <a:ea typeface="宋体" panose="02010600030101010101" pitchFamily="2" charset="-122"/>
              </a:rPr>
              <a:t>        A</a:t>
            </a:r>
            <a:r>
              <a:rPr lang="zh-CN" altLang="en-GB" sz="2000" dirty="0">
                <a:latin typeface="Verdana" panose="020B0604030504040204" pitchFamily="34" charset="0"/>
                <a:ea typeface="宋体" panose="02010600030101010101" pitchFamily="2" charset="-122"/>
              </a:rPr>
              <a:t>和</a:t>
            </a:r>
            <a:r>
              <a:rPr lang="en-GB" altLang="zh-CN" sz="2000" dirty="0">
                <a:latin typeface="Verdana" panose="020B0604030504040204" pitchFamily="34" charset="0"/>
                <a:ea typeface="宋体" panose="02010600030101010101" pitchFamily="2" charset="-122"/>
              </a:rPr>
              <a:t>B</a:t>
            </a:r>
            <a:r>
              <a:rPr lang="zh-CN" altLang="en-GB" sz="2000" dirty="0">
                <a:latin typeface="Verdana" panose="020B0604030504040204" pitchFamily="34" charset="0"/>
                <a:ea typeface="宋体" panose="02010600030101010101" pitchFamily="2" charset="-122"/>
              </a:rPr>
              <a:t>是一个从</a:t>
            </a:r>
            <a:r>
              <a:rPr lang="en-GB" altLang="zh-CN" sz="2000" dirty="0">
                <a:latin typeface="Verdana" panose="020B0604030504040204" pitchFamily="34" charset="0"/>
                <a:ea typeface="宋体" panose="02010600030101010101" pitchFamily="2" charset="-122"/>
              </a:rPr>
              <a:t>CellApp1</a:t>
            </a:r>
            <a:r>
              <a:rPr lang="zh-CN" altLang="en-GB" sz="2000" dirty="0">
                <a:latin typeface="Verdana" panose="020B0604030504040204" pitchFamily="34" charset="0"/>
                <a:ea typeface="宋体" panose="02010600030101010101" pitchFamily="2" charset="-122"/>
              </a:rPr>
              <a:t>上</a:t>
            </a:r>
            <a:r>
              <a:rPr lang="en-GB" altLang="zh-CN" sz="2000" dirty="0">
                <a:latin typeface="Verdana" panose="020B0604030504040204" pitchFamily="34" charset="0"/>
                <a:ea typeface="宋体" panose="02010600030101010101" pitchFamily="2" charset="-122"/>
              </a:rPr>
              <a:t>ghost</a:t>
            </a:r>
            <a:r>
              <a:rPr lang="zh-CN" altLang="en-GB" sz="2000" dirty="0">
                <a:latin typeface="Verdana" panose="020B0604030504040204" pitchFamily="34" charset="0"/>
                <a:ea typeface="宋体" panose="02010600030101010101" pitchFamily="2" charset="-122"/>
              </a:rPr>
              <a:t>来的</a:t>
            </a:r>
            <a:r>
              <a:rPr lang="en-GB" altLang="zh-CN" sz="2000" dirty="0">
                <a:latin typeface="Verdana" panose="020B0604030504040204" pitchFamily="34" charset="0"/>
                <a:ea typeface="宋体" panose="02010600030101010101" pitchFamily="2" charset="-122"/>
              </a:rPr>
              <a:t>ghost Entity</a:t>
            </a:r>
            <a:endParaRPr lang="en-US" altLang="zh-CN" sz="2000" dirty="0">
              <a:latin typeface="Verdana" panose="020B0604030504040204" pitchFamily="34" charset="0"/>
              <a:ea typeface="宋体" panose="02010600030101010101" pitchFamily="2" charset="-122"/>
            </a:endParaRPr>
          </a:p>
          <a:p>
            <a:endParaRPr lang="en-US" altLang="zh-CN" dirty="0">
              <a:ea typeface="宋体" panose="02010600030101010101" pitchFamily="2" charset="-122"/>
            </a:endParaRPr>
          </a:p>
        </p:txBody>
      </p:sp>
      <p:cxnSp>
        <p:nvCxnSpPr>
          <p:cNvPr id="24" name="直接连接符 23"/>
          <p:cNvCxnSpPr/>
          <p:nvPr/>
        </p:nvCxnSpPr>
        <p:spPr>
          <a:xfrm>
            <a:off x="611560" y="4054189"/>
            <a:ext cx="6491936" cy="1"/>
          </a:xfrm>
          <a:prstGeom prst="line">
            <a:avLst/>
          </a:prstGeom>
        </p:spPr>
        <p:style>
          <a:lnRef idx="3">
            <a:schemeClr val="dk1"/>
          </a:lnRef>
          <a:fillRef idx="0">
            <a:schemeClr val="dk1"/>
          </a:fillRef>
          <a:effectRef idx="2">
            <a:schemeClr val="dk1"/>
          </a:effectRef>
          <a:fontRef idx="minor">
            <a:schemeClr val="tx1"/>
          </a:fontRef>
        </p:style>
      </p:cxnSp>
      <p:sp>
        <p:nvSpPr>
          <p:cNvPr id="25" name="Rectangle 15"/>
          <p:cNvSpPr>
            <a:spLocks noChangeArrowheads="1"/>
          </p:cNvSpPr>
          <p:nvPr/>
        </p:nvSpPr>
        <p:spPr bwMode="auto">
          <a:xfrm>
            <a:off x="1054824" y="315026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26" name="Rectangle 29"/>
          <p:cNvSpPr>
            <a:spLocks noChangeArrowheads="1"/>
          </p:cNvSpPr>
          <p:nvPr/>
        </p:nvSpPr>
        <p:spPr bwMode="auto">
          <a:xfrm>
            <a:off x="1243028" y="320614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27" name="TextBox 26"/>
          <p:cNvSpPr txBox="1"/>
          <p:nvPr/>
        </p:nvSpPr>
        <p:spPr>
          <a:xfrm>
            <a:off x="1414864" y="3501008"/>
            <a:ext cx="1224136" cy="369332"/>
          </a:xfrm>
          <a:prstGeom prst="rect">
            <a:avLst/>
          </a:prstGeom>
          <a:noFill/>
        </p:spPr>
        <p:txBody>
          <a:bodyPr wrap="square" rtlCol="0">
            <a:spAutoFit/>
          </a:bodyPr>
          <a:lstStyle/>
          <a:p>
            <a:r>
              <a:rPr lang="en-US" altLang="zh-CN" b="1" dirty="0"/>
              <a:t>Cellapp1</a:t>
            </a:r>
            <a:endParaRPr lang="zh-CN" altLang="en-US" b="1" dirty="0"/>
          </a:p>
        </p:txBody>
      </p:sp>
      <p:sp>
        <p:nvSpPr>
          <p:cNvPr id="28" name="TextBox 27"/>
          <p:cNvSpPr txBox="1"/>
          <p:nvPr/>
        </p:nvSpPr>
        <p:spPr>
          <a:xfrm>
            <a:off x="1243028" y="3140968"/>
            <a:ext cx="99828" cy="369332"/>
          </a:xfrm>
          <a:prstGeom prst="rect">
            <a:avLst/>
          </a:prstGeom>
          <a:noFill/>
        </p:spPr>
        <p:txBody>
          <a:bodyPr wrap="square" rtlCol="0">
            <a:spAutoFit/>
          </a:bodyPr>
          <a:lstStyle/>
          <a:p>
            <a:r>
              <a:rPr lang="en-US" altLang="zh-CN" dirty="0"/>
              <a:t>A</a:t>
            </a:r>
            <a:endParaRPr lang="zh-CN" altLang="en-US" dirty="0"/>
          </a:p>
        </p:txBody>
      </p:sp>
      <p:sp>
        <p:nvSpPr>
          <p:cNvPr id="29" name="Rectangle 29"/>
          <p:cNvSpPr>
            <a:spLocks noChangeArrowheads="1"/>
          </p:cNvSpPr>
          <p:nvPr/>
        </p:nvSpPr>
        <p:spPr bwMode="auto">
          <a:xfrm>
            <a:off x="1774904" y="32154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30" name="TextBox 29"/>
          <p:cNvSpPr txBox="1"/>
          <p:nvPr/>
        </p:nvSpPr>
        <p:spPr>
          <a:xfrm>
            <a:off x="1774904" y="3150260"/>
            <a:ext cx="99828" cy="369332"/>
          </a:xfrm>
          <a:prstGeom prst="rect">
            <a:avLst/>
          </a:prstGeom>
          <a:noFill/>
        </p:spPr>
        <p:txBody>
          <a:bodyPr wrap="square" rtlCol="0">
            <a:spAutoFit/>
          </a:bodyPr>
          <a:lstStyle/>
          <a:p>
            <a:r>
              <a:rPr lang="en-US" altLang="zh-CN" dirty="0"/>
              <a:t>B</a:t>
            </a:r>
            <a:endParaRPr lang="zh-CN" altLang="en-US" dirty="0"/>
          </a:p>
        </p:txBody>
      </p:sp>
      <p:sp>
        <p:nvSpPr>
          <p:cNvPr id="31" name="Rectangle 15"/>
          <p:cNvSpPr>
            <a:spLocks noChangeArrowheads="1"/>
          </p:cNvSpPr>
          <p:nvPr/>
        </p:nvSpPr>
        <p:spPr bwMode="auto">
          <a:xfrm>
            <a:off x="3071048"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2" name="TextBox 31"/>
          <p:cNvSpPr txBox="1"/>
          <p:nvPr/>
        </p:nvSpPr>
        <p:spPr>
          <a:xfrm>
            <a:off x="3431088" y="3510300"/>
            <a:ext cx="1224136" cy="369332"/>
          </a:xfrm>
          <a:prstGeom prst="rect">
            <a:avLst/>
          </a:prstGeom>
          <a:noFill/>
        </p:spPr>
        <p:txBody>
          <a:bodyPr wrap="square" rtlCol="0">
            <a:spAutoFit/>
          </a:bodyPr>
          <a:lstStyle/>
          <a:p>
            <a:r>
              <a:rPr lang="en-US" altLang="zh-CN" b="1" dirty="0"/>
              <a:t>Cellapp2</a:t>
            </a:r>
            <a:endParaRPr lang="zh-CN" altLang="en-US" b="1" dirty="0"/>
          </a:p>
        </p:txBody>
      </p:sp>
      <p:sp>
        <p:nvSpPr>
          <p:cNvPr id="33" name="Rectangle 29"/>
          <p:cNvSpPr>
            <a:spLocks noChangeArrowheads="1"/>
          </p:cNvSpPr>
          <p:nvPr/>
        </p:nvSpPr>
        <p:spPr bwMode="auto">
          <a:xfrm>
            <a:off x="2278960"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34" name="TextBox 33"/>
          <p:cNvSpPr txBox="1"/>
          <p:nvPr/>
        </p:nvSpPr>
        <p:spPr>
          <a:xfrm>
            <a:off x="2278960" y="3159552"/>
            <a:ext cx="99828" cy="369332"/>
          </a:xfrm>
          <a:prstGeom prst="rect">
            <a:avLst/>
          </a:prstGeom>
          <a:noFill/>
        </p:spPr>
        <p:txBody>
          <a:bodyPr wrap="square" rtlCol="0">
            <a:spAutoFit/>
          </a:bodyPr>
          <a:lstStyle/>
          <a:p>
            <a:r>
              <a:rPr lang="en-US" altLang="zh-CN" dirty="0"/>
              <a:t>C</a:t>
            </a:r>
            <a:endParaRPr lang="zh-CN" altLang="en-US" dirty="0"/>
          </a:p>
        </p:txBody>
      </p:sp>
      <p:sp>
        <p:nvSpPr>
          <p:cNvPr id="35" name="Rectangle 15"/>
          <p:cNvSpPr>
            <a:spLocks noChangeArrowheads="1"/>
          </p:cNvSpPr>
          <p:nvPr/>
        </p:nvSpPr>
        <p:spPr bwMode="auto">
          <a:xfrm>
            <a:off x="5159280"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6" name="TextBox 35"/>
          <p:cNvSpPr txBox="1"/>
          <p:nvPr/>
        </p:nvSpPr>
        <p:spPr>
          <a:xfrm>
            <a:off x="5519320" y="3491716"/>
            <a:ext cx="1224136" cy="369332"/>
          </a:xfrm>
          <a:prstGeom prst="rect">
            <a:avLst/>
          </a:prstGeom>
          <a:noFill/>
        </p:spPr>
        <p:txBody>
          <a:bodyPr wrap="square" rtlCol="0">
            <a:spAutoFit/>
          </a:bodyPr>
          <a:lstStyle/>
          <a:p>
            <a:r>
              <a:rPr lang="en-US" altLang="zh-CN" b="1" dirty="0"/>
              <a:t>Cellapp3</a:t>
            </a:r>
            <a:endParaRPr lang="zh-CN" altLang="en-US" b="1" dirty="0"/>
          </a:p>
        </p:txBody>
      </p:sp>
      <p:sp>
        <p:nvSpPr>
          <p:cNvPr id="37" name="Rectangle 29"/>
          <p:cNvSpPr>
            <a:spLocks noChangeArrowheads="1"/>
          </p:cNvSpPr>
          <p:nvPr/>
        </p:nvSpPr>
        <p:spPr bwMode="auto">
          <a:xfrm>
            <a:off x="32870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38" name="TextBox 37"/>
          <p:cNvSpPr txBox="1"/>
          <p:nvPr/>
        </p:nvSpPr>
        <p:spPr>
          <a:xfrm>
            <a:off x="3287072" y="3140968"/>
            <a:ext cx="99828" cy="369332"/>
          </a:xfrm>
          <a:prstGeom prst="rect">
            <a:avLst/>
          </a:prstGeom>
          <a:noFill/>
        </p:spPr>
        <p:txBody>
          <a:bodyPr wrap="square" rtlCol="0">
            <a:spAutoFit/>
          </a:bodyPr>
          <a:lstStyle/>
          <a:p>
            <a:r>
              <a:rPr lang="en-US" altLang="zh-CN" dirty="0"/>
              <a:t>A</a:t>
            </a:r>
            <a:endParaRPr lang="zh-CN" altLang="en-US" dirty="0"/>
          </a:p>
        </p:txBody>
      </p:sp>
      <p:sp>
        <p:nvSpPr>
          <p:cNvPr id="39" name="Rectangle 29"/>
          <p:cNvSpPr>
            <a:spLocks noChangeArrowheads="1"/>
          </p:cNvSpPr>
          <p:nvPr/>
        </p:nvSpPr>
        <p:spPr bwMode="auto">
          <a:xfrm>
            <a:off x="38189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0" name="TextBox 39"/>
          <p:cNvSpPr txBox="1"/>
          <p:nvPr/>
        </p:nvSpPr>
        <p:spPr>
          <a:xfrm>
            <a:off x="3818948" y="3150260"/>
            <a:ext cx="99828" cy="369332"/>
          </a:xfrm>
          <a:prstGeom prst="rect">
            <a:avLst/>
          </a:prstGeom>
          <a:noFill/>
        </p:spPr>
        <p:txBody>
          <a:bodyPr wrap="square" rtlCol="0">
            <a:spAutoFit/>
          </a:bodyPr>
          <a:lstStyle/>
          <a:p>
            <a:r>
              <a:rPr lang="en-US" altLang="zh-CN" dirty="0"/>
              <a:t>B</a:t>
            </a:r>
            <a:endParaRPr lang="zh-CN" altLang="en-US" dirty="0"/>
          </a:p>
        </p:txBody>
      </p:sp>
      <p:sp>
        <p:nvSpPr>
          <p:cNvPr id="41" name="Rectangle 29"/>
          <p:cNvSpPr>
            <a:spLocks noChangeArrowheads="1"/>
          </p:cNvSpPr>
          <p:nvPr/>
        </p:nvSpPr>
        <p:spPr bwMode="auto">
          <a:xfrm>
            <a:off x="4323004" y="32247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2" name="TextBox 41"/>
          <p:cNvSpPr txBox="1"/>
          <p:nvPr/>
        </p:nvSpPr>
        <p:spPr>
          <a:xfrm>
            <a:off x="4323004" y="3159552"/>
            <a:ext cx="99828" cy="369332"/>
          </a:xfrm>
          <a:prstGeom prst="rect">
            <a:avLst/>
          </a:prstGeom>
          <a:noFill/>
        </p:spPr>
        <p:txBody>
          <a:bodyPr wrap="square" rtlCol="0">
            <a:spAutoFit/>
          </a:bodyPr>
          <a:lstStyle/>
          <a:p>
            <a:r>
              <a:rPr lang="en-US" altLang="zh-CN" dirty="0"/>
              <a:t>C</a:t>
            </a:r>
            <a:endParaRPr lang="zh-CN" altLang="en-US" dirty="0"/>
          </a:p>
        </p:txBody>
      </p:sp>
      <p:sp>
        <p:nvSpPr>
          <p:cNvPr id="43" name="Rectangle 29"/>
          <p:cNvSpPr>
            <a:spLocks noChangeArrowheads="1"/>
          </p:cNvSpPr>
          <p:nvPr/>
        </p:nvSpPr>
        <p:spPr bwMode="auto">
          <a:xfrm>
            <a:off x="53916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4" name="TextBox 43"/>
          <p:cNvSpPr txBox="1"/>
          <p:nvPr/>
        </p:nvSpPr>
        <p:spPr>
          <a:xfrm>
            <a:off x="5391672" y="3140968"/>
            <a:ext cx="99828" cy="369332"/>
          </a:xfrm>
          <a:prstGeom prst="rect">
            <a:avLst/>
          </a:prstGeom>
          <a:noFill/>
        </p:spPr>
        <p:txBody>
          <a:bodyPr wrap="square" rtlCol="0">
            <a:spAutoFit/>
          </a:bodyPr>
          <a:lstStyle/>
          <a:p>
            <a:r>
              <a:rPr lang="en-US" altLang="zh-CN" dirty="0"/>
              <a:t>A</a:t>
            </a:r>
            <a:endParaRPr lang="zh-CN" altLang="en-US" dirty="0"/>
          </a:p>
        </p:txBody>
      </p:sp>
      <p:sp>
        <p:nvSpPr>
          <p:cNvPr id="45" name="Rectangle 29"/>
          <p:cNvSpPr>
            <a:spLocks noChangeArrowheads="1"/>
          </p:cNvSpPr>
          <p:nvPr/>
        </p:nvSpPr>
        <p:spPr bwMode="auto">
          <a:xfrm>
            <a:off x="59235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6" name="TextBox 45"/>
          <p:cNvSpPr txBox="1"/>
          <p:nvPr/>
        </p:nvSpPr>
        <p:spPr>
          <a:xfrm>
            <a:off x="5923548" y="3150260"/>
            <a:ext cx="99828" cy="369332"/>
          </a:xfrm>
          <a:prstGeom prst="rect">
            <a:avLst/>
          </a:prstGeom>
          <a:noFill/>
        </p:spPr>
        <p:txBody>
          <a:bodyPr wrap="square" rtlCol="0">
            <a:spAutoFit/>
          </a:bodyPr>
          <a:lstStyle/>
          <a:p>
            <a:r>
              <a:rPr lang="en-US" altLang="zh-CN" dirty="0"/>
              <a:t>B</a:t>
            </a:r>
            <a:endParaRPr lang="zh-CN" altLang="en-US" dirty="0"/>
          </a:p>
        </p:txBody>
      </p:sp>
      <p:sp>
        <p:nvSpPr>
          <p:cNvPr id="47" name="Rectangle 29"/>
          <p:cNvSpPr>
            <a:spLocks noChangeArrowheads="1"/>
          </p:cNvSpPr>
          <p:nvPr/>
        </p:nvSpPr>
        <p:spPr bwMode="auto">
          <a:xfrm>
            <a:off x="6427604"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TextBox 47"/>
          <p:cNvSpPr txBox="1"/>
          <p:nvPr/>
        </p:nvSpPr>
        <p:spPr>
          <a:xfrm>
            <a:off x="6427604" y="3159552"/>
            <a:ext cx="99828" cy="369332"/>
          </a:xfrm>
          <a:prstGeom prst="rect">
            <a:avLst/>
          </a:prstGeom>
          <a:noFill/>
        </p:spPr>
        <p:txBody>
          <a:bodyPr wrap="square" rtlCol="0">
            <a:spAutoFit/>
          </a:bodyPr>
          <a:lstStyle/>
          <a:p>
            <a:r>
              <a:rPr lang="en-US" altLang="zh-CN" dirty="0"/>
              <a:t>C</a:t>
            </a:r>
            <a:endParaRPr lang="zh-CN" altLang="en-US" dirty="0"/>
          </a:p>
        </p:txBody>
      </p:sp>
      <p:sp>
        <p:nvSpPr>
          <p:cNvPr id="49" name="矩形 48"/>
          <p:cNvSpPr/>
          <p:nvPr/>
        </p:nvSpPr>
        <p:spPr>
          <a:xfrm>
            <a:off x="611560" y="4103314"/>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50" name="矩形 49"/>
          <p:cNvSpPr/>
          <p:nvPr/>
        </p:nvSpPr>
        <p:spPr>
          <a:xfrm>
            <a:off x="3890956" y="4103314"/>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51" name="矩形 50"/>
          <p:cNvSpPr/>
          <p:nvPr/>
        </p:nvSpPr>
        <p:spPr>
          <a:xfrm>
            <a:off x="611560" y="5085184"/>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52" name="Rectangle 29"/>
          <p:cNvSpPr>
            <a:spLocks noChangeArrowheads="1"/>
          </p:cNvSpPr>
          <p:nvPr/>
        </p:nvSpPr>
        <p:spPr bwMode="auto">
          <a:xfrm>
            <a:off x="1558880" y="421425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3" name="TextBox 52"/>
          <p:cNvSpPr txBox="1"/>
          <p:nvPr/>
        </p:nvSpPr>
        <p:spPr>
          <a:xfrm>
            <a:off x="1558880" y="4149080"/>
            <a:ext cx="99828" cy="369332"/>
          </a:xfrm>
          <a:prstGeom prst="rect">
            <a:avLst/>
          </a:prstGeom>
          <a:noFill/>
        </p:spPr>
        <p:txBody>
          <a:bodyPr wrap="square" rtlCol="0">
            <a:spAutoFit/>
          </a:bodyPr>
          <a:lstStyle/>
          <a:p>
            <a:r>
              <a:rPr lang="en-US" altLang="zh-CN" dirty="0"/>
              <a:t>A</a:t>
            </a:r>
            <a:endParaRPr lang="zh-CN" altLang="en-US" dirty="0"/>
          </a:p>
        </p:txBody>
      </p:sp>
      <p:sp>
        <p:nvSpPr>
          <p:cNvPr id="54" name="Rectangle 29"/>
          <p:cNvSpPr>
            <a:spLocks noChangeArrowheads="1"/>
          </p:cNvSpPr>
          <p:nvPr/>
        </p:nvSpPr>
        <p:spPr bwMode="auto">
          <a:xfrm>
            <a:off x="2683188" y="422354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5" name="TextBox 54"/>
          <p:cNvSpPr txBox="1"/>
          <p:nvPr/>
        </p:nvSpPr>
        <p:spPr>
          <a:xfrm>
            <a:off x="2683188" y="4158372"/>
            <a:ext cx="99828" cy="369332"/>
          </a:xfrm>
          <a:prstGeom prst="rect">
            <a:avLst/>
          </a:prstGeom>
          <a:noFill/>
        </p:spPr>
        <p:txBody>
          <a:bodyPr wrap="square" rtlCol="0">
            <a:spAutoFit/>
          </a:bodyPr>
          <a:lstStyle/>
          <a:p>
            <a:r>
              <a:rPr lang="en-US" altLang="zh-CN" dirty="0"/>
              <a:t>B</a:t>
            </a:r>
            <a:endParaRPr lang="zh-CN" altLang="en-US" dirty="0"/>
          </a:p>
        </p:txBody>
      </p:sp>
      <p:sp>
        <p:nvSpPr>
          <p:cNvPr id="56" name="Rectangle 29"/>
          <p:cNvSpPr>
            <a:spLocks noChangeArrowheads="1"/>
          </p:cNvSpPr>
          <p:nvPr/>
        </p:nvSpPr>
        <p:spPr bwMode="auto">
          <a:xfrm>
            <a:off x="5403124" y="420496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7" name="TextBox 56"/>
          <p:cNvSpPr txBox="1"/>
          <p:nvPr/>
        </p:nvSpPr>
        <p:spPr>
          <a:xfrm>
            <a:off x="5419492" y="4139788"/>
            <a:ext cx="99828" cy="369332"/>
          </a:xfrm>
          <a:prstGeom prst="rect">
            <a:avLst/>
          </a:prstGeom>
          <a:noFill/>
        </p:spPr>
        <p:txBody>
          <a:bodyPr wrap="square" rtlCol="0">
            <a:spAutoFit/>
          </a:bodyPr>
          <a:lstStyle/>
          <a:p>
            <a:r>
              <a:rPr lang="en-US" altLang="zh-CN" dirty="0"/>
              <a:t>C</a:t>
            </a:r>
            <a:endParaRPr lang="zh-CN" altLang="en-US" dirty="0"/>
          </a:p>
        </p:txBody>
      </p:sp>
      <p:sp>
        <p:nvSpPr>
          <p:cNvPr id="58" name="Rectangle 29"/>
          <p:cNvSpPr>
            <a:spLocks noChangeArrowheads="1"/>
          </p:cNvSpPr>
          <p:nvPr/>
        </p:nvSpPr>
        <p:spPr bwMode="auto">
          <a:xfrm>
            <a:off x="5159280" y="4699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TextBox 58"/>
          <p:cNvSpPr txBox="1"/>
          <p:nvPr/>
        </p:nvSpPr>
        <p:spPr>
          <a:xfrm>
            <a:off x="5175648" y="4634552"/>
            <a:ext cx="99828" cy="369332"/>
          </a:xfrm>
          <a:prstGeom prst="rect">
            <a:avLst/>
          </a:prstGeom>
          <a:noFill/>
        </p:spPr>
        <p:txBody>
          <a:bodyPr wrap="square" rtlCol="0">
            <a:spAutoFit/>
          </a:bodyPr>
          <a:lstStyle/>
          <a:p>
            <a:r>
              <a:rPr lang="en-US" altLang="zh-CN" dirty="0"/>
              <a:t>A</a:t>
            </a:r>
            <a:endParaRPr lang="zh-CN" altLang="en-US" dirty="0"/>
          </a:p>
        </p:txBody>
      </p:sp>
      <p:sp>
        <p:nvSpPr>
          <p:cNvPr id="60" name="Rectangle 29"/>
          <p:cNvSpPr>
            <a:spLocks noChangeArrowheads="1"/>
          </p:cNvSpPr>
          <p:nvPr/>
        </p:nvSpPr>
        <p:spPr bwMode="auto">
          <a:xfrm>
            <a:off x="5707524" y="470902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1" name="TextBox 60"/>
          <p:cNvSpPr txBox="1"/>
          <p:nvPr/>
        </p:nvSpPr>
        <p:spPr>
          <a:xfrm>
            <a:off x="5691156" y="4643844"/>
            <a:ext cx="99828" cy="369332"/>
          </a:xfrm>
          <a:prstGeom prst="rect">
            <a:avLst/>
          </a:prstGeom>
          <a:noFill/>
        </p:spPr>
        <p:txBody>
          <a:bodyPr wrap="square" rtlCol="0">
            <a:spAutoFit/>
          </a:bodyPr>
          <a:lstStyle/>
          <a:p>
            <a:r>
              <a:rPr lang="en-US" altLang="zh-CN" dirty="0"/>
              <a:t>B</a:t>
            </a:r>
            <a:endParaRPr lang="zh-CN" altLang="en-US" dirty="0"/>
          </a:p>
        </p:txBody>
      </p:sp>
      <p:cxnSp>
        <p:nvCxnSpPr>
          <p:cNvPr id="62" name="直接箭头连接符 61"/>
          <p:cNvCxnSpPr>
            <a:stCxn id="27" idx="2"/>
          </p:cNvCxnSpPr>
          <p:nvPr/>
        </p:nvCxnSpPr>
        <p:spPr>
          <a:xfrm flipH="1">
            <a:off x="2018748" y="3870340"/>
            <a:ext cx="8184" cy="4599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3" name="直接箭头连接符 62"/>
          <p:cNvCxnSpPr>
            <a:stCxn id="32" idx="2"/>
          </p:cNvCxnSpPr>
          <p:nvPr/>
        </p:nvCxnSpPr>
        <p:spPr>
          <a:xfrm>
            <a:off x="4043156" y="3879632"/>
            <a:ext cx="180020" cy="44140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4" name="直接箭头连接符 63"/>
          <p:cNvCxnSpPr>
            <a:stCxn id="36" idx="2"/>
          </p:cNvCxnSpPr>
          <p:nvPr/>
        </p:nvCxnSpPr>
        <p:spPr>
          <a:xfrm flipH="1">
            <a:off x="3818948" y="3861048"/>
            <a:ext cx="2312440" cy="136815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65" name="右大括号 64"/>
          <p:cNvSpPr/>
          <p:nvPr/>
        </p:nvSpPr>
        <p:spPr>
          <a:xfrm>
            <a:off x="7175504" y="4100335"/>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TextBox 65"/>
          <p:cNvSpPr txBox="1"/>
          <p:nvPr/>
        </p:nvSpPr>
        <p:spPr>
          <a:xfrm>
            <a:off x="7458624" y="4890646"/>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67" name="Rectangle 29"/>
          <p:cNvSpPr>
            <a:spLocks noChangeArrowheads="1"/>
          </p:cNvSpPr>
          <p:nvPr/>
        </p:nvSpPr>
        <p:spPr bwMode="auto">
          <a:xfrm>
            <a:off x="2167916" y="471831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8" name="TextBox 67"/>
          <p:cNvSpPr txBox="1"/>
          <p:nvPr/>
        </p:nvSpPr>
        <p:spPr>
          <a:xfrm>
            <a:off x="2151548" y="4653136"/>
            <a:ext cx="99828" cy="369332"/>
          </a:xfrm>
          <a:prstGeom prst="rect">
            <a:avLst/>
          </a:prstGeom>
          <a:noFill/>
        </p:spPr>
        <p:txBody>
          <a:bodyPr wrap="square" rtlCol="0">
            <a:spAutoFit/>
          </a:bodyPr>
          <a:lstStyle/>
          <a:p>
            <a:r>
              <a:rPr lang="en-US" altLang="zh-CN" dirty="0"/>
              <a:t>C</a:t>
            </a:r>
            <a:endParaRPr lang="zh-CN" altLang="en-US" dirty="0"/>
          </a:p>
        </p:txBody>
      </p:sp>
      <p:sp>
        <p:nvSpPr>
          <p:cNvPr id="69" name="Rectangle 29"/>
          <p:cNvSpPr>
            <a:spLocks noChangeArrowheads="1"/>
          </p:cNvSpPr>
          <p:nvPr/>
        </p:nvSpPr>
        <p:spPr bwMode="auto">
          <a:xfrm>
            <a:off x="3149348" y="5715016"/>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0" name="Rectangle 29"/>
          <p:cNvSpPr>
            <a:spLocks noChangeArrowheads="1"/>
          </p:cNvSpPr>
          <p:nvPr/>
        </p:nvSpPr>
        <p:spPr bwMode="auto">
          <a:xfrm>
            <a:off x="3681224" y="5724308"/>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1" name="Rectangle 29"/>
          <p:cNvSpPr>
            <a:spLocks noChangeArrowheads="1"/>
          </p:cNvSpPr>
          <p:nvPr/>
        </p:nvSpPr>
        <p:spPr bwMode="auto">
          <a:xfrm>
            <a:off x="4185280" y="5733600"/>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2" name="TextBox 71"/>
          <p:cNvSpPr txBox="1"/>
          <p:nvPr/>
        </p:nvSpPr>
        <p:spPr>
          <a:xfrm>
            <a:off x="3143240" y="5643578"/>
            <a:ext cx="99828" cy="369332"/>
          </a:xfrm>
          <a:prstGeom prst="rect">
            <a:avLst/>
          </a:prstGeom>
          <a:noFill/>
        </p:spPr>
        <p:txBody>
          <a:bodyPr wrap="square" rtlCol="0">
            <a:spAutoFit/>
          </a:bodyPr>
          <a:lstStyle/>
          <a:p>
            <a:r>
              <a:rPr lang="en-US" altLang="zh-CN" dirty="0"/>
              <a:t>A</a:t>
            </a:r>
            <a:endParaRPr lang="zh-CN" altLang="en-US" dirty="0"/>
          </a:p>
        </p:txBody>
      </p:sp>
      <p:sp>
        <p:nvSpPr>
          <p:cNvPr id="73" name="TextBox 72"/>
          <p:cNvSpPr txBox="1"/>
          <p:nvPr/>
        </p:nvSpPr>
        <p:spPr>
          <a:xfrm>
            <a:off x="3675116" y="5652870"/>
            <a:ext cx="99828" cy="369332"/>
          </a:xfrm>
          <a:prstGeom prst="rect">
            <a:avLst/>
          </a:prstGeom>
          <a:noFill/>
        </p:spPr>
        <p:txBody>
          <a:bodyPr wrap="square" rtlCol="0">
            <a:spAutoFit/>
          </a:bodyPr>
          <a:lstStyle/>
          <a:p>
            <a:r>
              <a:rPr lang="en-US" altLang="zh-CN" dirty="0"/>
              <a:t>B</a:t>
            </a:r>
            <a:endParaRPr lang="zh-CN" altLang="en-US" dirty="0"/>
          </a:p>
        </p:txBody>
      </p:sp>
      <p:sp>
        <p:nvSpPr>
          <p:cNvPr id="74" name="TextBox 73"/>
          <p:cNvSpPr txBox="1"/>
          <p:nvPr/>
        </p:nvSpPr>
        <p:spPr>
          <a:xfrm>
            <a:off x="4179172" y="5662162"/>
            <a:ext cx="99828" cy="369332"/>
          </a:xfrm>
          <a:prstGeom prst="rect">
            <a:avLst/>
          </a:prstGeom>
          <a:noFill/>
        </p:spPr>
        <p:txBody>
          <a:bodyPr wrap="square" rtlCol="0">
            <a:spAutoFit/>
          </a:bodyPr>
          <a:lstStyle/>
          <a:p>
            <a:r>
              <a:rPr lang="en-US" altLang="zh-CN" dirty="0"/>
              <a:t>C</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分布式的</a:t>
            </a:r>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从</a:t>
            </a:r>
            <a:r>
              <a:rPr lang="en-US" altLang="zh-CN" dirty="0">
                <a:solidFill>
                  <a:schemeClr val="accent1"/>
                </a:solidFill>
                <a:ea typeface="宋体" panose="02010600030101010101" pitchFamily="2" charset="-122"/>
              </a:rPr>
              <a:t>Cellapp3</a:t>
            </a:r>
            <a:r>
              <a:rPr lang="zh-CN" altLang="en-US" dirty="0">
                <a:solidFill>
                  <a:schemeClr val="accent1"/>
                </a:solidFill>
                <a:ea typeface="宋体" panose="02010600030101010101" pitchFamily="2" charset="-122"/>
              </a:rPr>
              <a:t>来看</a:t>
            </a:r>
            <a:endParaRPr lang="zh-CN" altLang="en-US" sz="2200" b="1" dirty="0">
              <a:solidFill>
                <a:schemeClr val="accent1"/>
              </a:solidFill>
              <a:latin typeface="+mn-ea"/>
              <a:ea typeface="+mn-ea"/>
            </a:endParaRPr>
          </a:p>
        </p:txBody>
      </p:sp>
      <p:sp>
        <p:nvSpPr>
          <p:cNvPr id="10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179705" indent="-179705" defTabSz="448945">
              <a:lnSpc>
                <a:spcPct val="90000"/>
              </a:lnSpc>
              <a:spcBef>
                <a:spcPts val="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dirty="0">
                <a:latin typeface="Verdana" panose="020B0604030504040204" pitchFamily="34" charset="0"/>
                <a:ea typeface="宋体" panose="02010600030101010101" pitchFamily="2" charset="-122"/>
              </a:rPr>
              <a:t>Space1</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CellApp3</a:t>
            </a:r>
            <a:r>
              <a:rPr lang="zh-CN" altLang="en-GB" dirty="0">
                <a:latin typeface="Verdana" panose="020B0604030504040204" pitchFamily="34" charset="0"/>
                <a:ea typeface="宋体" panose="02010600030101010101" pitchFamily="2" charset="-122"/>
              </a:rPr>
              <a:t>的</a:t>
            </a:r>
            <a:r>
              <a:rPr lang="en-GB" altLang="zh-CN" dirty="0">
                <a:latin typeface="Verdana" panose="020B0604030504040204" pitchFamily="34" charset="0"/>
                <a:ea typeface="宋体" panose="02010600030101010101" pitchFamily="2" charset="-122"/>
              </a:rPr>
              <a:t>Cell</a:t>
            </a:r>
            <a:r>
              <a:rPr lang="zh-CN" altLang="en-GB" dirty="0">
                <a:latin typeface="Verdana" panose="020B0604030504040204" pitchFamily="34" charset="0"/>
                <a:ea typeface="宋体" panose="02010600030101010101" pitchFamily="2" charset="-122"/>
              </a:rPr>
              <a:t>：</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2000" dirty="0">
                <a:latin typeface="Verdana" panose="020B0604030504040204" pitchFamily="34" charset="0"/>
                <a:ea typeface="宋体" panose="02010600030101010101" pitchFamily="2" charset="-122"/>
              </a:rPr>
              <a:t>        </a:t>
            </a:r>
            <a:r>
              <a:rPr lang="en-GB" altLang="zh-CN" sz="2000" dirty="0">
                <a:latin typeface="Verdana" panose="020B0604030504040204" pitchFamily="34" charset="0"/>
                <a:ea typeface="宋体" panose="02010600030101010101" pitchFamily="2" charset="-122"/>
              </a:rPr>
              <a:t>A</a:t>
            </a:r>
            <a:r>
              <a:rPr lang="zh-CN" altLang="en-GB" sz="2000" dirty="0">
                <a:latin typeface="Verdana" panose="020B0604030504040204" pitchFamily="34" charset="0"/>
                <a:ea typeface="宋体" panose="02010600030101010101" pitchFamily="2" charset="-122"/>
              </a:rPr>
              <a:t>和</a:t>
            </a:r>
            <a:r>
              <a:rPr lang="en-GB" altLang="zh-CN" sz="2000" dirty="0">
                <a:latin typeface="Verdana" panose="020B0604030504040204" pitchFamily="34" charset="0"/>
                <a:ea typeface="宋体" panose="02010600030101010101" pitchFamily="2" charset="-122"/>
              </a:rPr>
              <a:t>B</a:t>
            </a:r>
            <a:r>
              <a:rPr lang="zh-CN" altLang="en-GB" sz="2000" dirty="0">
                <a:latin typeface="Verdana" panose="020B0604030504040204" pitchFamily="34" charset="0"/>
                <a:ea typeface="宋体" panose="02010600030101010101" pitchFamily="2" charset="-122"/>
              </a:rPr>
              <a:t>是一个从</a:t>
            </a:r>
            <a:r>
              <a:rPr lang="en-GB" altLang="zh-CN" sz="2000" dirty="0">
                <a:latin typeface="Verdana" panose="020B0604030504040204" pitchFamily="34" charset="0"/>
                <a:ea typeface="宋体" panose="02010600030101010101" pitchFamily="2" charset="-122"/>
              </a:rPr>
              <a:t>CellApp1</a:t>
            </a:r>
            <a:r>
              <a:rPr lang="zh-CN" altLang="en-GB" sz="2000" dirty="0">
                <a:latin typeface="Verdana" panose="020B0604030504040204" pitchFamily="34" charset="0"/>
                <a:ea typeface="宋体" panose="02010600030101010101" pitchFamily="2" charset="-122"/>
              </a:rPr>
              <a:t>上</a:t>
            </a:r>
            <a:r>
              <a:rPr lang="en-GB" altLang="zh-CN" sz="2000" dirty="0">
                <a:latin typeface="Verdana" panose="020B0604030504040204" pitchFamily="34" charset="0"/>
                <a:ea typeface="宋体" panose="02010600030101010101" pitchFamily="2" charset="-122"/>
              </a:rPr>
              <a:t>ghost</a:t>
            </a:r>
            <a:r>
              <a:rPr lang="zh-CN" altLang="en-GB" sz="2000" dirty="0">
                <a:latin typeface="Verdana" panose="020B0604030504040204" pitchFamily="34" charset="0"/>
                <a:ea typeface="宋体" panose="02010600030101010101" pitchFamily="2" charset="-122"/>
              </a:rPr>
              <a:t>来的</a:t>
            </a:r>
            <a:r>
              <a:rPr lang="en-GB" altLang="zh-CN" sz="2000" dirty="0">
                <a:latin typeface="Verdana" panose="020B0604030504040204" pitchFamily="34" charset="0"/>
                <a:ea typeface="宋体" panose="02010600030101010101" pitchFamily="2" charset="-122"/>
              </a:rPr>
              <a:t>ghost Entity</a:t>
            </a:r>
          </a:p>
          <a:p>
            <a:pPr marL="0" indent="0" defTabSz="448945">
              <a:lnSpc>
                <a:spcPct val="90000"/>
              </a:lnSpc>
              <a:spcBef>
                <a:spcPts val="800"/>
              </a:spcBef>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a:latin typeface="Verdana" panose="020B0604030504040204" pitchFamily="34" charset="0"/>
                <a:ea typeface="宋体" panose="02010600030101010101" pitchFamily="2" charset="-122"/>
              </a:rPr>
              <a:t>        </a:t>
            </a:r>
            <a:r>
              <a:rPr lang="en-US" altLang="zh-CN" sz="2000" dirty="0">
                <a:latin typeface="Verdana" panose="020B0604030504040204" pitchFamily="34" charset="0"/>
                <a:ea typeface="宋体" panose="02010600030101010101" pitchFamily="2" charset="-122"/>
              </a:rPr>
              <a:t>C</a:t>
            </a:r>
            <a:r>
              <a:rPr lang="zh-CN" altLang="en-GB" sz="2000" dirty="0">
                <a:latin typeface="Verdana" panose="020B0604030504040204" pitchFamily="34" charset="0"/>
                <a:ea typeface="宋体" panose="02010600030101010101" pitchFamily="2" charset="-122"/>
              </a:rPr>
              <a:t>是一个从</a:t>
            </a:r>
            <a:r>
              <a:rPr lang="en-GB" altLang="zh-CN" sz="2000" dirty="0">
                <a:latin typeface="Verdana" panose="020B0604030504040204" pitchFamily="34" charset="0"/>
                <a:ea typeface="宋体" panose="02010600030101010101" pitchFamily="2" charset="-122"/>
              </a:rPr>
              <a:t>CellApp2</a:t>
            </a:r>
            <a:r>
              <a:rPr lang="zh-CN" altLang="en-GB" sz="2000" dirty="0">
                <a:latin typeface="Verdana" panose="020B0604030504040204" pitchFamily="34" charset="0"/>
                <a:ea typeface="宋体" panose="02010600030101010101" pitchFamily="2" charset="-122"/>
              </a:rPr>
              <a:t>上</a:t>
            </a:r>
            <a:r>
              <a:rPr lang="en-GB" altLang="zh-CN" sz="2000" dirty="0">
                <a:latin typeface="Verdana" panose="020B0604030504040204" pitchFamily="34" charset="0"/>
                <a:ea typeface="宋体" panose="02010600030101010101" pitchFamily="2" charset="-122"/>
              </a:rPr>
              <a:t>ghost</a:t>
            </a:r>
            <a:r>
              <a:rPr lang="zh-CN" altLang="en-GB" sz="2000" dirty="0">
                <a:latin typeface="Verdana" panose="020B0604030504040204" pitchFamily="34" charset="0"/>
                <a:ea typeface="宋体" panose="02010600030101010101" pitchFamily="2" charset="-122"/>
              </a:rPr>
              <a:t>来的</a:t>
            </a:r>
            <a:r>
              <a:rPr lang="en-GB" altLang="zh-CN" sz="2000" dirty="0">
                <a:latin typeface="Verdana" panose="020B0604030504040204" pitchFamily="34" charset="0"/>
                <a:ea typeface="宋体" panose="02010600030101010101" pitchFamily="2" charset="-122"/>
              </a:rPr>
              <a:t>ghost Entity</a:t>
            </a:r>
            <a:endParaRPr lang="en-US" altLang="zh-CN" sz="2000" dirty="0">
              <a:latin typeface="Verdana" panose="020B0604030504040204" pitchFamily="34" charset="0"/>
              <a:ea typeface="宋体" panose="02010600030101010101" pitchFamily="2" charset="-122"/>
            </a:endParaRPr>
          </a:p>
          <a:p>
            <a:endParaRPr lang="en-US" altLang="zh-CN" dirty="0">
              <a:ea typeface="宋体" panose="02010600030101010101" pitchFamily="2" charset="-122"/>
            </a:endParaRPr>
          </a:p>
        </p:txBody>
      </p:sp>
      <p:cxnSp>
        <p:nvCxnSpPr>
          <p:cNvPr id="24" name="直接连接符 23"/>
          <p:cNvCxnSpPr/>
          <p:nvPr/>
        </p:nvCxnSpPr>
        <p:spPr>
          <a:xfrm>
            <a:off x="611560" y="4054189"/>
            <a:ext cx="6491936" cy="1"/>
          </a:xfrm>
          <a:prstGeom prst="line">
            <a:avLst/>
          </a:prstGeom>
        </p:spPr>
        <p:style>
          <a:lnRef idx="3">
            <a:schemeClr val="dk1"/>
          </a:lnRef>
          <a:fillRef idx="0">
            <a:schemeClr val="dk1"/>
          </a:fillRef>
          <a:effectRef idx="2">
            <a:schemeClr val="dk1"/>
          </a:effectRef>
          <a:fontRef idx="minor">
            <a:schemeClr val="tx1"/>
          </a:fontRef>
        </p:style>
      </p:cxnSp>
      <p:sp>
        <p:nvSpPr>
          <p:cNvPr id="25" name="Rectangle 15"/>
          <p:cNvSpPr>
            <a:spLocks noChangeArrowheads="1"/>
          </p:cNvSpPr>
          <p:nvPr/>
        </p:nvSpPr>
        <p:spPr bwMode="auto">
          <a:xfrm>
            <a:off x="1054824" y="315026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26" name="Rectangle 29"/>
          <p:cNvSpPr>
            <a:spLocks noChangeArrowheads="1"/>
          </p:cNvSpPr>
          <p:nvPr/>
        </p:nvSpPr>
        <p:spPr bwMode="auto">
          <a:xfrm>
            <a:off x="1243028" y="320614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27" name="TextBox 26"/>
          <p:cNvSpPr txBox="1"/>
          <p:nvPr/>
        </p:nvSpPr>
        <p:spPr>
          <a:xfrm>
            <a:off x="1414864" y="3501008"/>
            <a:ext cx="1224136" cy="369332"/>
          </a:xfrm>
          <a:prstGeom prst="rect">
            <a:avLst/>
          </a:prstGeom>
          <a:noFill/>
        </p:spPr>
        <p:txBody>
          <a:bodyPr wrap="square" rtlCol="0">
            <a:spAutoFit/>
          </a:bodyPr>
          <a:lstStyle/>
          <a:p>
            <a:r>
              <a:rPr lang="en-US" altLang="zh-CN" b="1" dirty="0"/>
              <a:t>Cellapp1</a:t>
            </a:r>
            <a:endParaRPr lang="zh-CN" altLang="en-US" b="1" dirty="0"/>
          </a:p>
        </p:txBody>
      </p:sp>
      <p:sp>
        <p:nvSpPr>
          <p:cNvPr id="28" name="TextBox 27"/>
          <p:cNvSpPr txBox="1"/>
          <p:nvPr/>
        </p:nvSpPr>
        <p:spPr>
          <a:xfrm>
            <a:off x="1243028" y="3140968"/>
            <a:ext cx="99828" cy="369332"/>
          </a:xfrm>
          <a:prstGeom prst="rect">
            <a:avLst/>
          </a:prstGeom>
          <a:noFill/>
        </p:spPr>
        <p:txBody>
          <a:bodyPr wrap="square" rtlCol="0">
            <a:spAutoFit/>
          </a:bodyPr>
          <a:lstStyle/>
          <a:p>
            <a:r>
              <a:rPr lang="en-US" altLang="zh-CN" dirty="0"/>
              <a:t>A</a:t>
            </a:r>
            <a:endParaRPr lang="zh-CN" altLang="en-US" dirty="0"/>
          </a:p>
        </p:txBody>
      </p:sp>
      <p:sp>
        <p:nvSpPr>
          <p:cNvPr id="29" name="Rectangle 29"/>
          <p:cNvSpPr>
            <a:spLocks noChangeArrowheads="1"/>
          </p:cNvSpPr>
          <p:nvPr/>
        </p:nvSpPr>
        <p:spPr bwMode="auto">
          <a:xfrm>
            <a:off x="1774904" y="32154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30" name="TextBox 29"/>
          <p:cNvSpPr txBox="1"/>
          <p:nvPr/>
        </p:nvSpPr>
        <p:spPr>
          <a:xfrm>
            <a:off x="1774904" y="3150260"/>
            <a:ext cx="99828" cy="369332"/>
          </a:xfrm>
          <a:prstGeom prst="rect">
            <a:avLst/>
          </a:prstGeom>
          <a:noFill/>
        </p:spPr>
        <p:txBody>
          <a:bodyPr wrap="square" rtlCol="0">
            <a:spAutoFit/>
          </a:bodyPr>
          <a:lstStyle/>
          <a:p>
            <a:r>
              <a:rPr lang="en-US" altLang="zh-CN" dirty="0"/>
              <a:t>B</a:t>
            </a:r>
            <a:endParaRPr lang="zh-CN" altLang="en-US" dirty="0"/>
          </a:p>
        </p:txBody>
      </p:sp>
      <p:sp>
        <p:nvSpPr>
          <p:cNvPr id="31" name="Rectangle 15"/>
          <p:cNvSpPr>
            <a:spLocks noChangeArrowheads="1"/>
          </p:cNvSpPr>
          <p:nvPr/>
        </p:nvSpPr>
        <p:spPr bwMode="auto">
          <a:xfrm>
            <a:off x="3071048"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2" name="TextBox 31"/>
          <p:cNvSpPr txBox="1"/>
          <p:nvPr/>
        </p:nvSpPr>
        <p:spPr>
          <a:xfrm>
            <a:off x="3431088" y="3510300"/>
            <a:ext cx="1224136" cy="369332"/>
          </a:xfrm>
          <a:prstGeom prst="rect">
            <a:avLst/>
          </a:prstGeom>
          <a:noFill/>
        </p:spPr>
        <p:txBody>
          <a:bodyPr wrap="square" rtlCol="0">
            <a:spAutoFit/>
          </a:bodyPr>
          <a:lstStyle/>
          <a:p>
            <a:r>
              <a:rPr lang="en-US" altLang="zh-CN" b="1" dirty="0"/>
              <a:t>Cellapp2</a:t>
            </a:r>
            <a:endParaRPr lang="zh-CN" altLang="en-US" b="1" dirty="0"/>
          </a:p>
        </p:txBody>
      </p:sp>
      <p:sp>
        <p:nvSpPr>
          <p:cNvPr id="33" name="Rectangle 29"/>
          <p:cNvSpPr>
            <a:spLocks noChangeArrowheads="1"/>
          </p:cNvSpPr>
          <p:nvPr/>
        </p:nvSpPr>
        <p:spPr bwMode="auto">
          <a:xfrm>
            <a:off x="2278960"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34" name="TextBox 33"/>
          <p:cNvSpPr txBox="1"/>
          <p:nvPr/>
        </p:nvSpPr>
        <p:spPr>
          <a:xfrm>
            <a:off x="2278960" y="3159552"/>
            <a:ext cx="99828" cy="369332"/>
          </a:xfrm>
          <a:prstGeom prst="rect">
            <a:avLst/>
          </a:prstGeom>
          <a:noFill/>
        </p:spPr>
        <p:txBody>
          <a:bodyPr wrap="square" rtlCol="0">
            <a:spAutoFit/>
          </a:bodyPr>
          <a:lstStyle/>
          <a:p>
            <a:r>
              <a:rPr lang="en-US" altLang="zh-CN" dirty="0"/>
              <a:t>C</a:t>
            </a:r>
            <a:endParaRPr lang="zh-CN" altLang="en-US" dirty="0"/>
          </a:p>
        </p:txBody>
      </p:sp>
      <p:sp>
        <p:nvSpPr>
          <p:cNvPr id="35" name="Rectangle 15"/>
          <p:cNvSpPr>
            <a:spLocks noChangeArrowheads="1"/>
          </p:cNvSpPr>
          <p:nvPr/>
        </p:nvSpPr>
        <p:spPr bwMode="auto">
          <a:xfrm>
            <a:off x="5159280" y="315955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36" name="TextBox 35"/>
          <p:cNvSpPr txBox="1"/>
          <p:nvPr/>
        </p:nvSpPr>
        <p:spPr>
          <a:xfrm>
            <a:off x="5519320" y="3491716"/>
            <a:ext cx="1224136" cy="369332"/>
          </a:xfrm>
          <a:prstGeom prst="rect">
            <a:avLst/>
          </a:prstGeom>
          <a:noFill/>
        </p:spPr>
        <p:txBody>
          <a:bodyPr wrap="square" rtlCol="0">
            <a:spAutoFit/>
          </a:bodyPr>
          <a:lstStyle/>
          <a:p>
            <a:r>
              <a:rPr lang="en-US" altLang="zh-CN" b="1" dirty="0"/>
              <a:t>Cellapp3</a:t>
            </a:r>
            <a:endParaRPr lang="zh-CN" altLang="en-US" b="1" dirty="0"/>
          </a:p>
        </p:txBody>
      </p:sp>
      <p:sp>
        <p:nvSpPr>
          <p:cNvPr id="37" name="Rectangle 29"/>
          <p:cNvSpPr>
            <a:spLocks noChangeArrowheads="1"/>
          </p:cNvSpPr>
          <p:nvPr/>
        </p:nvSpPr>
        <p:spPr bwMode="auto">
          <a:xfrm>
            <a:off x="32870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38" name="TextBox 37"/>
          <p:cNvSpPr txBox="1"/>
          <p:nvPr/>
        </p:nvSpPr>
        <p:spPr>
          <a:xfrm>
            <a:off x="3287072" y="3140968"/>
            <a:ext cx="99828" cy="369332"/>
          </a:xfrm>
          <a:prstGeom prst="rect">
            <a:avLst/>
          </a:prstGeom>
          <a:noFill/>
        </p:spPr>
        <p:txBody>
          <a:bodyPr wrap="square" rtlCol="0">
            <a:spAutoFit/>
          </a:bodyPr>
          <a:lstStyle/>
          <a:p>
            <a:r>
              <a:rPr lang="en-US" altLang="zh-CN" dirty="0"/>
              <a:t>A</a:t>
            </a:r>
            <a:endParaRPr lang="zh-CN" altLang="en-US" dirty="0"/>
          </a:p>
        </p:txBody>
      </p:sp>
      <p:sp>
        <p:nvSpPr>
          <p:cNvPr id="39" name="Rectangle 29"/>
          <p:cNvSpPr>
            <a:spLocks noChangeArrowheads="1"/>
          </p:cNvSpPr>
          <p:nvPr/>
        </p:nvSpPr>
        <p:spPr bwMode="auto">
          <a:xfrm>
            <a:off x="38189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0" name="TextBox 39"/>
          <p:cNvSpPr txBox="1"/>
          <p:nvPr/>
        </p:nvSpPr>
        <p:spPr>
          <a:xfrm>
            <a:off x="3818948" y="3150260"/>
            <a:ext cx="99828" cy="369332"/>
          </a:xfrm>
          <a:prstGeom prst="rect">
            <a:avLst/>
          </a:prstGeom>
          <a:noFill/>
        </p:spPr>
        <p:txBody>
          <a:bodyPr wrap="square" rtlCol="0">
            <a:spAutoFit/>
          </a:bodyPr>
          <a:lstStyle/>
          <a:p>
            <a:r>
              <a:rPr lang="en-US" altLang="zh-CN" dirty="0"/>
              <a:t>B</a:t>
            </a:r>
            <a:endParaRPr lang="zh-CN" altLang="en-US" dirty="0"/>
          </a:p>
        </p:txBody>
      </p:sp>
      <p:sp>
        <p:nvSpPr>
          <p:cNvPr id="41" name="Rectangle 29"/>
          <p:cNvSpPr>
            <a:spLocks noChangeArrowheads="1"/>
          </p:cNvSpPr>
          <p:nvPr/>
        </p:nvSpPr>
        <p:spPr bwMode="auto">
          <a:xfrm>
            <a:off x="4323004" y="32247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2" name="TextBox 41"/>
          <p:cNvSpPr txBox="1"/>
          <p:nvPr/>
        </p:nvSpPr>
        <p:spPr>
          <a:xfrm>
            <a:off x="4323004" y="3159552"/>
            <a:ext cx="99828" cy="369332"/>
          </a:xfrm>
          <a:prstGeom prst="rect">
            <a:avLst/>
          </a:prstGeom>
          <a:noFill/>
        </p:spPr>
        <p:txBody>
          <a:bodyPr wrap="square" rtlCol="0">
            <a:spAutoFit/>
          </a:bodyPr>
          <a:lstStyle/>
          <a:p>
            <a:r>
              <a:rPr lang="en-US" altLang="zh-CN" dirty="0"/>
              <a:t>C</a:t>
            </a:r>
            <a:endParaRPr lang="zh-CN" altLang="en-US" dirty="0"/>
          </a:p>
        </p:txBody>
      </p:sp>
      <p:sp>
        <p:nvSpPr>
          <p:cNvPr id="43" name="Rectangle 29"/>
          <p:cNvSpPr>
            <a:spLocks noChangeArrowheads="1"/>
          </p:cNvSpPr>
          <p:nvPr/>
        </p:nvSpPr>
        <p:spPr bwMode="auto">
          <a:xfrm>
            <a:off x="5391672" y="320614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4" name="TextBox 43"/>
          <p:cNvSpPr txBox="1"/>
          <p:nvPr/>
        </p:nvSpPr>
        <p:spPr>
          <a:xfrm>
            <a:off x="5391672" y="3140968"/>
            <a:ext cx="99828" cy="369332"/>
          </a:xfrm>
          <a:prstGeom prst="rect">
            <a:avLst/>
          </a:prstGeom>
          <a:noFill/>
        </p:spPr>
        <p:txBody>
          <a:bodyPr wrap="square" rtlCol="0">
            <a:spAutoFit/>
          </a:bodyPr>
          <a:lstStyle/>
          <a:p>
            <a:r>
              <a:rPr lang="en-US" altLang="zh-CN" dirty="0"/>
              <a:t>A</a:t>
            </a:r>
            <a:endParaRPr lang="zh-CN" altLang="en-US" dirty="0"/>
          </a:p>
        </p:txBody>
      </p:sp>
      <p:sp>
        <p:nvSpPr>
          <p:cNvPr id="45" name="Rectangle 29"/>
          <p:cNvSpPr>
            <a:spLocks noChangeArrowheads="1"/>
          </p:cNvSpPr>
          <p:nvPr/>
        </p:nvSpPr>
        <p:spPr bwMode="auto">
          <a:xfrm>
            <a:off x="5923548" y="321543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6" name="TextBox 45"/>
          <p:cNvSpPr txBox="1"/>
          <p:nvPr/>
        </p:nvSpPr>
        <p:spPr>
          <a:xfrm>
            <a:off x="5923548" y="3150260"/>
            <a:ext cx="99828" cy="369332"/>
          </a:xfrm>
          <a:prstGeom prst="rect">
            <a:avLst/>
          </a:prstGeom>
          <a:noFill/>
        </p:spPr>
        <p:txBody>
          <a:bodyPr wrap="square" rtlCol="0">
            <a:spAutoFit/>
          </a:bodyPr>
          <a:lstStyle/>
          <a:p>
            <a:r>
              <a:rPr lang="en-US" altLang="zh-CN" dirty="0"/>
              <a:t>B</a:t>
            </a:r>
            <a:endParaRPr lang="zh-CN" altLang="en-US" dirty="0"/>
          </a:p>
        </p:txBody>
      </p:sp>
      <p:sp>
        <p:nvSpPr>
          <p:cNvPr id="47" name="Rectangle 29"/>
          <p:cNvSpPr>
            <a:spLocks noChangeArrowheads="1"/>
          </p:cNvSpPr>
          <p:nvPr/>
        </p:nvSpPr>
        <p:spPr bwMode="auto">
          <a:xfrm>
            <a:off x="6427604" y="3224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TextBox 47"/>
          <p:cNvSpPr txBox="1"/>
          <p:nvPr/>
        </p:nvSpPr>
        <p:spPr>
          <a:xfrm>
            <a:off x="6427604" y="3159552"/>
            <a:ext cx="99828" cy="369332"/>
          </a:xfrm>
          <a:prstGeom prst="rect">
            <a:avLst/>
          </a:prstGeom>
          <a:noFill/>
        </p:spPr>
        <p:txBody>
          <a:bodyPr wrap="square" rtlCol="0">
            <a:spAutoFit/>
          </a:bodyPr>
          <a:lstStyle/>
          <a:p>
            <a:r>
              <a:rPr lang="en-US" altLang="zh-CN" dirty="0"/>
              <a:t>C</a:t>
            </a:r>
            <a:endParaRPr lang="zh-CN" altLang="en-US" dirty="0"/>
          </a:p>
        </p:txBody>
      </p:sp>
      <p:sp>
        <p:nvSpPr>
          <p:cNvPr id="49" name="矩形 48"/>
          <p:cNvSpPr/>
          <p:nvPr/>
        </p:nvSpPr>
        <p:spPr>
          <a:xfrm>
            <a:off x="611560" y="4103314"/>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50" name="矩形 49"/>
          <p:cNvSpPr/>
          <p:nvPr/>
        </p:nvSpPr>
        <p:spPr>
          <a:xfrm>
            <a:off x="3890956" y="4103314"/>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51" name="矩形 50"/>
          <p:cNvSpPr/>
          <p:nvPr/>
        </p:nvSpPr>
        <p:spPr>
          <a:xfrm>
            <a:off x="611560" y="5085184"/>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52" name="Rectangle 29"/>
          <p:cNvSpPr>
            <a:spLocks noChangeArrowheads="1"/>
          </p:cNvSpPr>
          <p:nvPr/>
        </p:nvSpPr>
        <p:spPr bwMode="auto">
          <a:xfrm>
            <a:off x="1558880" y="421425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3" name="TextBox 52"/>
          <p:cNvSpPr txBox="1"/>
          <p:nvPr/>
        </p:nvSpPr>
        <p:spPr>
          <a:xfrm>
            <a:off x="1558880" y="4149080"/>
            <a:ext cx="99828" cy="369332"/>
          </a:xfrm>
          <a:prstGeom prst="rect">
            <a:avLst/>
          </a:prstGeom>
          <a:noFill/>
        </p:spPr>
        <p:txBody>
          <a:bodyPr wrap="square" rtlCol="0">
            <a:spAutoFit/>
          </a:bodyPr>
          <a:lstStyle/>
          <a:p>
            <a:r>
              <a:rPr lang="en-US" altLang="zh-CN" dirty="0"/>
              <a:t>A</a:t>
            </a:r>
            <a:endParaRPr lang="zh-CN" altLang="en-US" dirty="0"/>
          </a:p>
        </p:txBody>
      </p:sp>
      <p:sp>
        <p:nvSpPr>
          <p:cNvPr id="54" name="Rectangle 29"/>
          <p:cNvSpPr>
            <a:spLocks noChangeArrowheads="1"/>
          </p:cNvSpPr>
          <p:nvPr/>
        </p:nvSpPr>
        <p:spPr bwMode="auto">
          <a:xfrm>
            <a:off x="2683188" y="422354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5" name="TextBox 54"/>
          <p:cNvSpPr txBox="1"/>
          <p:nvPr/>
        </p:nvSpPr>
        <p:spPr>
          <a:xfrm>
            <a:off x="2683188" y="4158372"/>
            <a:ext cx="99828" cy="369332"/>
          </a:xfrm>
          <a:prstGeom prst="rect">
            <a:avLst/>
          </a:prstGeom>
          <a:noFill/>
        </p:spPr>
        <p:txBody>
          <a:bodyPr wrap="square" rtlCol="0">
            <a:spAutoFit/>
          </a:bodyPr>
          <a:lstStyle/>
          <a:p>
            <a:r>
              <a:rPr lang="en-US" altLang="zh-CN" dirty="0"/>
              <a:t>B</a:t>
            </a:r>
            <a:endParaRPr lang="zh-CN" altLang="en-US" dirty="0"/>
          </a:p>
        </p:txBody>
      </p:sp>
      <p:sp>
        <p:nvSpPr>
          <p:cNvPr id="56" name="Rectangle 29"/>
          <p:cNvSpPr>
            <a:spLocks noChangeArrowheads="1"/>
          </p:cNvSpPr>
          <p:nvPr/>
        </p:nvSpPr>
        <p:spPr bwMode="auto">
          <a:xfrm>
            <a:off x="5403124" y="4204965"/>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57" name="TextBox 56"/>
          <p:cNvSpPr txBox="1"/>
          <p:nvPr/>
        </p:nvSpPr>
        <p:spPr>
          <a:xfrm>
            <a:off x="5419492" y="4139788"/>
            <a:ext cx="99828" cy="369332"/>
          </a:xfrm>
          <a:prstGeom prst="rect">
            <a:avLst/>
          </a:prstGeom>
          <a:noFill/>
        </p:spPr>
        <p:txBody>
          <a:bodyPr wrap="square" rtlCol="0">
            <a:spAutoFit/>
          </a:bodyPr>
          <a:lstStyle/>
          <a:p>
            <a:r>
              <a:rPr lang="en-US" altLang="zh-CN" dirty="0"/>
              <a:t>C</a:t>
            </a:r>
            <a:endParaRPr lang="zh-CN" altLang="en-US" dirty="0"/>
          </a:p>
        </p:txBody>
      </p:sp>
      <p:sp>
        <p:nvSpPr>
          <p:cNvPr id="58" name="Rectangle 29"/>
          <p:cNvSpPr>
            <a:spLocks noChangeArrowheads="1"/>
          </p:cNvSpPr>
          <p:nvPr/>
        </p:nvSpPr>
        <p:spPr bwMode="auto">
          <a:xfrm>
            <a:off x="5159280" y="469972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TextBox 58"/>
          <p:cNvSpPr txBox="1"/>
          <p:nvPr/>
        </p:nvSpPr>
        <p:spPr>
          <a:xfrm>
            <a:off x="5175648" y="4634552"/>
            <a:ext cx="99828" cy="369332"/>
          </a:xfrm>
          <a:prstGeom prst="rect">
            <a:avLst/>
          </a:prstGeom>
          <a:noFill/>
        </p:spPr>
        <p:txBody>
          <a:bodyPr wrap="square" rtlCol="0">
            <a:spAutoFit/>
          </a:bodyPr>
          <a:lstStyle/>
          <a:p>
            <a:r>
              <a:rPr lang="en-US" altLang="zh-CN" dirty="0"/>
              <a:t>A</a:t>
            </a:r>
            <a:endParaRPr lang="zh-CN" altLang="en-US" dirty="0"/>
          </a:p>
        </p:txBody>
      </p:sp>
      <p:sp>
        <p:nvSpPr>
          <p:cNvPr id="60" name="Rectangle 29"/>
          <p:cNvSpPr>
            <a:spLocks noChangeArrowheads="1"/>
          </p:cNvSpPr>
          <p:nvPr/>
        </p:nvSpPr>
        <p:spPr bwMode="auto">
          <a:xfrm>
            <a:off x="5707524" y="470902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1" name="TextBox 60"/>
          <p:cNvSpPr txBox="1"/>
          <p:nvPr/>
        </p:nvSpPr>
        <p:spPr>
          <a:xfrm>
            <a:off x="5691156" y="4643844"/>
            <a:ext cx="99828" cy="369332"/>
          </a:xfrm>
          <a:prstGeom prst="rect">
            <a:avLst/>
          </a:prstGeom>
          <a:noFill/>
        </p:spPr>
        <p:txBody>
          <a:bodyPr wrap="square" rtlCol="0">
            <a:spAutoFit/>
          </a:bodyPr>
          <a:lstStyle/>
          <a:p>
            <a:r>
              <a:rPr lang="en-US" altLang="zh-CN" dirty="0"/>
              <a:t>B</a:t>
            </a:r>
            <a:endParaRPr lang="zh-CN" altLang="en-US" dirty="0"/>
          </a:p>
        </p:txBody>
      </p:sp>
      <p:cxnSp>
        <p:nvCxnSpPr>
          <p:cNvPr id="62" name="直接箭头连接符 61"/>
          <p:cNvCxnSpPr>
            <a:stCxn id="27" idx="2"/>
          </p:cNvCxnSpPr>
          <p:nvPr/>
        </p:nvCxnSpPr>
        <p:spPr>
          <a:xfrm flipH="1">
            <a:off x="2018748" y="3870340"/>
            <a:ext cx="8184" cy="459990"/>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3" name="直接箭头连接符 62"/>
          <p:cNvCxnSpPr>
            <a:stCxn id="32" idx="2"/>
          </p:cNvCxnSpPr>
          <p:nvPr/>
        </p:nvCxnSpPr>
        <p:spPr>
          <a:xfrm>
            <a:off x="4043156" y="3879632"/>
            <a:ext cx="180020" cy="441406"/>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cxnSp>
        <p:nvCxnSpPr>
          <p:cNvPr id="64" name="直接箭头连接符 63"/>
          <p:cNvCxnSpPr>
            <a:stCxn id="36" idx="2"/>
          </p:cNvCxnSpPr>
          <p:nvPr/>
        </p:nvCxnSpPr>
        <p:spPr>
          <a:xfrm flipH="1">
            <a:off x="3818948" y="3861048"/>
            <a:ext cx="2312440" cy="1368152"/>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65" name="右大括号 64"/>
          <p:cNvSpPr/>
          <p:nvPr/>
        </p:nvSpPr>
        <p:spPr>
          <a:xfrm>
            <a:off x="7175504" y="4100335"/>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 name="TextBox 65"/>
          <p:cNvSpPr txBox="1"/>
          <p:nvPr/>
        </p:nvSpPr>
        <p:spPr>
          <a:xfrm>
            <a:off x="7458624" y="4890646"/>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67" name="Rectangle 29"/>
          <p:cNvSpPr>
            <a:spLocks noChangeArrowheads="1"/>
          </p:cNvSpPr>
          <p:nvPr/>
        </p:nvSpPr>
        <p:spPr bwMode="auto">
          <a:xfrm>
            <a:off x="2167916" y="471831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8" name="TextBox 67"/>
          <p:cNvSpPr txBox="1"/>
          <p:nvPr/>
        </p:nvSpPr>
        <p:spPr>
          <a:xfrm>
            <a:off x="2151548" y="4653136"/>
            <a:ext cx="99828" cy="369332"/>
          </a:xfrm>
          <a:prstGeom prst="rect">
            <a:avLst/>
          </a:prstGeom>
          <a:noFill/>
        </p:spPr>
        <p:txBody>
          <a:bodyPr wrap="square" rtlCol="0">
            <a:spAutoFit/>
          </a:bodyPr>
          <a:lstStyle/>
          <a:p>
            <a:r>
              <a:rPr lang="en-US" altLang="zh-CN" dirty="0"/>
              <a:t>C</a:t>
            </a:r>
            <a:endParaRPr lang="zh-CN" altLang="en-US" dirty="0"/>
          </a:p>
        </p:txBody>
      </p:sp>
      <p:sp>
        <p:nvSpPr>
          <p:cNvPr id="69" name="Rectangle 29"/>
          <p:cNvSpPr>
            <a:spLocks noChangeArrowheads="1"/>
          </p:cNvSpPr>
          <p:nvPr/>
        </p:nvSpPr>
        <p:spPr bwMode="auto">
          <a:xfrm>
            <a:off x="3220786" y="5715016"/>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0" name="Rectangle 29"/>
          <p:cNvSpPr>
            <a:spLocks noChangeArrowheads="1"/>
          </p:cNvSpPr>
          <p:nvPr/>
        </p:nvSpPr>
        <p:spPr bwMode="auto">
          <a:xfrm>
            <a:off x="3752662" y="5724308"/>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1" name="Rectangle 29"/>
          <p:cNvSpPr>
            <a:spLocks noChangeArrowheads="1"/>
          </p:cNvSpPr>
          <p:nvPr/>
        </p:nvSpPr>
        <p:spPr bwMode="auto">
          <a:xfrm>
            <a:off x="4256718" y="5733600"/>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2" name="TextBox 71"/>
          <p:cNvSpPr txBox="1"/>
          <p:nvPr/>
        </p:nvSpPr>
        <p:spPr>
          <a:xfrm>
            <a:off x="3214678" y="5643578"/>
            <a:ext cx="99828" cy="369332"/>
          </a:xfrm>
          <a:prstGeom prst="rect">
            <a:avLst/>
          </a:prstGeom>
          <a:noFill/>
        </p:spPr>
        <p:txBody>
          <a:bodyPr wrap="square" rtlCol="0">
            <a:spAutoFit/>
          </a:bodyPr>
          <a:lstStyle/>
          <a:p>
            <a:r>
              <a:rPr lang="en-US" altLang="zh-CN" dirty="0"/>
              <a:t>A</a:t>
            </a:r>
            <a:endParaRPr lang="zh-CN" altLang="en-US" dirty="0"/>
          </a:p>
        </p:txBody>
      </p:sp>
      <p:sp>
        <p:nvSpPr>
          <p:cNvPr id="73" name="TextBox 72"/>
          <p:cNvSpPr txBox="1"/>
          <p:nvPr/>
        </p:nvSpPr>
        <p:spPr>
          <a:xfrm>
            <a:off x="3746554" y="5652870"/>
            <a:ext cx="99828" cy="369332"/>
          </a:xfrm>
          <a:prstGeom prst="rect">
            <a:avLst/>
          </a:prstGeom>
          <a:noFill/>
        </p:spPr>
        <p:txBody>
          <a:bodyPr wrap="square" rtlCol="0">
            <a:spAutoFit/>
          </a:bodyPr>
          <a:lstStyle/>
          <a:p>
            <a:r>
              <a:rPr lang="en-US" altLang="zh-CN" dirty="0"/>
              <a:t>B</a:t>
            </a:r>
            <a:endParaRPr lang="zh-CN" altLang="en-US" dirty="0"/>
          </a:p>
        </p:txBody>
      </p:sp>
      <p:sp>
        <p:nvSpPr>
          <p:cNvPr id="74" name="TextBox 73"/>
          <p:cNvSpPr txBox="1"/>
          <p:nvPr/>
        </p:nvSpPr>
        <p:spPr>
          <a:xfrm>
            <a:off x="4250610" y="5662162"/>
            <a:ext cx="99828" cy="369332"/>
          </a:xfrm>
          <a:prstGeom prst="rect">
            <a:avLst/>
          </a:prstGeom>
          <a:noFill/>
        </p:spPr>
        <p:txBody>
          <a:bodyPr wrap="square" rtlCol="0">
            <a:spAutoFit/>
          </a:bodyPr>
          <a:lstStyle/>
          <a:p>
            <a:r>
              <a:rPr lang="en-US" altLang="zh-CN" dirty="0"/>
              <a:t>C</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38683" y="1181436"/>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dirty="0">
                <a:solidFill>
                  <a:schemeClr val="accent1"/>
                </a:solidFill>
                <a:ea typeface="宋体" panose="02010600030101010101" pitchFamily="2" charset="-122"/>
              </a:rPr>
              <a:t>简单的</a:t>
            </a:r>
            <a:r>
              <a:rPr lang="en-US" altLang="zh-CN" dirty="0">
                <a:solidFill>
                  <a:schemeClr val="accent1"/>
                </a:solidFill>
                <a:ea typeface="宋体" panose="02010600030101010101" pitchFamily="2" charset="-122"/>
              </a:rPr>
              <a:t>Entity</a:t>
            </a:r>
            <a:endParaRPr lang="zh-CN" altLang="en-US" sz="2200" b="1" dirty="0">
              <a:solidFill>
                <a:schemeClr val="accent1"/>
              </a:solidFill>
              <a:latin typeface="+mn-ea"/>
              <a:ea typeface="+mn-ea"/>
            </a:endParaRPr>
          </a:p>
        </p:txBody>
      </p:sp>
      <p:sp>
        <p:nvSpPr>
          <p:cNvPr id="5" name="TextBox 4"/>
          <p:cNvSpPr txBox="1"/>
          <p:nvPr/>
        </p:nvSpPr>
        <p:spPr>
          <a:xfrm>
            <a:off x="539552" y="1412776"/>
            <a:ext cx="7416824" cy="3816429"/>
          </a:xfrm>
          <a:prstGeom prst="rect">
            <a:avLst/>
          </a:prstGeom>
          <a:noFill/>
        </p:spPr>
        <p:txBody>
          <a:bodyPr wrap="square" rtlCol="0">
            <a:spAutoFit/>
          </a:bodyPr>
          <a:lstStyle/>
          <a:p>
            <a:pPr>
              <a:spcBef>
                <a:spcPct val="0"/>
              </a:spcBef>
            </a:pPr>
            <a:r>
              <a:rPr lang="en-US" altLang="zh-CN" sz="1400" b="1" dirty="0">
                <a:solidFill>
                  <a:schemeClr val="accent4">
                    <a:lumMod val="50000"/>
                  </a:schemeClr>
                </a:solidFill>
                <a:latin typeface="Courier New" panose="02070309020205020404" pitchFamily="49" charset="0"/>
              </a:rPr>
              <a:t>Account.def:</a:t>
            </a:r>
          </a:p>
          <a:p>
            <a:pPr>
              <a:spcBef>
                <a:spcPct val="0"/>
              </a:spcBef>
            </a:pPr>
            <a:r>
              <a:rPr lang="en-US" altLang="zh-CN" sz="1400" b="1" dirty="0">
                <a:solidFill>
                  <a:schemeClr val="accent4">
                    <a:lumMod val="50000"/>
                  </a:schemeClr>
                </a:solidFill>
                <a:latin typeface="Courier New" panose="02070309020205020404" pitchFamily="49" charset="0"/>
              </a:rPr>
              <a:t>------------</a:t>
            </a:r>
          </a:p>
          <a:p>
            <a:pPr>
              <a:spcBef>
                <a:spcPct val="0"/>
              </a:spcBef>
            </a:pPr>
            <a:endParaRPr lang="en-US" altLang="zh-CN" sz="1400" b="1" dirty="0">
              <a:solidFill>
                <a:schemeClr val="accent4">
                  <a:lumMod val="50000"/>
                </a:schemeClr>
              </a:solidFill>
              <a:latin typeface="Courier New" panose="02070309020205020404" pitchFamily="49" charset="0"/>
            </a:endParaRPr>
          </a:p>
          <a:p>
            <a:pPr lvl="1">
              <a:spcBef>
                <a:spcPct val="0"/>
              </a:spcBef>
            </a:pPr>
            <a:r>
              <a:rPr lang="en-US" altLang="zh-CN" sz="1400" b="1" dirty="0">
                <a:solidFill>
                  <a:schemeClr val="accent4">
                    <a:lumMod val="50000"/>
                  </a:schemeClr>
                </a:solidFill>
                <a:latin typeface="Courier New" panose="02070309020205020404" pitchFamily="49" charset="0"/>
              </a:rPr>
              <a:t>&lt;root&gt;</a:t>
            </a:r>
          </a:p>
          <a:p>
            <a:pPr lvl="1">
              <a:spcBef>
                <a:spcPct val="0"/>
              </a:spcBef>
            </a:pPr>
            <a:r>
              <a:rPr lang="en-US" altLang="zh-CN" sz="1400" b="1" dirty="0">
                <a:solidFill>
                  <a:schemeClr val="accent4">
                    <a:lumMod val="50000"/>
                  </a:schemeClr>
                </a:solidFill>
                <a:latin typeface="Courier New" panose="02070309020205020404" pitchFamily="49" charset="0"/>
              </a:rPr>
              <a:t>		&lt;Properties&gt;</a:t>
            </a:r>
          </a:p>
          <a:p>
            <a:pPr lvl="1">
              <a:spcBef>
                <a:spcPct val="0"/>
              </a:spcBef>
            </a:pPr>
            <a:r>
              <a:rPr lang="en-US" altLang="zh-CN" sz="1400" b="1" dirty="0">
                <a:solidFill>
                  <a:schemeClr val="accent4">
                    <a:lumMod val="50000"/>
                  </a:schemeClr>
                </a:solidFill>
                <a:latin typeface="Courier New" panose="02070309020205020404" pitchFamily="49" charset="0"/>
              </a:rPr>
              <a:t>		&lt;/Properties&gt;</a:t>
            </a:r>
          </a:p>
          <a:p>
            <a:pPr lvl="1">
              <a:spcBef>
                <a:spcPct val="0"/>
              </a:spcBef>
            </a:pPr>
            <a:endParaRPr lang="en-US" altLang="zh-CN" sz="1400" b="1" dirty="0">
              <a:solidFill>
                <a:schemeClr val="accent4">
                  <a:lumMod val="50000"/>
                </a:schemeClr>
              </a:solidFill>
              <a:latin typeface="Courier New" panose="02070309020205020404" pitchFamily="49" charset="0"/>
            </a:endParaRP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ClientMethods</a:t>
            </a:r>
            <a:r>
              <a:rPr lang="en-US" altLang="zh-CN" sz="1400" b="1" dirty="0">
                <a:solidFill>
                  <a:schemeClr val="accent4">
                    <a:lumMod val="50000"/>
                  </a:schemeClr>
                </a:solidFill>
                <a:latin typeface="Courier New" panose="02070309020205020404" pitchFamily="49" charset="0"/>
              </a:rPr>
              <a:t>&gt;</a:t>
            </a: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ClientMethods</a:t>
            </a:r>
            <a:r>
              <a:rPr lang="en-US" altLang="zh-CN" sz="1400" b="1" dirty="0">
                <a:solidFill>
                  <a:schemeClr val="accent4">
                    <a:lumMod val="50000"/>
                  </a:schemeClr>
                </a:solidFill>
                <a:latin typeface="Courier New" panose="02070309020205020404" pitchFamily="49" charset="0"/>
              </a:rPr>
              <a:t>&gt;</a:t>
            </a:r>
          </a:p>
          <a:p>
            <a:pPr lvl="1">
              <a:spcBef>
                <a:spcPct val="0"/>
              </a:spcBef>
            </a:pPr>
            <a:endParaRPr lang="en-US" altLang="zh-CN" sz="1400" b="1" dirty="0">
              <a:solidFill>
                <a:schemeClr val="accent4">
                  <a:lumMod val="50000"/>
                </a:schemeClr>
              </a:solidFill>
              <a:latin typeface="Courier New" panose="02070309020205020404" pitchFamily="49" charset="0"/>
            </a:endParaRP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BaseMethods</a:t>
            </a:r>
            <a:r>
              <a:rPr lang="en-US" altLang="zh-CN" sz="1400" b="1" dirty="0">
                <a:solidFill>
                  <a:schemeClr val="accent4">
                    <a:lumMod val="50000"/>
                  </a:schemeClr>
                </a:solidFill>
                <a:latin typeface="Courier New" panose="02070309020205020404" pitchFamily="49" charset="0"/>
              </a:rPr>
              <a:t>&gt;</a:t>
            </a: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BaseMethods</a:t>
            </a:r>
            <a:r>
              <a:rPr lang="en-US" altLang="zh-CN" sz="1400" b="1" dirty="0">
                <a:solidFill>
                  <a:schemeClr val="accent4">
                    <a:lumMod val="50000"/>
                  </a:schemeClr>
                </a:solidFill>
                <a:latin typeface="Courier New" panose="02070309020205020404" pitchFamily="49" charset="0"/>
              </a:rPr>
              <a:t>&gt;</a:t>
            </a:r>
          </a:p>
          <a:p>
            <a:pPr lvl="1">
              <a:spcBef>
                <a:spcPct val="0"/>
              </a:spcBef>
            </a:pPr>
            <a:endParaRPr lang="en-US" altLang="zh-CN" sz="1400" b="1" dirty="0">
              <a:solidFill>
                <a:schemeClr val="accent4">
                  <a:lumMod val="50000"/>
                </a:schemeClr>
              </a:solidFill>
              <a:latin typeface="Courier New" panose="02070309020205020404" pitchFamily="49" charset="0"/>
            </a:endParaRP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CellMethods</a:t>
            </a:r>
            <a:r>
              <a:rPr lang="en-US" altLang="zh-CN" sz="1400" b="1" dirty="0">
                <a:solidFill>
                  <a:schemeClr val="accent4">
                    <a:lumMod val="50000"/>
                  </a:schemeClr>
                </a:solidFill>
                <a:latin typeface="Courier New" panose="02070309020205020404" pitchFamily="49" charset="0"/>
              </a:rPr>
              <a:t>&gt;</a:t>
            </a:r>
          </a:p>
          <a:p>
            <a:pPr lvl="1">
              <a:spcBef>
                <a:spcPct val="0"/>
              </a:spcBef>
            </a:pPr>
            <a:r>
              <a:rPr lang="en-US" altLang="zh-CN" sz="1400" b="1" dirty="0">
                <a:solidFill>
                  <a:schemeClr val="accent4">
                    <a:lumMod val="50000"/>
                  </a:schemeClr>
                </a:solidFill>
                <a:latin typeface="Courier New" panose="02070309020205020404" pitchFamily="49" charset="0"/>
              </a:rPr>
              <a:t>		&lt;/</a:t>
            </a:r>
            <a:r>
              <a:rPr lang="en-US" altLang="zh-CN" sz="1400" b="1" dirty="0" err="1">
                <a:solidFill>
                  <a:schemeClr val="accent4">
                    <a:lumMod val="50000"/>
                  </a:schemeClr>
                </a:solidFill>
                <a:latin typeface="Courier New" panose="02070309020205020404" pitchFamily="49" charset="0"/>
              </a:rPr>
              <a:t>CellMethods</a:t>
            </a:r>
            <a:r>
              <a:rPr lang="en-US" altLang="zh-CN" sz="1400" b="1" dirty="0">
                <a:solidFill>
                  <a:schemeClr val="accent4">
                    <a:lumMod val="50000"/>
                  </a:schemeClr>
                </a:solidFill>
                <a:latin typeface="Courier New" panose="02070309020205020404" pitchFamily="49" charset="0"/>
              </a:rPr>
              <a:t>&gt;</a:t>
            </a:r>
          </a:p>
          <a:p>
            <a:pPr lvl="1">
              <a:spcBef>
                <a:spcPct val="0"/>
              </a:spcBef>
            </a:pPr>
            <a:r>
              <a:rPr lang="en-US" altLang="zh-CN" sz="1400" b="1" dirty="0">
                <a:solidFill>
                  <a:schemeClr val="accent4">
                    <a:lumMod val="50000"/>
                  </a:schemeClr>
                </a:solidFill>
                <a:latin typeface="Courier New" panose="02070309020205020404" pitchFamily="49" charset="0"/>
              </a:rPr>
              <a:t>&lt;/root&gt;</a:t>
            </a:r>
          </a:p>
          <a:p>
            <a:endParaRPr lang="zh-CN" altLang="en-US" dirty="0">
              <a:solidFill>
                <a:schemeClr val="accent4">
                  <a:lumMod val="50000"/>
                </a:schemeClr>
              </a:solidFill>
            </a:endParaRPr>
          </a:p>
        </p:txBody>
      </p:sp>
      <p:sp>
        <p:nvSpPr>
          <p:cNvPr id="3" name="文本框 2"/>
          <p:cNvSpPr txBox="1"/>
          <p:nvPr/>
        </p:nvSpPr>
        <p:spPr>
          <a:xfrm>
            <a:off x="4273918" y="2204864"/>
            <a:ext cx="4010200" cy="369332"/>
          </a:xfrm>
          <a:prstGeom prst="rect">
            <a:avLst/>
          </a:prstGeom>
          <a:noFill/>
        </p:spPr>
        <p:txBody>
          <a:bodyPr wrap="none" rtlCol="0">
            <a:spAutoFit/>
          </a:bodyPr>
          <a:lstStyle/>
          <a:p>
            <a:r>
              <a:rPr lang="en-US" altLang="zh-CN" dirty="0">
                <a:solidFill>
                  <a:srgbClr val="FF0000"/>
                </a:solidFill>
              </a:rPr>
              <a:t>Account</a:t>
            </a:r>
            <a:r>
              <a:rPr lang="zh-CN" altLang="en-US" dirty="0">
                <a:solidFill>
                  <a:srgbClr val="FF0000"/>
                </a:solidFill>
              </a:rPr>
              <a:t>类型所具有的属性</a:t>
            </a:r>
            <a:r>
              <a:rPr lang="en-US" altLang="zh-CN" dirty="0">
                <a:solidFill>
                  <a:srgbClr val="FF0000"/>
                </a:solidFill>
              </a:rPr>
              <a:t>,</a:t>
            </a:r>
            <a:r>
              <a:rPr lang="zh-CN" altLang="en-US" dirty="0">
                <a:solidFill>
                  <a:srgbClr val="FF0000"/>
                </a:solidFill>
              </a:rPr>
              <a:t>即成员变量</a:t>
            </a:r>
          </a:p>
        </p:txBody>
      </p:sp>
      <p:sp>
        <p:nvSpPr>
          <p:cNvPr id="7" name="文本框 6"/>
          <p:cNvSpPr txBox="1"/>
          <p:nvPr/>
        </p:nvSpPr>
        <p:spPr>
          <a:xfrm>
            <a:off x="4013997" y="2481752"/>
            <a:ext cx="4984057" cy="938719"/>
          </a:xfrm>
          <a:prstGeom prst="rect">
            <a:avLst/>
          </a:prstGeom>
          <a:noFill/>
        </p:spPr>
        <p:txBody>
          <a:bodyPr wrap="none" rtlCol="0">
            <a:spAutoFit/>
          </a:bodyPr>
          <a:lstStyle/>
          <a:p>
            <a:r>
              <a:rPr lang="zh-CN" altLang="en-US" sz="1100" b="0" i="0" dirty="0">
                <a:solidFill>
                  <a:srgbClr val="FF0000"/>
                </a:solidFill>
                <a:effectLst/>
                <a:latin typeface="Inter"/>
              </a:rPr>
              <a:t>定义了可以从服务器端调用到客户端的方法。</a:t>
            </a:r>
            <a:endParaRPr lang="en-US" altLang="zh-CN" sz="1100" b="0" i="0" dirty="0">
              <a:solidFill>
                <a:srgbClr val="FF0000"/>
              </a:solidFill>
              <a:effectLst/>
              <a:latin typeface="Inter"/>
            </a:endParaRPr>
          </a:p>
          <a:p>
            <a:r>
              <a:rPr lang="zh-CN" altLang="en-US" sz="1100" b="0" i="0" dirty="0">
                <a:solidFill>
                  <a:srgbClr val="FF0000"/>
                </a:solidFill>
                <a:effectLst/>
                <a:latin typeface="Inter"/>
              </a:rPr>
              <a:t>这些方法主要用于</a:t>
            </a:r>
            <a:r>
              <a:rPr lang="zh-CN" altLang="en-US" sz="1100" b="0" i="0" dirty="0">
                <a:solidFill>
                  <a:srgbClr val="7030A0"/>
                </a:solidFill>
                <a:effectLst/>
                <a:latin typeface="Inter"/>
              </a:rPr>
              <a:t>向客户端发送消息或指令，让客户端执行特定的操作</a:t>
            </a:r>
            <a:r>
              <a:rPr lang="zh-CN" altLang="en-US" sz="1100" b="0" i="0" dirty="0">
                <a:solidFill>
                  <a:srgbClr val="FF0000"/>
                </a:solidFill>
                <a:effectLst/>
                <a:latin typeface="Inter"/>
              </a:rPr>
              <a:t>，</a:t>
            </a:r>
            <a:endParaRPr lang="en-US" altLang="zh-CN" sz="1100" b="0" i="0" dirty="0">
              <a:solidFill>
                <a:srgbClr val="FF0000"/>
              </a:solidFill>
              <a:effectLst/>
              <a:latin typeface="Inter"/>
            </a:endParaRPr>
          </a:p>
          <a:p>
            <a:r>
              <a:rPr lang="zh-CN" altLang="en-US" sz="1100" b="0" i="0" dirty="0">
                <a:solidFill>
                  <a:srgbClr val="FF0000"/>
                </a:solidFill>
                <a:effectLst/>
                <a:latin typeface="Inter"/>
              </a:rPr>
              <a:t>如更新界面显示、播放音效、显示特效等。当服务器端调用这些方法时，</a:t>
            </a:r>
            <a:endParaRPr lang="en-US" altLang="zh-CN" sz="1100" b="0" i="0" dirty="0">
              <a:solidFill>
                <a:srgbClr val="FF0000"/>
              </a:solidFill>
              <a:effectLst/>
              <a:latin typeface="Inter"/>
            </a:endParaRPr>
          </a:p>
          <a:p>
            <a:r>
              <a:rPr lang="en-US" altLang="zh-CN" sz="1100" b="0" i="0" dirty="0" err="1">
                <a:solidFill>
                  <a:srgbClr val="FF0000"/>
                </a:solidFill>
                <a:effectLst/>
                <a:latin typeface="Inter"/>
              </a:rPr>
              <a:t>KBEngine</a:t>
            </a:r>
            <a:r>
              <a:rPr lang="en-US" altLang="zh-CN" sz="1100" b="0" i="0" dirty="0">
                <a:solidFill>
                  <a:srgbClr val="FF0000"/>
                </a:solidFill>
                <a:effectLst/>
                <a:latin typeface="Inter"/>
              </a:rPr>
              <a:t> </a:t>
            </a:r>
            <a:r>
              <a:rPr lang="zh-CN" altLang="en-US" sz="1100" b="0" i="0" dirty="0">
                <a:solidFill>
                  <a:srgbClr val="FF0000"/>
                </a:solidFill>
                <a:effectLst/>
                <a:latin typeface="Inter"/>
              </a:rPr>
              <a:t>会将调用信息传递给相应的客户端，客户端会执行对应的方法逻辑。</a:t>
            </a:r>
            <a:endParaRPr lang="en-US" altLang="zh-CN" sz="1100" b="0" i="0" dirty="0">
              <a:solidFill>
                <a:srgbClr val="FF0000"/>
              </a:solidFill>
              <a:effectLst/>
              <a:latin typeface="Inter"/>
            </a:endParaRPr>
          </a:p>
          <a:p>
            <a:r>
              <a:rPr lang="zh-CN" altLang="en-US" sz="1100" dirty="0">
                <a:solidFill>
                  <a:srgbClr val="FF0000"/>
                </a:solidFill>
                <a:latin typeface="Inter"/>
              </a:rPr>
              <a:t>这些方法在</a:t>
            </a:r>
            <a:r>
              <a:rPr lang="en-US" altLang="zh-CN" sz="1100" dirty="0">
                <a:solidFill>
                  <a:srgbClr val="FF0000"/>
                </a:solidFill>
                <a:latin typeface="Inter"/>
              </a:rPr>
              <a:t>client</a:t>
            </a:r>
            <a:r>
              <a:rPr lang="zh-CN" altLang="en-US" sz="1100" dirty="0">
                <a:solidFill>
                  <a:srgbClr val="FF0000"/>
                </a:solidFill>
                <a:latin typeface="Inter"/>
              </a:rPr>
              <a:t>目录下的</a:t>
            </a:r>
            <a:r>
              <a:rPr lang="en-US" altLang="zh-CN" sz="1100" dirty="0">
                <a:solidFill>
                  <a:srgbClr val="FF0000"/>
                </a:solidFill>
                <a:latin typeface="Inter"/>
              </a:rPr>
              <a:t>Account.py</a:t>
            </a:r>
            <a:r>
              <a:rPr lang="zh-CN" altLang="en-US" sz="1100" dirty="0">
                <a:solidFill>
                  <a:srgbClr val="FF0000"/>
                </a:solidFill>
                <a:latin typeface="Inter"/>
              </a:rPr>
              <a:t>下实现</a:t>
            </a:r>
            <a:endParaRPr lang="zh-CN" altLang="en-US" sz="1100" dirty="0">
              <a:solidFill>
                <a:srgbClr val="FF0000"/>
              </a:solidFill>
            </a:endParaRPr>
          </a:p>
        </p:txBody>
      </p:sp>
      <p:sp>
        <p:nvSpPr>
          <p:cNvPr id="8" name="文本框 7"/>
          <p:cNvSpPr txBox="1"/>
          <p:nvPr/>
        </p:nvSpPr>
        <p:spPr>
          <a:xfrm>
            <a:off x="4374837" y="3376446"/>
            <a:ext cx="4523995" cy="938719"/>
          </a:xfrm>
          <a:prstGeom prst="rect">
            <a:avLst/>
          </a:prstGeom>
          <a:noFill/>
        </p:spPr>
        <p:txBody>
          <a:bodyPr wrap="none" rtlCol="0">
            <a:spAutoFit/>
          </a:bodyPr>
          <a:lstStyle/>
          <a:p>
            <a:r>
              <a:rPr lang="zh-CN" altLang="en-US" sz="1100" b="0" i="0" dirty="0">
                <a:solidFill>
                  <a:srgbClr val="FF0000"/>
                </a:solidFill>
                <a:effectLst/>
                <a:latin typeface="Inter"/>
              </a:rPr>
              <a:t>定义了在 </a:t>
            </a:r>
            <a:r>
              <a:rPr lang="en-US" altLang="zh-CN" sz="1100" b="0" i="0" dirty="0" err="1">
                <a:solidFill>
                  <a:srgbClr val="FF0000"/>
                </a:solidFill>
                <a:effectLst/>
                <a:latin typeface="Inter"/>
              </a:rPr>
              <a:t>BaseApp</a:t>
            </a:r>
            <a:r>
              <a:rPr lang="en-US" altLang="zh-CN" sz="1100" b="0" i="0" dirty="0">
                <a:solidFill>
                  <a:srgbClr val="FF0000"/>
                </a:solidFill>
                <a:effectLst/>
                <a:latin typeface="Inter"/>
              </a:rPr>
              <a:t> </a:t>
            </a:r>
            <a:r>
              <a:rPr lang="zh-CN" altLang="en-US" sz="1100" b="0" i="0" dirty="0">
                <a:solidFill>
                  <a:srgbClr val="FF0000"/>
                </a:solidFill>
                <a:effectLst/>
                <a:latin typeface="Inter"/>
              </a:rPr>
              <a:t>服务器组件中执行的方法。</a:t>
            </a:r>
            <a:endParaRPr lang="en-US" altLang="zh-CN" sz="1100" b="0" i="0" dirty="0">
              <a:solidFill>
                <a:srgbClr val="FF0000"/>
              </a:solidFill>
              <a:effectLst/>
              <a:latin typeface="Inter"/>
            </a:endParaRPr>
          </a:p>
          <a:p>
            <a:r>
              <a:rPr lang="en-US" altLang="zh-CN" sz="1100" b="0" i="0" dirty="0" err="1">
                <a:solidFill>
                  <a:srgbClr val="FF0000"/>
                </a:solidFill>
                <a:effectLst/>
                <a:latin typeface="Inter"/>
              </a:rPr>
              <a:t>BaseApp</a:t>
            </a:r>
            <a:r>
              <a:rPr lang="en-US" altLang="zh-CN" sz="1100" b="0" i="0" dirty="0">
                <a:solidFill>
                  <a:srgbClr val="FF0000"/>
                </a:solidFill>
                <a:effectLst/>
                <a:latin typeface="Inter"/>
              </a:rPr>
              <a:t> </a:t>
            </a:r>
            <a:r>
              <a:rPr lang="zh-CN" altLang="en-US" sz="1100" b="0" i="0" dirty="0">
                <a:solidFill>
                  <a:srgbClr val="FF0000"/>
                </a:solidFill>
                <a:effectLst/>
                <a:latin typeface="Inter"/>
              </a:rPr>
              <a:t>主要负责处理实体的基础逻辑，如登录、注册、角色管理等。</a:t>
            </a:r>
            <a:endParaRPr lang="en-US" altLang="zh-CN" sz="1100" b="0" i="0" dirty="0">
              <a:solidFill>
                <a:srgbClr val="FF0000"/>
              </a:solidFill>
              <a:effectLst/>
              <a:latin typeface="Inter"/>
            </a:endParaRPr>
          </a:p>
          <a:p>
            <a:r>
              <a:rPr lang="zh-CN" altLang="en-US" sz="1100" b="0" i="0" dirty="0">
                <a:solidFill>
                  <a:srgbClr val="FF0000"/>
                </a:solidFill>
                <a:effectLst/>
                <a:latin typeface="Inter"/>
              </a:rPr>
              <a:t>这些方法可以被其他服务器组件（如 </a:t>
            </a:r>
            <a:r>
              <a:rPr lang="en-US" altLang="zh-CN" sz="1100" b="0" i="0" dirty="0" err="1">
                <a:solidFill>
                  <a:srgbClr val="FF0000"/>
                </a:solidFill>
                <a:effectLst/>
                <a:latin typeface="Inter"/>
              </a:rPr>
              <a:t>CellApp</a:t>
            </a:r>
            <a:r>
              <a:rPr lang="zh-CN" altLang="en-US" sz="1100" b="0" i="0" dirty="0">
                <a:solidFill>
                  <a:srgbClr val="FF0000"/>
                </a:solidFill>
                <a:effectLst/>
                <a:latin typeface="Inter"/>
              </a:rPr>
              <a:t>）或者客户端调用，</a:t>
            </a:r>
            <a:endParaRPr lang="en-US" altLang="zh-CN" sz="1100" b="0" i="0" dirty="0">
              <a:solidFill>
                <a:srgbClr val="FF0000"/>
              </a:solidFill>
              <a:effectLst/>
              <a:latin typeface="Inter"/>
            </a:endParaRPr>
          </a:p>
          <a:p>
            <a:r>
              <a:rPr lang="zh-CN" altLang="en-US" sz="1100" b="0" i="0" dirty="0">
                <a:solidFill>
                  <a:srgbClr val="FF0000"/>
                </a:solidFill>
                <a:effectLst/>
                <a:latin typeface="Inter"/>
              </a:rPr>
              <a:t>用于处理一些与实体基础状态和逻辑相关的操作。</a:t>
            </a:r>
            <a:endParaRPr lang="en-US" altLang="zh-CN" sz="1100" b="0" i="0" dirty="0">
              <a:solidFill>
                <a:srgbClr val="FF0000"/>
              </a:solidFill>
              <a:effectLst/>
              <a:latin typeface="Inter"/>
            </a:endParaRPr>
          </a:p>
          <a:p>
            <a:r>
              <a:rPr lang="zh-CN" altLang="en-US" sz="1100" dirty="0">
                <a:solidFill>
                  <a:srgbClr val="FF0000"/>
                </a:solidFill>
                <a:latin typeface="Inter"/>
              </a:rPr>
              <a:t>这些方法在</a:t>
            </a:r>
            <a:r>
              <a:rPr lang="en-US" altLang="zh-CN" sz="1100" dirty="0">
                <a:solidFill>
                  <a:srgbClr val="FF0000"/>
                </a:solidFill>
                <a:latin typeface="Inter"/>
              </a:rPr>
              <a:t>base</a:t>
            </a:r>
            <a:r>
              <a:rPr lang="zh-CN" altLang="en-US" sz="1100" dirty="0">
                <a:solidFill>
                  <a:srgbClr val="FF0000"/>
                </a:solidFill>
                <a:latin typeface="Inter"/>
              </a:rPr>
              <a:t>目录下的</a:t>
            </a:r>
            <a:r>
              <a:rPr lang="en-US" altLang="zh-CN" sz="1100" dirty="0">
                <a:solidFill>
                  <a:srgbClr val="FF0000"/>
                </a:solidFill>
                <a:latin typeface="Inter"/>
              </a:rPr>
              <a:t>Account.py</a:t>
            </a:r>
            <a:r>
              <a:rPr lang="zh-CN" altLang="en-US" sz="1100" dirty="0">
                <a:solidFill>
                  <a:srgbClr val="FF0000"/>
                </a:solidFill>
                <a:latin typeface="Inter"/>
              </a:rPr>
              <a:t>下实现</a:t>
            </a:r>
            <a:endParaRPr lang="zh-CN" altLang="en-US" sz="1100" dirty="0">
              <a:solidFill>
                <a:srgbClr val="FF0000"/>
              </a:solidFill>
            </a:endParaRPr>
          </a:p>
        </p:txBody>
      </p:sp>
      <p:sp>
        <p:nvSpPr>
          <p:cNvPr id="9" name="文本框 8"/>
          <p:cNvSpPr txBox="1"/>
          <p:nvPr/>
        </p:nvSpPr>
        <p:spPr>
          <a:xfrm>
            <a:off x="4013997" y="4400135"/>
            <a:ext cx="4839786" cy="938719"/>
          </a:xfrm>
          <a:prstGeom prst="rect">
            <a:avLst/>
          </a:prstGeom>
          <a:noFill/>
        </p:spPr>
        <p:txBody>
          <a:bodyPr wrap="none" rtlCol="0">
            <a:spAutoFit/>
          </a:bodyPr>
          <a:lstStyle/>
          <a:p>
            <a:r>
              <a:rPr lang="zh-CN" altLang="en-US" sz="1100" b="0" i="0" dirty="0">
                <a:solidFill>
                  <a:srgbClr val="FF0000"/>
                </a:solidFill>
                <a:effectLst/>
                <a:latin typeface="Inter"/>
              </a:rPr>
              <a:t>定义了在 </a:t>
            </a:r>
            <a:r>
              <a:rPr lang="en-US" altLang="zh-CN" sz="1100" b="0" i="0" dirty="0" err="1">
                <a:solidFill>
                  <a:srgbClr val="FF0000"/>
                </a:solidFill>
                <a:effectLst/>
                <a:latin typeface="Inter"/>
              </a:rPr>
              <a:t>CellApp</a:t>
            </a:r>
            <a:r>
              <a:rPr lang="en-US" altLang="zh-CN" sz="1100" b="0" i="0" dirty="0">
                <a:solidFill>
                  <a:srgbClr val="FF0000"/>
                </a:solidFill>
                <a:effectLst/>
                <a:latin typeface="Inter"/>
              </a:rPr>
              <a:t> </a:t>
            </a:r>
            <a:r>
              <a:rPr lang="zh-CN" altLang="en-US" sz="1100" b="0" i="0" dirty="0">
                <a:solidFill>
                  <a:srgbClr val="FF0000"/>
                </a:solidFill>
                <a:effectLst/>
                <a:latin typeface="Inter"/>
              </a:rPr>
              <a:t>服务器组件中执行的方法。</a:t>
            </a:r>
            <a:endParaRPr lang="en-US" altLang="zh-CN" sz="1100" b="0" i="0" dirty="0">
              <a:solidFill>
                <a:srgbClr val="FF0000"/>
              </a:solidFill>
              <a:effectLst/>
              <a:latin typeface="Inter"/>
            </a:endParaRPr>
          </a:p>
          <a:p>
            <a:r>
              <a:rPr lang="en-US" altLang="zh-CN" sz="1100" b="0" i="0" dirty="0" err="1">
                <a:solidFill>
                  <a:srgbClr val="FF0000"/>
                </a:solidFill>
                <a:effectLst/>
                <a:latin typeface="Inter"/>
              </a:rPr>
              <a:t>CellApp</a:t>
            </a:r>
            <a:r>
              <a:rPr lang="en-US" altLang="zh-CN" sz="1100" b="0" i="0" dirty="0">
                <a:solidFill>
                  <a:srgbClr val="FF0000"/>
                </a:solidFill>
                <a:effectLst/>
                <a:latin typeface="Inter"/>
              </a:rPr>
              <a:t> </a:t>
            </a:r>
            <a:r>
              <a:rPr lang="zh-CN" altLang="en-US" sz="1100" b="0" i="0" dirty="0">
                <a:solidFill>
                  <a:srgbClr val="FF0000"/>
                </a:solidFill>
                <a:effectLst/>
                <a:latin typeface="Inter"/>
              </a:rPr>
              <a:t>主要负责处理游戏世界中的实时逻辑，如角色移动、碰撞检测、</a:t>
            </a:r>
            <a:endParaRPr lang="en-US" altLang="zh-CN" sz="1100" b="0" i="0" dirty="0">
              <a:solidFill>
                <a:srgbClr val="FF0000"/>
              </a:solidFill>
              <a:effectLst/>
              <a:latin typeface="Inter"/>
            </a:endParaRPr>
          </a:p>
          <a:p>
            <a:r>
              <a:rPr lang="zh-CN" altLang="en-US" sz="1100" b="0" i="0" dirty="0">
                <a:solidFill>
                  <a:srgbClr val="FF0000"/>
                </a:solidFill>
                <a:effectLst/>
                <a:latin typeface="Inter"/>
              </a:rPr>
              <a:t>战斗计算等。</a:t>
            </a:r>
            <a:endParaRPr lang="en-US" altLang="zh-CN" sz="1100" b="0" i="0" dirty="0">
              <a:solidFill>
                <a:srgbClr val="FF0000"/>
              </a:solidFill>
              <a:effectLst/>
              <a:latin typeface="Inter"/>
            </a:endParaRPr>
          </a:p>
          <a:p>
            <a:r>
              <a:rPr lang="zh-CN" altLang="en-US" sz="1100" b="0" i="0" dirty="0">
                <a:solidFill>
                  <a:srgbClr val="FF0000"/>
                </a:solidFill>
                <a:effectLst/>
                <a:latin typeface="Inter"/>
              </a:rPr>
              <a:t>这些方法通常用于处理与实体在游戏场景中的实时交互和行为相关的操作。</a:t>
            </a:r>
            <a:endParaRPr lang="en-US" altLang="zh-CN" sz="1100" b="0" i="0" dirty="0">
              <a:solidFill>
                <a:srgbClr val="FF0000"/>
              </a:solidFill>
              <a:effectLst/>
              <a:latin typeface="Inter"/>
            </a:endParaRPr>
          </a:p>
          <a:p>
            <a:r>
              <a:rPr lang="zh-CN" altLang="en-US" sz="1100" dirty="0">
                <a:solidFill>
                  <a:srgbClr val="FF0000"/>
                </a:solidFill>
                <a:latin typeface="Inter"/>
              </a:rPr>
              <a:t>这些方法在</a:t>
            </a:r>
            <a:r>
              <a:rPr lang="en-US" altLang="zh-CN" sz="1100" dirty="0">
                <a:solidFill>
                  <a:srgbClr val="FF0000"/>
                </a:solidFill>
                <a:latin typeface="Inter"/>
              </a:rPr>
              <a:t>cell</a:t>
            </a:r>
            <a:r>
              <a:rPr lang="zh-CN" altLang="en-US" sz="1100" dirty="0">
                <a:solidFill>
                  <a:srgbClr val="FF0000"/>
                </a:solidFill>
                <a:latin typeface="Inter"/>
              </a:rPr>
              <a:t>目录下的</a:t>
            </a:r>
            <a:r>
              <a:rPr lang="en-US" altLang="zh-CN" sz="1100" dirty="0">
                <a:solidFill>
                  <a:srgbClr val="FF0000"/>
                </a:solidFill>
                <a:latin typeface="Inter"/>
              </a:rPr>
              <a:t>Account.py</a:t>
            </a:r>
            <a:r>
              <a:rPr lang="zh-CN" altLang="en-US" sz="1100" dirty="0">
                <a:solidFill>
                  <a:srgbClr val="FF0000"/>
                </a:solidFill>
                <a:latin typeface="Inter"/>
              </a:rPr>
              <a:t>下实现</a:t>
            </a:r>
            <a:endParaRPr lang="zh-CN" altLang="en-US" sz="11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的继承</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ea typeface="宋体" panose="02010600030101010101" pitchFamily="2" charset="-122"/>
              </a:rPr>
              <a:t>Entity</a:t>
            </a:r>
            <a:r>
              <a:rPr lang="zh-CN" altLang="en-AU" dirty="0">
                <a:ea typeface="宋体" panose="02010600030101010101" pitchFamily="2" charset="-122"/>
              </a:rPr>
              <a:t>定义文件支持继承</a:t>
            </a:r>
            <a:endParaRPr lang="en-AU" altLang="zh-CN" dirty="0"/>
          </a:p>
          <a:p>
            <a:pPr marL="182245" lvl="1" indent="0">
              <a:buNone/>
            </a:pPr>
            <a:r>
              <a:rPr lang="zh-CN" altLang="en-US" sz="2000" dirty="0">
                <a:ea typeface="宋体" panose="02010600030101010101" pitchFamily="2" charset="-122"/>
              </a:rPr>
              <a:t>       </a:t>
            </a:r>
            <a:r>
              <a:rPr lang="en-AU" altLang="zh-CN" sz="2000" dirty="0">
                <a:latin typeface="Courier New" panose="02070309020205020404" pitchFamily="49" charset="0"/>
              </a:rPr>
              <a:t>&lt;assets&gt;/scripts/</a:t>
            </a:r>
            <a:r>
              <a:rPr lang="en-AU" altLang="zh-CN" sz="2000" dirty="0" err="1">
                <a:latin typeface="Courier New" panose="02070309020205020404" pitchFamily="49" charset="0"/>
              </a:rPr>
              <a:t>entity_defs</a:t>
            </a:r>
            <a:r>
              <a:rPr lang="en-AU" altLang="zh-CN" sz="2000" dirty="0">
                <a:latin typeface="Courier New" panose="02070309020205020404" pitchFamily="49" charset="0"/>
              </a:rPr>
              <a:t>/interfaces</a:t>
            </a:r>
            <a:endParaRPr lang="zh-CN" altLang="en-AU" sz="2000" dirty="0">
              <a:latin typeface="Courier New" panose="02070309020205020404" pitchFamily="49" charset="0"/>
              <a:ea typeface="宋体" panose="02010600030101010101" pitchFamily="2" charset="-122"/>
            </a:endParaRPr>
          </a:p>
          <a:p>
            <a:r>
              <a:rPr lang="zh-CN" altLang="en-AU" dirty="0">
                <a:ea typeface="宋体" panose="02010600030101010101" pitchFamily="2" charset="-122"/>
              </a:rPr>
              <a:t>两种继承机制</a:t>
            </a:r>
            <a:r>
              <a:rPr lang="en-AU" altLang="zh-CN" dirty="0"/>
              <a:t>:</a:t>
            </a:r>
          </a:p>
          <a:p>
            <a:pPr marL="182245" lvl="1" indent="0">
              <a:buNone/>
            </a:pPr>
            <a:r>
              <a:rPr lang="en-AU" altLang="zh-CN" sz="2000" dirty="0">
                <a:ea typeface="宋体" panose="02010600030101010101" pitchFamily="2" charset="-122"/>
              </a:rPr>
              <a:t>       </a:t>
            </a:r>
            <a:r>
              <a:rPr lang="en-AU" altLang="zh-CN" sz="2000" dirty="0">
                <a:latin typeface="Courier New" panose="02070309020205020404" pitchFamily="49" charset="0"/>
              </a:rPr>
              <a:t>&lt;Parent&gt;</a:t>
            </a:r>
          </a:p>
          <a:p>
            <a:pPr marL="182245" lvl="1" indent="0">
              <a:buNone/>
            </a:pPr>
            <a:r>
              <a:rPr lang="zh-CN" altLang="en-AU" sz="2000" dirty="0">
                <a:ea typeface="宋体" panose="02010600030101010101" pitchFamily="2" charset="-122"/>
              </a:rPr>
              <a:t>                     继承所有的东西</a:t>
            </a:r>
            <a:endParaRPr lang="en-AU" altLang="zh-CN" sz="2000" dirty="0"/>
          </a:p>
          <a:p>
            <a:pPr marL="182245" lvl="1" indent="0">
              <a:buNone/>
            </a:pPr>
            <a:r>
              <a:rPr lang="zh-CN" altLang="en-AU" sz="2000" dirty="0">
                <a:ea typeface="宋体" panose="02010600030101010101" pitchFamily="2" charset="-122"/>
              </a:rPr>
              <a:t>                     属性 </a:t>
            </a:r>
            <a:r>
              <a:rPr lang="en-AU" altLang="zh-CN" sz="2000" dirty="0"/>
              <a:t>/ </a:t>
            </a:r>
            <a:r>
              <a:rPr lang="zh-CN" altLang="en-AU" sz="2000" dirty="0">
                <a:ea typeface="宋体" panose="02010600030101010101" pitchFamily="2" charset="-122"/>
              </a:rPr>
              <a:t>方法</a:t>
            </a:r>
          </a:p>
          <a:p>
            <a:pPr marL="182245" lvl="1" indent="0">
              <a:buNone/>
            </a:pPr>
            <a:r>
              <a:rPr lang="en-AU" altLang="zh-CN" sz="2000" dirty="0"/>
              <a:t>                     Volatile </a:t>
            </a:r>
            <a:r>
              <a:rPr lang="zh-CN" altLang="en-AU" sz="2000" dirty="0">
                <a:ea typeface="宋体" panose="02010600030101010101" pitchFamily="2" charset="-122"/>
              </a:rPr>
              <a:t>属性定义</a:t>
            </a:r>
            <a:endParaRPr lang="en-AU" altLang="zh-CN" sz="2000" dirty="0">
              <a:ea typeface="宋体" panose="02010600030101010101" pitchFamily="2" charset="-122"/>
            </a:endParaRPr>
          </a:p>
          <a:p>
            <a:pPr marL="182245" lvl="1" indent="0">
              <a:buNone/>
            </a:pPr>
            <a:r>
              <a:rPr lang="en-AU" altLang="zh-CN" sz="2000" dirty="0"/>
              <a:t>                     LOD </a:t>
            </a:r>
            <a:r>
              <a:rPr lang="zh-CN" altLang="en-AU" sz="2000" dirty="0">
                <a:ea typeface="宋体" panose="02010600030101010101" pitchFamily="2" charset="-122"/>
              </a:rPr>
              <a:t>级别</a:t>
            </a:r>
          </a:p>
          <a:p>
            <a:pPr marL="182245" lvl="1" indent="0">
              <a:buNone/>
            </a:pPr>
            <a:r>
              <a:rPr lang="zh-CN" altLang="en-AU" sz="2000" dirty="0">
                <a:ea typeface="宋体" panose="02010600030101010101" pitchFamily="2" charset="-122"/>
              </a:rPr>
              <a:t>                     简单级别的继承</a:t>
            </a:r>
            <a:endParaRPr lang="en-AU" altLang="zh-CN" sz="2400" dirty="0">
              <a:latin typeface="Courier New" panose="02070309020205020404" pitchFamily="49" charset="0"/>
            </a:endParaRPr>
          </a:p>
          <a:p>
            <a:pPr marL="0" indent="0">
              <a:buNone/>
            </a:pPr>
            <a:r>
              <a:rPr lang="en-AU" altLang="zh-CN" dirty="0">
                <a:latin typeface="Courier New" panose="02070309020205020404" pitchFamily="49" charset="0"/>
              </a:rPr>
              <a:t>  </a:t>
            </a:r>
            <a:r>
              <a:rPr lang="en-AU" altLang="zh-CN" sz="2000" dirty="0">
                <a:latin typeface="Courier New" panose="02070309020205020404" pitchFamily="49" charset="0"/>
              </a:rPr>
              <a:t>&lt;Implements&gt;</a:t>
            </a:r>
            <a:endParaRPr lang="en-US" altLang="zh-CN" sz="2000" dirty="0">
              <a:ea typeface="宋体" panose="02010600030101010101" pitchFamily="2" charset="-122"/>
            </a:endParaRPr>
          </a:p>
          <a:p>
            <a:pPr marL="409575" lvl="2" indent="0">
              <a:buNone/>
            </a:pPr>
            <a:r>
              <a:rPr lang="zh-CN" altLang="en-AU" sz="2000" dirty="0">
                <a:ea typeface="宋体" panose="02010600030101010101" pitchFamily="2" charset="-122"/>
              </a:rPr>
              <a:t>                 继承属性和方法</a:t>
            </a:r>
            <a:endParaRPr lang="en-AU" altLang="zh-CN" sz="2000" dirty="0"/>
          </a:p>
          <a:p>
            <a:pPr marL="0" lvl="2" indent="0">
              <a:buNone/>
            </a:pPr>
            <a:r>
              <a:rPr lang="zh-CN" altLang="en-AU" sz="2000" dirty="0">
                <a:ea typeface="宋体" panose="02010600030101010101" pitchFamily="2" charset="-122"/>
              </a:rPr>
              <a:t>                        多级别的继承</a:t>
            </a:r>
            <a:endParaRPr lang="en-AU" altLang="zh-CN" dirty="0"/>
          </a:p>
          <a:p>
            <a:endParaRPr lang="en-US" altLang="zh-CN" dirty="0">
              <a:ea typeface="宋体" panose="02010600030101010101" pitchFamily="2" charset="-122"/>
            </a:endParaRPr>
          </a:p>
        </p:txBody>
      </p:sp>
      <p:sp>
        <p:nvSpPr>
          <p:cNvPr id="3" name="文本框 2"/>
          <p:cNvSpPr txBox="1"/>
          <p:nvPr/>
        </p:nvSpPr>
        <p:spPr>
          <a:xfrm>
            <a:off x="3114112" y="1844824"/>
            <a:ext cx="5883085" cy="276999"/>
          </a:xfrm>
          <a:prstGeom prst="rect">
            <a:avLst/>
          </a:prstGeom>
          <a:noFill/>
        </p:spPr>
        <p:txBody>
          <a:bodyPr wrap="none" rtlCol="0">
            <a:spAutoFit/>
          </a:bodyPr>
          <a:lstStyle/>
          <a:p>
            <a:r>
              <a:rPr lang="zh-CN" altLang="en-US" sz="1200" dirty="0">
                <a:solidFill>
                  <a:srgbClr val="FF0000"/>
                </a:solidFill>
              </a:rPr>
              <a:t>这个目录下定义了某类</a:t>
            </a:r>
            <a:r>
              <a:rPr lang="en-US" altLang="zh-CN" sz="1200" dirty="0">
                <a:solidFill>
                  <a:srgbClr val="FF0000"/>
                </a:solidFill>
              </a:rPr>
              <a:t>Entity</a:t>
            </a:r>
            <a:r>
              <a:rPr lang="zh-CN" altLang="en-US" sz="1200" dirty="0">
                <a:solidFill>
                  <a:srgbClr val="FF0000"/>
                </a:solidFill>
              </a:rPr>
              <a:t>对象的抽象接口和公共属性</a:t>
            </a:r>
            <a:r>
              <a:rPr lang="en-US" altLang="zh-CN" sz="1200" dirty="0">
                <a:solidFill>
                  <a:srgbClr val="FF0000"/>
                </a:solidFill>
              </a:rPr>
              <a:t>,</a:t>
            </a:r>
            <a:r>
              <a:rPr lang="zh-CN" altLang="en-US" sz="1200" dirty="0">
                <a:solidFill>
                  <a:srgbClr val="FF0000"/>
                </a:solidFill>
              </a:rPr>
              <a:t>类似</a:t>
            </a:r>
            <a:r>
              <a:rPr lang="en-US" altLang="zh-CN" sz="1200" dirty="0" err="1">
                <a:solidFill>
                  <a:srgbClr val="FF0000"/>
                </a:solidFill>
              </a:rPr>
              <a:t>c++</a:t>
            </a:r>
            <a:r>
              <a:rPr lang="zh-CN" altLang="en-US" sz="1200" dirty="0">
                <a:solidFill>
                  <a:srgbClr val="FF0000"/>
                </a:solidFill>
              </a:rPr>
              <a:t>的接口类或者虚基类</a:t>
            </a:r>
          </a:p>
        </p:txBody>
      </p:sp>
      <p:sp>
        <p:nvSpPr>
          <p:cNvPr id="5" name="文本框 4"/>
          <p:cNvSpPr txBox="1"/>
          <p:nvPr/>
        </p:nvSpPr>
        <p:spPr>
          <a:xfrm>
            <a:off x="4105274" y="2952750"/>
            <a:ext cx="2050901" cy="369332"/>
          </a:xfrm>
          <a:prstGeom prst="rect">
            <a:avLst/>
          </a:prstGeom>
          <a:noFill/>
        </p:spPr>
        <p:txBody>
          <a:bodyPr wrap="square" rtlCol="0">
            <a:spAutoFit/>
          </a:bodyPr>
          <a:lstStyle/>
          <a:p>
            <a:r>
              <a:rPr lang="zh-CN" altLang="en-US" dirty="0">
                <a:solidFill>
                  <a:srgbClr val="FF0000"/>
                </a:solidFill>
              </a:rPr>
              <a:t>实现继承的方式</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504" y="980728"/>
            <a:ext cx="8928992" cy="5688632"/>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Avatar</a:t>
            </a:r>
            <a:r>
              <a:rPr lang="zh-CN" altLang="en-US" dirty="0">
                <a:solidFill>
                  <a:schemeClr val="accent1"/>
                </a:solidFill>
                <a:ea typeface="宋体" panose="02010600030101010101" pitchFamily="2" charset="-122"/>
              </a:rPr>
              <a:t>的定义</a:t>
            </a:r>
            <a:endParaRPr lang="zh-CN" altLang="en-US" sz="2200" b="1" dirty="0">
              <a:solidFill>
                <a:schemeClr val="accent1"/>
              </a:solidFill>
              <a:latin typeface="+mn-ea"/>
              <a:ea typeface="+mn-ea"/>
            </a:endParaRPr>
          </a:p>
        </p:txBody>
      </p:sp>
      <p:sp>
        <p:nvSpPr>
          <p:cNvPr id="5" name="TextBox 4"/>
          <p:cNvSpPr txBox="1"/>
          <p:nvPr/>
        </p:nvSpPr>
        <p:spPr>
          <a:xfrm>
            <a:off x="395536" y="980728"/>
            <a:ext cx="7416824" cy="5877560"/>
          </a:xfrm>
          <a:prstGeom prst="rect">
            <a:avLst/>
          </a:prstGeom>
          <a:noFill/>
        </p:spPr>
        <p:txBody>
          <a:bodyPr wrap="square" rtlCol="0">
            <a:spAutoFit/>
          </a:bodyPr>
          <a:lstStyle/>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&lt;root&gt;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&lt;Volatile&gt;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&lt;position/&gt;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&lt;!--&lt;position&gt; 0 &lt;/position&gt; Don't update--&gt;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&lt;yaw/&gt;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&lt;!--&lt;pitch&gt; 20 &lt;/pitch&gt;--&gt;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&lt;pitch/&gt;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&lt;roll/&gt;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&lt;/Volatile&gt;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&lt;Implements&gt;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&lt;Interface&gt;	</a:t>
            </a:r>
            <a:r>
              <a:rPr lang="en-US" altLang="zh-CN" sz="800" b="1" dirty="0" err="1">
                <a:solidFill>
                  <a:schemeClr val="accent4">
                    <a:lumMod val="50000"/>
                  </a:schemeClr>
                </a:solidFill>
                <a:latin typeface="Arial" panose="020B0604020202020204" pitchFamily="34" charset="0"/>
                <a:cs typeface="Arial" panose="020B0604020202020204" pitchFamily="34" charset="0"/>
              </a:rPr>
              <a:t>GameObject</a:t>
            </a:r>
            <a:r>
              <a:rPr lang="en-US" altLang="zh-CN" sz="800" b="1" dirty="0">
                <a:solidFill>
                  <a:schemeClr val="accent4">
                    <a:lumMod val="50000"/>
                  </a:schemeClr>
                </a:solidFill>
                <a:latin typeface="Arial" panose="020B0604020202020204" pitchFamily="34" charset="0"/>
                <a:cs typeface="Arial" panose="020B0604020202020204" pitchFamily="34" charset="0"/>
              </a:rPr>
              <a:t>		&lt;/Interface&gt;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&lt;Interface&gt;	State		&lt;/Interface&gt;	</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&lt;/Implements&gt;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&lt;Properties&gt;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roleType</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&lt;Type&gt;	UINT8	&lt;/Type&gt;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&lt;Flags&gt;	BASE	&lt;/Flags&gt;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&lt;Default&gt;	0	&lt;/Default&gt;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&lt;Persistent&gt;	true                         &lt;/Persistent&gt;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roleType</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&lt;/Properties&gt;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BaseMethods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createCell</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Arg</a:t>
            </a:r>
            <a:r>
              <a:rPr lang="en-US" altLang="zh-CN" sz="800" b="1" dirty="0">
                <a:solidFill>
                  <a:schemeClr val="accent4">
                    <a:lumMod val="50000"/>
                  </a:schemeClr>
                </a:solidFill>
                <a:latin typeface="Arial" panose="020B0604020202020204" pitchFamily="34" charset="0"/>
                <a:cs typeface="Arial" panose="020B0604020202020204" pitchFamily="34" charset="0"/>
              </a:rPr>
              <a:t>&gt;	ENTITYCALL	&lt;/</a:t>
            </a:r>
            <a:r>
              <a:rPr lang="en-US" altLang="zh-CN" sz="800" b="1" dirty="0" err="1">
                <a:solidFill>
                  <a:schemeClr val="accent4">
                    <a:lumMod val="50000"/>
                  </a:schemeClr>
                </a:solidFill>
                <a:latin typeface="Arial" panose="020B0604020202020204" pitchFamily="34" charset="0"/>
                <a:cs typeface="Arial" panose="020B0604020202020204" pitchFamily="34" charset="0"/>
              </a:rPr>
              <a:t>Arg</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createCell</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BaseMethods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CellMethods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&lt;jump&gt;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&lt;Exposed/&gt;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&lt;/jump&gt;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CellMethods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ClientMethods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onJump</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	&lt;/</a:t>
            </a:r>
            <a:r>
              <a:rPr lang="en-US" altLang="zh-CN" sz="800" b="1" dirty="0" err="1">
                <a:solidFill>
                  <a:schemeClr val="accent4">
                    <a:lumMod val="50000"/>
                  </a:schemeClr>
                </a:solidFill>
                <a:latin typeface="Arial" panose="020B0604020202020204" pitchFamily="34" charset="0"/>
                <a:cs typeface="Arial" panose="020B0604020202020204" pitchFamily="34" charset="0"/>
              </a:rPr>
              <a:t>ClientMethods</a:t>
            </a:r>
            <a:r>
              <a:rPr lang="en-US" altLang="zh-CN" sz="800" b="1" dirty="0">
                <a:solidFill>
                  <a:schemeClr val="accent4">
                    <a:lumMod val="50000"/>
                  </a:schemeClr>
                </a:solidFill>
                <a:latin typeface="Arial" panose="020B0604020202020204" pitchFamily="34" charset="0"/>
                <a:cs typeface="Arial" panose="020B0604020202020204" pitchFamily="34" charset="0"/>
              </a:rPr>
              <a:t>&gt;</a:t>
            </a:r>
          </a:p>
          <a:p>
            <a:pPr>
              <a:spcBef>
                <a:spcPct val="0"/>
              </a:spcBef>
            </a:pPr>
            <a:r>
              <a:rPr lang="en-US" altLang="zh-CN" sz="800" b="1" dirty="0">
                <a:solidFill>
                  <a:schemeClr val="accent4">
                    <a:lumMod val="50000"/>
                  </a:schemeClr>
                </a:solidFill>
                <a:latin typeface="Arial" panose="020B0604020202020204" pitchFamily="34" charset="0"/>
                <a:cs typeface="Arial" panose="020B0604020202020204" pitchFamily="34" charset="0"/>
              </a:rPr>
              <a:t>&lt;/root&gt;</a:t>
            </a:r>
          </a:p>
          <a:p>
            <a:pPr>
              <a:spcBef>
                <a:spcPct val="0"/>
              </a:spcBef>
            </a:pPr>
            <a:endParaRPr lang="en-US" altLang="zh-CN" sz="800" b="1" dirty="0">
              <a:solidFill>
                <a:schemeClr val="accent4">
                  <a:lumMod val="50000"/>
                </a:schemeClr>
              </a:solidFill>
              <a:latin typeface="Arial" panose="020B0604020202020204" pitchFamily="34" charset="0"/>
              <a:cs typeface="Arial" panose="020B0604020202020204" pitchFamily="34" charset="0"/>
            </a:endParaRPr>
          </a:p>
        </p:txBody>
      </p:sp>
      <p:sp>
        <p:nvSpPr>
          <p:cNvPr id="3" name="文本框 2"/>
          <p:cNvSpPr txBox="1"/>
          <p:nvPr/>
        </p:nvSpPr>
        <p:spPr>
          <a:xfrm>
            <a:off x="5364088" y="1412776"/>
            <a:ext cx="3355277" cy="646331"/>
          </a:xfrm>
          <a:prstGeom prst="rect">
            <a:avLst/>
          </a:prstGeom>
          <a:noFill/>
        </p:spPr>
        <p:txBody>
          <a:bodyPr wrap="none" rtlCol="0">
            <a:spAutoFit/>
          </a:bodyPr>
          <a:lstStyle/>
          <a:p>
            <a:r>
              <a:rPr lang="zh-CN" altLang="en-US" dirty="0">
                <a:solidFill>
                  <a:srgbClr val="FF0000"/>
                </a:solidFill>
              </a:rPr>
              <a:t>该</a:t>
            </a:r>
            <a:r>
              <a:rPr lang="en-US" altLang="zh-CN" dirty="0">
                <a:solidFill>
                  <a:srgbClr val="FF0000"/>
                </a:solidFill>
              </a:rPr>
              <a:t>Entity</a:t>
            </a:r>
            <a:r>
              <a:rPr lang="zh-CN" altLang="en-US" dirty="0">
                <a:solidFill>
                  <a:srgbClr val="FF0000"/>
                </a:solidFill>
              </a:rPr>
              <a:t>在</a:t>
            </a:r>
            <a:r>
              <a:rPr lang="en-US" altLang="zh-CN" dirty="0">
                <a:solidFill>
                  <a:srgbClr val="FF0000"/>
                </a:solidFill>
              </a:rPr>
              <a:t>cell</a:t>
            </a:r>
            <a:r>
              <a:rPr lang="zh-CN" altLang="en-US" dirty="0">
                <a:solidFill>
                  <a:srgbClr val="FF0000"/>
                </a:solidFill>
              </a:rPr>
              <a:t>和</a:t>
            </a:r>
            <a:r>
              <a:rPr lang="en-US" altLang="zh-CN" dirty="0">
                <a:solidFill>
                  <a:srgbClr val="FF0000"/>
                </a:solidFill>
              </a:rPr>
              <a:t>base</a:t>
            </a:r>
            <a:r>
              <a:rPr lang="zh-CN" altLang="en-US" dirty="0">
                <a:solidFill>
                  <a:srgbClr val="FF0000"/>
                </a:solidFill>
              </a:rPr>
              <a:t>都用到</a:t>
            </a:r>
            <a:r>
              <a:rPr lang="en-US" altLang="zh-CN" dirty="0">
                <a:solidFill>
                  <a:srgbClr val="FF0000"/>
                </a:solidFill>
              </a:rPr>
              <a:t>,</a:t>
            </a:r>
          </a:p>
          <a:p>
            <a:r>
              <a:rPr lang="zh-CN" altLang="en-US" dirty="0">
                <a:solidFill>
                  <a:srgbClr val="FF0000"/>
                </a:solidFill>
              </a:rPr>
              <a:t>所以其目录下都要定义</a:t>
            </a:r>
            <a:r>
              <a:rPr lang="en-US" altLang="zh-CN" dirty="0">
                <a:solidFill>
                  <a:srgbClr val="FF0000"/>
                </a:solidFill>
              </a:rPr>
              <a:t>Avatar.py</a:t>
            </a:r>
            <a:endParaRPr lang="zh-CN" altLang="en-US" dirty="0">
              <a:solidFill>
                <a:srgbClr val="FF0000"/>
              </a:solidFill>
            </a:endParaRPr>
          </a:p>
        </p:txBody>
      </p:sp>
      <p:sp>
        <p:nvSpPr>
          <p:cNvPr id="7" name="文本框 6"/>
          <p:cNvSpPr txBox="1"/>
          <p:nvPr/>
        </p:nvSpPr>
        <p:spPr>
          <a:xfrm>
            <a:off x="4788024" y="2125435"/>
            <a:ext cx="2669320" cy="369332"/>
          </a:xfrm>
          <a:prstGeom prst="rect">
            <a:avLst/>
          </a:prstGeom>
          <a:noFill/>
        </p:spPr>
        <p:txBody>
          <a:bodyPr wrap="none" rtlCol="0">
            <a:spAutoFit/>
          </a:bodyPr>
          <a:lstStyle/>
          <a:p>
            <a:r>
              <a:rPr lang="zh-CN" altLang="en-US" dirty="0">
                <a:solidFill>
                  <a:srgbClr val="0000FF"/>
                </a:solidFill>
                <a:hlinkClick r:id="rId2"/>
              </a:rPr>
              <a:t>定义实体 </a:t>
            </a:r>
            <a:r>
              <a:rPr lang="en-US" altLang="zh-CN" dirty="0">
                <a:solidFill>
                  <a:srgbClr val="0000FF"/>
                </a:solidFill>
                <a:hlinkClick r:id="rId2"/>
              </a:rPr>
              <a:t>·</a:t>
            </a:r>
            <a:r>
              <a:rPr lang="zh-CN" altLang="en-US" dirty="0">
                <a:solidFill>
                  <a:srgbClr val="0000FF"/>
                </a:solidFill>
                <a:hlinkClick r:id="rId2"/>
              </a:rPr>
              <a:t>文档 </a:t>
            </a:r>
            <a:r>
              <a:rPr lang="en-US" altLang="zh-CN" dirty="0">
                <a:solidFill>
                  <a:srgbClr val="0000FF"/>
                </a:solidFill>
                <a:hlinkClick r:id="rId2"/>
              </a:rPr>
              <a:t>·</a:t>
            </a:r>
            <a:r>
              <a:rPr lang="en-US" altLang="zh-CN" dirty="0" err="1">
                <a:solidFill>
                  <a:srgbClr val="FF0000"/>
                </a:solidFill>
                <a:hlinkClick r:id="rId2"/>
              </a:rPr>
              <a:t>KBEngine</a:t>
            </a:r>
            <a:endParaRPr lang="zh-CN" altLang="en-US"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的属性</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400" dirty="0">
                <a:ea typeface="宋体" panose="02010600030101010101" pitchFamily="2" charset="-122"/>
              </a:rPr>
              <a:t>类型</a:t>
            </a:r>
            <a:r>
              <a:rPr lang="zh-CN" altLang="en-US" sz="2400" dirty="0">
                <a:ea typeface="宋体" panose="02010600030101010101" pitchFamily="2" charset="-122"/>
              </a:rPr>
              <a:t>（</a:t>
            </a:r>
            <a:r>
              <a:rPr lang="en-US" altLang="zh-CN" sz="2400" dirty="0">
                <a:ea typeface="宋体" panose="02010600030101010101" pitchFamily="2" charset="-122"/>
              </a:rPr>
              <a:t>Type</a:t>
            </a:r>
            <a:r>
              <a:rPr lang="zh-CN" altLang="en-US" sz="2400" dirty="0">
                <a:ea typeface="宋体" panose="02010600030101010101" pitchFamily="2" charset="-122"/>
              </a:rPr>
              <a:t>）</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即子字段的类型</a:t>
            </a:r>
            <a:r>
              <a:rPr lang="en-US" altLang="zh-CN" sz="2400" dirty="0">
                <a:solidFill>
                  <a:srgbClr val="FF0000"/>
                </a:solidFill>
                <a:ea typeface="宋体" panose="02010600030101010101" pitchFamily="2" charset="-122"/>
              </a:rPr>
              <a:t>)</a:t>
            </a:r>
            <a:endParaRPr lang="zh-CN" altLang="en-AU" sz="2400" dirty="0">
              <a:solidFill>
                <a:srgbClr val="FF0000"/>
              </a:solidFill>
              <a:ea typeface="宋体" panose="02010600030101010101" pitchFamily="2" charset="-122"/>
            </a:endParaRPr>
          </a:p>
          <a:p>
            <a:pPr marL="182245" lvl="1" indent="0">
              <a:buNone/>
            </a:pPr>
            <a:r>
              <a:rPr lang="zh-CN" altLang="en-AU" sz="2400" dirty="0">
                <a:ea typeface="宋体" panose="02010600030101010101" pitchFamily="2" charset="-122"/>
              </a:rPr>
              <a:t>       </a:t>
            </a:r>
            <a:r>
              <a:rPr lang="zh-CN" altLang="en-AU" sz="2000" dirty="0">
                <a:ea typeface="宋体" panose="02010600030101010101" pitchFamily="2" charset="-122"/>
              </a:rPr>
              <a:t>像所有语言一样</a:t>
            </a:r>
            <a:endParaRPr lang="en-AU" altLang="zh-CN" sz="2000" dirty="0"/>
          </a:p>
          <a:p>
            <a:pPr marL="182245" lvl="1" indent="0">
              <a:buNone/>
            </a:pPr>
            <a:r>
              <a:rPr lang="zh-CN" altLang="en-AU" sz="2000" dirty="0">
                <a:ea typeface="宋体" panose="02010600030101010101" pitchFamily="2" charset="-122"/>
              </a:rPr>
              <a:t>       为网络传输</a:t>
            </a:r>
            <a:r>
              <a:rPr lang="en-AU" altLang="zh-CN" sz="2000" dirty="0">
                <a:ea typeface="宋体" panose="02010600030101010101" pitchFamily="2" charset="-122"/>
              </a:rPr>
              <a:t>/</a:t>
            </a:r>
            <a:r>
              <a:rPr lang="zh-CN" altLang="en-AU" sz="2000" dirty="0">
                <a:ea typeface="宋体" panose="02010600030101010101" pitchFamily="2" charset="-122"/>
              </a:rPr>
              <a:t>数据库存储标准化</a:t>
            </a:r>
            <a:endParaRPr lang="zh-CN" altLang="en-AU" sz="2000" dirty="0">
              <a:latin typeface="Courier New" panose="02070309020205020404" pitchFamily="49" charset="0"/>
              <a:ea typeface="宋体" panose="02010600030101010101" pitchFamily="2" charset="-122"/>
            </a:endParaRPr>
          </a:p>
          <a:p>
            <a:r>
              <a:rPr lang="zh-CN" altLang="en-US" sz="2400" dirty="0">
                <a:ea typeface="宋体" panose="02010600030101010101" pitchFamily="2" charset="-122"/>
              </a:rPr>
              <a:t>固定协议</a:t>
            </a:r>
            <a:r>
              <a:rPr lang="en-US" altLang="zh-CN" sz="2400" dirty="0">
                <a:ea typeface="宋体" panose="02010600030101010101" pitchFamily="2" charset="-122"/>
              </a:rPr>
              <a:t>ID</a:t>
            </a:r>
            <a:r>
              <a:rPr lang="zh-CN" altLang="en-US" sz="2400" dirty="0">
                <a:ea typeface="宋体" panose="02010600030101010101" pitchFamily="2" charset="-122"/>
              </a:rPr>
              <a:t>（</a:t>
            </a:r>
            <a:r>
              <a:rPr lang="en-US" altLang="zh-CN" sz="2400" dirty="0" err="1"/>
              <a:t>Utype</a:t>
            </a:r>
            <a:r>
              <a:rPr lang="zh-CN" altLang="en-US" sz="2400" dirty="0"/>
              <a:t>）</a:t>
            </a:r>
            <a:r>
              <a:rPr lang="en-US" altLang="zh-CN" sz="2400" dirty="0">
                <a:solidFill>
                  <a:srgbClr val="FF0000"/>
                </a:solidFill>
              </a:rPr>
              <a:t>(</a:t>
            </a:r>
            <a:r>
              <a:rPr lang="zh-CN" altLang="en-US" sz="2400" dirty="0">
                <a:solidFill>
                  <a:srgbClr val="FF0000"/>
                </a:solidFill>
              </a:rPr>
              <a:t>暂时不管</a:t>
            </a:r>
            <a:r>
              <a:rPr lang="en-US" altLang="zh-CN" sz="2400" dirty="0">
                <a:solidFill>
                  <a:srgbClr val="FF0000"/>
                </a:solidFill>
              </a:rPr>
              <a:t>)</a:t>
            </a:r>
            <a:endParaRPr lang="en-US" altLang="zh-CN" sz="2400" dirty="0">
              <a:solidFill>
                <a:srgbClr val="FF0000"/>
              </a:solidFill>
              <a:ea typeface="宋体" panose="02010600030101010101" pitchFamily="2" charset="-122"/>
            </a:endParaRPr>
          </a:p>
          <a:p>
            <a:pPr marL="0" indent="0">
              <a:buNone/>
            </a:pPr>
            <a:r>
              <a:rPr lang="en-US" altLang="zh-CN" sz="2400" dirty="0">
                <a:ea typeface="宋体" panose="02010600030101010101" pitchFamily="2" charset="-122"/>
              </a:rPr>
              <a:t>         http://www.kbengine.org/cn/docs/programming/entitydef.html</a:t>
            </a:r>
          </a:p>
          <a:p>
            <a:r>
              <a:rPr lang="zh-CN" altLang="en-AU" sz="2400" dirty="0">
                <a:ea typeface="宋体" panose="02010600030101010101" pitchFamily="2" charset="-122"/>
              </a:rPr>
              <a:t>缺省值</a:t>
            </a:r>
            <a:r>
              <a:rPr lang="zh-CN" altLang="en-US" sz="2400" dirty="0">
                <a:ea typeface="宋体" panose="02010600030101010101" pitchFamily="2" charset="-122"/>
              </a:rPr>
              <a:t>（</a:t>
            </a:r>
            <a:r>
              <a:rPr lang="en-US" altLang="zh-CN" sz="2400" dirty="0">
                <a:ea typeface="宋体" panose="02010600030101010101" pitchFamily="2" charset="-122"/>
              </a:rPr>
              <a:t>Default</a:t>
            </a:r>
            <a:r>
              <a:rPr lang="zh-CN" altLang="en-US" sz="2400" dirty="0">
                <a:ea typeface="宋体" panose="02010600030101010101" pitchFamily="2" charset="-122"/>
              </a:rPr>
              <a:t>）</a:t>
            </a: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变量的默认值</a:t>
            </a:r>
            <a:r>
              <a:rPr lang="en-US" altLang="zh-CN" sz="2400" dirty="0">
                <a:solidFill>
                  <a:srgbClr val="FF0000"/>
                </a:solidFill>
                <a:ea typeface="宋体" panose="02010600030101010101" pitchFamily="2" charset="-122"/>
              </a:rPr>
              <a:t>)</a:t>
            </a:r>
            <a:endParaRPr lang="en-AU" altLang="zh-CN" sz="2400" dirty="0"/>
          </a:p>
          <a:p>
            <a:pPr marL="182245" lvl="1" indent="0">
              <a:buNone/>
            </a:pPr>
            <a:r>
              <a:rPr lang="zh-CN" altLang="en-AU" sz="2400" dirty="0">
                <a:ea typeface="宋体" panose="02010600030101010101" pitchFamily="2" charset="-122"/>
              </a:rPr>
              <a:t>      </a:t>
            </a:r>
            <a:r>
              <a:rPr lang="zh-CN" altLang="en-AU" sz="2000" dirty="0">
                <a:ea typeface="宋体" panose="02010600030101010101" pitchFamily="2" charset="-122"/>
              </a:rPr>
              <a:t>由类型决定</a:t>
            </a:r>
            <a:endParaRPr lang="en-AU" altLang="zh-CN" sz="2000" dirty="0"/>
          </a:p>
          <a:p>
            <a:pPr marL="0" lvl="2" indent="0">
              <a:buNone/>
            </a:pPr>
            <a:r>
              <a:rPr lang="zh-CN" altLang="en-AU" sz="2000" dirty="0">
                <a:ea typeface="宋体" panose="02010600030101010101" pitchFamily="2" charset="-122"/>
              </a:rPr>
              <a:t>           多可以在定义文件里覆盖</a:t>
            </a:r>
            <a:endParaRPr lang="en-AU" altLang="zh-CN" sz="2000" dirty="0"/>
          </a:p>
          <a:p>
            <a:pPr marL="0" marR="0" lvl="0" indent="0" algn="l" defTabSz="914400" rtl="0" eaLnBrk="0" fontAlgn="base" latinLnBrk="0" hangingPunct="0">
              <a:lnSpc>
                <a:spcPct val="100000"/>
              </a:lnSpc>
              <a:spcBef>
                <a:spcPct val="0"/>
              </a:spcBef>
              <a:spcAft>
                <a:spcPct val="0"/>
              </a:spcAft>
              <a:buClrTx/>
              <a:buSzTx/>
              <a:buFontTx/>
              <a:buNone/>
            </a:pPr>
            <a:r>
              <a:rPr lang="zh-CN" altLang="en-AU" sz="2400" dirty="0">
                <a:ea typeface="宋体" panose="02010600030101010101" pitchFamily="2" charset="-122"/>
              </a:rPr>
              <a:t>广播形式的标志</a:t>
            </a:r>
            <a:r>
              <a:rPr lang="zh-CN" altLang="en-US" sz="2400" dirty="0">
                <a:ea typeface="宋体" panose="02010600030101010101" pitchFamily="2" charset="-122"/>
              </a:rPr>
              <a:t>（</a:t>
            </a:r>
            <a:r>
              <a:rPr lang="en-US" altLang="zh-CN" sz="2400" dirty="0">
                <a:ea typeface="宋体" panose="02010600030101010101" pitchFamily="2" charset="-122"/>
              </a:rPr>
              <a:t>Flags</a:t>
            </a:r>
            <a:r>
              <a:rPr lang="zh-CN" altLang="en-US" sz="2400" dirty="0">
                <a:ea typeface="宋体" panose="02010600030101010101" pitchFamily="2" charset="-122"/>
              </a:rPr>
              <a:t>）</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有以下几种类型</a:t>
            </a:r>
            <a:r>
              <a:rPr lang="en-US" altLang="zh-CN" sz="1800" dirty="0">
                <a:solidFill>
                  <a:srgbClr val="FF0000"/>
                </a:solidFill>
                <a:ea typeface="宋体" panose="02010600030101010101" pitchFamily="2" charset="-122"/>
              </a:rPr>
              <a:t>BASE</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CELL</a:t>
            </a:r>
            <a:r>
              <a:rPr lang="zh-CN" altLang="en-US" sz="1800" dirty="0">
                <a:solidFill>
                  <a:srgbClr val="FF0000"/>
                </a:solidFill>
                <a:ea typeface="宋体" panose="02010600030101010101" pitchFamily="2" charset="-122"/>
              </a:rPr>
              <a:t>、</a:t>
            </a:r>
            <a:r>
              <a:rPr lang="en-US" altLang="zh-CN" sz="1800" dirty="0">
                <a:solidFill>
                  <a:srgbClr val="FF0000"/>
                </a:solidFill>
                <a:ea typeface="宋体" panose="02010600030101010101" pitchFamily="2" charset="-122"/>
              </a:rPr>
              <a:t>CLIENT</a:t>
            </a:r>
            <a:r>
              <a:rPr lang="zh-CN" altLang="en-US" sz="1800" dirty="0">
                <a:solidFill>
                  <a:srgbClr val="FF0000"/>
                </a:solidFill>
                <a:ea typeface="宋体" panose="02010600030101010101" pitchFamily="2" charset="-122"/>
              </a:rPr>
              <a:t>等</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表示属性或者方法等一般在哪里</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如</a:t>
            </a:r>
            <a:r>
              <a:rPr lang="en-US" altLang="zh-CN" sz="1800" dirty="0" err="1">
                <a:solidFill>
                  <a:srgbClr val="FF0000"/>
                </a:solidFill>
                <a:ea typeface="宋体" panose="02010600030101010101" pitchFamily="2" charset="-122"/>
              </a:rPr>
              <a:t>baseapp</a:t>
            </a:r>
            <a:r>
              <a:rPr lang="zh-CN" altLang="en-US" sz="1800" dirty="0">
                <a:solidFill>
                  <a:srgbClr val="FF0000"/>
                </a:solidFill>
                <a:ea typeface="宋体" panose="02010600030101010101" pitchFamily="2" charset="-122"/>
              </a:rPr>
              <a:t>还是</a:t>
            </a:r>
            <a:r>
              <a:rPr lang="en-US" altLang="zh-CN" sz="1800" dirty="0" err="1">
                <a:solidFill>
                  <a:srgbClr val="FF0000"/>
                </a:solidFill>
                <a:ea typeface="宋体" panose="02010600030101010101" pitchFamily="2" charset="-122"/>
              </a:rPr>
              <a:t>cellapp</a:t>
            </a: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被使用</a:t>
            </a:r>
            <a:r>
              <a:rPr lang="en-US" altLang="zh-CN" sz="1800" dirty="0">
                <a:solidFill>
                  <a:srgbClr val="FF0000"/>
                </a:solidFill>
                <a:ea typeface="宋体" panose="02010600030101010101" pitchFamily="2" charset="-122"/>
              </a:rPr>
              <a:t>)</a:t>
            </a:r>
            <a:endParaRPr lang="en-AU" altLang="zh-CN" sz="1800" dirty="0">
              <a:solidFill>
                <a:srgbClr val="FF0000"/>
              </a:solidFill>
              <a:ea typeface="宋体" panose="02010600030101010101" pitchFamily="2" charset="-122"/>
            </a:endParaRPr>
          </a:p>
          <a:p>
            <a:r>
              <a:rPr lang="en-AU" altLang="zh-CN" sz="2400" dirty="0"/>
              <a:t>Detail Level</a:t>
            </a:r>
            <a:r>
              <a:rPr lang="en-US" altLang="zh-CN" sz="2400" dirty="0">
                <a:solidFill>
                  <a:srgbClr val="FF0000"/>
                </a:solidFill>
              </a:rPr>
              <a:t>(</a:t>
            </a:r>
            <a:r>
              <a:rPr lang="zh-CN" altLang="en-US" sz="2400" dirty="0">
                <a:solidFill>
                  <a:srgbClr val="FF0000"/>
                </a:solidFill>
              </a:rPr>
              <a:t>暂时不管</a:t>
            </a:r>
            <a:r>
              <a:rPr lang="en-US" altLang="zh-CN" sz="2400" dirty="0">
                <a:solidFill>
                  <a:srgbClr val="FF0000"/>
                </a:solidFill>
              </a:rPr>
              <a:t>,</a:t>
            </a:r>
            <a:r>
              <a:rPr lang="zh-CN" altLang="en-US" sz="2400" dirty="0">
                <a:solidFill>
                  <a:srgbClr val="FF0000"/>
                </a:solidFill>
              </a:rPr>
              <a:t>和</a:t>
            </a:r>
            <a:r>
              <a:rPr lang="en-US" altLang="zh-CN" sz="2400" dirty="0">
                <a:solidFill>
                  <a:srgbClr val="FF0000"/>
                </a:solidFill>
              </a:rPr>
              <a:t>LOD</a:t>
            </a:r>
            <a:r>
              <a:rPr lang="zh-CN" altLang="en-US" sz="2400" dirty="0">
                <a:solidFill>
                  <a:srgbClr val="FF0000"/>
                </a:solidFill>
              </a:rPr>
              <a:t>相关</a:t>
            </a:r>
            <a:r>
              <a:rPr lang="en-US" altLang="zh-CN" sz="2400" dirty="0">
                <a:solidFill>
                  <a:srgbClr val="FF0000"/>
                </a:solidFill>
              </a:rPr>
              <a:t>)</a:t>
            </a:r>
            <a:endParaRPr lang="en-AU" altLang="zh-CN" sz="2400" dirty="0"/>
          </a:p>
          <a:p>
            <a:r>
              <a:rPr lang="en-AU" altLang="zh-CN" sz="2400" dirty="0"/>
              <a:t>Volatile </a:t>
            </a:r>
            <a:r>
              <a:rPr lang="zh-CN" altLang="en-AU" sz="2400" dirty="0">
                <a:ea typeface="宋体" panose="02010600030101010101" pitchFamily="2" charset="-122"/>
              </a:rPr>
              <a:t>信息</a:t>
            </a:r>
            <a:r>
              <a:rPr lang="en-US" altLang="zh-CN" sz="1600" dirty="0">
                <a:solidFill>
                  <a:srgbClr val="FF0000"/>
                </a:solidFill>
                <a:ea typeface="宋体" panose="02010600030101010101" pitchFamily="2" charset="-122"/>
              </a:rPr>
              <a:t>(</a:t>
            </a:r>
            <a:r>
              <a:rPr lang="zh-CN" altLang="en-US" sz="1600" b="0" i="0" dirty="0">
                <a:solidFill>
                  <a:srgbClr val="FF0000"/>
                </a:solidFill>
                <a:effectLst/>
                <a:latin typeface="Inter"/>
              </a:rPr>
              <a:t>定义实体的非持久化属性，也就是那些不需要保存到数据库中的属性</a:t>
            </a:r>
            <a:r>
              <a:rPr lang="en-US" altLang="zh-CN" sz="1600" b="0" i="0" dirty="0">
                <a:solidFill>
                  <a:srgbClr val="FF0000"/>
                </a:solidFill>
                <a:effectLst/>
                <a:latin typeface="Inter"/>
              </a:rPr>
              <a:t>,</a:t>
            </a:r>
            <a:r>
              <a:rPr lang="zh-CN" altLang="en-US" sz="1600" b="0" i="0" dirty="0">
                <a:solidFill>
                  <a:srgbClr val="FF0000"/>
                </a:solidFill>
                <a:effectLst/>
                <a:latin typeface="Inter"/>
              </a:rPr>
              <a:t>一般都是些临时的数据和状态</a:t>
            </a:r>
            <a:r>
              <a:rPr lang="en-US" altLang="zh-CN" sz="1600" b="0" i="0" dirty="0">
                <a:solidFill>
                  <a:srgbClr val="FF0000"/>
                </a:solidFill>
                <a:effectLst/>
                <a:latin typeface="Inter"/>
              </a:rPr>
              <a:t>,</a:t>
            </a:r>
            <a:r>
              <a:rPr lang="zh-CN" altLang="en-US" sz="1600" b="0" i="0" dirty="0">
                <a:solidFill>
                  <a:srgbClr val="FF0000"/>
                </a:solidFill>
                <a:effectLst/>
                <a:latin typeface="Inter"/>
              </a:rPr>
              <a:t>同时还可能是一些频繁修改的数据</a:t>
            </a:r>
            <a:r>
              <a:rPr lang="en-US" altLang="zh-CN" sz="1600" b="0" i="0" dirty="0">
                <a:solidFill>
                  <a:srgbClr val="FF0000"/>
                </a:solidFill>
                <a:effectLst/>
                <a:latin typeface="Inter"/>
              </a:rPr>
              <a:t>,</a:t>
            </a:r>
            <a:r>
              <a:rPr lang="zh-CN" altLang="en-US" sz="1600" b="0" i="0" dirty="0">
                <a:solidFill>
                  <a:srgbClr val="FF0000"/>
                </a:solidFill>
                <a:effectLst/>
                <a:latin typeface="Inter"/>
              </a:rPr>
              <a:t>优化所以不</a:t>
            </a:r>
            <a:r>
              <a:rPr lang="zh-CN" altLang="en-US" sz="1600" dirty="0">
                <a:solidFill>
                  <a:srgbClr val="FF0000"/>
                </a:solidFill>
                <a:latin typeface="Inter"/>
              </a:rPr>
              <a:t>进行持久化</a:t>
            </a:r>
            <a:r>
              <a:rPr lang="en-US" altLang="zh-CN" sz="1600" dirty="0">
                <a:solidFill>
                  <a:srgbClr val="FF0000"/>
                </a:solidFill>
                <a:ea typeface="宋体" panose="02010600030101010101" pitchFamily="2" charset="-122"/>
              </a:rPr>
              <a:t>)</a:t>
            </a:r>
            <a:endParaRPr lang="zh-CN" altLang="en-AU" sz="1600" dirty="0">
              <a:solidFill>
                <a:srgbClr val="FF0000"/>
              </a:solidFill>
              <a:ea typeface="宋体" panose="02010600030101010101" pitchFamily="2" charset="-122"/>
            </a:endParaRPr>
          </a:p>
          <a:p>
            <a:r>
              <a:rPr lang="zh-CN" altLang="en-AU" sz="2400" dirty="0">
                <a:ea typeface="宋体" panose="02010600030101010101" pitchFamily="2" charset="-122"/>
              </a:rPr>
              <a:t>是否存储到数据库</a:t>
            </a:r>
            <a:r>
              <a:rPr lang="zh-CN" altLang="en-US" sz="2400" dirty="0">
                <a:ea typeface="宋体" panose="02010600030101010101" pitchFamily="2" charset="-122"/>
              </a:rPr>
              <a:t>（</a:t>
            </a:r>
            <a:r>
              <a:rPr lang="en-US" altLang="zh-CN" sz="2400" b="1" dirty="0">
                <a:solidFill>
                  <a:schemeClr val="accent4">
                    <a:lumMod val="50000"/>
                  </a:schemeClr>
                </a:solidFill>
                <a:latin typeface="Arial" panose="020B0604020202020204" pitchFamily="34" charset="0"/>
                <a:cs typeface="Arial" panose="020B0604020202020204" pitchFamily="34" charset="0"/>
              </a:rPr>
              <a:t> </a:t>
            </a:r>
            <a:r>
              <a:rPr lang="en-US" altLang="zh-CN" sz="2000" dirty="0">
                <a:solidFill>
                  <a:schemeClr val="tx2"/>
                </a:solidFill>
                <a:latin typeface="Arial" panose="020B0604020202020204" pitchFamily="34" charset="0"/>
                <a:cs typeface="Arial" panose="020B0604020202020204" pitchFamily="34" charset="0"/>
              </a:rPr>
              <a:t>Persistent</a:t>
            </a:r>
            <a:r>
              <a:rPr lang="zh-CN" altLang="en-US" sz="2400" b="1" dirty="0">
                <a:solidFill>
                  <a:schemeClr val="accent4">
                    <a:lumMod val="50000"/>
                  </a:schemeClr>
                </a:solidFill>
                <a:latin typeface="Arial" panose="020B0604020202020204" pitchFamily="34" charset="0"/>
                <a:cs typeface="Arial" panose="020B0604020202020204" pitchFamily="34" charset="0"/>
              </a:rPr>
              <a:t>）</a:t>
            </a:r>
            <a:r>
              <a:rPr lang="en-US" altLang="zh-CN" sz="2400" b="1" dirty="0">
                <a:solidFill>
                  <a:srgbClr val="FF0000"/>
                </a:solidFill>
                <a:latin typeface="Arial" panose="020B0604020202020204" pitchFamily="34" charset="0"/>
                <a:cs typeface="Arial" panose="020B0604020202020204" pitchFamily="34" charset="0"/>
              </a:rPr>
              <a:t>(</a:t>
            </a:r>
            <a:r>
              <a:rPr lang="zh-CN" altLang="en-US" sz="2400" b="1" dirty="0">
                <a:solidFill>
                  <a:srgbClr val="FF0000"/>
                </a:solidFill>
                <a:latin typeface="Arial" panose="020B0604020202020204" pitchFamily="34" charset="0"/>
                <a:cs typeface="Arial" panose="020B0604020202020204" pitchFamily="34" charset="0"/>
              </a:rPr>
              <a:t>是否需要持久化该字段</a:t>
            </a:r>
            <a:r>
              <a:rPr lang="en-US" altLang="zh-CN" sz="2400" b="1" dirty="0">
                <a:solidFill>
                  <a:srgbClr val="FF0000"/>
                </a:solidFill>
                <a:latin typeface="Arial" panose="020B0604020202020204" pitchFamily="34" charset="0"/>
                <a:cs typeface="Arial" panose="020B0604020202020204" pitchFamily="34" charset="0"/>
              </a:rPr>
              <a:t>)</a:t>
            </a:r>
            <a:endParaRPr lang="en-AU" altLang="zh-CN" sz="2400" dirty="0">
              <a:solidFill>
                <a:srgbClr val="FF0000"/>
              </a:solidFill>
            </a:endParaRPr>
          </a:p>
          <a:p>
            <a:endParaRPr lang="en-US" altLang="zh-CN" sz="2400" dirty="0">
              <a:ea typeface="宋体" panose="02010600030101010101" pitchFamily="2" charset="-122"/>
            </a:endParaRPr>
          </a:p>
        </p:txBody>
      </p:sp>
      <p:sp>
        <p:nvSpPr>
          <p:cNvPr id="8" name="Rectangle 5"/>
          <p:cNvSpPr>
            <a:spLocks noChangeArrowheads="1"/>
          </p:cNvSpPr>
          <p:nvPr/>
        </p:nvSpPr>
        <p:spPr bwMode="auto">
          <a:xfrm>
            <a:off x="0" y="90100"/>
            <a:ext cx="1929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522" tIns="0" rIns="9522"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AU" altLang="zh-CN" sz="4000" dirty="0"/>
              <a:t>Cell</a:t>
            </a:r>
            <a:r>
              <a:rPr lang="zh-CN" altLang="en-US" sz="4000" dirty="0"/>
              <a:t>上的属性</a:t>
            </a:r>
            <a:endParaRPr lang="en-AU" altLang="zh-CN" sz="4000" dirty="0"/>
          </a:p>
          <a:p>
            <a:pPr lvl="1">
              <a:lnSpc>
                <a:spcPct val="90000"/>
              </a:lnSpc>
            </a:pPr>
            <a:r>
              <a:rPr lang="en-AU" altLang="zh-CN" sz="2000" dirty="0"/>
              <a:t>Entity</a:t>
            </a:r>
            <a:r>
              <a:rPr lang="zh-CN" altLang="en-AU" sz="2000" dirty="0">
                <a:ea typeface="宋体" panose="02010600030101010101" pitchFamily="2" charset="-122"/>
              </a:rPr>
              <a:t>数据被频繁访问</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游戏内的大部分逻辑都在</a:t>
            </a:r>
            <a:r>
              <a:rPr lang="en-US" altLang="zh-CN" sz="2000" dirty="0">
                <a:solidFill>
                  <a:srgbClr val="FF0000"/>
                </a:solidFill>
                <a:ea typeface="宋体" panose="02010600030101010101" pitchFamily="2" charset="-122"/>
              </a:rPr>
              <a:t>cell</a:t>
            </a:r>
            <a:r>
              <a:rPr lang="zh-CN" altLang="en-US" sz="2000" dirty="0">
                <a:solidFill>
                  <a:srgbClr val="FF0000"/>
                </a:solidFill>
                <a:ea typeface="宋体" panose="02010600030101010101" pitchFamily="2" charset="-122"/>
              </a:rPr>
              <a:t>上</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所以数据访问会频繁</a:t>
            </a:r>
            <a:r>
              <a:rPr lang="en-US" altLang="zh-CN" sz="2000" dirty="0">
                <a:solidFill>
                  <a:srgbClr val="FF0000"/>
                </a:solidFill>
                <a:ea typeface="宋体" panose="02010600030101010101" pitchFamily="2" charset="-122"/>
              </a:rPr>
              <a:t>)</a:t>
            </a:r>
            <a:endParaRPr lang="en-AU" altLang="zh-CN" sz="2000" dirty="0">
              <a:solidFill>
                <a:srgbClr val="FF0000"/>
              </a:solidFill>
            </a:endParaRPr>
          </a:p>
          <a:p>
            <a:pPr lvl="1">
              <a:lnSpc>
                <a:spcPct val="90000"/>
              </a:lnSpc>
            </a:pPr>
            <a:r>
              <a:rPr lang="zh-CN" altLang="en-AU" sz="2000" dirty="0">
                <a:ea typeface="宋体" panose="02010600030101010101" pitchFamily="2" charset="-122"/>
              </a:rPr>
              <a:t>当跨越</a:t>
            </a:r>
            <a:r>
              <a:rPr lang="en-AU" altLang="zh-CN" sz="2000" dirty="0"/>
              <a:t>Cell Boundar</a:t>
            </a:r>
            <a:r>
              <a:rPr lang="en-AU" altLang="zh-CN" sz="2000" dirty="0">
                <a:ea typeface="宋体" panose="02010600030101010101" pitchFamily="2" charset="-122"/>
              </a:rPr>
              <a:t>y</a:t>
            </a:r>
            <a:r>
              <a:rPr lang="zh-CN" altLang="en-AU" sz="2000" dirty="0">
                <a:ea typeface="宋体" panose="02010600030101010101" pitchFamily="2" charset="-122"/>
              </a:rPr>
              <a:t>时数据会被复制（到新的</a:t>
            </a:r>
            <a:r>
              <a:rPr lang="en-AU" altLang="zh-CN" sz="2000" dirty="0">
                <a:ea typeface="宋体" panose="02010600030101010101" pitchFamily="2" charset="-122"/>
              </a:rPr>
              <a:t>Cell</a:t>
            </a:r>
            <a:r>
              <a:rPr lang="zh-CN" altLang="en-AU" sz="2000" dirty="0">
                <a:ea typeface="宋体" panose="02010600030101010101" pitchFamily="2" charset="-122"/>
              </a:rPr>
              <a:t>）</a:t>
            </a:r>
            <a:r>
              <a:rPr lang="en-US" altLang="zh-CN" sz="2000" dirty="0">
                <a:solidFill>
                  <a:srgbClr val="FF0000"/>
                </a:solidFill>
                <a:ea typeface="宋体" panose="02010600030101010101" pitchFamily="2" charset="-122"/>
              </a:rPr>
              <a:t>(ghost</a:t>
            </a:r>
            <a:r>
              <a:rPr lang="zh-CN" altLang="en-US" sz="2000" dirty="0">
                <a:solidFill>
                  <a:srgbClr val="FF0000"/>
                </a:solidFill>
                <a:ea typeface="宋体" panose="02010600030101010101" pitchFamily="2" charset="-122"/>
              </a:rPr>
              <a:t>和切换</a:t>
            </a:r>
            <a:r>
              <a:rPr lang="en-US" altLang="zh-CN" sz="2000" dirty="0">
                <a:solidFill>
                  <a:srgbClr val="FF0000"/>
                </a:solidFill>
                <a:ea typeface="宋体" panose="02010600030101010101" pitchFamily="2" charset="-122"/>
              </a:rPr>
              <a:t>cell\</a:t>
            </a:r>
            <a:r>
              <a:rPr lang="en-US" altLang="zh-CN" sz="2000" dirty="0" err="1">
                <a:solidFill>
                  <a:srgbClr val="FF0000"/>
                </a:solidFill>
                <a:ea typeface="宋体" panose="02010600030101010101" pitchFamily="2" charset="-122"/>
              </a:rPr>
              <a:t>cellapp</a:t>
            </a:r>
            <a:r>
              <a:rPr lang="en-US" altLang="zh-CN" sz="2000" dirty="0">
                <a:solidFill>
                  <a:srgbClr val="FF0000"/>
                </a:solidFill>
                <a:ea typeface="宋体" panose="02010600030101010101" pitchFamily="2" charset="-122"/>
              </a:rPr>
              <a:t>)</a:t>
            </a:r>
            <a:endParaRPr lang="zh-CN" altLang="en-AU" sz="2000" dirty="0">
              <a:solidFill>
                <a:srgbClr val="FF0000"/>
              </a:solidFill>
              <a:ea typeface="宋体" panose="02010600030101010101" pitchFamily="2" charset="-122"/>
            </a:endParaRPr>
          </a:p>
          <a:p>
            <a:pPr lvl="1">
              <a:lnSpc>
                <a:spcPct val="90000"/>
              </a:lnSpc>
            </a:pPr>
            <a:r>
              <a:rPr lang="zh-CN" altLang="en-AU" sz="2000" dirty="0">
                <a:ea typeface="宋体" panose="02010600030101010101" pitchFamily="2" charset="-122"/>
              </a:rPr>
              <a:t>数据备份到</a:t>
            </a:r>
            <a:r>
              <a:rPr lang="en-AU" altLang="zh-CN" sz="2000" dirty="0">
                <a:ea typeface="宋体" panose="02010600030101010101" pitchFamily="2" charset="-122"/>
              </a:rPr>
              <a:t>Base</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容灾机制和持久化</a:t>
            </a:r>
            <a:r>
              <a:rPr lang="en-US" altLang="zh-CN" sz="2000" dirty="0">
                <a:solidFill>
                  <a:srgbClr val="FF0000"/>
                </a:solidFill>
                <a:ea typeface="宋体" panose="02010600030101010101" pitchFamily="2" charset="-122"/>
              </a:rPr>
              <a:t>)</a:t>
            </a:r>
            <a:endParaRPr lang="en-AU" altLang="zh-CN" sz="2000" dirty="0">
              <a:solidFill>
                <a:srgbClr val="FF0000"/>
              </a:solidFill>
            </a:endParaRPr>
          </a:p>
          <a:p>
            <a:pPr lvl="1">
              <a:lnSpc>
                <a:spcPct val="90000"/>
              </a:lnSpc>
            </a:pPr>
            <a:r>
              <a:rPr lang="zh-CN" altLang="en-AU" sz="2000" dirty="0">
                <a:ea typeface="宋体" panose="02010600030101010101" pitchFamily="2" charset="-122"/>
              </a:rPr>
              <a:t>数据改变时通知客户端</a:t>
            </a:r>
            <a:r>
              <a:rPr lang="en-AU" altLang="zh-CN" sz="2000" dirty="0"/>
              <a:t>:</a:t>
            </a:r>
            <a:r>
              <a:rPr lang="en-AU" altLang="zh-CN" sz="2000" dirty="0">
                <a:solidFill>
                  <a:srgbClr val="FF0000"/>
                </a:solidFill>
              </a:rPr>
              <a:t>(</a:t>
            </a:r>
            <a:r>
              <a:rPr lang="zh-CN" altLang="en-US" sz="2000" dirty="0">
                <a:solidFill>
                  <a:srgbClr val="FF0000"/>
                </a:solidFill>
              </a:rPr>
              <a:t>状态同步</a:t>
            </a:r>
            <a:r>
              <a:rPr lang="en-US" altLang="zh-CN" sz="2000" dirty="0">
                <a:solidFill>
                  <a:srgbClr val="FF0000"/>
                </a:solidFill>
              </a:rPr>
              <a:t>)</a:t>
            </a:r>
            <a:endParaRPr lang="en-AU" altLang="zh-CN" sz="2000" dirty="0">
              <a:solidFill>
                <a:srgbClr val="FF0000"/>
              </a:solidFill>
            </a:endParaRPr>
          </a:p>
          <a:p>
            <a:pPr lvl="2">
              <a:lnSpc>
                <a:spcPct val="90000"/>
              </a:lnSpc>
            </a:pPr>
            <a:r>
              <a:rPr lang="zh-CN" altLang="en-AU" sz="2000" dirty="0">
                <a:ea typeface="宋体" panose="02010600030101010101" pitchFamily="2" charset="-122"/>
              </a:rPr>
              <a:t>属性的改变</a:t>
            </a:r>
            <a:endParaRPr lang="en-AU" altLang="zh-CN" sz="2000" dirty="0"/>
          </a:p>
          <a:p>
            <a:pPr lvl="2">
              <a:lnSpc>
                <a:spcPct val="90000"/>
              </a:lnSpc>
            </a:pPr>
            <a:r>
              <a:rPr lang="zh-CN" altLang="en-AU" sz="2000" dirty="0">
                <a:ea typeface="宋体" panose="02010600030101010101" pitchFamily="2" charset="-122"/>
              </a:rPr>
              <a:t>当一个</a:t>
            </a:r>
            <a:r>
              <a:rPr lang="en-AU" altLang="zh-CN" sz="2000" dirty="0">
                <a:ea typeface="宋体" panose="02010600030101010101" pitchFamily="2" charset="-122"/>
              </a:rPr>
              <a:t>entity</a:t>
            </a:r>
            <a:r>
              <a:rPr lang="zh-CN" altLang="en-AU" sz="2000" dirty="0">
                <a:ea typeface="宋体" panose="02010600030101010101" pitchFamily="2" charset="-122"/>
              </a:rPr>
              <a:t>进入玩家的</a:t>
            </a:r>
            <a:r>
              <a:rPr lang="en-AU" altLang="zh-CN" sz="2000" dirty="0"/>
              <a:t>AOI</a:t>
            </a:r>
            <a:r>
              <a:rPr lang="zh-CN" altLang="en-AU" sz="2000" dirty="0">
                <a:ea typeface="宋体" panose="02010600030101010101" pitchFamily="2" charset="-122"/>
              </a:rPr>
              <a:t>时</a:t>
            </a:r>
            <a:endParaRPr lang="en-AU" altLang="zh-CN" sz="2000" dirty="0"/>
          </a:p>
          <a:p>
            <a:pPr>
              <a:lnSpc>
                <a:spcPct val="90000"/>
              </a:lnSpc>
            </a:pPr>
            <a:r>
              <a:rPr lang="en-AU" altLang="zh-CN" sz="4000" dirty="0"/>
              <a:t>Base</a:t>
            </a:r>
            <a:r>
              <a:rPr lang="zh-CN" altLang="en-US" sz="4000" dirty="0"/>
              <a:t>上的属性</a:t>
            </a:r>
            <a:endParaRPr lang="en-AU" altLang="zh-CN" sz="4000" dirty="0"/>
          </a:p>
          <a:p>
            <a:pPr lvl="1">
              <a:lnSpc>
                <a:spcPct val="90000"/>
              </a:lnSpc>
            </a:pPr>
            <a:r>
              <a:rPr lang="zh-CN" altLang="en-AU" sz="2000" dirty="0">
                <a:ea typeface="宋体" panose="02010600030101010101" pitchFamily="2" charset="-122"/>
              </a:rPr>
              <a:t>更复杂</a:t>
            </a:r>
            <a:r>
              <a:rPr lang="en-AU" altLang="zh-CN" sz="2000" dirty="0"/>
              <a:t>/</a:t>
            </a:r>
            <a:r>
              <a:rPr lang="zh-CN" altLang="en-AU" sz="2000" dirty="0">
                <a:ea typeface="宋体" panose="02010600030101010101" pitchFamily="2" charset="-122"/>
              </a:rPr>
              <a:t>访问较少</a:t>
            </a:r>
            <a:endParaRPr lang="en-US" altLang="zh-CN" sz="2000" dirty="0">
              <a:solidFill>
                <a:srgbClr val="FF0000"/>
              </a:solidFill>
              <a:ea typeface="宋体" panose="02010600030101010101" pitchFamily="2" charset="-122"/>
            </a:endParaRPr>
          </a:p>
          <a:p>
            <a:pPr lvl="1">
              <a:lnSpc>
                <a:spcPct val="90000"/>
              </a:lnSpc>
            </a:pPr>
            <a:r>
              <a:rPr lang="zh-CN" altLang="en-AU" sz="2000" dirty="0">
                <a:ea typeface="宋体" panose="02010600030101010101" pitchFamily="2" charset="-122"/>
              </a:rPr>
              <a:t>数据改变时通知客户端</a:t>
            </a:r>
            <a:endParaRPr lang="en-US" altLang="zh-CN" sz="2000" dirty="0">
              <a:ea typeface="宋体" panose="02010600030101010101" pitchFamily="2" charset="-122"/>
            </a:endParaRPr>
          </a:p>
          <a:p>
            <a:pPr marL="182245" lvl="1" indent="0">
              <a:lnSpc>
                <a:spcPct val="90000"/>
              </a:lnSpc>
              <a:buNone/>
            </a:pP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一般只做更新和</a:t>
            </a:r>
            <a:r>
              <a:rPr lang="en-US" altLang="zh-CN" sz="2000" dirty="0">
                <a:solidFill>
                  <a:srgbClr val="FF0000"/>
                </a:solidFill>
                <a:ea typeface="宋体" panose="02010600030101010101" pitchFamily="2" charset="-122"/>
              </a:rPr>
              <a:t>client</a:t>
            </a:r>
            <a:r>
              <a:rPr lang="zh-CN" altLang="en-US" sz="2000" dirty="0">
                <a:solidFill>
                  <a:srgbClr val="FF0000"/>
                </a:solidFill>
                <a:ea typeface="宋体" panose="02010600030101010101" pitchFamily="2" charset="-122"/>
              </a:rPr>
              <a:t>同步、</a:t>
            </a:r>
            <a:r>
              <a:rPr lang="en-US" altLang="zh-CN" sz="2000" dirty="0">
                <a:solidFill>
                  <a:srgbClr val="FF0000"/>
                </a:solidFill>
                <a:ea typeface="宋体" panose="02010600030101010101" pitchFamily="2" charset="-122"/>
              </a:rPr>
              <a:t>DB</a:t>
            </a:r>
            <a:r>
              <a:rPr lang="zh-CN" altLang="en-US" sz="2000" dirty="0">
                <a:solidFill>
                  <a:srgbClr val="FF0000"/>
                </a:solidFill>
                <a:ea typeface="宋体" panose="02010600030101010101" pitchFamily="2" charset="-122"/>
              </a:rPr>
              <a:t>持久化</a:t>
            </a:r>
            <a:r>
              <a:rPr lang="en-US" altLang="zh-CN" sz="2000" dirty="0">
                <a:solidFill>
                  <a:srgbClr val="FF0000"/>
                </a:solidFill>
                <a:ea typeface="宋体" panose="02010600030101010101" pitchFamily="2" charset="-122"/>
              </a:rPr>
              <a:t>)</a:t>
            </a:r>
            <a:endParaRPr lang="en-AU" altLang="zh-CN"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AU" altLang="zh-CN" sz="4000" dirty="0"/>
              <a:t>Client</a:t>
            </a:r>
            <a:r>
              <a:rPr lang="zh-CN" altLang="en-US" sz="4000" dirty="0"/>
              <a:t>上的属性</a:t>
            </a:r>
            <a:endParaRPr lang="en-AU" altLang="zh-CN" sz="4000" dirty="0"/>
          </a:p>
          <a:p>
            <a:pPr marL="716280" lvl="1" indent="-533400">
              <a:lnSpc>
                <a:spcPct val="90000"/>
              </a:lnSpc>
            </a:pPr>
            <a:r>
              <a:rPr lang="zh-CN" altLang="en-AU" sz="2000" dirty="0">
                <a:ea typeface="宋体" panose="02010600030101010101" pitchFamily="2" charset="-122"/>
              </a:rPr>
              <a:t>可访问部分的</a:t>
            </a:r>
            <a:r>
              <a:rPr lang="en-AU" altLang="zh-CN" sz="2000" dirty="0">
                <a:ea typeface="宋体" panose="02010600030101010101" pitchFamily="2" charset="-122"/>
              </a:rPr>
              <a:t>server</a:t>
            </a:r>
            <a:r>
              <a:rPr lang="zh-CN" altLang="en-AU" sz="2000" dirty="0">
                <a:ea typeface="宋体" panose="02010600030101010101" pitchFamily="2" charset="-122"/>
              </a:rPr>
              <a:t>属性</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客户端只拿到其需要的属性</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减少带宽和网络压力</a:t>
            </a:r>
            <a:r>
              <a:rPr lang="en-US" altLang="zh-CN" sz="2000" dirty="0">
                <a:solidFill>
                  <a:srgbClr val="FF0000"/>
                </a:solidFill>
                <a:ea typeface="宋体" panose="02010600030101010101" pitchFamily="2" charset="-122"/>
              </a:rPr>
              <a:t>)</a:t>
            </a:r>
            <a:endParaRPr lang="en-AU" altLang="zh-CN" sz="2000" dirty="0">
              <a:solidFill>
                <a:srgbClr val="FF0000"/>
              </a:solidFill>
            </a:endParaRPr>
          </a:p>
          <a:p>
            <a:pPr marL="716280" lvl="1" indent="-533400">
              <a:lnSpc>
                <a:spcPct val="90000"/>
              </a:lnSpc>
            </a:pPr>
            <a:r>
              <a:rPr lang="zh-CN" altLang="en-AU" sz="2000" dirty="0">
                <a:ea typeface="宋体" panose="02010600030101010101" pitchFamily="2" charset="-122"/>
              </a:rPr>
              <a:t>属性值从</a:t>
            </a:r>
            <a:r>
              <a:rPr lang="en-AU" altLang="zh-CN" sz="2000" dirty="0">
                <a:ea typeface="宋体" panose="02010600030101010101" pitchFamily="2" charset="-122"/>
              </a:rPr>
              <a:t>Cell</a:t>
            </a:r>
            <a:r>
              <a:rPr lang="zh-CN" altLang="en-AU" sz="2000" dirty="0">
                <a:ea typeface="宋体" panose="02010600030101010101" pitchFamily="2" charset="-122"/>
              </a:rPr>
              <a:t>上发布得来</a:t>
            </a:r>
            <a:r>
              <a:rPr lang="en-US" altLang="zh-CN" sz="2000" dirty="0">
                <a:solidFill>
                  <a:srgbClr val="FF0000"/>
                </a:solidFill>
                <a:ea typeface="宋体" panose="02010600030101010101" pitchFamily="2" charset="-122"/>
              </a:rPr>
              <a:t>(</a:t>
            </a:r>
            <a:r>
              <a:rPr lang="en-US" altLang="zh-CN" sz="2000" dirty="0" err="1">
                <a:solidFill>
                  <a:srgbClr val="FF0000"/>
                </a:solidFill>
                <a:ea typeface="宋体" panose="02010600030101010101" pitchFamily="2" charset="-122"/>
              </a:rPr>
              <a:t>cellapp</a:t>
            </a:r>
            <a:r>
              <a:rPr lang="zh-CN" altLang="en-US" sz="2000" dirty="0">
                <a:solidFill>
                  <a:srgbClr val="FF0000"/>
                </a:solidFill>
                <a:ea typeface="宋体" panose="02010600030101010101" pitchFamily="2" charset="-122"/>
              </a:rPr>
              <a:t>同步数据到</a:t>
            </a:r>
            <a:r>
              <a:rPr lang="en-US" altLang="zh-CN" sz="2000" dirty="0" err="1">
                <a:solidFill>
                  <a:srgbClr val="FF0000"/>
                </a:solidFill>
                <a:ea typeface="宋体" panose="02010600030101010101" pitchFamily="2" charset="-122"/>
              </a:rPr>
              <a:t>baseapp,baseapp</a:t>
            </a:r>
            <a:r>
              <a:rPr lang="zh-CN" altLang="en-US" sz="2000" dirty="0">
                <a:solidFill>
                  <a:srgbClr val="FF0000"/>
                </a:solidFill>
                <a:ea typeface="宋体" panose="02010600030101010101" pitchFamily="2" charset="-122"/>
              </a:rPr>
              <a:t>再同步给</a:t>
            </a:r>
            <a:r>
              <a:rPr lang="en-US" altLang="zh-CN" sz="2000" dirty="0">
                <a:solidFill>
                  <a:srgbClr val="FF0000"/>
                </a:solidFill>
                <a:ea typeface="宋体" panose="02010600030101010101" pitchFamily="2" charset="-122"/>
              </a:rPr>
              <a:t>client)</a:t>
            </a:r>
            <a:endParaRPr lang="en-AU" altLang="zh-CN" sz="2000" dirty="0">
              <a:solidFill>
                <a:srgbClr val="FF0000"/>
              </a:solidFill>
            </a:endParaRPr>
          </a:p>
          <a:p>
            <a:pPr marL="716280" lvl="1" indent="-533400">
              <a:lnSpc>
                <a:spcPct val="90000"/>
              </a:lnSpc>
            </a:pPr>
            <a:r>
              <a:rPr lang="en-AU" altLang="zh-CN" sz="2000" dirty="0">
                <a:ea typeface="宋体" panose="02010600030101010101" pitchFamily="2" charset="-122"/>
              </a:rPr>
              <a:t>Cell</a:t>
            </a:r>
            <a:r>
              <a:rPr lang="zh-CN" altLang="en-AU" sz="2000" dirty="0">
                <a:ea typeface="宋体" panose="02010600030101010101" pitchFamily="2" charset="-122"/>
              </a:rPr>
              <a:t>属性改变会触发</a:t>
            </a:r>
            <a:r>
              <a:rPr lang="en-AU" altLang="zh-CN" sz="2000" dirty="0">
                <a:solidFill>
                  <a:srgbClr val="C00000"/>
                </a:solidFill>
                <a:latin typeface="Courier New" panose="02070309020205020404" pitchFamily="49" charset="0"/>
              </a:rPr>
              <a:t>set_&lt;property&gt;()</a:t>
            </a:r>
          </a:p>
          <a:p>
            <a:pPr marL="716280" lvl="1" indent="-533400">
              <a:lnSpc>
                <a:spcPct val="90000"/>
              </a:lnSpc>
            </a:pPr>
            <a:r>
              <a:rPr lang="zh-CN" altLang="en-AU" sz="2000" dirty="0">
                <a:ea typeface="宋体" panose="02010600030101010101" pitchFamily="2" charset="-122"/>
              </a:rPr>
              <a:t>例如</a:t>
            </a:r>
            <a:r>
              <a:rPr lang="en-AU" altLang="zh-CN" sz="2000" dirty="0"/>
              <a:t>:</a:t>
            </a:r>
            <a:br>
              <a:rPr lang="en-AU" altLang="zh-CN" dirty="0"/>
            </a:br>
            <a:endParaRPr lang="en-AU" altLang="zh-CN" dirty="0"/>
          </a:p>
        </p:txBody>
      </p:sp>
      <p:sp>
        <p:nvSpPr>
          <p:cNvPr id="5" name="矩形 4"/>
          <p:cNvSpPr/>
          <p:nvPr/>
        </p:nvSpPr>
        <p:spPr>
          <a:xfrm>
            <a:off x="107504" y="3645024"/>
            <a:ext cx="8928992" cy="309634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3" name="TextBox 2"/>
          <p:cNvSpPr txBox="1"/>
          <p:nvPr/>
        </p:nvSpPr>
        <p:spPr>
          <a:xfrm>
            <a:off x="179512" y="3789040"/>
            <a:ext cx="8712968" cy="1200329"/>
          </a:xfrm>
          <a:prstGeom prst="rect">
            <a:avLst/>
          </a:prstGeom>
          <a:noFill/>
        </p:spPr>
        <p:txBody>
          <a:bodyPr wrap="square" rtlCol="0">
            <a:spAutoFit/>
          </a:bodyPr>
          <a:lstStyle/>
          <a:p>
            <a:r>
              <a:rPr lang="en-GB" altLang="zh-CN" dirty="0" err="1">
                <a:latin typeface="Courier New" panose="02070309020205020404" pitchFamily="49" charset="0"/>
              </a:rPr>
              <a:t>def</a:t>
            </a:r>
            <a:r>
              <a:rPr lang="en-GB" altLang="zh-CN" dirty="0">
                <a:latin typeface="Courier New" panose="02070309020205020404" pitchFamily="49" charset="0"/>
              </a:rPr>
              <a:t> </a:t>
            </a:r>
            <a:r>
              <a:rPr lang="en-GB" altLang="zh-CN" dirty="0" err="1">
                <a:latin typeface="Courier New" panose="02070309020205020404" pitchFamily="49" charset="0"/>
              </a:rPr>
              <a:t>set_HP</a:t>
            </a:r>
            <a:r>
              <a:rPr lang="en-GB" altLang="zh-CN" dirty="0">
                <a:latin typeface="Courier New" panose="02070309020205020404" pitchFamily="49" charset="0"/>
              </a:rPr>
              <a:t>( self, old ):</a:t>
            </a:r>
            <a:br>
              <a:rPr lang="en-GB" altLang="zh-CN" dirty="0">
                <a:latin typeface="Courier New" panose="02070309020205020404" pitchFamily="49" charset="0"/>
              </a:rPr>
            </a:br>
            <a:r>
              <a:rPr lang="en-GB" altLang="zh-CN" dirty="0">
                <a:latin typeface="Courier New" panose="02070309020205020404" pitchFamily="49" charset="0"/>
              </a:rPr>
              <a:t>  if </a:t>
            </a:r>
            <a:r>
              <a:rPr lang="en-GB" altLang="zh-CN" dirty="0" err="1">
                <a:latin typeface="Courier New" panose="02070309020205020404" pitchFamily="49" charset="0"/>
              </a:rPr>
              <a:t>self.HP</a:t>
            </a:r>
            <a:r>
              <a:rPr lang="en-GB" altLang="zh-CN" dirty="0">
                <a:latin typeface="Courier New" panose="02070309020205020404" pitchFamily="49" charset="0"/>
              </a:rPr>
              <a:t> == 0 and old &gt; 0:</a:t>
            </a:r>
            <a:br>
              <a:rPr lang="en-GB" altLang="zh-CN" dirty="0">
                <a:latin typeface="Courier New" panose="02070309020205020404" pitchFamily="49" charset="0"/>
              </a:rPr>
            </a:br>
            <a:r>
              <a:rPr lang="en-GB" altLang="zh-CN" dirty="0">
                <a:latin typeface="Courier New" panose="02070309020205020404" pitchFamily="49" charset="0"/>
              </a:rPr>
              <a:t>    </a:t>
            </a:r>
            <a:r>
              <a:rPr lang="en-GB" altLang="zh-CN" dirty="0" err="1">
                <a:latin typeface="Courier New" panose="02070309020205020404" pitchFamily="49" charset="0"/>
              </a:rPr>
              <a:t>self.doDeath</a:t>
            </a:r>
            <a:r>
              <a:rPr lang="en-GB" altLang="zh-CN" dirty="0">
                <a:latin typeface="Courier New" panose="02070309020205020404" pitchFamily="49" charset="0"/>
              </a:rPr>
              <a:t>()</a:t>
            </a:r>
            <a:r>
              <a:rPr lang="ar-SA" altLang="zh-CN" dirty="0">
                <a:latin typeface="Courier New" panose="02070309020205020404" pitchFamily="49" charset="0"/>
                <a:cs typeface="Courier New" panose="02070309020205020404" pitchFamily="49" charset="0"/>
              </a:rPr>
              <a:t>‏</a:t>
            </a:r>
            <a:br>
              <a:rPr lang="en-US" altLang="zh-CN" dirty="0">
                <a:latin typeface="Courier New" panose="02070309020205020404" pitchFamily="49" charset="0"/>
                <a:ea typeface="宋体" panose="02010600030101010101" pitchFamily="2" charset="-122"/>
                <a:cs typeface="Courier New" panose="02070309020205020404" pitchFamily="49" charset="0"/>
              </a:rPr>
            </a:b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定义数据类型</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简单类型</a:t>
            </a:r>
            <a:endParaRPr lang="en-AU" altLang="zh-CN" dirty="0"/>
          </a:p>
          <a:p>
            <a:pPr lvl="1"/>
            <a:r>
              <a:rPr lang="en-AU" altLang="zh-CN" sz="2000" dirty="0">
                <a:latin typeface="Courier New" panose="02070309020205020404" pitchFamily="49" charset="0"/>
              </a:rPr>
              <a:t>INT8 / UINT8</a:t>
            </a:r>
          </a:p>
          <a:p>
            <a:pPr lvl="1"/>
            <a:r>
              <a:rPr lang="en-AU" altLang="zh-CN" sz="2000" dirty="0">
                <a:latin typeface="Courier New" panose="02070309020205020404" pitchFamily="49" charset="0"/>
              </a:rPr>
              <a:t>FLOAT32 / FLOAT64</a:t>
            </a:r>
          </a:p>
          <a:p>
            <a:pPr lvl="1"/>
            <a:r>
              <a:rPr lang="en-AU" altLang="zh-CN" sz="2000" dirty="0">
                <a:latin typeface="Courier New" panose="02070309020205020404" pitchFamily="49" charset="0"/>
              </a:rPr>
              <a:t>STRING</a:t>
            </a:r>
          </a:p>
          <a:p>
            <a:pPr lvl="1"/>
            <a:r>
              <a:rPr lang="en-AU" altLang="zh-CN" sz="2000" dirty="0">
                <a:latin typeface="Courier New" panose="02070309020205020404" pitchFamily="49" charset="0"/>
              </a:rPr>
              <a:t>VECTOR3</a:t>
            </a:r>
          </a:p>
          <a:p>
            <a:pPr lvl="1"/>
            <a:r>
              <a:rPr lang="en-AU" altLang="zh-CN" sz="2000" dirty="0"/>
              <a:t>…</a:t>
            </a:r>
          </a:p>
          <a:p>
            <a:r>
              <a:rPr lang="zh-CN" altLang="en-AU" dirty="0">
                <a:ea typeface="宋体" panose="02010600030101010101" pitchFamily="2" charset="-122"/>
              </a:rPr>
              <a:t>序列类型</a:t>
            </a:r>
          </a:p>
          <a:p>
            <a:pPr lvl="1"/>
            <a:r>
              <a:rPr lang="zh-CN" altLang="en-AU" sz="2000" dirty="0">
                <a:ea typeface="宋体" panose="02010600030101010101" pitchFamily="2" charset="-122"/>
              </a:rPr>
              <a:t> </a:t>
            </a:r>
            <a:r>
              <a:rPr lang="en-AU" altLang="zh-CN" sz="2000" dirty="0">
                <a:latin typeface="Courier New" panose="02070309020205020404" pitchFamily="49" charset="0"/>
              </a:rPr>
              <a:t>ARRAY</a:t>
            </a:r>
          </a:p>
          <a:p>
            <a:pPr lvl="1"/>
            <a:r>
              <a:rPr lang="en-AU" altLang="zh-CN" sz="2000" dirty="0">
                <a:latin typeface="Courier New" panose="02070309020205020404" pitchFamily="49" charset="0"/>
              </a:rPr>
              <a:t>TUPLE</a:t>
            </a:r>
          </a:p>
          <a:p>
            <a:pPr marL="0" lvl="2" indent="0">
              <a:buNone/>
            </a:pPr>
            <a:endParaRPr lang="en-AU" altLang="zh-CN" dirty="0"/>
          </a:p>
          <a:p>
            <a:endParaRPr lang="en-US" altLang="zh-CN" dirty="0">
              <a:ea typeface="宋体" panose="02010600030101010101" pitchFamily="2" charset="-122"/>
            </a:endParaRPr>
          </a:p>
        </p:txBody>
      </p:sp>
      <p:sp>
        <p:nvSpPr>
          <p:cNvPr id="3" name="文本框 2"/>
          <p:cNvSpPr txBox="1"/>
          <p:nvPr/>
        </p:nvSpPr>
        <p:spPr>
          <a:xfrm>
            <a:off x="3635896" y="1556792"/>
            <a:ext cx="3116559" cy="369332"/>
          </a:xfrm>
          <a:prstGeom prst="rect">
            <a:avLst/>
          </a:prstGeom>
          <a:noFill/>
        </p:spPr>
        <p:txBody>
          <a:bodyPr wrap="none" rtlCol="0">
            <a:spAutoFit/>
          </a:bodyPr>
          <a:lstStyle/>
          <a:p>
            <a:r>
              <a:rPr lang="en-US" altLang="zh-CN" dirty="0">
                <a:solidFill>
                  <a:srgbClr val="FF0000"/>
                </a:solidFill>
                <a:hlinkClick r:id="rId2"/>
              </a:rPr>
              <a:t>Custom types · Docs · </a:t>
            </a:r>
            <a:r>
              <a:rPr lang="en-US" altLang="zh-CN" dirty="0" err="1">
                <a:solidFill>
                  <a:srgbClr val="FF0000"/>
                </a:solidFill>
                <a:hlinkClick r:id="rId2"/>
              </a:rPr>
              <a:t>KBEngine</a:t>
            </a:r>
            <a:endParaRPr lang="zh-CN" altLang="en-US"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07504" y="1124744"/>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定义数据类型</a:t>
            </a:r>
            <a:endParaRPr lang="zh-CN" altLang="en-US" sz="2200" b="1" dirty="0">
              <a:solidFill>
                <a:schemeClr val="accent1"/>
              </a:solidFill>
              <a:latin typeface="+mn-ea"/>
              <a:ea typeface="+mn-ea"/>
            </a:endParaRPr>
          </a:p>
        </p:txBody>
      </p:sp>
      <p:sp>
        <p:nvSpPr>
          <p:cNvPr id="5" name="TextBox 4"/>
          <p:cNvSpPr txBox="1"/>
          <p:nvPr/>
        </p:nvSpPr>
        <p:spPr>
          <a:xfrm>
            <a:off x="107504" y="1196752"/>
            <a:ext cx="8640960" cy="4247317"/>
          </a:xfrm>
          <a:prstGeom prst="rect">
            <a:avLst/>
          </a:prstGeom>
          <a:noFill/>
        </p:spPr>
        <p:txBody>
          <a:bodyPr wrap="square" rtlCol="0">
            <a:spAutoFit/>
          </a:bodyPr>
          <a:lstStyle/>
          <a:p>
            <a:pPr>
              <a:spcBef>
                <a:spcPct val="0"/>
              </a:spcBef>
            </a:pPr>
            <a:r>
              <a:rPr lang="en-AU" altLang="zh-CN" b="1" dirty="0">
                <a:solidFill>
                  <a:schemeClr val="accent4">
                    <a:lumMod val="50000"/>
                  </a:schemeClr>
                </a:solidFill>
                <a:latin typeface="Courier New" panose="02070309020205020404" pitchFamily="49" charset="0"/>
              </a:rPr>
              <a:t>&lt;root&gt;</a:t>
            </a:r>
          </a:p>
          <a:p>
            <a:pPr>
              <a:spcBef>
                <a:spcPct val="0"/>
              </a:spcBef>
            </a:pPr>
            <a:r>
              <a:rPr lang="en-AU" altLang="zh-CN" b="1" dirty="0">
                <a:solidFill>
                  <a:schemeClr val="accent4">
                    <a:lumMod val="50000"/>
                  </a:schemeClr>
                </a:solidFill>
                <a:latin typeface="Courier New" panose="02070309020205020404" pitchFamily="49" charset="0"/>
              </a:rPr>
              <a:t>   &lt;Properties&gt;</a:t>
            </a:r>
          </a:p>
          <a:p>
            <a:pPr>
              <a:spcBef>
                <a:spcPct val="0"/>
              </a:spcBef>
            </a:pPr>
            <a:r>
              <a:rPr lang="en-AU" altLang="zh-CN" b="1" dirty="0">
                <a:solidFill>
                  <a:schemeClr val="accent4">
                    <a:lumMod val="50000"/>
                  </a:schemeClr>
                </a:solidFill>
                <a:latin typeface="Courier New" panose="02070309020205020404" pitchFamily="49" charset="0"/>
              </a:rPr>
              <a:t>      &lt;name&gt;</a:t>
            </a:r>
          </a:p>
          <a:p>
            <a:pPr>
              <a:spcBef>
                <a:spcPct val="0"/>
              </a:spcBef>
            </a:pPr>
            <a:r>
              <a:rPr lang="en-AU" altLang="zh-CN" b="1" dirty="0">
                <a:solidFill>
                  <a:schemeClr val="accent4">
                    <a:lumMod val="50000"/>
                  </a:schemeClr>
                </a:solidFill>
                <a:latin typeface="Courier New" panose="02070309020205020404" pitchFamily="49" charset="0"/>
              </a:rPr>
              <a:t>         &lt;Type&gt;    		</a:t>
            </a:r>
            <a:r>
              <a:rPr lang="en-AU" altLang="zh-CN" b="1" dirty="0">
                <a:solidFill>
                  <a:srgbClr val="C00000"/>
                </a:solidFill>
                <a:latin typeface="Courier New" panose="02070309020205020404" pitchFamily="49" charset="0"/>
              </a:rPr>
              <a:t>STRING</a:t>
            </a:r>
            <a:r>
              <a:rPr lang="en-AU" altLang="zh-CN" b="1" dirty="0">
                <a:solidFill>
                  <a:schemeClr val="accent4">
                    <a:lumMod val="50000"/>
                  </a:schemeClr>
                </a:solidFill>
                <a:latin typeface="Courier New" panose="02070309020205020404" pitchFamily="49" charset="0"/>
              </a:rPr>
              <a:t>    	&lt;/Type&gt;</a:t>
            </a:r>
          </a:p>
          <a:p>
            <a:pPr>
              <a:spcBef>
                <a:spcPct val="0"/>
              </a:spcBef>
            </a:pPr>
            <a:r>
              <a:rPr lang="en-AU" altLang="zh-CN" b="1" dirty="0">
                <a:solidFill>
                  <a:schemeClr val="accent4">
                    <a:lumMod val="50000"/>
                  </a:schemeClr>
                </a:solidFill>
                <a:latin typeface="Courier New" panose="02070309020205020404" pitchFamily="49" charset="0"/>
              </a:rPr>
              <a:t>      &lt;/name&gt;</a:t>
            </a:r>
          </a:p>
          <a:p>
            <a:pPr>
              <a:spcBef>
                <a:spcPct val="0"/>
              </a:spcBef>
            </a:pPr>
            <a:endParaRPr lang="en-AU" altLang="zh-CN" b="1" dirty="0">
              <a:solidFill>
                <a:schemeClr val="accent4">
                  <a:lumMod val="50000"/>
                </a:schemeClr>
              </a:solidFill>
              <a:latin typeface="Courier New" panose="02070309020205020404" pitchFamily="49" charset="0"/>
            </a:endParaRPr>
          </a:p>
          <a:p>
            <a:pPr>
              <a:spcBef>
                <a:spcPct val="0"/>
              </a:spcBef>
            </a:pPr>
            <a:r>
              <a:rPr lang="en-AU" altLang="zh-CN" b="1" dirty="0">
                <a:solidFill>
                  <a:schemeClr val="accent4">
                    <a:lumMod val="50000"/>
                  </a:schemeClr>
                </a:solidFill>
                <a:latin typeface="Courier New" panose="02070309020205020404" pitchFamily="49" charset="0"/>
              </a:rPr>
              <a:t>      &lt;items&gt;</a:t>
            </a:r>
          </a:p>
          <a:p>
            <a:pPr>
              <a:spcBef>
                <a:spcPct val="0"/>
              </a:spcBef>
            </a:pPr>
            <a:r>
              <a:rPr lang="en-AU" altLang="zh-CN" b="1" dirty="0">
                <a:solidFill>
                  <a:schemeClr val="accent4">
                    <a:lumMod val="50000"/>
                  </a:schemeClr>
                </a:solidFill>
                <a:latin typeface="Courier New" panose="02070309020205020404" pitchFamily="49" charset="0"/>
              </a:rPr>
              <a:t>         &lt;Type&gt;   		</a:t>
            </a:r>
            <a:r>
              <a:rPr lang="en-AU" altLang="zh-CN" b="1" dirty="0">
                <a:solidFill>
                  <a:srgbClr val="C00000"/>
                </a:solidFill>
                <a:latin typeface="Courier New" panose="02070309020205020404" pitchFamily="49" charset="0"/>
              </a:rPr>
              <a:t>ARRAY</a:t>
            </a:r>
          </a:p>
          <a:p>
            <a:pPr>
              <a:spcBef>
                <a:spcPct val="0"/>
              </a:spcBef>
            </a:pPr>
            <a:r>
              <a:rPr lang="en-AU" altLang="zh-CN" b="1" dirty="0">
                <a:solidFill>
                  <a:schemeClr val="accent4">
                    <a:lumMod val="50000"/>
                  </a:schemeClr>
                </a:solidFill>
                <a:latin typeface="Courier New" panose="02070309020205020404" pitchFamily="49" charset="0"/>
              </a:rPr>
              <a:t>          	 &lt;of&gt;   	</a:t>
            </a:r>
            <a:r>
              <a:rPr lang="en-AU" altLang="zh-CN" b="1" dirty="0">
                <a:solidFill>
                  <a:srgbClr val="C00000"/>
                </a:solidFill>
                <a:latin typeface="Courier New" panose="02070309020205020404" pitchFamily="49" charset="0"/>
              </a:rPr>
              <a:t>UINT8</a:t>
            </a:r>
            <a:r>
              <a:rPr lang="en-AU" altLang="zh-CN" b="1" dirty="0">
                <a:solidFill>
                  <a:schemeClr val="accent4">
                    <a:lumMod val="50000"/>
                  </a:schemeClr>
                </a:solidFill>
                <a:latin typeface="Courier New" panose="02070309020205020404" pitchFamily="49" charset="0"/>
              </a:rPr>
              <a:t> 	 	 &lt;/of&gt;</a:t>
            </a:r>
          </a:p>
          <a:p>
            <a:pPr>
              <a:spcBef>
                <a:spcPct val="0"/>
              </a:spcBef>
            </a:pPr>
            <a:r>
              <a:rPr lang="en-AU" altLang="zh-CN" b="1" dirty="0">
                <a:solidFill>
                  <a:schemeClr val="accent4">
                    <a:lumMod val="50000"/>
                  </a:schemeClr>
                </a:solidFill>
                <a:latin typeface="Courier New" panose="02070309020205020404" pitchFamily="49" charset="0"/>
              </a:rPr>
              <a:t>	   &lt;/Type&gt;</a:t>
            </a:r>
          </a:p>
          <a:p>
            <a:pPr>
              <a:spcBef>
                <a:spcPct val="0"/>
              </a:spcBef>
            </a:pPr>
            <a:r>
              <a:rPr lang="en-AU" altLang="zh-CN" b="1" dirty="0">
                <a:solidFill>
                  <a:schemeClr val="accent4">
                    <a:lumMod val="50000"/>
                  </a:schemeClr>
                </a:solidFill>
                <a:latin typeface="Courier New" panose="02070309020205020404" pitchFamily="49" charset="0"/>
              </a:rPr>
              <a:t>      &lt;/items&gt;</a:t>
            </a:r>
          </a:p>
          <a:p>
            <a:pPr>
              <a:spcBef>
                <a:spcPct val="0"/>
              </a:spcBef>
            </a:pPr>
            <a:r>
              <a:rPr lang="en-AU" altLang="zh-CN" b="1" dirty="0">
                <a:solidFill>
                  <a:schemeClr val="accent4">
                    <a:lumMod val="50000"/>
                  </a:schemeClr>
                </a:solidFill>
                <a:latin typeface="Courier New" panose="02070309020205020404" pitchFamily="49" charset="0"/>
              </a:rPr>
              <a:t>   &lt;/Properties&gt;</a:t>
            </a:r>
          </a:p>
          <a:p>
            <a:pPr>
              <a:spcBef>
                <a:spcPct val="0"/>
              </a:spcBef>
            </a:pPr>
            <a:r>
              <a:rPr lang="en-AU" altLang="zh-CN" b="1" dirty="0">
                <a:solidFill>
                  <a:schemeClr val="accent4">
                    <a:lumMod val="50000"/>
                  </a:schemeClr>
                </a:solidFill>
                <a:latin typeface="Courier New" panose="02070309020205020404" pitchFamily="49" charset="0"/>
              </a:rPr>
              <a:t>   ...</a:t>
            </a:r>
          </a:p>
          <a:p>
            <a:pPr>
              <a:spcBef>
                <a:spcPct val="0"/>
              </a:spcBef>
            </a:pPr>
            <a:r>
              <a:rPr lang="en-AU" altLang="zh-CN" b="1" dirty="0">
                <a:solidFill>
                  <a:schemeClr val="accent4">
                    <a:lumMod val="50000"/>
                  </a:schemeClr>
                </a:solidFill>
                <a:latin typeface="Courier New" panose="02070309020205020404" pitchFamily="49" charset="0"/>
              </a:rPr>
              <a:t>&lt;/root&gt;</a:t>
            </a:r>
          </a:p>
          <a:p>
            <a:endParaRPr lang="zh-CN" altLang="en-US" b="1" dirty="0">
              <a:solidFill>
                <a:schemeClr val="accent4">
                  <a:lumMod val="50000"/>
                </a:schemeClr>
              </a:solidFill>
            </a:endParaRPr>
          </a:p>
        </p:txBody>
      </p:sp>
      <p:sp>
        <p:nvSpPr>
          <p:cNvPr id="3" name="文本框 2"/>
          <p:cNvSpPr txBox="1"/>
          <p:nvPr/>
        </p:nvSpPr>
        <p:spPr>
          <a:xfrm>
            <a:off x="5004048" y="1556792"/>
            <a:ext cx="3384376" cy="369332"/>
          </a:xfrm>
          <a:prstGeom prst="rect">
            <a:avLst/>
          </a:prstGeom>
          <a:noFill/>
        </p:spPr>
        <p:txBody>
          <a:bodyPr wrap="square" rtlCol="0">
            <a:spAutoFit/>
          </a:bodyPr>
          <a:lstStyle/>
          <a:p>
            <a:r>
              <a:rPr lang="zh-CN" altLang="en-US" dirty="0">
                <a:solidFill>
                  <a:srgbClr val="FF0000"/>
                </a:solidFill>
              </a:rPr>
              <a:t>表示</a:t>
            </a:r>
            <a:r>
              <a:rPr lang="en-US" altLang="zh-CN" dirty="0">
                <a:solidFill>
                  <a:srgbClr val="FF0000"/>
                </a:solidFill>
              </a:rPr>
              <a:t>name</a:t>
            </a:r>
            <a:r>
              <a:rPr lang="zh-CN" altLang="en-US" dirty="0">
                <a:solidFill>
                  <a:srgbClr val="FF0000"/>
                </a:solidFill>
              </a:rPr>
              <a:t>字段是字符串类型</a:t>
            </a:r>
          </a:p>
        </p:txBody>
      </p:sp>
      <p:sp>
        <p:nvSpPr>
          <p:cNvPr id="6" name="文本框 5"/>
          <p:cNvSpPr txBox="1"/>
          <p:nvPr/>
        </p:nvSpPr>
        <p:spPr>
          <a:xfrm>
            <a:off x="4932040" y="2852936"/>
            <a:ext cx="3384376" cy="369332"/>
          </a:xfrm>
          <a:prstGeom prst="rect">
            <a:avLst/>
          </a:prstGeom>
          <a:noFill/>
        </p:spPr>
        <p:txBody>
          <a:bodyPr wrap="square" rtlCol="0">
            <a:spAutoFit/>
          </a:bodyPr>
          <a:lstStyle/>
          <a:p>
            <a:r>
              <a:rPr lang="zh-CN" altLang="en-US" dirty="0">
                <a:solidFill>
                  <a:srgbClr val="FF0000"/>
                </a:solidFill>
              </a:rPr>
              <a:t>表示</a:t>
            </a:r>
            <a:r>
              <a:rPr lang="en-US" altLang="zh-CN" dirty="0">
                <a:solidFill>
                  <a:srgbClr val="FF0000"/>
                </a:solidFill>
              </a:rPr>
              <a:t>items</a:t>
            </a:r>
            <a:r>
              <a:rPr lang="zh-CN" altLang="en-US" dirty="0">
                <a:solidFill>
                  <a:srgbClr val="FF0000"/>
                </a:solidFill>
              </a:rPr>
              <a:t>是</a:t>
            </a:r>
            <a:r>
              <a:rPr lang="en-US" altLang="zh-CN" dirty="0">
                <a:solidFill>
                  <a:srgbClr val="FF0000"/>
                </a:solidFill>
              </a:rPr>
              <a:t>uint8</a:t>
            </a:r>
            <a:r>
              <a:rPr lang="zh-CN" altLang="en-US" dirty="0">
                <a:solidFill>
                  <a:srgbClr val="FF0000"/>
                </a:solidFill>
              </a:rPr>
              <a:t>数组类型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定义数据类型</a:t>
            </a:r>
            <a:endParaRPr lang="zh-CN" altLang="en-US" sz="2200" b="1" dirty="0">
              <a:solidFill>
                <a:schemeClr val="accent1"/>
              </a:solidFill>
              <a:latin typeface="+mn-ea"/>
              <a:ea typeface="+mn-ea"/>
            </a:endParaRPr>
          </a:p>
        </p:txBody>
      </p:sp>
      <p:sp>
        <p:nvSpPr>
          <p:cNvPr id="50"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复杂类型</a:t>
            </a:r>
            <a:endParaRPr lang="en-AU" altLang="zh-CN" dirty="0"/>
          </a:p>
          <a:p>
            <a:pPr lvl="1"/>
            <a:r>
              <a:rPr lang="en-AU" altLang="zh-CN" dirty="0">
                <a:latin typeface="Courier New" panose="02070309020205020404" pitchFamily="49" charset="0"/>
              </a:rPr>
              <a:t>FIXED_DICT</a:t>
            </a:r>
          </a:p>
          <a:p>
            <a:pPr lvl="2"/>
            <a:r>
              <a:rPr lang="en-AU" altLang="zh-CN" sz="2000" dirty="0">
                <a:ea typeface="宋体" panose="02010600030101010101" pitchFamily="2" charset="-122"/>
              </a:rPr>
              <a:t>D</a:t>
            </a:r>
            <a:r>
              <a:rPr lang="en-AU" altLang="zh-CN" sz="2000" dirty="0"/>
              <a:t>ictionary</a:t>
            </a:r>
            <a:r>
              <a:rPr lang="zh-CN" altLang="en-AU" sz="2000" dirty="0">
                <a:ea typeface="宋体" panose="02010600030101010101" pitchFamily="2" charset="-122"/>
              </a:rPr>
              <a:t>型的对象</a:t>
            </a:r>
            <a:endParaRPr lang="en-AU" altLang="zh-CN" sz="2000" dirty="0"/>
          </a:p>
          <a:p>
            <a:pPr lvl="2"/>
            <a:r>
              <a:rPr lang="zh-CN" altLang="en-AU" sz="2000" dirty="0">
                <a:ea typeface="宋体" panose="02010600030101010101" pitchFamily="2" charset="-122"/>
              </a:rPr>
              <a:t>固定的</a:t>
            </a:r>
            <a:r>
              <a:rPr lang="en-AU" altLang="zh-CN" sz="2000" dirty="0">
                <a:ea typeface="宋体" panose="02010600030101010101" pitchFamily="2" charset="-122"/>
              </a:rPr>
              <a:t>key</a:t>
            </a:r>
            <a:r>
              <a:rPr lang="zh-CN" altLang="en-AU" sz="2000" dirty="0">
                <a:ea typeface="宋体" panose="02010600030101010101" pitchFamily="2" charset="-122"/>
              </a:rPr>
              <a:t>集</a:t>
            </a:r>
            <a:endParaRPr lang="en-AU" altLang="zh-CN" sz="2000" dirty="0"/>
          </a:p>
          <a:p>
            <a:pPr lvl="1"/>
            <a:r>
              <a:rPr lang="en-AU" altLang="zh-CN" dirty="0">
                <a:latin typeface="Courier New" panose="02070309020205020404" pitchFamily="49" charset="0"/>
              </a:rPr>
              <a:t>PYTHON</a:t>
            </a:r>
          </a:p>
          <a:p>
            <a:pPr lvl="2"/>
            <a:r>
              <a:rPr lang="zh-CN" altLang="en-AU" sz="2000" dirty="0">
                <a:ea typeface="宋体" panose="02010600030101010101" pitchFamily="2" charset="-122"/>
              </a:rPr>
              <a:t>比</a:t>
            </a:r>
            <a:r>
              <a:rPr lang="en-AU" altLang="zh-CN" sz="2000" dirty="0">
                <a:latin typeface="Courier New" panose="02070309020205020404" pitchFamily="49" charset="0"/>
              </a:rPr>
              <a:t>FIXED_DICT</a:t>
            </a:r>
            <a:r>
              <a:rPr lang="zh-CN" altLang="en-AU" sz="2000" dirty="0">
                <a:latin typeface="Courier New" panose="02070309020205020404" pitchFamily="49" charset="0"/>
                <a:ea typeface="宋体" panose="02010600030101010101" pitchFamily="2" charset="-122"/>
              </a:rPr>
              <a:t>低效</a:t>
            </a:r>
          </a:p>
          <a:p>
            <a:pPr lvl="2"/>
            <a:r>
              <a:rPr lang="zh-CN" altLang="en-AU" sz="2000" dirty="0">
                <a:ea typeface="宋体" panose="02010600030101010101" pitchFamily="2" charset="-122"/>
              </a:rPr>
              <a:t>可以</a:t>
            </a:r>
            <a:r>
              <a:rPr lang="zh-CN" altLang="en-US" sz="2000" dirty="0">
                <a:ea typeface="宋体" panose="02010600030101010101" pitchFamily="2" charset="-122"/>
              </a:rPr>
              <a:t>支持任何</a:t>
            </a:r>
            <a:r>
              <a:rPr lang="en-US" altLang="zh-CN" sz="2000" dirty="0">
                <a:ea typeface="宋体" panose="02010600030101010101" pitchFamily="2" charset="-122"/>
              </a:rPr>
              <a:t>Python</a:t>
            </a:r>
            <a:r>
              <a:rPr lang="zh-CN" altLang="en-US" sz="2000" dirty="0">
                <a:ea typeface="宋体" panose="02010600030101010101" pitchFamily="2" charset="-122"/>
              </a:rPr>
              <a:t>数据类型</a:t>
            </a:r>
            <a:endParaRPr lang="en-US" altLang="zh-CN" sz="2000" dirty="0">
              <a:ea typeface="宋体" panose="02010600030101010101" pitchFamily="2" charset="-122"/>
            </a:endParaRPr>
          </a:p>
          <a:p>
            <a:pPr lvl="2"/>
            <a:r>
              <a:rPr lang="zh-CN" altLang="en-AU" sz="2000" dirty="0">
                <a:ea typeface="宋体" panose="02010600030101010101" pitchFamily="2" charset="-122"/>
              </a:rPr>
              <a:t>安全性</a:t>
            </a:r>
            <a:br>
              <a:rPr lang="en-AU" altLang="zh-CN" sz="2000" dirty="0"/>
            </a:br>
            <a:r>
              <a:rPr lang="en-AU" altLang="zh-CN" sz="2000" dirty="0"/>
              <a:t>(</a:t>
            </a:r>
            <a:r>
              <a:rPr lang="zh-CN" altLang="en-AU" sz="2000" dirty="0">
                <a:ea typeface="宋体" panose="02010600030101010101" pitchFamily="2" charset="-122"/>
              </a:rPr>
              <a:t>读取客户端传来的数据来序列化</a:t>
            </a:r>
            <a:r>
              <a:rPr lang="en-AU" altLang="zh-CN" sz="2000" dirty="0">
                <a:ea typeface="宋体" panose="02010600030101010101" pitchFamily="2" charset="-122"/>
              </a:rPr>
              <a:t>Python</a:t>
            </a:r>
            <a:r>
              <a:rPr lang="zh-CN" altLang="en-AU" sz="2000" dirty="0">
                <a:ea typeface="宋体" panose="02010600030101010101" pitchFamily="2" charset="-122"/>
              </a:rPr>
              <a:t>对象</a:t>
            </a:r>
            <a:r>
              <a:rPr lang="en-AU" altLang="zh-CN" sz="2000" dirty="0"/>
              <a:t>)</a:t>
            </a:r>
            <a:endParaRPr lang="en-AU" altLang="zh-CN" sz="2000" dirty="0">
              <a:ea typeface="宋体" panose="02010600030101010101" pitchFamily="2" charset="-122"/>
            </a:endParaRPr>
          </a:p>
          <a:p>
            <a:pPr lvl="2"/>
            <a:r>
              <a:rPr lang="zh-CN" altLang="en-US" sz="2000" dirty="0">
                <a:ea typeface="宋体" panose="02010600030101010101" pitchFamily="2" charset="-122"/>
              </a:rPr>
              <a:t>使用</a:t>
            </a:r>
            <a:r>
              <a:rPr lang="en-US" altLang="zh-CN" sz="2000" dirty="0">
                <a:ea typeface="宋体" panose="02010600030101010101" pitchFamily="2" charset="-122"/>
              </a:rPr>
              <a:t>Python</a:t>
            </a:r>
            <a:r>
              <a:rPr lang="zh-CN" altLang="en-US" sz="2000" dirty="0">
                <a:ea typeface="宋体" panose="02010600030101010101" pitchFamily="2" charset="-122"/>
              </a:rPr>
              <a:t>的</a:t>
            </a:r>
            <a:r>
              <a:rPr lang="en-US" altLang="zh-CN" sz="2000" dirty="0">
                <a:ea typeface="宋体" panose="02010600030101010101" pitchFamily="2" charset="-122"/>
              </a:rPr>
              <a:t>pickle</a:t>
            </a:r>
            <a:r>
              <a:rPr lang="zh-CN" altLang="en-US" sz="2000" dirty="0">
                <a:ea typeface="宋体" panose="02010600030101010101" pitchFamily="2" charset="-122"/>
              </a:rPr>
              <a:t>模块</a:t>
            </a:r>
            <a:endParaRPr lang="en-US" altLang="zh-CN" sz="2000" dirty="0">
              <a:ea typeface="宋体" panose="02010600030101010101" pitchFamily="2" charset="-122"/>
            </a:endParaRPr>
          </a:p>
          <a:p>
            <a:pPr lvl="2"/>
            <a:r>
              <a:rPr lang="en-US" altLang="zh-CN" sz="2000" dirty="0">
                <a:ea typeface="宋体" panose="02010600030101010101" pitchFamily="2" charset="-122"/>
              </a:rPr>
              <a:t>Unity3D</a:t>
            </a:r>
            <a:r>
              <a:rPr lang="zh-CN" altLang="en-US" sz="2000" dirty="0">
                <a:ea typeface="宋体" panose="02010600030101010101" pitchFamily="2" charset="-122"/>
              </a:rPr>
              <a:t>等插件环境不应该将该属性类型传输到客户端</a:t>
            </a:r>
            <a:endParaRPr lang="en-US" altLang="zh-CN" sz="2000" dirty="0">
              <a:ea typeface="宋体" panose="02010600030101010101" pitchFamily="2" charset="-122"/>
            </a:endParaRPr>
          </a:p>
          <a:p>
            <a:pPr marL="409575" lvl="2" indent="0">
              <a:buNone/>
            </a:pPr>
            <a:r>
              <a:rPr lang="en-US" altLang="zh-CN" sz="2000" dirty="0">
                <a:ea typeface="宋体" panose="02010600030101010101" pitchFamily="2" charset="-122"/>
              </a:rPr>
              <a:t>   (C#</a:t>
            </a:r>
            <a:r>
              <a:rPr lang="zh-CN" altLang="en-US" sz="2000" dirty="0">
                <a:ea typeface="宋体" panose="02010600030101010101" pitchFamily="2" charset="-122"/>
              </a:rPr>
              <a:t>无法解析</a:t>
            </a:r>
            <a:r>
              <a:rPr lang="en-US" altLang="zh-CN" sz="2000" dirty="0">
                <a:ea typeface="宋体" panose="02010600030101010101" pitchFamily="2" charset="-122"/>
              </a:rPr>
              <a:t>)</a:t>
            </a:r>
            <a:endParaRPr lang="en-AU" altLang="zh-CN" sz="2000" dirty="0"/>
          </a:p>
          <a:p>
            <a:pPr marL="0" lvl="2" indent="0">
              <a:buNone/>
            </a:pPr>
            <a:endParaRPr lang="en-AU" altLang="zh-CN" dirty="0"/>
          </a:p>
          <a:p>
            <a:endParaRPr lang="en-US" altLang="zh-CN" dirty="0">
              <a:ea typeface="宋体" panose="02010600030101010101" pitchFamily="2" charset="-122"/>
            </a:endParaRPr>
          </a:p>
        </p:txBody>
      </p:sp>
      <p:sp>
        <p:nvSpPr>
          <p:cNvPr id="3" name="文本框 2"/>
          <p:cNvSpPr txBox="1"/>
          <p:nvPr/>
        </p:nvSpPr>
        <p:spPr>
          <a:xfrm>
            <a:off x="3059832" y="1700808"/>
            <a:ext cx="1338828" cy="369332"/>
          </a:xfrm>
          <a:prstGeom prst="rect">
            <a:avLst/>
          </a:prstGeom>
          <a:noFill/>
        </p:spPr>
        <p:txBody>
          <a:bodyPr wrap="none" rtlCol="0">
            <a:spAutoFit/>
          </a:bodyPr>
          <a:lstStyle/>
          <a:p>
            <a:r>
              <a:rPr lang="zh-CN" altLang="en-US" dirty="0">
                <a:solidFill>
                  <a:srgbClr val="FF0000"/>
                </a:solidFill>
              </a:rPr>
              <a:t>即字典类型</a:t>
            </a:r>
          </a:p>
        </p:txBody>
      </p:sp>
      <p:sp>
        <p:nvSpPr>
          <p:cNvPr id="5" name="文本框 4"/>
          <p:cNvSpPr txBox="1"/>
          <p:nvPr/>
        </p:nvSpPr>
        <p:spPr>
          <a:xfrm>
            <a:off x="2627784" y="2943520"/>
            <a:ext cx="3474028" cy="369332"/>
          </a:xfrm>
          <a:prstGeom prst="rect">
            <a:avLst/>
          </a:prstGeom>
          <a:noFill/>
        </p:spPr>
        <p:txBody>
          <a:bodyPr wrap="none" rtlCol="0">
            <a:spAutoFit/>
          </a:bodyPr>
          <a:lstStyle/>
          <a:p>
            <a:r>
              <a:rPr lang="zh-CN" altLang="en-US" dirty="0">
                <a:solidFill>
                  <a:srgbClr val="FF0000"/>
                </a:solidFill>
              </a:rPr>
              <a:t>即通用类型</a:t>
            </a:r>
            <a:r>
              <a:rPr lang="en-US" altLang="zh-CN" dirty="0">
                <a:solidFill>
                  <a:srgbClr val="FF0000"/>
                </a:solidFill>
              </a:rPr>
              <a:t>,</a:t>
            </a:r>
            <a:r>
              <a:rPr lang="zh-CN" altLang="en-US" dirty="0">
                <a:solidFill>
                  <a:srgbClr val="FF0000"/>
                </a:solidFill>
              </a:rPr>
              <a:t>具体代码中解析使用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124744"/>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定义数据类型</a:t>
            </a:r>
            <a:endParaRPr lang="zh-CN" altLang="en-US" sz="2200" b="1" dirty="0">
              <a:solidFill>
                <a:schemeClr val="accent1"/>
              </a:solidFill>
              <a:latin typeface="+mn-ea"/>
              <a:ea typeface="+mn-ea"/>
            </a:endParaRPr>
          </a:p>
        </p:txBody>
      </p:sp>
      <p:sp>
        <p:nvSpPr>
          <p:cNvPr id="5" name="TextBox 4"/>
          <p:cNvSpPr txBox="1"/>
          <p:nvPr/>
        </p:nvSpPr>
        <p:spPr>
          <a:xfrm>
            <a:off x="107504" y="1196752"/>
            <a:ext cx="8640960" cy="5786199"/>
          </a:xfrm>
          <a:prstGeom prst="rect">
            <a:avLst/>
          </a:prstGeom>
          <a:noFill/>
        </p:spPr>
        <p:txBody>
          <a:bodyPr wrap="square" rtlCol="0">
            <a:spAutoFit/>
          </a:bodyPr>
          <a:lstStyle/>
          <a:p>
            <a:pPr>
              <a:spcBef>
                <a:spcPct val="0"/>
              </a:spcBef>
            </a:pPr>
            <a:r>
              <a:rPr lang="en-AU" altLang="zh-CN" sz="1600" b="1" dirty="0">
                <a:solidFill>
                  <a:schemeClr val="accent4">
                    <a:lumMod val="50000"/>
                  </a:schemeClr>
                </a:solidFill>
                <a:latin typeface="Courier New" panose="02070309020205020404" pitchFamily="49" charset="0"/>
              </a:rPr>
              <a:t>&lt;root&gt;</a:t>
            </a:r>
          </a:p>
          <a:p>
            <a:pPr>
              <a:spcBef>
                <a:spcPct val="0"/>
              </a:spcBef>
            </a:pPr>
            <a:endParaRPr lang="en-AU" altLang="zh-CN" sz="1600" b="1" dirty="0">
              <a:solidFill>
                <a:schemeClr val="accent4">
                  <a:lumMod val="50000"/>
                </a:schemeClr>
              </a:solidFill>
              <a:latin typeface="Courier New" panose="02070309020205020404" pitchFamily="49" charset="0"/>
            </a:endParaRPr>
          </a:p>
          <a:p>
            <a:pPr>
              <a:spcBef>
                <a:spcPct val="0"/>
              </a:spcBef>
            </a:pPr>
            <a:r>
              <a:rPr lang="en-AU" altLang="zh-CN" sz="1600" b="1" dirty="0">
                <a:solidFill>
                  <a:schemeClr val="accent4">
                    <a:lumMod val="50000"/>
                  </a:schemeClr>
                </a:solidFill>
                <a:latin typeface="Courier New" panose="02070309020205020404" pitchFamily="49" charset="0"/>
              </a:rPr>
              <a:t>   &lt;Properties&gt;</a:t>
            </a:r>
          </a:p>
          <a:p>
            <a:pPr>
              <a:spcBef>
                <a:spcPct val="0"/>
              </a:spcBef>
            </a:pPr>
            <a:endParaRPr lang="en-AU" altLang="zh-CN" sz="1600" b="1" dirty="0">
              <a:solidFill>
                <a:schemeClr val="accent4">
                  <a:lumMod val="50000"/>
                </a:schemeClr>
              </a:solidFill>
              <a:latin typeface="Courier New" panose="02070309020205020404" pitchFamily="49" charset="0"/>
            </a:endParaRPr>
          </a:p>
          <a:p>
            <a:pPr>
              <a:spcBef>
                <a:spcPct val="0"/>
              </a:spcBef>
            </a:pPr>
            <a:r>
              <a:rPr lang="en-AU" altLang="zh-CN" sz="1600" b="1" dirty="0">
                <a:solidFill>
                  <a:schemeClr val="accent4">
                    <a:lumMod val="50000"/>
                  </a:schemeClr>
                </a:solidFill>
                <a:latin typeface="Courier New" panose="02070309020205020404" pitchFamily="49" charset="0"/>
              </a:rPr>
              <a:t>      &lt;</a:t>
            </a:r>
            <a:r>
              <a:rPr lang="en-AU" altLang="zh-CN" sz="1600" b="1" dirty="0" err="1">
                <a:solidFill>
                  <a:schemeClr val="accent4">
                    <a:lumMod val="50000"/>
                  </a:schemeClr>
                </a:solidFill>
                <a:latin typeface="Courier New" panose="02070309020205020404" pitchFamily="49" charset="0"/>
              </a:rPr>
              <a:t>CharacterInfos</a:t>
            </a:r>
            <a:r>
              <a:rPr lang="en-AU" altLang="zh-CN" sz="1600" b="1" dirty="0">
                <a:solidFill>
                  <a:schemeClr val="accent4">
                    <a:lumMod val="50000"/>
                  </a:schemeClr>
                </a:solidFill>
                <a:latin typeface="Courier New" panose="02070309020205020404" pitchFamily="49" charset="0"/>
              </a:rPr>
              <a:t>&gt;</a:t>
            </a:r>
          </a:p>
          <a:p>
            <a:pPr>
              <a:spcBef>
                <a:spcPct val="0"/>
              </a:spcBef>
            </a:pPr>
            <a:r>
              <a:rPr lang="en-AU" altLang="zh-CN" sz="1600" b="1" dirty="0">
                <a:solidFill>
                  <a:schemeClr val="accent4">
                    <a:lumMod val="50000"/>
                  </a:schemeClr>
                </a:solidFill>
                <a:latin typeface="Courier New" panose="02070309020205020404" pitchFamily="49" charset="0"/>
              </a:rPr>
              <a:t>         &lt;Type&gt;  FIXED_DICT</a:t>
            </a:r>
          </a:p>
          <a:p>
            <a:pPr>
              <a:spcBef>
                <a:spcPct val="0"/>
              </a:spcBef>
            </a:pPr>
            <a:r>
              <a:rPr lang="en-AU" altLang="zh-CN" sz="1600" b="1" dirty="0">
                <a:solidFill>
                  <a:schemeClr val="accent4">
                    <a:lumMod val="50000"/>
                  </a:schemeClr>
                </a:solidFill>
                <a:latin typeface="Courier New" panose="02070309020205020404" pitchFamily="49" charset="0"/>
              </a:rPr>
              <a:t>            &lt;Properties&gt;</a:t>
            </a:r>
          </a:p>
          <a:p>
            <a:pPr>
              <a:spcBef>
                <a:spcPct val="0"/>
              </a:spcBef>
            </a:pPr>
            <a:r>
              <a:rPr lang="en-AU" altLang="zh-CN" sz="1600" b="1" dirty="0">
                <a:solidFill>
                  <a:schemeClr val="accent4">
                    <a:lumMod val="50000"/>
                  </a:schemeClr>
                </a:solidFill>
                <a:latin typeface="Courier New" panose="02070309020205020404" pitchFamily="49" charset="0"/>
              </a:rPr>
              <a:t>               &lt;name&gt;</a:t>
            </a:r>
          </a:p>
          <a:p>
            <a:pPr>
              <a:spcBef>
                <a:spcPct val="0"/>
              </a:spcBef>
            </a:pPr>
            <a:r>
              <a:rPr lang="en-AU" altLang="zh-CN" sz="1600" b="1" dirty="0">
                <a:solidFill>
                  <a:schemeClr val="accent4">
                    <a:lumMod val="50000"/>
                  </a:schemeClr>
                </a:solidFill>
                <a:latin typeface="Courier New" panose="02070309020205020404" pitchFamily="49" charset="0"/>
              </a:rPr>
              <a:t>                  &lt;Type&gt; </a:t>
            </a:r>
            <a:r>
              <a:rPr lang="en-AU" altLang="zh-CN" sz="1600" b="1" dirty="0">
                <a:solidFill>
                  <a:srgbClr val="C00000"/>
                </a:solidFill>
                <a:latin typeface="Courier New" panose="02070309020205020404" pitchFamily="49" charset="0"/>
              </a:rPr>
              <a:t>STRING</a:t>
            </a:r>
            <a:r>
              <a:rPr lang="en-AU" altLang="zh-CN" sz="1600" b="1" dirty="0">
                <a:solidFill>
                  <a:schemeClr val="accent4">
                    <a:lumMod val="50000"/>
                  </a:schemeClr>
                </a:solidFill>
                <a:latin typeface="Courier New" panose="02070309020205020404" pitchFamily="49" charset="0"/>
              </a:rPr>
              <a:t> &lt;/Type&gt;</a:t>
            </a:r>
          </a:p>
          <a:p>
            <a:pPr>
              <a:spcBef>
                <a:spcPct val="0"/>
              </a:spcBef>
            </a:pPr>
            <a:r>
              <a:rPr lang="en-AU" altLang="zh-CN" sz="1600" b="1" dirty="0">
                <a:solidFill>
                  <a:schemeClr val="accent4">
                    <a:lumMod val="50000"/>
                  </a:schemeClr>
                </a:solidFill>
                <a:latin typeface="Courier New" panose="02070309020205020404" pitchFamily="49" charset="0"/>
              </a:rPr>
              <a:t>               &lt;/name&gt;</a:t>
            </a:r>
          </a:p>
          <a:p>
            <a:pPr>
              <a:spcBef>
                <a:spcPct val="0"/>
              </a:spcBef>
            </a:pPr>
            <a:endParaRPr lang="en-AU" altLang="zh-CN" sz="1600" b="1" dirty="0">
              <a:solidFill>
                <a:schemeClr val="accent4">
                  <a:lumMod val="50000"/>
                </a:schemeClr>
              </a:solidFill>
              <a:latin typeface="Courier New" panose="02070309020205020404" pitchFamily="49" charset="0"/>
            </a:endParaRPr>
          </a:p>
          <a:p>
            <a:pPr>
              <a:spcBef>
                <a:spcPct val="0"/>
              </a:spcBef>
            </a:pPr>
            <a:r>
              <a:rPr lang="en-AU" altLang="zh-CN" sz="1600" b="1" dirty="0">
                <a:solidFill>
                  <a:schemeClr val="accent4">
                    <a:lumMod val="50000"/>
                  </a:schemeClr>
                </a:solidFill>
                <a:latin typeface="Courier New" panose="02070309020205020404" pitchFamily="49" charset="0"/>
              </a:rPr>
              <a:t>               &lt;level&gt;</a:t>
            </a:r>
          </a:p>
          <a:p>
            <a:pPr>
              <a:spcBef>
                <a:spcPct val="0"/>
              </a:spcBef>
            </a:pPr>
            <a:r>
              <a:rPr lang="en-AU" altLang="zh-CN" sz="1600" b="1" dirty="0">
                <a:solidFill>
                  <a:schemeClr val="accent4">
                    <a:lumMod val="50000"/>
                  </a:schemeClr>
                </a:solidFill>
                <a:latin typeface="Courier New" panose="02070309020205020404" pitchFamily="49" charset="0"/>
              </a:rPr>
              <a:t>                  &lt;Type&gt; </a:t>
            </a:r>
            <a:r>
              <a:rPr lang="en-AU" altLang="zh-CN" sz="1600" b="1" dirty="0">
                <a:solidFill>
                  <a:srgbClr val="C00000"/>
                </a:solidFill>
                <a:latin typeface="Courier New" panose="02070309020205020404" pitchFamily="49" charset="0"/>
              </a:rPr>
              <a:t>UINT8</a:t>
            </a:r>
            <a:r>
              <a:rPr lang="en-AU" altLang="zh-CN" sz="1600" b="1" dirty="0">
                <a:solidFill>
                  <a:schemeClr val="accent4">
                    <a:lumMod val="50000"/>
                  </a:schemeClr>
                </a:solidFill>
                <a:latin typeface="Courier New" panose="02070309020205020404" pitchFamily="49" charset="0"/>
              </a:rPr>
              <a:t>  &lt;/Type&gt;</a:t>
            </a:r>
          </a:p>
          <a:p>
            <a:pPr>
              <a:spcBef>
                <a:spcPct val="0"/>
              </a:spcBef>
            </a:pPr>
            <a:r>
              <a:rPr lang="en-AU" altLang="zh-CN" sz="1600" b="1" dirty="0">
                <a:solidFill>
                  <a:schemeClr val="accent4">
                    <a:lumMod val="50000"/>
                  </a:schemeClr>
                </a:solidFill>
                <a:latin typeface="Courier New" panose="02070309020205020404" pitchFamily="49" charset="0"/>
              </a:rPr>
              <a:t>               &lt;/ level &gt;</a:t>
            </a:r>
          </a:p>
          <a:p>
            <a:pPr>
              <a:spcBef>
                <a:spcPct val="0"/>
              </a:spcBef>
            </a:pPr>
            <a:r>
              <a:rPr lang="en-AU" altLang="zh-CN" sz="1600" b="1" dirty="0">
                <a:solidFill>
                  <a:schemeClr val="accent4">
                    <a:lumMod val="50000"/>
                  </a:schemeClr>
                </a:solidFill>
                <a:latin typeface="Courier New" panose="02070309020205020404" pitchFamily="49" charset="0"/>
              </a:rPr>
              <a:t>            &lt;/Properties&gt;</a:t>
            </a:r>
          </a:p>
          <a:p>
            <a:pPr>
              <a:spcBef>
                <a:spcPct val="0"/>
              </a:spcBef>
            </a:pPr>
            <a:r>
              <a:rPr lang="en-AU" altLang="zh-CN" sz="1600" b="1" dirty="0">
                <a:solidFill>
                  <a:schemeClr val="accent4">
                    <a:lumMod val="50000"/>
                  </a:schemeClr>
                </a:solidFill>
                <a:latin typeface="Courier New" panose="02070309020205020404" pitchFamily="49" charset="0"/>
              </a:rPr>
              <a:t>         &lt;/Type&gt;</a:t>
            </a:r>
          </a:p>
          <a:p>
            <a:pPr>
              <a:spcBef>
                <a:spcPct val="0"/>
              </a:spcBef>
            </a:pPr>
            <a:r>
              <a:rPr lang="en-AU" altLang="zh-CN" sz="1600" b="1" dirty="0">
                <a:solidFill>
                  <a:schemeClr val="accent4">
                    <a:lumMod val="50000"/>
                  </a:schemeClr>
                </a:solidFill>
                <a:latin typeface="Courier New" panose="02070309020205020404" pitchFamily="49" charset="0"/>
              </a:rPr>
              <a:t>      &lt;/</a:t>
            </a:r>
            <a:r>
              <a:rPr lang="en-AU" altLang="zh-CN" sz="1600" b="1" dirty="0" err="1">
                <a:solidFill>
                  <a:schemeClr val="accent4">
                    <a:lumMod val="50000"/>
                  </a:schemeClr>
                </a:solidFill>
                <a:latin typeface="Courier New" panose="02070309020205020404" pitchFamily="49" charset="0"/>
              </a:rPr>
              <a:t>CharacterInfo</a:t>
            </a:r>
            <a:r>
              <a:rPr lang="en-US" altLang="zh-CN" sz="1600" b="1" dirty="0">
                <a:solidFill>
                  <a:schemeClr val="accent4">
                    <a:lumMod val="50000"/>
                  </a:schemeClr>
                </a:solidFill>
                <a:latin typeface="Courier New" panose="02070309020205020404" pitchFamily="49" charset="0"/>
              </a:rPr>
              <a:t>s</a:t>
            </a:r>
            <a:r>
              <a:rPr lang="en-AU" altLang="zh-CN" sz="1600" b="1" dirty="0">
                <a:solidFill>
                  <a:schemeClr val="accent4">
                    <a:lumMod val="50000"/>
                  </a:schemeClr>
                </a:solidFill>
                <a:latin typeface="Courier New" panose="02070309020205020404" pitchFamily="49" charset="0"/>
              </a:rPr>
              <a:t>&gt;</a:t>
            </a:r>
          </a:p>
          <a:p>
            <a:pPr>
              <a:spcBef>
                <a:spcPct val="0"/>
              </a:spcBef>
            </a:pPr>
            <a:endParaRPr lang="en-AU" altLang="zh-CN" sz="1600" b="1" dirty="0">
              <a:solidFill>
                <a:schemeClr val="accent4">
                  <a:lumMod val="50000"/>
                </a:schemeClr>
              </a:solidFill>
              <a:latin typeface="Courier New" panose="02070309020205020404" pitchFamily="49" charset="0"/>
            </a:endParaRPr>
          </a:p>
          <a:p>
            <a:pPr>
              <a:spcBef>
                <a:spcPct val="0"/>
              </a:spcBef>
            </a:pPr>
            <a:r>
              <a:rPr lang="en-AU" altLang="zh-CN" sz="1600" b="1" dirty="0">
                <a:solidFill>
                  <a:schemeClr val="accent4">
                    <a:lumMod val="50000"/>
                  </a:schemeClr>
                </a:solidFill>
                <a:latin typeface="Courier New" panose="02070309020205020404" pitchFamily="49" charset="0"/>
              </a:rPr>
              <a:t>    &lt;/Properties&gt;</a:t>
            </a:r>
          </a:p>
          <a:p>
            <a:pPr>
              <a:spcBef>
                <a:spcPct val="0"/>
              </a:spcBef>
            </a:pPr>
            <a:endParaRPr lang="en-AU" altLang="zh-CN" sz="1600" b="1" dirty="0">
              <a:solidFill>
                <a:schemeClr val="accent4">
                  <a:lumMod val="50000"/>
                </a:schemeClr>
              </a:solidFill>
              <a:latin typeface="Courier New" panose="02070309020205020404" pitchFamily="49" charset="0"/>
            </a:endParaRPr>
          </a:p>
          <a:p>
            <a:pPr>
              <a:spcBef>
                <a:spcPct val="0"/>
              </a:spcBef>
            </a:pPr>
            <a:r>
              <a:rPr lang="en-AU" altLang="zh-CN" sz="1600" b="1" dirty="0">
                <a:solidFill>
                  <a:schemeClr val="accent4">
                    <a:lumMod val="50000"/>
                  </a:schemeClr>
                </a:solidFill>
                <a:latin typeface="Courier New" panose="02070309020205020404" pitchFamily="49" charset="0"/>
              </a:rPr>
              <a:t>   ...</a:t>
            </a:r>
          </a:p>
          <a:p>
            <a:pPr>
              <a:spcBef>
                <a:spcPct val="0"/>
              </a:spcBef>
            </a:pPr>
            <a:r>
              <a:rPr lang="en-AU" altLang="zh-CN" sz="1600" b="1" dirty="0">
                <a:solidFill>
                  <a:schemeClr val="accent4">
                    <a:lumMod val="50000"/>
                  </a:schemeClr>
                </a:solidFill>
                <a:latin typeface="Courier New" panose="02070309020205020404" pitchFamily="49" charset="0"/>
              </a:rPr>
              <a:t>&lt;/root&gt;</a:t>
            </a:r>
          </a:p>
          <a:p>
            <a:endParaRPr lang="zh-CN" altLang="en-US" b="1" dirty="0">
              <a:solidFill>
                <a:schemeClr val="accent4">
                  <a:lumMod val="50000"/>
                </a:schemeClr>
              </a:solidFill>
            </a:endParaRPr>
          </a:p>
        </p:txBody>
      </p:sp>
      <p:sp>
        <p:nvSpPr>
          <p:cNvPr id="6" name="文本框 5"/>
          <p:cNvSpPr txBox="1"/>
          <p:nvPr/>
        </p:nvSpPr>
        <p:spPr>
          <a:xfrm>
            <a:off x="2339752" y="1700808"/>
            <a:ext cx="6192688" cy="646331"/>
          </a:xfrm>
          <a:prstGeom prst="rect">
            <a:avLst/>
          </a:prstGeom>
          <a:noFill/>
        </p:spPr>
        <p:txBody>
          <a:bodyPr wrap="square" rtlCol="0">
            <a:spAutoFit/>
          </a:bodyPr>
          <a:lstStyle/>
          <a:p>
            <a:r>
              <a:rPr lang="zh-CN" altLang="en-US" b="1" dirty="0">
                <a:solidFill>
                  <a:srgbClr val="FF0000"/>
                </a:solidFill>
                <a:latin typeface="Courier New" panose="02070309020205020404" pitchFamily="49" charset="0"/>
              </a:rPr>
              <a:t>数据结构同字典</a:t>
            </a:r>
            <a:r>
              <a:rPr lang="en-US" altLang="zh-CN" b="1" dirty="0">
                <a:solidFill>
                  <a:srgbClr val="FF0000"/>
                </a:solidFill>
                <a:latin typeface="Courier New" panose="02070309020205020404" pitchFamily="49" charset="0"/>
              </a:rPr>
              <a:t>,</a:t>
            </a:r>
            <a:r>
              <a:rPr lang="zh-CN" altLang="en-US" b="1" dirty="0">
                <a:solidFill>
                  <a:srgbClr val="FF0000"/>
                </a:solidFill>
                <a:latin typeface="Courier New" panose="02070309020205020404" pitchFamily="49" charset="0"/>
              </a:rPr>
              <a:t>大致如下</a:t>
            </a:r>
            <a:endParaRPr lang="en-AU" altLang="zh-CN" sz="1800" b="1" dirty="0">
              <a:solidFill>
                <a:srgbClr val="FF0000"/>
              </a:solidFill>
              <a:latin typeface="Courier New" panose="02070309020205020404" pitchFamily="49" charset="0"/>
            </a:endParaRPr>
          </a:p>
          <a:p>
            <a:r>
              <a:rPr lang="en-AU" altLang="zh-CN" sz="1800" b="1" dirty="0" err="1">
                <a:solidFill>
                  <a:srgbClr val="FF0000"/>
                </a:solidFill>
                <a:latin typeface="Courier New" panose="02070309020205020404" pitchFamily="49" charset="0"/>
              </a:rPr>
              <a:t>CharacterInfos</a:t>
            </a:r>
            <a:r>
              <a:rPr lang="en-AU" altLang="zh-CN" sz="1800" b="1" dirty="0">
                <a:solidFill>
                  <a:srgbClr val="FF0000"/>
                </a:solidFill>
                <a:latin typeface="Courier New" panose="02070309020205020404" pitchFamily="49" charset="0"/>
              </a:rPr>
              <a:t>={</a:t>
            </a:r>
            <a:r>
              <a:rPr lang="en-US" altLang="zh-CN" b="1" dirty="0">
                <a:solidFill>
                  <a:srgbClr val="FF0000"/>
                </a:solidFill>
                <a:latin typeface="Courier New" panose="02070309020205020404" pitchFamily="49" charset="0"/>
              </a:rPr>
              <a:t>‘</a:t>
            </a:r>
            <a:r>
              <a:rPr lang="en-AU" altLang="zh-CN" sz="1800" b="1" dirty="0">
                <a:solidFill>
                  <a:srgbClr val="FF0000"/>
                </a:solidFill>
                <a:latin typeface="Courier New" panose="02070309020205020404" pitchFamily="49" charset="0"/>
              </a:rPr>
              <a:t>name</a:t>
            </a:r>
            <a:r>
              <a:rPr lang="en-US" altLang="zh-CN" b="1" dirty="0">
                <a:solidFill>
                  <a:srgbClr val="FF0000"/>
                </a:solidFill>
                <a:latin typeface="Courier New" panose="02070309020205020404" pitchFamily="49" charset="0"/>
              </a:rPr>
              <a:t>’:’</a:t>
            </a:r>
            <a:r>
              <a:rPr lang="en-US" altLang="zh-CN" sz="1800" b="1" dirty="0" err="1">
                <a:solidFill>
                  <a:srgbClr val="FF0000"/>
                </a:solidFill>
                <a:latin typeface="Courier New" panose="02070309020205020404" pitchFamily="49" charset="0"/>
              </a:rPr>
              <a:t>ztq</a:t>
            </a:r>
            <a:r>
              <a:rPr lang="en-US" altLang="zh-CN" b="1" dirty="0">
                <a:solidFill>
                  <a:srgbClr val="FF0000"/>
                </a:solidFill>
                <a:latin typeface="Courier New" panose="02070309020205020404" pitchFamily="49" charset="0"/>
              </a:rPr>
              <a:t>’</a:t>
            </a:r>
            <a:r>
              <a:rPr lang="zh-CN" altLang="en-US" b="1" dirty="0">
                <a:solidFill>
                  <a:srgbClr val="FF0000"/>
                </a:solidFill>
                <a:latin typeface="Courier New" panose="02070309020205020404" pitchFamily="49" charset="0"/>
              </a:rPr>
              <a:t>，</a:t>
            </a:r>
            <a:r>
              <a:rPr lang="en-US" altLang="zh-CN" b="1" dirty="0">
                <a:solidFill>
                  <a:srgbClr val="FF0000"/>
                </a:solidFill>
                <a:latin typeface="Courier New" panose="02070309020205020404" pitchFamily="49" charset="0"/>
              </a:rPr>
              <a:t>’level’:100</a:t>
            </a:r>
            <a:r>
              <a:rPr lang="en-AU" altLang="zh-CN" sz="1800" b="1" dirty="0">
                <a:solidFill>
                  <a:srgbClr val="FF0000"/>
                </a:solidFill>
                <a:latin typeface="Courier New" panose="02070309020205020404" pitchFamily="49" charset="0"/>
              </a:rPr>
              <a:t>}</a:t>
            </a:r>
            <a:endParaRPr lang="zh-CN" altLang="en-US"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04159" y="3356992"/>
            <a:ext cx="8832337" cy="3311213"/>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12" name="矩形 11"/>
          <p:cNvSpPr/>
          <p:nvPr/>
        </p:nvSpPr>
        <p:spPr>
          <a:xfrm>
            <a:off x="204159" y="2348880"/>
            <a:ext cx="8832337" cy="93610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a:solidFill>
                  <a:schemeClr val="accent1"/>
                </a:solidFill>
                <a:ea typeface="宋体" panose="02010600030101010101" pitchFamily="2" charset="-122"/>
              </a:rPr>
              <a:t>自定义类型</a:t>
            </a:r>
            <a:endParaRPr lang="zh-CN" altLang="en-US" sz="2200" b="1" dirty="0">
              <a:solidFill>
                <a:schemeClr val="accent1"/>
              </a:solidFill>
              <a:latin typeface="+mn-ea"/>
              <a:ea typeface="+mn-ea"/>
            </a:endParaRPr>
          </a:p>
        </p:txBody>
      </p:sp>
      <p:sp>
        <p:nvSpPr>
          <p:cNvPr id="7" name="Rectangle 3"/>
          <p:cNvSpPr txBox="1">
            <a:spLocks noChangeArrowheads="1"/>
          </p:cNvSpPr>
          <p:nvPr/>
        </p:nvSpPr>
        <p:spPr bwMode="auto">
          <a:xfrm>
            <a:off x="204159" y="1052736"/>
            <a:ext cx="8748712" cy="544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可重用的类型自定义</a:t>
            </a:r>
            <a:endParaRPr lang="en-AU" altLang="zh-CN" dirty="0"/>
          </a:p>
          <a:p>
            <a:pPr lvl="1"/>
            <a:r>
              <a:rPr lang="en-AU" altLang="zh-CN" sz="2000" dirty="0">
                <a:latin typeface="Courier New" panose="02070309020205020404" pitchFamily="49" charset="0"/>
              </a:rPr>
              <a:t>&lt;assets&gt;/scripts/</a:t>
            </a:r>
            <a:r>
              <a:rPr lang="en-AU" altLang="zh-CN" sz="2000" dirty="0" err="1">
                <a:latin typeface="Courier New" panose="02070309020205020404" pitchFamily="49" charset="0"/>
              </a:rPr>
              <a:t>entity_defs</a:t>
            </a:r>
            <a:r>
              <a:rPr lang="en-AU" altLang="zh-CN" sz="2000" dirty="0">
                <a:latin typeface="Courier New" panose="02070309020205020404" pitchFamily="49" charset="0"/>
              </a:rPr>
              <a:t>/</a:t>
            </a:r>
            <a:r>
              <a:rPr lang="en-US" altLang="zh-CN" sz="2000" dirty="0">
                <a:latin typeface="Courier New" panose="02070309020205020404" pitchFamily="49" charset="0"/>
              </a:rPr>
              <a:t>types</a:t>
            </a:r>
            <a:r>
              <a:rPr lang="en-AU" altLang="zh-CN" sz="2000" dirty="0">
                <a:latin typeface="Courier New" panose="02070309020205020404" pitchFamily="49" charset="0"/>
              </a:rPr>
              <a:t>.xml</a:t>
            </a:r>
          </a:p>
          <a:p>
            <a:endParaRPr lang="en-US" altLang="zh-CN" dirty="0">
              <a:ea typeface="宋体" panose="02010600030101010101" pitchFamily="2" charset="-122"/>
            </a:endParaRPr>
          </a:p>
        </p:txBody>
      </p:sp>
      <p:sp>
        <p:nvSpPr>
          <p:cNvPr id="8" name="TextBox 7"/>
          <p:cNvSpPr txBox="1"/>
          <p:nvPr/>
        </p:nvSpPr>
        <p:spPr>
          <a:xfrm>
            <a:off x="204159" y="2492896"/>
            <a:ext cx="7752217" cy="4247317"/>
          </a:xfrm>
          <a:prstGeom prst="rect">
            <a:avLst/>
          </a:prstGeom>
          <a:noFill/>
        </p:spPr>
        <p:txBody>
          <a:bodyPr wrap="square" rtlCol="0">
            <a:spAutoFit/>
          </a:bodyPr>
          <a:lstStyle/>
          <a:p>
            <a:r>
              <a:rPr lang="en-US" altLang="zh-CN" dirty="0">
                <a:solidFill>
                  <a:schemeClr val="accent4">
                    <a:lumMod val="50000"/>
                  </a:schemeClr>
                </a:solidFill>
              </a:rPr>
              <a:t>&lt;SKILLID&gt;			INT32		&lt;/SKILLID&gt;</a:t>
            </a:r>
          </a:p>
          <a:p>
            <a:r>
              <a:rPr lang="en-US" altLang="zh-CN" dirty="0">
                <a:solidFill>
                  <a:schemeClr val="accent4">
                    <a:lumMod val="50000"/>
                  </a:schemeClr>
                </a:solidFill>
              </a:rPr>
              <a:t>&lt;QUESTID&gt;		INT32		&lt;/QUESTID&gt;</a:t>
            </a:r>
          </a:p>
          <a:p>
            <a:endParaRPr lang="en-US" altLang="zh-CN" dirty="0">
              <a:solidFill>
                <a:schemeClr val="accent4">
                  <a:lumMod val="50000"/>
                </a:schemeClr>
              </a:solidFill>
            </a:endParaRPr>
          </a:p>
          <a:p>
            <a:r>
              <a:rPr lang="en-US" altLang="zh-CN" dirty="0">
                <a:solidFill>
                  <a:schemeClr val="accent4">
                    <a:lumMod val="50000"/>
                  </a:schemeClr>
                </a:solidFill>
              </a:rPr>
              <a:t>&lt;EXAMPLES&gt;	FIXED_DICT</a:t>
            </a:r>
          </a:p>
          <a:p>
            <a:r>
              <a:rPr lang="en-US" altLang="zh-CN" dirty="0">
                <a:solidFill>
                  <a:schemeClr val="accent4">
                    <a:lumMod val="50000"/>
                  </a:schemeClr>
                </a:solidFill>
              </a:rPr>
              <a:t>	&lt;Properties&gt;</a:t>
            </a:r>
          </a:p>
          <a:p>
            <a:r>
              <a:rPr lang="en-US" altLang="zh-CN" dirty="0">
                <a:solidFill>
                  <a:schemeClr val="accent4">
                    <a:lumMod val="50000"/>
                  </a:schemeClr>
                </a:solidFill>
              </a:rPr>
              <a:t>		&lt;k1&gt;</a:t>
            </a:r>
          </a:p>
          <a:p>
            <a:r>
              <a:rPr lang="en-US" altLang="zh-CN" dirty="0">
                <a:solidFill>
                  <a:schemeClr val="accent4">
                    <a:lumMod val="50000"/>
                  </a:schemeClr>
                </a:solidFill>
              </a:rPr>
              <a:t>		      &lt;Persistent&gt;	false	&lt;/Persistent&gt;</a:t>
            </a:r>
          </a:p>
          <a:p>
            <a:r>
              <a:rPr lang="en-US" altLang="zh-CN" dirty="0">
                <a:solidFill>
                  <a:schemeClr val="accent4">
                    <a:lumMod val="50000"/>
                  </a:schemeClr>
                </a:solidFill>
              </a:rPr>
              <a:t>		      &lt;Type&gt;	INT64	&lt;/Type&gt;</a:t>
            </a:r>
          </a:p>
          <a:p>
            <a:r>
              <a:rPr lang="en-US" altLang="zh-CN" dirty="0">
                <a:solidFill>
                  <a:schemeClr val="accent4">
                    <a:lumMod val="50000"/>
                  </a:schemeClr>
                </a:solidFill>
              </a:rPr>
              <a:t>		&lt;/k1&gt;</a:t>
            </a:r>
          </a:p>
          <a:p>
            <a:r>
              <a:rPr lang="en-US" altLang="zh-CN" dirty="0">
                <a:solidFill>
                  <a:schemeClr val="accent4">
                    <a:lumMod val="50000"/>
                  </a:schemeClr>
                </a:solidFill>
              </a:rPr>
              <a:t>			</a:t>
            </a:r>
          </a:p>
          <a:p>
            <a:r>
              <a:rPr lang="en-US" altLang="zh-CN" dirty="0">
                <a:solidFill>
                  <a:schemeClr val="accent4">
                    <a:lumMod val="50000"/>
                  </a:schemeClr>
                </a:solidFill>
              </a:rPr>
              <a:t>		&lt;k2&gt;</a:t>
            </a:r>
          </a:p>
          <a:p>
            <a:r>
              <a:rPr lang="en-US" altLang="zh-CN" dirty="0">
                <a:solidFill>
                  <a:schemeClr val="accent4">
                    <a:lumMod val="50000"/>
                  </a:schemeClr>
                </a:solidFill>
              </a:rPr>
              <a:t>		      &lt;Type&gt;	INT64	&lt;/Type&gt;</a:t>
            </a:r>
          </a:p>
          <a:p>
            <a:r>
              <a:rPr lang="en-US" altLang="zh-CN" dirty="0">
                <a:solidFill>
                  <a:schemeClr val="accent4">
                    <a:lumMod val="50000"/>
                  </a:schemeClr>
                </a:solidFill>
              </a:rPr>
              <a:t>		&lt;/k2&gt;</a:t>
            </a:r>
          </a:p>
          <a:p>
            <a:r>
              <a:rPr lang="en-US" altLang="zh-CN" dirty="0">
                <a:solidFill>
                  <a:schemeClr val="accent4">
                    <a:lumMod val="50000"/>
                  </a:schemeClr>
                </a:solidFill>
              </a:rPr>
              <a:t>	&lt;/Properties&gt;</a:t>
            </a:r>
          </a:p>
          <a:p>
            <a:r>
              <a:rPr lang="en-US" altLang="zh-CN" dirty="0">
                <a:solidFill>
                  <a:schemeClr val="accent4">
                    <a:lumMod val="50000"/>
                  </a:schemeClr>
                </a:solidFill>
              </a:rPr>
              <a:t>&lt;/EXAMPLES&gt;	</a:t>
            </a:r>
            <a:endParaRPr lang="zh-CN" altLang="en-US" dirty="0">
              <a:solidFill>
                <a:schemeClr val="accent4">
                  <a:lumMod val="50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7504" y="1124744"/>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endParaRPr lang="zh-CN" altLang="en-US" sz="2200" b="1" dirty="0">
              <a:solidFill>
                <a:schemeClr val="accent1"/>
              </a:solidFill>
              <a:latin typeface="+mn-ea"/>
              <a:ea typeface="+mn-ea"/>
            </a:endParaRPr>
          </a:p>
        </p:txBody>
      </p:sp>
      <p:sp>
        <p:nvSpPr>
          <p:cNvPr id="5" name="TextBox 4"/>
          <p:cNvSpPr txBox="1"/>
          <p:nvPr/>
        </p:nvSpPr>
        <p:spPr>
          <a:xfrm>
            <a:off x="107504" y="1196752"/>
            <a:ext cx="8640960" cy="3570208"/>
          </a:xfrm>
          <a:prstGeom prst="rect">
            <a:avLst/>
          </a:prstGeom>
          <a:noFill/>
        </p:spPr>
        <p:txBody>
          <a:bodyPr wrap="square" rtlCol="0">
            <a:spAutoFit/>
          </a:bodyPr>
          <a:lstStyle/>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&lt;root&gt;</a:t>
            </a: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&lt;Properties&gt;</a:t>
            </a:r>
          </a:p>
          <a:p>
            <a:pPr>
              <a:buClr>
                <a:srgbClr val="00254A"/>
              </a:buClr>
              <a:buSzPct val="100000"/>
              <a:buFont typeface="Courier New" panose="02070309020205020404" pitchFamily="49" charset="0"/>
              <a:buNone/>
            </a:pPr>
            <a:endParaRPr lang="en-GB" altLang="zh-CN" sz="1600" b="1" dirty="0">
              <a:solidFill>
                <a:schemeClr val="accent4">
                  <a:lumMod val="50000"/>
                </a:schemeClr>
              </a:solidFill>
              <a:latin typeface="Courier New" panose="02070309020205020404" pitchFamily="49" charset="0"/>
            </a:endParaRP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&lt;name&gt;</a:t>
            </a: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&lt;Type&gt;   STRING       &lt;/Type&gt;</a:t>
            </a: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a:t>
            </a:r>
            <a:r>
              <a:rPr lang="en-GB" altLang="zh-CN" sz="1600" b="1" dirty="0">
                <a:solidFill>
                  <a:srgbClr val="C00000"/>
                </a:solidFill>
                <a:latin typeface="Courier New" panose="02070309020205020404" pitchFamily="49" charset="0"/>
              </a:rPr>
              <a:t>&lt;Flags&gt;  ??  		 &lt;/Flags&gt;</a:t>
            </a:r>
          </a:p>
          <a:p>
            <a:pPr>
              <a:buClr>
                <a:srgbClr val="00254A"/>
              </a:buClr>
              <a:buSzPct val="100000"/>
              <a:buFont typeface="Courier New" panose="02070309020205020404" pitchFamily="49" charset="0"/>
              <a:buNone/>
            </a:pPr>
            <a:endParaRPr lang="en-GB" altLang="zh-CN" sz="1600" b="1" dirty="0">
              <a:solidFill>
                <a:schemeClr val="accent4">
                  <a:lumMod val="50000"/>
                </a:schemeClr>
              </a:solidFill>
              <a:latin typeface="Courier New" panose="02070309020205020404" pitchFamily="49" charset="0"/>
            </a:endParaRP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&lt;/name&gt;</a:t>
            </a:r>
          </a:p>
          <a:p>
            <a:pPr>
              <a:buClr>
                <a:srgbClr val="00254A"/>
              </a:buClr>
              <a:buSzPct val="100000"/>
              <a:buFont typeface="Courier New" panose="02070309020205020404" pitchFamily="49" charset="0"/>
              <a:buNone/>
            </a:pPr>
            <a:endParaRPr lang="en-GB" altLang="zh-CN" sz="1600" b="1" dirty="0">
              <a:solidFill>
                <a:schemeClr val="accent4">
                  <a:lumMod val="50000"/>
                </a:schemeClr>
              </a:solidFill>
              <a:latin typeface="Courier New" panose="02070309020205020404" pitchFamily="49" charset="0"/>
            </a:endParaRP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&lt;/Properties&gt;</a:t>
            </a:r>
          </a:p>
          <a:p>
            <a:pPr>
              <a:buClr>
                <a:srgbClr val="00254A"/>
              </a:buClr>
              <a:buSzPct val="100000"/>
              <a:buFont typeface="Courier New" panose="02070309020205020404" pitchFamily="49" charset="0"/>
              <a:buNone/>
            </a:pPr>
            <a:endParaRPr lang="en-GB" altLang="zh-CN" sz="1600" b="1" dirty="0">
              <a:solidFill>
                <a:schemeClr val="accent4">
                  <a:lumMod val="50000"/>
                </a:schemeClr>
              </a:solidFill>
              <a:latin typeface="Courier New" panose="02070309020205020404" pitchFamily="49" charset="0"/>
            </a:endParaRP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   ...</a:t>
            </a:r>
          </a:p>
          <a:p>
            <a:pPr>
              <a:buClr>
                <a:srgbClr val="00254A"/>
              </a:buClr>
              <a:buSzPct val="100000"/>
              <a:buFont typeface="Courier New" panose="02070309020205020404" pitchFamily="49" charset="0"/>
              <a:buNone/>
            </a:pPr>
            <a:r>
              <a:rPr lang="en-GB" altLang="zh-CN" sz="1600" b="1" dirty="0">
                <a:solidFill>
                  <a:schemeClr val="accent4">
                    <a:lumMod val="50000"/>
                  </a:schemeClr>
                </a:solidFill>
                <a:latin typeface="Courier New" panose="02070309020205020404" pitchFamily="49" charset="0"/>
              </a:rPr>
              <a:t>&lt;/root&gt;</a:t>
            </a:r>
          </a:p>
          <a:p>
            <a:endParaRPr lang="zh-CN" altLang="en-US" b="1" dirty="0">
              <a:solidFill>
                <a:schemeClr val="accent4">
                  <a:lumMod val="50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endParaRPr lang="zh-CN" altLang="en-US" sz="2200" b="1" dirty="0">
              <a:solidFill>
                <a:schemeClr val="accent1"/>
              </a:solidFill>
              <a:latin typeface="+mn-ea"/>
              <a:ea typeface="+mn-ea"/>
            </a:endParaRPr>
          </a:p>
        </p:txBody>
      </p:sp>
      <p:sp>
        <p:nvSpPr>
          <p:cNvPr id="19" name="Rectangle 3"/>
          <p:cNvSpPr>
            <a:spLocks noChangeArrowheads="1"/>
          </p:cNvSpPr>
          <p:nvPr/>
        </p:nvSpPr>
        <p:spPr bwMode="auto">
          <a:xfrm>
            <a:off x="6454775" y="1922463"/>
            <a:ext cx="15113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wrap="none" lIns="0" tIns="0" rIns="0" bIns="0"/>
          <a:lstStyle/>
          <a:p>
            <a:pPr>
              <a:spcBef>
                <a:spcPct val="0"/>
              </a:spcBef>
            </a:pPr>
            <a:r>
              <a:rPr lang="en-US" altLang="zh-CN" sz="1600" dirty="0">
                <a:latin typeface="Courier New" panose="02070309020205020404" pitchFamily="49" charset="0"/>
                <a:ea typeface="宋体" panose="02010600030101010101" pitchFamily="2" charset="-122"/>
              </a:rPr>
              <a:t>BASE</a:t>
            </a:r>
          </a:p>
        </p:txBody>
      </p:sp>
      <p:sp>
        <p:nvSpPr>
          <p:cNvPr id="20" name="Rectangle 4"/>
          <p:cNvSpPr>
            <a:spLocks noChangeArrowheads="1"/>
          </p:cNvSpPr>
          <p:nvPr/>
        </p:nvSpPr>
        <p:spPr bwMode="auto">
          <a:xfrm>
            <a:off x="5049838" y="3071813"/>
            <a:ext cx="12271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OWN_CLIENT</a:t>
            </a:r>
          </a:p>
        </p:txBody>
      </p:sp>
      <p:sp>
        <p:nvSpPr>
          <p:cNvPr id="21" name="Line 5"/>
          <p:cNvSpPr>
            <a:spLocks noChangeShapeType="1"/>
          </p:cNvSpPr>
          <p:nvPr/>
        </p:nvSpPr>
        <p:spPr bwMode="auto">
          <a:xfrm flipV="1">
            <a:off x="2065338" y="2460625"/>
            <a:ext cx="2165350" cy="0"/>
          </a:xfrm>
          <a:prstGeom prst="line">
            <a:avLst/>
          </a:prstGeom>
          <a:noFill/>
          <a:ln w="19050">
            <a:solidFill>
              <a:schemeClr val="bg2"/>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6"/>
          <p:cNvSpPr>
            <a:spLocks noChangeArrowheads="1"/>
          </p:cNvSpPr>
          <p:nvPr/>
        </p:nvSpPr>
        <p:spPr bwMode="auto">
          <a:xfrm>
            <a:off x="554038" y="2241550"/>
            <a:ext cx="1511300" cy="576263"/>
          </a:xfrm>
          <a:prstGeom prst="ellipse">
            <a:avLst/>
          </a:prstGeom>
          <a:solidFill>
            <a:srgbClr val="0099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AU" sz="2000"/>
              <a:t>Ghost</a:t>
            </a:r>
            <a:endParaRPr lang="en-US" altLang="zh-CN" sz="2000">
              <a:ea typeface="宋体" panose="02010600030101010101" pitchFamily="2" charset="-122"/>
            </a:endParaRPr>
          </a:p>
        </p:txBody>
      </p:sp>
      <p:sp>
        <p:nvSpPr>
          <p:cNvPr id="23" name="Oval 7"/>
          <p:cNvSpPr>
            <a:spLocks noChangeArrowheads="1"/>
          </p:cNvSpPr>
          <p:nvPr/>
        </p:nvSpPr>
        <p:spPr bwMode="auto">
          <a:xfrm>
            <a:off x="6454775" y="2241550"/>
            <a:ext cx="1511300" cy="576263"/>
          </a:xfrm>
          <a:prstGeom prst="ellipse">
            <a:avLst/>
          </a:prstGeom>
          <a:solidFill>
            <a:srgbClr val="0099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AU" sz="2000"/>
              <a:t>Base</a:t>
            </a:r>
            <a:endParaRPr lang="en-US" altLang="zh-CN" sz="2000">
              <a:ea typeface="宋体" panose="02010600030101010101" pitchFamily="2" charset="-122"/>
            </a:endParaRPr>
          </a:p>
        </p:txBody>
      </p:sp>
      <p:sp>
        <p:nvSpPr>
          <p:cNvPr id="24" name="Oval 8"/>
          <p:cNvSpPr>
            <a:spLocks noChangeArrowheads="1"/>
          </p:cNvSpPr>
          <p:nvPr/>
        </p:nvSpPr>
        <p:spPr bwMode="auto">
          <a:xfrm>
            <a:off x="4230688" y="2241550"/>
            <a:ext cx="1511300" cy="576263"/>
          </a:xfrm>
          <a:prstGeom prst="ellipse">
            <a:avLst/>
          </a:prstGeom>
          <a:solidFill>
            <a:srgbClr val="0099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AU" sz="2000"/>
              <a:t>Cell</a:t>
            </a:r>
            <a:endParaRPr lang="en-US" altLang="zh-CN" sz="2000">
              <a:ea typeface="宋体" panose="02010600030101010101" pitchFamily="2" charset="-122"/>
            </a:endParaRPr>
          </a:p>
        </p:txBody>
      </p:sp>
      <p:sp>
        <p:nvSpPr>
          <p:cNvPr id="25" name="Oval 9"/>
          <p:cNvSpPr>
            <a:spLocks noChangeArrowheads="1"/>
          </p:cNvSpPr>
          <p:nvPr/>
        </p:nvSpPr>
        <p:spPr bwMode="auto">
          <a:xfrm>
            <a:off x="4230688" y="4800600"/>
            <a:ext cx="1511300" cy="576263"/>
          </a:xfrm>
          <a:prstGeom prst="ellipse">
            <a:avLst/>
          </a:prstGeom>
          <a:solidFill>
            <a:srgbClr val="0099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AU"/>
              <a:t>Own client</a:t>
            </a:r>
            <a:endParaRPr lang="en-US" altLang="zh-CN">
              <a:ea typeface="宋体" panose="02010600030101010101" pitchFamily="2" charset="-122"/>
            </a:endParaRPr>
          </a:p>
        </p:txBody>
      </p:sp>
      <p:sp>
        <p:nvSpPr>
          <p:cNvPr id="26" name="Oval 10"/>
          <p:cNvSpPr>
            <a:spLocks noChangeArrowheads="1"/>
          </p:cNvSpPr>
          <p:nvPr/>
        </p:nvSpPr>
        <p:spPr bwMode="auto">
          <a:xfrm>
            <a:off x="554038" y="4800600"/>
            <a:ext cx="1511300" cy="576263"/>
          </a:xfrm>
          <a:prstGeom prst="ellipse">
            <a:avLst/>
          </a:prstGeom>
          <a:solidFill>
            <a:srgbClr val="0099FF"/>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AU"/>
              <a:t>Other clients</a:t>
            </a:r>
            <a:endParaRPr lang="en-US" altLang="zh-CN">
              <a:ea typeface="宋体" panose="02010600030101010101" pitchFamily="2" charset="-122"/>
            </a:endParaRPr>
          </a:p>
        </p:txBody>
      </p:sp>
      <p:sp>
        <p:nvSpPr>
          <p:cNvPr id="27" name="Rectangle 11"/>
          <p:cNvSpPr>
            <a:spLocks noChangeArrowheads="1"/>
          </p:cNvSpPr>
          <p:nvPr/>
        </p:nvSpPr>
        <p:spPr bwMode="auto">
          <a:xfrm>
            <a:off x="4222750" y="1919288"/>
            <a:ext cx="15113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lstStyle/>
          <a:p>
            <a:pPr>
              <a:spcBef>
                <a:spcPct val="0"/>
              </a:spcBef>
            </a:pPr>
            <a:r>
              <a:rPr lang="en-US" altLang="zh-CN" sz="1600" dirty="0">
                <a:latin typeface="Courier New" panose="02070309020205020404" pitchFamily="49" charset="0"/>
                <a:ea typeface="宋体" panose="02010600030101010101" pitchFamily="2" charset="-122"/>
              </a:rPr>
              <a:t>CELL_PRIVATE</a:t>
            </a:r>
          </a:p>
        </p:txBody>
      </p:sp>
      <p:sp>
        <p:nvSpPr>
          <p:cNvPr id="28" name="Rectangle 12"/>
          <p:cNvSpPr>
            <a:spLocks noChangeArrowheads="1"/>
          </p:cNvSpPr>
          <p:nvPr/>
        </p:nvSpPr>
        <p:spPr bwMode="auto">
          <a:xfrm>
            <a:off x="2411413" y="2133600"/>
            <a:ext cx="14716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CELL_PUBLIC</a:t>
            </a:r>
          </a:p>
        </p:txBody>
      </p:sp>
      <p:sp>
        <p:nvSpPr>
          <p:cNvPr id="29" name="Rectangle 13"/>
          <p:cNvSpPr>
            <a:spLocks noChangeArrowheads="1"/>
          </p:cNvSpPr>
          <p:nvPr/>
        </p:nvSpPr>
        <p:spPr bwMode="auto">
          <a:xfrm>
            <a:off x="1943100" y="3500438"/>
            <a:ext cx="1622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OTHER_CLIENTS</a:t>
            </a:r>
            <a:endParaRPr lang="en-US" altLang="zh-CN" sz="1600" b="0" dirty="0">
              <a:latin typeface="Verdana" panose="020B0604030504040204" pitchFamily="34" charset="0"/>
              <a:ea typeface="宋体" panose="02010600030101010101" pitchFamily="2" charset="-122"/>
            </a:endParaRPr>
          </a:p>
        </p:txBody>
      </p:sp>
      <p:sp>
        <p:nvSpPr>
          <p:cNvPr id="30" name="Line 14"/>
          <p:cNvSpPr>
            <a:spLocks noChangeShapeType="1"/>
          </p:cNvSpPr>
          <p:nvPr/>
        </p:nvSpPr>
        <p:spPr bwMode="auto">
          <a:xfrm>
            <a:off x="4986338" y="2820988"/>
            <a:ext cx="0" cy="2016125"/>
          </a:xfrm>
          <a:prstGeom prst="line">
            <a:avLst/>
          </a:prstGeom>
          <a:noFill/>
          <a:ln w="19050">
            <a:solidFill>
              <a:schemeClr val="bg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15"/>
          <p:cNvSpPr>
            <a:spLocks noChangeShapeType="1"/>
          </p:cNvSpPr>
          <p:nvPr/>
        </p:nvSpPr>
        <p:spPr bwMode="auto">
          <a:xfrm>
            <a:off x="2033588" y="2640013"/>
            <a:ext cx="2195512" cy="0"/>
          </a:xfrm>
          <a:prstGeom prst="line">
            <a:avLst/>
          </a:prstGeom>
          <a:noFill/>
          <a:ln w="19050">
            <a:solidFill>
              <a:schemeClr val="bg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Rectangle 16"/>
          <p:cNvSpPr>
            <a:spLocks noChangeArrowheads="1"/>
          </p:cNvSpPr>
          <p:nvPr/>
        </p:nvSpPr>
        <p:spPr bwMode="auto">
          <a:xfrm>
            <a:off x="2430463" y="2963863"/>
            <a:ext cx="468312" cy="163512"/>
          </a:xfrm>
          <a:prstGeom prst="rect">
            <a:avLst/>
          </a:prstGeom>
          <a:noFill/>
          <a:ln>
            <a:noFill/>
          </a:ln>
          <a:effectLst/>
        </p:spPr>
        <p:txBody>
          <a:bodyPr wrap="none" anchor="ctr"/>
          <a:lstStyle/>
          <a:p>
            <a:endParaRPr lang="zh-CN" altLang="en-US"/>
          </a:p>
        </p:txBody>
      </p:sp>
      <p:sp>
        <p:nvSpPr>
          <p:cNvPr id="33" name="Rectangle 17"/>
          <p:cNvSpPr>
            <a:spLocks noChangeArrowheads="1"/>
          </p:cNvSpPr>
          <p:nvPr/>
        </p:nvSpPr>
        <p:spPr bwMode="auto">
          <a:xfrm>
            <a:off x="2952750" y="3162300"/>
            <a:ext cx="468313" cy="163513"/>
          </a:xfrm>
          <a:prstGeom prst="rect">
            <a:avLst/>
          </a:prstGeom>
          <a:noFill/>
          <a:ln>
            <a:noFill/>
          </a:ln>
          <a:effectLst/>
        </p:spPr>
        <p:txBody>
          <a:bodyPr wrap="none" anchor="ctr"/>
          <a:lstStyle/>
          <a:p>
            <a:endParaRPr lang="zh-CN" altLang="en-US"/>
          </a:p>
        </p:txBody>
      </p:sp>
      <p:sp>
        <p:nvSpPr>
          <p:cNvPr id="34" name="Rectangle 18"/>
          <p:cNvSpPr>
            <a:spLocks noChangeArrowheads="1"/>
          </p:cNvSpPr>
          <p:nvPr/>
        </p:nvSpPr>
        <p:spPr bwMode="auto">
          <a:xfrm>
            <a:off x="1774825" y="2676525"/>
            <a:ext cx="2441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CELL_PUBLIC_AND_OWN</a:t>
            </a:r>
            <a:endParaRPr lang="en-US" altLang="zh-CN" sz="1600" b="0" dirty="0">
              <a:latin typeface="Verdana" panose="020B0604030504040204" pitchFamily="34" charset="0"/>
              <a:ea typeface="宋体" panose="02010600030101010101" pitchFamily="2" charset="-122"/>
            </a:endParaRPr>
          </a:p>
        </p:txBody>
      </p:sp>
      <p:sp>
        <p:nvSpPr>
          <p:cNvPr id="35" name="Freeform 19"/>
          <p:cNvSpPr/>
          <p:nvPr/>
        </p:nvSpPr>
        <p:spPr bwMode="auto">
          <a:xfrm>
            <a:off x="1982788" y="2806700"/>
            <a:ext cx="2695575" cy="2095500"/>
          </a:xfrm>
          <a:custGeom>
            <a:avLst/>
            <a:gdLst>
              <a:gd name="T0" fmla="*/ 1698 w 1698"/>
              <a:gd name="T1" fmla="*/ 0 h 1320"/>
              <a:gd name="T2" fmla="*/ 510 w 1698"/>
              <a:gd name="T3" fmla="*/ 966 h 1320"/>
              <a:gd name="T4" fmla="*/ 0 w 1698"/>
              <a:gd name="T5" fmla="*/ 1320 h 1320"/>
            </a:gdLst>
            <a:ahLst/>
            <a:cxnLst>
              <a:cxn ang="0">
                <a:pos x="T0" y="T1"/>
              </a:cxn>
              <a:cxn ang="0">
                <a:pos x="T2" y="T3"/>
              </a:cxn>
              <a:cxn ang="0">
                <a:pos x="T4" y="T5"/>
              </a:cxn>
            </a:cxnLst>
            <a:rect l="0" t="0" r="r" b="b"/>
            <a:pathLst>
              <a:path w="1698" h="1320">
                <a:moveTo>
                  <a:pt x="1698" y="0"/>
                </a:moveTo>
                <a:cubicBezTo>
                  <a:pt x="1500" y="161"/>
                  <a:pt x="793" y="746"/>
                  <a:pt x="510" y="966"/>
                </a:cubicBezTo>
                <a:cubicBezTo>
                  <a:pt x="227" y="1186"/>
                  <a:pt x="106" y="1246"/>
                  <a:pt x="0" y="1320"/>
                </a:cubicBezTo>
              </a:path>
            </a:pathLst>
          </a:custGeom>
          <a:noFill/>
          <a:ln w="19050" cap="flat" cmpd="sng">
            <a:solidFill>
              <a:schemeClr val="bg2"/>
            </a:solidFill>
            <a:prstDash val="solid"/>
            <a:rou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Freeform 20"/>
          <p:cNvSpPr/>
          <p:nvPr/>
        </p:nvSpPr>
        <p:spPr bwMode="auto">
          <a:xfrm flipH="1">
            <a:off x="3689350" y="2820988"/>
            <a:ext cx="1116013" cy="1984375"/>
          </a:xfrm>
          <a:custGeom>
            <a:avLst/>
            <a:gdLst>
              <a:gd name="T0" fmla="*/ 0 w 753"/>
              <a:gd name="T1" fmla="*/ 0 h 1250"/>
              <a:gd name="T2" fmla="*/ 731 w 753"/>
              <a:gd name="T3" fmla="*/ 692 h 1250"/>
              <a:gd name="T4" fmla="*/ 131 w 753"/>
              <a:gd name="T5" fmla="*/ 1250 h 1250"/>
            </a:gdLst>
            <a:ahLst/>
            <a:cxnLst>
              <a:cxn ang="0">
                <a:pos x="T0" y="T1"/>
              </a:cxn>
              <a:cxn ang="0">
                <a:pos x="T2" y="T3"/>
              </a:cxn>
              <a:cxn ang="0">
                <a:pos x="T4" y="T5"/>
              </a:cxn>
            </a:cxnLst>
            <a:rect l="0" t="0" r="r" b="b"/>
            <a:pathLst>
              <a:path w="753" h="1250">
                <a:moveTo>
                  <a:pt x="0" y="0"/>
                </a:moveTo>
                <a:cubicBezTo>
                  <a:pt x="122" y="115"/>
                  <a:pt x="709" y="484"/>
                  <a:pt x="731" y="692"/>
                </a:cubicBezTo>
                <a:cubicBezTo>
                  <a:pt x="753" y="900"/>
                  <a:pt x="256" y="1134"/>
                  <a:pt x="131" y="1250"/>
                </a:cubicBezTo>
              </a:path>
            </a:pathLst>
          </a:custGeom>
          <a:noFill/>
          <a:ln w="19050" cap="flat" cmpd="sng">
            <a:solidFill>
              <a:schemeClr val="bg2"/>
            </a:solidFill>
            <a:prstDash val="solid"/>
            <a:rou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Rectangle 21"/>
          <p:cNvSpPr>
            <a:spLocks noChangeArrowheads="1"/>
          </p:cNvSpPr>
          <p:nvPr/>
        </p:nvSpPr>
        <p:spPr bwMode="auto">
          <a:xfrm>
            <a:off x="2700338" y="4184650"/>
            <a:ext cx="1366837" cy="244475"/>
          </a:xfrm>
          <a:prstGeom prst="rect">
            <a:avLst/>
          </a:prstGeom>
          <a:noFill/>
          <a:ln>
            <a:noFill/>
          </a:ln>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ALL_CLIENTS</a:t>
            </a:r>
          </a:p>
        </p:txBody>
      </p:sp>
      <p:sp>
        <p:nvSpPr>
          <p:cNvPr id="38" name="Line 22"/>
          <p:cNvSpPr>
            <a:spLocks noChangeShapeType="1"/>
          </p:cNvSpPr>
          <p:nvPr/>
        </p:nvSpPr>
        <p:spPr bwMode="auto">
          <a:xfrm flipH="1">
            <a:off x="5770563" y="2819400"/>
            <a:ext cx="1476375" cy="2233613"/>
          </a:xfrm>
          <a:prstGeom prst="line">
            <a:avLst/>
          </a:prstGeom>
          <a:noFill/>
          <a:ln w="19050">
            <a:solidFill>
              <a:schemeClr val="bg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Rectangle 23"/>
          <p:cNvSpPr>
            <a:spLocks noChangeArrowheads="1"/>
          </p:cNvSpPr>
          <p:nvPr/>
        </p:nvSpPr>
        <p:spPr bwMode="auto">
          <a:xfrm>
            <a:off x="6670675" y="3792538"/>
            <a:ext cx="18367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txBody>
          <a:bodyPr lIns="0" tIns="0" rIns="0" bIns="0">
            <a:spAutoFit/>
          </a:bodyPr>
          <a:lstStyle/>
          <a:p>
            <a:pPr>
              <a:spcBef>
                <a:spcPct val="0"/>
              </a:spcBef>
            </a:pPr>
            <a:r>
              <a:rPr lang="en-US" altLang="zh-CN" sz="1600" dirty="0">
                <a:latin typeface="Courier New" panose="02070309020205020404" pitchFamily="49" charset="0"/>
                <a:ea typeface="宋体" panose="02010600030101010101" pitchFamily="2" charset="-122"/>
              </a:rPr>
              <a:t>BASE_AND_CLIENT</a:t>
            </a:r>
          </a:p>
        </p:txBody>
      </p:sp>
      <p:sp>
        <p:nvSpPr>
          <p:cNvPr id="40" name="Line 24"/>
          <p:cNvSpPr>
            <a:spLocks noChangeShapeType="1"/>
          </p:cNvSpPr>
          <p:nvPr/>
        </p:nvSpPr>
        <p:spPr bwMode="auto">
          <a:xfrm>
            <a:off x="4284663" y="2816225"/>
            <a:ext cx="179387" cy="649288"/>
          </a:xfrm>
          <a:prstGeom prst="line">
            <a:avLst/>
          </a:prstGeom>
          <a:noFill/>
          <a:ln w="76200">
            <a:no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25"/>
          <p:cNvSpPr>
            <a:spLocks noChangeShapeType="1"/>
          </p:cNvSpPr>
          <p:nvPr/>
        </p:nvSpPr>
        <p:spPr bwMode="auto">
          <a:xfrm>
            <a:off x="4222750" y="2640013"/>
            <a:ext cx="647700" cy="2160587"/>
          </a:xfrm>
          <a:prstGeom prst="line">
            <a:avLst/>
          </a:prstGeom>
          <a:noFill/>
          <a:ln w="19050">
            <a:solidFill>
              <a:schemeClr val="bg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BASE</a:t>
            </a:r>
            <a:endParaRPr lang="zh-CN" altLang="en-US" sz="2200" b="1" dirty="0">
              <a:solidFill>
                <a:schemeClr val="accent1"/>
              </a:solidFill>
              <a:latin typeface="+mn-ea"/>
              <a:ea typeface="+mn-ea"/>
            </a:endParaRPr>
          </a:p>
        </p:txBody>
      </p:sp>
      <p:sp>
        <p:nvSpPr>
          <p:cNvPr id="17" name="Rectangle 3"/>
          <p:cNvSpPr txBox="1">
            <a:spLocks noChangeArrowheads="1"/>
          </p:cNvSpPr>
          <p:nvPr/>
        </p:nvSpPr>
        <p:spPr bwMode="auto">
          <a:xfrm>
            <a:off x="215776" y="1413024"/>
            <a:ext cx="8748712" cy="2736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000" dirty="0">
                <a:ea typeface="宋体" panose="02010600030101010101" pitchFamily="2" charset="-122"/>
              </a:rPr>
              <a:t>属于</a:t>
            </a:r>
            <a:r>
              <a:rPr lang="en-AU" altLang="zh-CN" sz="2000" dirty="0">
                <a:ea typeface="宋体" panose="02010600030101010101" pitchFamily="2" charset="-122"/>
              </a:rPr>
              <a:t>Base</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只有在当前</a:t>
            </a:r>
            <a:r>
              <a:rPr lang="en-US" altLang="zh-CN" sz="2000" dirty="0" err="1">
                <a:solidFill>
                  <a:srgbClr val="FF0000"/>
                </a:solidFill>
                <a:ea typeface="宋体" panose="02010600030101010101" pitchFamily="2" charset="-122"/>
              </a:rPr>
              <a:t>baseapp</a:t>
            </a:r>
            <a:r>
              <a:rPr lang="zh-CN" altLang="en-US" sz="2000" dirty="0">
                <a:solidFill>
                  <a:srgbClr val="FF0000"/>
                </a:solidFill>
                <a:ea typeface="宋体" panose="02010600030101010101" pitchFamily="2" charset="-122"/>
              </a:rPr>
              <a:t>才能被访问</a:t>
            </a:r>
            <a:r>
              <a:rPr lang="en-US" altLang="zh-CN" sz="2000" dirty="0">
                <a:solidFill>
                  <a:srgbClr val="FF0000"/>
                </a:solidFill>
                <a:ea typeface="宋体" panose="02010600030101010101" pitchFamily="2" charset="-122"/>
              </a:rPr>
              <a:t>)</a:t>
            </a:r>
            <a:endParaRPr lang="en-AU" altLang="zh-CN" sz="2000" dirty="0">
              <a:solidFill>
                <a:srgbClr val="FF0000"/>
              </a:solidFill>
              <a:ea typeface="宋体" panose="02010600030101010101" pitchFamily="2" charset="-122"/>
            </a:endParaRPr>
          </a:p>
          <a:p>
            <a:r>
              <a:rPr lang="zh-CN" altLang="en-AU" sz="2000" dirty="0">
                <a:ea typeface="宋体" panose="02010600030101010101" pitchFamily="2" charset="-122"/>
              </a:rPr>
              <a:t>只有</a:t>
            </a:r>
            <a:r>
              <a:rPr lang="en-AU" altLang="zh-CN" sz="2000" dirty="0"/>
              <a:t>Base</a:t>
            </a:r>
            <a:r>
              <a:rPr lang="zh-CN" altLang="en-AU" sz="2000" dirty="0">
                <a:ea typeface="宋体" panose="02010600030101010101" pitchFamily="2" charset="-122"/>
              </a:rPr>
              <a:t>可以访问</a:t>
            </a: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r>
              <a:rPr lang="en-US" altLang="zh-CN" sz="1600" dirty="0">
                <a:ea typeface="宋体" panose="02010600030101010101" pitchFamily="2" charset="-122"/>
              </a:rPr>
              <a:t>Baseapp2</a:t>
            </a:r>
            <a:r>
              <a:rPr lang="zh-CN" altLang="en-US" sz="1600" dirty="0">
                <a:ea typeface="宋体" panose="02010600030101010101" pitchFamily="2" charset="-122"/>
              </a:rPr>
              <a:t>和</a:t>
            </a:r>
            <a:r>
              <a:rPr lang="en-US" altLang="zh-CN" sz="1600" dirty="0">
                <a:ea typeface="宋体" panose="02010600030101010101" pitchFamily="2" charset="-122"/>
              </a:rPr>
              <a:t>Baseapp3</a:t>
            </a:r>
            <a:r>
              <a:rPr lang="zh-CN" altLang="en-US" sz="1600" dirty="0">
                <a:ea typeface="宋体" panose="02010600030101010101" pitchFamily="2" charset="-122"/>
              </a:rPr>
              <a:t>无法访问到</a:t>
            </a:r>
            <a:r>
              <a:rPr lang="en-US" altLang="zh-CN" sz="1600" dirty="0">
                <a:ea typeface="宋体" panose="02010600030101010101" pitchFamily="2" charset="-122"/>
              </a:rPr>
              <a:t>Baseapp1</a:t>
            </a:r>
            <a:r>
              <a:rPr lang="zh-CN" altLang="en-US" sz="1600" dirty="0">
                <a:ea typeface="宋体" panose="02010600030101010101" pitchFamily="2" charset="-122"/>
              </a:rPr>
              <a:t>中红色实体的</a:t>
            </a:r>
            <a:r>
              <a:rPr lang="en-US" altLang="zh-CN" sz="1600" dirty="0">
                <a:ea typeface="宋体" panose="02010600030101010101" pitchFamily="2" charset="-122"/>
              </a:rPr>
              <a:t>BASE</a:t>
            </a:r>
            <a:r>
              <a:rPr lang="zh-CN" altLang="en-US" sz="1600" dirty="0">
                <a:ea typeface="宋体" panose="02010600030101010101" pitchFamily="2" charset="-122"/>
              </a:rPr>
              <a:t>属性</a:t>
            </a:r>
            <a:endParaRPr lang="en-US" altLang="zh-CN" sz="1600" dirty="0">
              <a:ea typeface="宋体" panose="02010600030101010101" pitchFamily="2" charset="-122"/>
            </a:endParaRPr>
          </a:p>
          <a:p>
            <a:r>
              <a:rPr lang="en-GB" altLang="zh-CN" sz="2000" dirty="0">
                <a:latin typeface="Verdana" panose="020B0604030504040204" pitchFamily="34" charset="0"/>
              </a:rPr>
              <a:t>BASE</a:t>
            </a:r>
            <a:r>
              <a:rPr lang="zh-CN" altLang="en-GB" sz="2000" dirty="0">
                <a:latin typeface="Verdana" panose="020B0604030504040204" pitchFamily="34" charset="0"/>
                <a:ea typeface="宋体" panose="02010600030101010101" pitchFamily="2" charset="-122"/>
              </a:rPr>
              <a:t>属性的修改</a:t>
            </a:r>
            <a:r>
              <a:rPr lang="zh-CN" altLang="en-GB" sz="2000" dirty="0">
                <a:solidFill>
                  <a:srgbClr val="00B0F0"/>
                </a:solidFill>
                <a:latin typeface="Verdana" panose="020B0604030504040204" pitchFamily="34" charset="0"/>
                <a:ea typeface="宋体" panose="02010600030101010101" pitchFamily="2" charset="-122"/>
              </a:rPr>
              <a:t>不会被广播</a:t>
            </a:r>
            <a:endParaRPr lang="zh-CN" altLang="en-AU" sz="2000" dirty="0">
              <a:solidFill>
                <a:srgbClr val="00B0F0"/>
              </a:solidFill>
              <a:ea typeface="宋体" panose="02010600030101010101" pitchFamily="2" charset="-122"/>
            </a:endParaRPr>
          </a:p>
          <a:p>
            <a:r>
              <a:rPr lang="zh-CN" altLang="en-GB" sz="2000" dirty="0">
                <a:latin typeface="Verdana" panose="020B0604030504040204" pitchFamily="34" charset="0"/>
                <a:ea typeface="宋体" panose="02010600030101010101" pitchFamily="2" charset="-122"/>
              </a:rPr>
              <a:t>把它们定义在</a:t>
            </a:r>
            <a:r>
              <a:rPr lang="en-GB" altLang="zh-CN" sz="2000" dirty="0">
                <a:latin typeface="Verdana" panose="020B0604030504040204" pitchFamily="34" charset="0"/>
                <a:ea typeface="宋体" panose="02010600030101010101" pitchFamily="2" charset="-122"/>
              </a:rPr>
              <a:t>.</a:t>
            </a:r>
            <a:r>
              <a:rPr lang="en-GB" altLang="zh-CN" sz="2000" dirty="0" err="1">
                <a:latin typeface="Verdana" panose="020B0604030504040204" pitchFamily="34" charset="0"/>
                <a:ea typeface="宋体" panose="02010600030101010101" pitchFamily="2" charset="-122"/>
              </a:rPr>
              <a:t>def</a:t>
            </a:r>
            <a:r>
              <a:rPr lang="zh-CN" altLang="en-GB" sz="2000" dirty="0">
                <a:latin typeface="Verdana" panose="020B0604030504040204" pitchFamily="34" charset="0"/>
                <a:ea typeface="宋体" panose="02010600030101010101" pitchFamily="2" charset="-122"/>
              </a:rPr>
              <a:t>文件里就意味着它们会被定期的备份到其它</a:t>
            </a:r>
            <a:r>
              <a:rPr lang="en-GB" altLang="zh-CN" sz="2000" dirty="0" err="1">
                <a:latin typeface="Verdana" panose="020B0604030504040204" pitchFamily="34" charset="0"/>
                <a:ea typeface="宋体" panose="02010600030101010101" pitchFamily="2" charset="-122"/>
              </a:rPr>
              <a:t>Baseapp</a:t>
            </a:r>
            <a:r>
              <a:rPr lang="zh-CN" altLang="en-GB" sz="2000" dirty="0">
                <a:latin typeface="Verdana" panose="020B0604030504040204" pitchFamily="34" charset="0"/>
                <a:ea typeface="宋体" panose="02010600030101010101" pitchFamily="2" charset="-122"/>
              </a:rPr>
              <a:t>上和数据库里</a:t>
            </a:r>
            <a:endParaRPr lang="zh-CN" altLang="en-AU" sz="2000" dirty="0">
              <a:ea typeface="宋体" panose="02010600030101010101" pitchFamily="2" charset="-122"/>
            </a:endParaRPr>
          </a:p>
          <a:p>
            <a:r>
              <a:rPr lang="zh-CN" altLang="en-AU" sz="2000" dirty="0">
                <a:ea typeface="宋体" panose="02010600030101010101" pitchFamily="2" charset="-122"/>
              </a:rPr>
              <a:t>例如</a:t>
            </a:r>
            <a:r>
              <a:rPr lang="en-AU" altLang="zh-CN" sz="2000" dirty="0"/>
              <a:t>:</a:t>
            </a:r>
          </a:p>
          <a:p>
            <a:pPr marL="0" indent="0">
              <a:buNone/>
            </a:pPr>
            <a:r>
              <a:rPr lang="en-AU" altLang="zh-CN" sz="1600" dirty="0">
                <a:ea typeface="宋体" panose="02010600030101010101" pitchFamily="2" charset="-122"/>
              </a:rPr>
              <a:t>        </a:t>
            </a:r>
            <a:r>
              <a:rPr lang="zh-CN" altLang="en-US" sz="1600" dirty="0">
                <a:ea typeface="宋体" panose="02010600030101010101" pitchFamily="2" charset="-122"/>
              </a:rPr>
              <a:t>当前账号</a:t>
            </a:r>
            <a:r>
              <a:rPr lang="en-US" altLang="zh-CN" sz="1600" dirty="0">
                <a:ea typeface="宋体" panose="02010600030101010101" pitchFamily="2" charset="-122"/>
              </a:rPr>
              <a:t>Entity</a:t>
            </a:r>
            <a:r>
              <a:rPr lang="zh-CN" altLang="en-US" sz="1600" dirty="0">
                <a:ea typeface="宋体" panose="02010600030101010101" pitchFamily="2" charset="-122"/>
              </a:rPr>
              <a:t>记录玩家上次进入游戏所选择的角色</a:t>
            </a:r>
            <a:r>
              <a:rPr lang="en-US" altLang="zh-CN" sz="1600" dirty="0">
                <a:ea typeface="宋体" panose="02010600030101010101" pitchFamily="2" charset="-122"/>
              </a:rPr>
              <a:t>DBID</a:t>
            </a:r>
          </a:p>
          <a:p>
            <a:pPr marL="0" indent="0">
              <a:buNone/>
            </a:pPr>
            <a:r>
              <a:rPr lang="en-US" altLang="zh-CN" sz="1600" dirty="0">
                <a:ea typeface="宋体" panose="02010600030101010101" pitchFamily="2" charset="-122"/>
              </a:rPr>
              <a:t>        </a:t>
            </a:r>
            <a:r>
              <a:rPr lang="zh-CN" altLang="en-US" sz="1600" dirty="0">
                <a:ea typeface="宋体" panose="02010600030101010101" pitchFamily="2" charset="-122"/>
              </a:rPr>
              <a:t>公会管理器记录的公会成员信息列表</a:t>
            </a:r>
            <a:endParaRPr lang="en-AU" altLang="zh-CN" sz="1600" dirty="0">
              <a:ea typeface="宋体" panose="02010600030101010101" pitchFamily="2" charset="-122"/>
            </a:endParaRPr>
          </a:p>
        </p:txBody>
      </p:sp>
      <p:sp>
        <p:nvSpPr>
          <p:cNvPr id="92" name="矩形 91"/>
          <p:cNvSpPr/>
          <p:nvPr/>
        </p:nvSpPr>
        <p:spPr>
          <a:xfrm>
            <a:off x="1403648" y="5085184"/>
            <a:ext cx="5544616" cy="165618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93" name="Group 4"/>
          <p:cNvGrpSpPr/>
          <p:nvPr/>
        </p:nvGrpSpPr>
        <p:grpSpPr bwMode="auto">
          <a:xfrm>
            <a:off x="1619672" y="5229622"/>
            <a:ext cx="5021701" cy="1510165"/>
            <a:chOff x="1066" y="2227"/>
            <a:chExt cx="2727" cy="930"/>
          </a:xfrm>
        </p:grpSpPr>
        <p:sp>
          <p:nvSpPr>
            <p:cNvPr id="94" name="Rectangle 5"/>
            <p:cNvSpPr>
              <a:spLocks noChangeArrowheads="1"/>
            </p:cNvSpPr>
            <p:nvPr/>
          </p:nvSpPr>
          <p:spPr bwMode="auto">
            <a:xfrm>
              <a:off x="1926" y="2626"/>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95" name="Group 6"/>
            <p:cNvGrpSpPr/>
            <p:nvPr/>
          </p:nvGrpSpPr>
          <p:grpSpPr bwMode="auto">
            <a:xfrm>
              <a:off x="1066" y="2227"/>
              <a:ext cx="547" cy="288"/>
              <a:chOff x="1066" y="2227"/>
              <a:chExt cx="547" cy="288"/>
            </a:xfrm>
          </p:grpSpPr>
          <p:sp>
            <p:nvSpPr>
              <p:cNvPr id="111" name="Rectangle 7"/>
              <p:cNvSpPr>
                <a:spLocks noChangeArrowheads="1"/>
              </p:cNvSpPr>
              <p:nvPr/>
            </p:nvSpPr>
            <p:spPr bwMode="auto">
              <a:xfrm>
                <a:off x="1066" y="2227"/>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Text Box 8"/>
              <p:cNvSpPr txBox="1">
                <a:spLocks noChangeArrowheads="1"/>
              </p:cNvSpPr>
              <p:nvPr/>
            </p:nvSpPr>
            <p:spPr bwMode="auto">
              <a:xfrm>
                <a:off x="1179" y="2363"/>
                <a:ext cx="4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Baseapp1</a:t>
                </a:r>
              </a:p>
            </p:txBody>
          </p:sp>
          <p:sp>
            <p:nvSpPr>
              <p:cNvPr id="113" name="Rectangle 9"/>
              <p:cNvSpPr>
                <a:spLocks noChangeArrowheads="1"/>
              </p:cNvSpPr>
              <p:nvPr/>
            </p:nvSpPr>
            <p:spPr bwMode="auto">
              <a:xfrm>
                <a:off x="1111" y="2250"/>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4" name="Rectangle 10"/>
              <p:cNvSpPr>
                <a:spLocks noChangeArrowheads="1"/>
              </p:cNvSpPr>
              <p:nvPr/>
            </p:nvSpPr>
            <p:spPr bwMode="auto">
              <a:xfrm>
                <a:off x="1292" y="2250"/>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5" name="Rectangle 11"/>
              <p:cNvSpPr>
                <a:spLocks noChangeArrowheads="1"/>
              </p:cNvSpPr>
              <p:nvPr/>
            </p:nvSpPr>
            <p:spPr bwMode="auto">
              <a:xfrm>
                <a:off x="1474" y="2250"/>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96" name="Group 14"/>
            <p:cNvGrpSpPr/>
            <p:nvPr/>
          </p:nvGrpSpPr>
          <p:grpSpPr bwMode="auto">
            <a:xfrm>
              <a:off x="2177" y="2249"/>
              <a:ext cx="498" cy="288"/>
              <a:chOff x="1066" y="2249"/>
              <a:chExt cx="498" cy="288"/>
            </a:xfrm>
          </p:grpSpPr>
          <p:sp>
            <p:nvSpPr>
              <p:cNvPr id="106" name="Rectangle 15"/>
              <p:cNvSpPr>
                <a:spLocks noChangeArrowheads="1"/>
              </p:cNvSpPr>
              <p:nvPr/>
            </p:nvSpPr>
            <p:spPr bwMode="auto">
              <a:xfrm>
                <a:off x="1066" y="224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Text Box 16"/>
              <p:cNvSpPr txBox="1">
                <a:spLocks noChangeArrowheads="1"/>
              </p:cNvSpPr>
              <p:nvPr/>
            </p:nvSpPr>
            <p:spPr bwMode="auto">
              <a:xfrm>
                <a:off x="1154" y="2385"/>
                <a:ext cx="389"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Baseapp2</a:t>
                </a:r>
              </a:p>
            </p:txBody>
          </p:sp>
          <p:sp>
            <p:nvSpPr>
              <p:cNvPr id="108" name="Rectangle 17"/>
              <p:cNvSpPr>
                <a:spLocks noChangeArrowheads="1"/>
              </p:cNvSpPr>
              <p:nvPr/>
            </p:nvSpPr>
            <p:spPr bwMode="auto">
              <a:xfrm>
                <a:off x="1111" y="227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9" name="Rectangle 18"/>
              <p:cNvSpPr>
                <a:spLocks noChangeArrowheads="1"/>
              </p:cNvSpPr>
              <p:nvPr/>
            </p:nvSpPr>
            <p:spPr bwMode="auto">
              <a:xfrm>
                <a:off x="1292" y="227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0" name="Rectangle 19"/>
              <p:cNvSpPr>
                <a:spLocks noChangeArrowheads="1"/>
              </p:cNvSpPr>
              <p:nvPr/>
            </p:nvSpPr>
            <p:spPr bwMode="auto">
              <a:xfrm>
                <a:off x="1474" y="227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grpSp>
          <p:nvGrpSpPr>
            <p:cNvPr id="97" name="Group 22"/>
            <p:cNvGrpSpPr/>
            <p:nvPr/>
          </p:nvGrpSpPr>
          <p:grpSpPr bwMode="auto">
            <a:xfrm>
              <a:off x="3295" y="2232"/>
              <a:ext cx="498" cy="261"/>
              <a:chOff x="1095" y="2232"/>
              <a:chExt cx="498" cy="261"/>
            </a:xfrm>
          </p:grpSpPr>
          <p:sp>
            <p:nvSpPr>
              <p:cNvPr id="102" name="Rectangle 23"/>
              <p:cNvSpPr>
                <a:spLocks noChangeArrowheads="1"/>
              </p:cNvSpPr>
              <p:nvPr/>
            </p:nvSpPr>
            <p:spPr bwMode="auto">
              <a:xfrm>
                <a:off x="1095" y="2232"/>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Rectangle 25"/>
              <p:cNvSpPr>
                <a:spLocks noChangeArrowheads="1"/>
              </p:cNvSpPr>
              <p:nvPr/>
            </p:nvSpPr>
            <p:spPr bwMode="auto">
              <a:xfrm>
                <a:off x="1140" y="2255"/>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4" name="Rectangle 26"/>
              <p:cNvSpPr>
                <a:spLocks noChangeArrowheads="1"/>
              </p:cNvSpPr>
              <p:nvPr/>
            </p:nvSpPr>
            <p:spPr bwMode="auto">
              <a:xfrm>
                <a:off x="1321" y="2255"/>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05" name="Rectangle 27"/>
              <p:cNvSpPr>
                <a:spLocks noChangeArrowheads="1"/>
              </p:cNvSpPr>
              <p:nvPr/>
            </p:nvSpPr>
            <p:spPr bwMode="auto">
              <a:xfrm>
                <a:off x="1503" y="2255"/>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sp>
          <p:nvSpPr>
            <p:cNvPr id="98" name="Rectangle 38" descr="75%"/>
            <p:cNvSpPr>
              <a:spLocks noChangeArrowheads="1"/>
            </p:cNvSpPr>
            <p:nvPr/>
          </p:nvSpPr>
          <p:spPr bwMode="auto">
            <a:xfrm>
              <a:off x="1114" y="2381"/>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99" name="Rectangle 48" descr="75%"/>
            <p:cNvSpPr>
              <a:spLocks noChangeArrowheads="1"/>
            </p:cNvSpPr>
            <p:nvPr/>
          </p:nvSpPr>
          <p:spPr bwMode="auto">
            <a:xfrm>
              <a:off x="1952" y="2935"/>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100" name="Text Box 49"/>
            <p:cNvSpPr txBox="1">
              <a:spLocks noChangeArrowheads="1"/>
            </p:cNvSpPr>
            <p:nvPr/>
          </p:nvSpPr>
          <p:spPr bwMode="auto">
            <a:xfrm>
              <a:off x="2039" y="2645"/>
              <a:ext cx="1044"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dirty="0">
                <a:solidFill>
                  <a:srgbClr val="C00000"/>
                </a:solidFill>
                <a:ea typeface="宋体" panose="02010600030101010101" pitchFamily="2" charset="-122"/>
              </a:endParaRPr>
            </a:p>
            <a:p>
              <a:pPr algn="l">
                <a:lnSpc>
                  <a:spcPct val="150000"/>
                </a:lnSpc>
              </a:pPr>
              <a:endParaRPr lang="en-AU" altLang="zh-CN" sz="800" b="0" dirty="0">
                <a:solidFill>
                  <a:srgbClr val="C00000"/>
                </a:solidFill>
                <a:ea typeface="宋体" panose="02010600030101010101" pitchFamily="2" charset="-122"/>
              </a:endParaRPr>
            </a:p>
          </p:txBody>
        </p:sp>
        <p:sp>
          <p:nvSpPr>
            <p:cNvPr id="101" name="Rectangle 50"/>
            <p:cNvSpPr>
              <a:spLocks noChangeArrowheads="1"/>
            </p:cNvSpPr>
            <p:nvPr/>
          </p:nvSpPr>
          <p:spPr bwMode="auto">
            <a:xfrm>
              <a:off x="1952" y="2804"/>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116" name="Rectangle 50"/>
          <p:cNvSpPr>
            <a:spLocks noChangeArrowheads="1"/>
          </p:cNvSpPr>
          <p:nvPr/>
        </p:nvSpPr>
        <p:spPr bwMode="auto">
          <a:xfrm>
            <a:off x="3251218" y="597287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7" name="Text Box 16"/>
          <p:cNvSpPr txBox="1">
            <a:spLocks noChangeArrowheads="1"/>
          </p:cNvSpPr>
          <p:nvPr/>
        </p:nvSpPr>
        <p:spPr bwMode="auto">
          <a:xfrm>
            <a:off x="5796136" y="5414425"/>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Baseapp3</a:t>
            </a:r>
          </a:p>
        </p:txBody>
      </p:sp>
      <p:sp>
        <p:nvSpPr>
          <p:cNvPr id="3" name="文本框 2"/>
          <p:cNvSpPr txBox="1"/>
          <p:nvPr/>
        </p:nvSpPr>
        <p:spPr>
          <a:xfrm>
            <a:off x="1492571" y="3194041"/>
            <a:ext cx="7471917" cy="646331"/>
          </a:xfrm>
          <a:prstGeom prst="rect">
            <a:avLst/>
          </a:prstGeom>
          <a:noFill/>
        </p:spPr>
        <p:txBody>
          <a:bodyPr wrap="none" rtlCol="0">
            <a:spAutoFit/>
          </a:bodyPr>
          <a:lstStyle/>
          <a:p>
            <a:r>
              <a:rPr lang="zh-CN" altLang="en-US" dirty="0">
                <a:solidFill>
                  <a:srgbClr val="FF0000"/>
                </a:solidFill>
              </a:rPr>
              <a:t>这里的不会广播、被其他</a:t>
            </a:r>
            <a:r>
              <a:rPr lang="en-US" altLang="zh-CN" dirty="0" err="1">
                <a:solidFill>
                  <a:srgbClr val="FF0000"/>
                </a:solidFill>
              </a:rPr>
              <a:t>baseapp</a:t>
            </a:r>
            <a:r>
              <a:rPr lang="zh-CN" altLang="en-US" dirty="0">
                <a:solidFill>
                  <a:srgbClr val="FF0000"/>
                </a:solidFill>
              </a:rPr>
              <a:t>访问 和 备份到其他</a:t>
            </a:r>
            <a:r>
              <a:rPr lang="en-US" altLang="zh-CN" dirty="0" err="1">
                <a:solidFill>
                  <a:srgbClr val="FF0000"/>
                </a:solidFill>
              </a:rPr>
              <a:t>baseapp</a:t>
            </a:r>
            <a:r>
              <a:rPr lang="zh-CN" altLang="en-US" dirty="0">
                <a:solidFill>
                  <a:srgbClr val="FF0000"/>
                </a:solidFill>
              </a:rPr>
              <a:t>是不矛盾的</a:t>
            </a:r>
            <a:r>
              <a:rPr lang="en-US" altLang="zh-CN" dirty="0">
                <a:solidFill>
                  <a:srgbClr val="FF0000"/>
                </a:solidFill>
              </a:rPr>
              <a:t>,</a:t>
            </a:r>
          </a:p>
          <a:p>
            <a:r>
              <a:rPr lang="zh-CN" altLang="en-US" dirty="0">
                <a:solidFill>
                  <a:srgbClr val="FF0000"/>
                </a:solidFill>
              </a:rPr>
              <a:t>应为是两种系统功能</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a:t>
            </a:r>
            <a:r>
              <a:rPr lang="en-AU" altLang="zh-CN" dirty="0">
                <a:solidFill>
                  <a:schemeClr val="accent1"/>
                </a:solidFill>
                <a:ea typeface="宋体" panose="02010600030101010101" pitchFamily="2" charset="-122"/>
              </a:rPr>
              <a:t>BASE_AND_CLIENT</a:t>
            </a:r>
            <a:endParaRPr lang="zh-CN" altLang="en-US" sz="2200" b="1" dirty="0">
              <a:solidFill>
                <a:schemeClr val="accent1"/>
              </a:solidFill>
              <a:latin typeface="+mn-ea"/>
              <a:ea typeface="+mn-ea"/>
            </a:endParaRPr>
          </a:p>
        </p:txBody>
      </p:sp>
      <p:sp>
        <p:nvSpPr>
          <p:cNvPr id="17" name="Rectangle 3"/>
          <p:cNvSpPr txBox="1">
            <a:spLocks noChangeArrowheads="1"/>
          </p:cNvSpPr>
          <p:nvPr/>
        </p:nvSpPr>
        <p:spPr bwMode="auto">
          <a:xfrm>
            <a:off x="197644" y="1196752"/>
            <a:ext cx="8748712"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000" dirty="0">
                <a:ea typeface="宋体" panose="02010600030101010101" pitchFamily="2" charset="-122"/>
              </a:rPr>
              <a:t>属于</a:t>
            </a:r>
            <a:r>
              <a:rPr lang="en-AU" altLang="zh-CN" sz="2000" dirty="0">
                <a:ea typeface="宋体" panose="02010600030101010101" pitchFamily="2" charset="-122"/>
              </a:rPr>
              <a:t>Base</a:t>
            </a:r>
          </a:p>
          <a:p>
            <a:r>
              <a:rPr lang="en-AU" altLang="zh-CN" sz="2000" dirty="0">
                <a:solidFill>
                  <a:srgbClr val="00B0F0"/>
                </a:solidFill>
              </a:rPr>
              <a:t>Base</a:t>
            </a:r>
            <a:r>
              <a:rPr lang="zh-CN" altLang="en-AU" sz="2000" dirty="0">
                <a:solidFill>
                  <a:srgbClr val="00B0F0"/>
                </a:solidFill>
                <a:ea typeface="宋体" panose="02010600030101010101" pitchFamily="2" charset="-122"/>
              </a:rPr>
              <a:t>和自己的客户端可以访问</a:t>
            </a:r>
            <a:endParaRPr lang="en-US" altLang="zh-CN" sz="2000" dirty="0">
              <a:solidFill>
                <a:srgbClr val="00B0F0"/>
              </a:solidFill>
              <a:ea typeface="宋体" panose="02010600030101010101" pitchFamily="2" charset="-122"/>
            </a:endParaRPr>
          </a:p>
          <a:p>
            <a:pPr marL="0" indent="0">
              <a:buNone/>
            </a:pPr>
            <a:r>
              <a:rPr lang="en-US" altLang="zh-CN" sz="1600" dirty="0">
                <a:ea typeface="宋体" panose="02010600030101010101" pitchFamily="2" charset="-122"/>
              </a:rPr>
              <a:t>         Baseapp2</a:t>
            </a:r>
            <a:r>
              <a:rPr lang="zh-CN" altLang="en-US" sz="1600" dirty="0">
                <a:ea typeface="宋体" panose="02010600030101010101" pitchFamily="2" charset="-122"/>
              </a:rPr>
              <a:t>和</a:t>
            </a:r>
            <a:r>
              <a:rPr lang="en-US" altLang="zh-CN" sz="1600" dirty="0">
                <a:ea typeface="宋体" panose="02010600030101010101" pitchFamily="2" charset="-122"/>
              </a:rPr>
              <a:t>Baseapp3</a:t>
            </a:r>
            <a:r>
              <a:rPr lang="zh-CN" altLang="en-US" sz="1600" dirty="0">
                <a:ea typeface="宋体" panose="02010600030101010101" pitchFamily="2" charset="-122"/>
              </a:rPr>
              <a:t>无法访问到</a:t>
            </a:r>
            <a:r>
              <a:rPr lang="en-US" altLang="zh-CN" sz="1600" dirty="0">
                <a:ea typeface="宋体" panose="02010600030101010101" pitchFamily="2" charset="-122"/>
              </a:rPr>
              <a:t>Baseapp1</a:t>
            </a:r>
            <a:r>
              <a:rPr lang="zh-CN" altLang="en-US" sz="1600" dirty="0">
                <a:ea typeface="宋体" panose="02010600030101010101" pitchFamily="2" charset="-122"/>
              </a:rPr>
              <a:t>中红色实体的</a:t>
            </a:r>
            <a:r>
              <a:rPr lang="en-US" altLang="zh-CN" sz="1600" dirty="0">
                <a:ea typeface="宋体" panose="02010600030101010101" pitchFamily="2" charset="-122"/>
              </a:rPr>
              <a:t>BASE_AND_CLIENT</a:t>
            </a:r>
            <a:r>
              <a:rPr lang="zh-CN" altLang="en-US" sz="1600" dirty="0">
                <a:ea typeface="宋体" panose="02010600030101010101" pitchFamily="2" charset="-122"/>
              </a:rPr>
              <a:t>属性</a:t>
            </a:r>
            <a:endParaRPr lang="en-AU" altLang="zh-CN" sz="1600" dirty="0">
              <a:ea typeface="宋体" panose="02010600030101010101" pitchFamily="2" charset="-122"/>
            </a:endParaRPr>
          </a:p>
          <a:p>
            <a:r>
              <a:rPr lang="zh-CN" altLang="en-GB" sz="2000" dirty="0">
                <a:ea typeface="宋体" panose="02010600030101010101" pitchFamily="2" charset="-122"/>
              </a:rPr>
              <a:t>该类属性的值的改变</a:t>
            </a:r>
            <a:r>
              <a:rPr lang="zh-CN" altLang="en-GB" sz="2000" dirty="0">
                <a:solidFill>
                  <a:srgbClr val="00B0F0"/>
                </a:solidFill>
                <a:ea typeface="宋体" panose="02010600030101010101" pitchFamily="2" charset="-122"/>
              </a:rPr>
              <a:t>也会被发布到</a:t>
            </a:r>
            <a:r>
              <a:rPr lang="zh-CN" altLang="en-GB" sz="2000" dirty="0">
                <a:ea typeface="宋体" panose="02010600030101010101" pitchFamily="2" charset="-122"/>
              </a:rPr>
              <a:t>其对应的</a:t>
            </a:r>
            <a:r>
              <a:rPr lang="zh-CN" altLang="en-GB" sz="2000" dirty="0">
                <a:solidFill>
                  <a:srgbClr val="00B0F0"/>
                </a:solidFill>
                <a:ea typeface="宋体" panose="02010600030101010101" pitchFamily="2" charset="-122"/>
              </a:rPr>
              <a:t>自己的客户端的</a:t>
            </a:r>
            <a:r>
              <a:rPr lang="en-GB" altLang="zh-CN" sz="2000" dirty="0">
                <a:solidFill>
                  <a:srgbClr val="00B0F0"/>
                </a:solidFill>
                <a:ea typeface="宋体" panose="02010600030101010101" pitchFamily="2" charset="-122"/>
              </a:rPr>
              <a:t>entity</a:t>
            </a:r>
            <a:r>
              <a:rPr lang="zh-CN" altLang="en-GB" sz="2000" dirty="0">
                <a:solidFill>
                  <a:srgbClr val="00B0F0"/>
                </a:solidFill>
                <a:ea typeface="宋体" panose="02010600030101010101" pitchFamily="2" charset="-122"/>
              </a:rPr>
              <a:t>上</a:t>
            </a:r>
            <a:r>
              <a:rPr lang="zh-CN" altLang="en-GB" sz="2000" dirty="0">
                <a:ea typeface="宋体" panose="02010600030101010101" pitchFamily="2" charset="-122"/>
              </a:rPr>
              <a:t>。并且会有脚本的回调</a:t>
            </a:r>
            <a:r>
              <a:rPr lang="en-US" altLang="zh-CN" sz="2000" dirty="0">
                <a:ea typeface="宋体" panose="02010600030101010101" pitchFamily="2" charset="-122"/>
              </a:rPr>
              <a:t>(</a:t>
            </a:r>
            <a:r>
              <a:rPr lang="en-AU" altLang="zh-CN" sz="2000" dirty="0">
                <a:solidFill>
                  <a:srgbClr val="FF0000"/>
                </a:solidFill>
                <a:latin typeface="Courier New" panose="02070309020205020404" pitchFamily="49" charset="0"/>
              </a:rPr>
              <a:t>set_&lt;</a:t>
            </a:r>
            <a:r>
              <a:rPr lang="en-AU" altLang="zh-CN" sz="2000" dirty="0" err="1">
                <a:solidFill>
                  <a:srgbClr val="FF0000"/>
                </a:solidFill>
                <a:latin typeface="Courier New" panose="02070309020205020404" pitchFamily="49" charset="0"/>
              </a:rPr>
              <a:t>property_name</a:t>
            </a:r>
            <a:r>
              <a:rPr lang="en-AU" altLang="zh-CN" sz="2000" dirty="0">
                <a:solidFill>
                  <a:srgbClr val="FF0000"/>
                </a:solidFill>
                <a:latin typeface="Courier New" panose="02070309020205020404" pitchFamily="49" charset="0"/>
              </a:rPr>
              <a:t>&gt;()</a:t>
            </a:r>
            <a:r>
              <a:rPr lang="en-AU" altLang="zh-CN" sz="2000" dirty="0">
                <a:solidFill>
                  <a:schemeClr val="tx1"/>
                </a:solidFill>
                <a:latin typeface="Courier New" panose="02070309020205020404" pitchFamily="49" charset="0"/>
              </a:rPr>
              <a:t>)</a:t>
            </a:r>
            <a:r>
              <a:rPr lang="zh-CN" altLang="en-GB" sz="2000" dirty="0">
                <a:ea typeface="宋体" panose="02010600030101010101" pitchFamily="2" charset="-122"/>
              </a:rPr>
              <a:t>函数会被调用</a:t>
            </a:r>
            <a:endParaRPr lang="en-US" altLang="zh-CN" sz="2000" dirty="0">
              <a:ea typeface="宋体" panose="02010600030101010101" pitchFamily="2" charset="-122"/>
            </a:endParaRPr>
          </a:p>
          <a:p>
            <a:r>
              <a:rPr lang="zh-CN" altLang="en-AU" sz="2000" dirty="0">
                <a:ea typeface="宋体" panose="02010600030101010101" pitchFamily="2" charset="-122"/>
              </a:rPr>
              <a:t>例如</a:t>
            </a:r>
            <a:r>
              <a:rPr lang="en-AU" altLang="zh-CN" sz="2000" dirty="0"/>
              <a:t>:</a:t>
            </a:r>
          </a:p>
          <a:p>
            <a:pPr marL="0" indent="0">
              <a:buNone/>
            </a:pPr>
            <a:r>
              <a:rPr lang="en-AU" altLang="zh-CN" sz="1600" dirty="0">
                <a:ea typeface="宋体" panose="02010600030101010101" pitchFamily="2" charset="-122"/>
              </a:rPr>
              <a:t>        </a:t>
            </a:r>
            <a:r>
              <a:rPr lang="zh-CN" altLang="en-US" sz="1600" dirty="0">
                <a:ea typeface="宋体" panose="02010600030101010101" pitchFamily="2" charset="-122"/>
              </a:rPr>
              <a:t>当前账号</a:t>
            </a:r>
            <a:r>
              <a:rPr lang="en-US" altLang="zh-CN" sz="1600" dirty="0">
                <a:ea typeface="宋体" panose="02010600030101010101" pitchFamily="2" charset="-122"/>
              </a:rPr>
              <a:t>Entity</a:t>
            </a:r>
            <a:r>
              <a:rPr lang="zh-CN" altLang="en-US" sz="1600" dirty="0">
                <a:ea typeface="宋体" panose="02010600030101010101" pitchFamily="2" charset="-122"/>
              </a:rPr>
              <a:t>记录玩家上次进入游戏所选择的角色</a:t>
            </a:r>
            <a:r>
              <a:rPr lang="en-US" altLang="zh-CN" sz="1600" dirty="0">
                <a:ea typeface="宋体" panose="02010600030101010101" pitchFamily="2" charset="-122"/>
              </a:rPr>
              <a:t>DBID</a:t>
            </a:r>
            <a:r>
              <a:rPr lang="zh-CN" altLang="en-US" sz="1600" dirty="0">
                <a:ea typeface="宋体" panose="02010600030101010101" pitchFamily="2" charset="-122"/>
              </a:rPr>
              <a:t>，但客户端也需要对所选角色进行表现</a:t>
            </a:r>
            <a:endParaRPr lang="en-US" altLang="zh-CN" sz="1600" dirty="0">
              <a:ea typeface="宋体" panose="02010600030101010101" pitchFamily="2" charset="-122"/>
            </a:endParaRPr>
          </a:p>
          <a:p>
            <a:pPr marL="0" indent="0">
              <a:buNone/>
            </a:pPr>
            <a:r>
              <a:rPr lang="en-US" altLang="zh-CN" sz="1600" dirty="0">
                <a:ea typeface="宋体" panose="02010600030101010101" pitchFamily="2" charset="-122"/>
              </a:rPr>
              <a:t>              </a:t>
            </a:r>
            <a:r>
              <a:rPr lang="zh-CN" altLang="en-US" sz="1600" dirty="0">
                <a:ea typeface="宋体" panose="02010600030101010101" pitchFamily="2" charset="-122"/>
              </a:rPr>
              <a:t>很少用到</a:t>
            </a:r>
            <a:endParaRPr lang="en-US" altLang="zh-CN" sz="1600" dirty="0">
              <a:ea typeface="宋体" panose="02010600030101010101" pitchFamily="2" charset="-122"/>
            </a:endParaRPr>
          </a:p>
          <a:p>
            <a:pPr marL="0" indent="0">
              <a:buNone/>
            </a:pPr>
            <a:r>
              <a:rPr lang="en-US" altLang="zh-CN" sz="2000" dirty="0">
                <a:ea typeface="宋体" panose="02010600030101010101" pitchFamily="2" charset="-122"/>
              </a:rPr>
              <a:t>             </a:t>
            </a:r>
            <a:endParaRPr lang="en-AU" altLang="zh-CN" sz="2000" dirty="0">
              <a:ea typeface="宋体" panose="02010600030101010101" pitchFamily="2" charset="-122"/>
            </a:endParaRPr>
          </a:p>
        </p:txBody>
      </p:sp>
      <p:sp>
        <p:nvSpPr>
          <p:cNvPr id="66" name="矩形 65"/>
          <p:cNvSpPr/>
          <p:nvPr/>
        </p:nvSpPr>
        <p:spPr>
          <a:xfrm>
            <a:off x="1835696" y="4221088"/>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1907704" y="4365188"/>
            <a:ext cx="5401045" cy="2385415"/>
            <a:chOff x="1066" y="1739"/>
            <a:chExt cx="2933" cy="1469"/>
          </a:xfrm>
        </p:grpSpPr>
        <p:sp>
          <p:nvSpPr>
            <p:cNvPr id="68" name="Rectangle 5"/>
            <p:cNvSpPr>
              <a:spLocks noChangeArrowheads="1"/>
            </p:cNvSpPr>
            <p:nvPr/>
          </p:nvSpPr>
          <p:spPr bwMode="auto">
            <a:xfrm>
              <a:off x="2842"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547" cy="288"/>
              <a:chOff x="1066" y="1739"/>
              <a:chExt cx="547" cy="288"/>
            </a:xfrm>
          </p:grpSpPr>
          <p:sp>
            <p:nvSpPr>
              <p:cNvPr id="85" name="Rectangle 7"/>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4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177" y="1739"/>
              <a:ext cx="498" cy="288"/>
              <a:chOff x="1066" y="1739"/>
              <a:chExt cx="498" cy="288"/>
            </a:xfrm>
          </p:grpSpPr>
          <p:sp>
            <p:nvSpPr>
              <p:cNvPr id="80" name="Rectangle 15"/>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154" y="1875"/>
                <a:ext cx="389"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Baseapp2</a:t>
                </a:r>
              </a:p>
            </p:txBody>
          </p:sp>
          <p:sp>
            <p:nvSpPr>
              <p:cNvPr id="82" name="Rectangle 17"/>
              <p:cNvSpPr>
                <a:spLocks noChangeArrowheads="1"/>
              </p:cNvSpPr>
              <p:nvPr/>
            </p:nvSpPr>
            <p:spPr bwMode="auto">
              <a:xfrm>
                <a:off x="1111"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3" name="Rectangle 18"/>
              <p:cNvSpPr>
                <a:spLocks noChangeArrowheads="1"/>
              </p:cNvSpPr>
              <p:nvPr/>
            </p:nvSpPr>
            <p:spPr bwMode="auto">
              <a:xfrm>
                <a:off x="1292"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4" name="Rectangle 19"/>
              <p:cNvSpPr>
                <a:spLocks noChangeArrowheads="1"/>
              </p:cNvSpPr>
              <p:nvPr/>
            </p:nvSpPr>
            <p:spPr bwMode="auto">
              <a:xfrm>
                <a:off x="1474"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grpSp>
          <p:nvGrpSpPr>
            <p:cNvPr id="71" name="Group 22"/>
            <p:cNvGrpSpPr/>
            <p:nvPr/>
          </p:nvGrpSpPr>
          <p:grpSpPr bwMode="auto">
            <a:xfrm>
              <a:off x="3266" y="1739"/>
              <a:ext cx="498" cy="261"/>
              <a:chOff x="1066" y="1739"/>
              <a:chExt cx="498" cy="261"/>
            </a:xfrm>
          </p:grpSpPr>
          <p:sp>
            <p:nvSpPr>
              <p:cNvPr id="76" name="Rectangle 23"/>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111"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8" name="Rectangle 26"/>
              <p:cNvSpPr>
                <a:spLocks noChangeArrowheads="1"/>
              </p:cNvSpPr>
              <p:nvPr/>
            </p:nvSpPr>
            <p:spPr bwMode="auto">
              <a:xfrm>
                <a:off x="1292"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9" name="Rectangle 27"/>
              <p:cNvSpPr>
                <a:spLocks noChangeArrowheads="1"/>
              </p:cNvSpPr>
              <p:nvPr/>
            </p:nvSpPr>
            <p:spPr bwMode="auto">
              <a:xfrm>
                <a:off x="1474"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3" name="Rectangle 48" descr="75%"/>
            <p:cNvSpPr>
              <a:spLocks noChangeArrowheads="1"/>
            </p:cNvSpPr>
            <p:nvPr/>
          </p:nvSpPr>
          <p:spPr bwMode="auto">
            <a:xfrm>
              <a:off x="2868"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2955" y="2696"/>
              <a:ext cx="1044"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dirty="0">
                <a:solidFill>
                  <a:srgbClr val="C00000"/>
                </a:solidFill>
                <a:ea typeface="宋体" panose="02010600030101010101" pitchFamily="2" charset="-122"/>
              </a:endParaRPr>
            </a:p>
            <a:p>
              <a:pPr algn="l">
                <a:lnSpc>
                  <a:spcPct val="150000"/>
                </a:lnSpc>
              </a:pP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2868"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5220072" y="5965013"/>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6084168" y="4581128"/>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Baseapp3</a:t>
            </a:r>
          </a:p>
        </p:txBody>
      </p:sp>
      <p:sp>
        <p:nvSpPr>
          <p:cNvPr id="92" name="Rectangle 7"/>
          <p:cNvSpPr>
            <a:spLocks noChangeArrowheads="1"/>
          </p:cNvSpPr>
          <p:nvPr/>
        </p:nvSpPr>
        <p:spPr bwMode="auto">
          <a:xfrm>
            <a:off x="3923928" y="5409608"/>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4132015" y="5630449"/>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a:t>
            </a:r>
          </a:p>
        </p:txBody>
      </p:sp>
      <p:sp>
        <p:nvSpPr>
          <p:cNvPr id="94" name="Rectangle 9"/>
          <p:cNvSpPr>
            <a:spLocks noChangeArrowheads="1"/>
          </p:cNvSpPr>
          <p:nvPr/>
        </p:nvSpPr>
        <p:spPr bwMode="auto">
          <a:xfrm>
            <a:off x="4006794" y="5446956"/>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5" name="Rectangle 10"/>
          <p:cNvSpPr>
            <a:spLocks noChangeArrowheads="1"/>
          </p:cNvSpPr>
          <p:nvPr/>
        </p:nvSpPr>
        <p:spPr bwMode="auto">
          <a:xfrm>
            <a:off x="4340101" y="5446956"/>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6" name="Rectangle 11"/>
          <p:cNvSpPr>
            <a:spLocks noChangeArrowheads="1"/>
          </p:cNvSpPr>
          <p:nvPr/>
        </p:nvSpPr>
        <p:spPr bwMode="auto">
          <a:xfrm>
            <a:off x="4675250" y="5446956"/>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7" name="Rectangle 38" descr="75%"/>
          <p:cNvSpPr>
            <a:spLocks noChangeArrowheads="1"/>
          </p:cNvSpPr>
          <p:nvPr/>
        </p:nvSpPr>
        <p:spPr bwMode="auto">
          <a:xfrm>
            <a:off x="4012319" y="5659678"/>
            <a:ext cx="127062"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cxnSp>
        <p:nvCxnSpPr>
          <p:cNvPr id="98" name="直接连接符 97"/>
          <p:cNvCxnSpPr/>
          <p:nvPr/>
        </p:nvCxnSpPr>
        <p:spPr>
          <a:xfrm>
            <a:off x="1835696" y="5157192"/>
            <a:ext cx="5544616"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a:t>
            </a:r>
            <a:r>
              <a:rPr lang="en-AU" altLang="zh-CN" dirty="0">
                <a:solidFill>
                  <a:schemeClr val="accent1"/>
                </a:solidFill>
                <a:ea typeface="宋体" panose="02010600030101010101" pitchFamily="2" charset="-122"/>
              </a:rPr>
              <a:t>CELL_PRIVATE</a:t>
            </a:r>
            <a:endParaRPr lang="zh-CN" altLang="en-US" sz="22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000" dirty="0">
                <a:ea typeface="宋体" panose="02010600030101010101" pitchFamily="2" charset="-122"/>
              </a:rPr>
              <a:t>属于</a:t>
            </a:r>
            <a:r>
              <a:rPr lang="en-AU" altLang="zh-CN" sz="2000" dirty="0">
                <a:ea typeface="宋体" panose="02010600030101010101" pitchFamily="2" charset="-122"/>
              </a:rPr>
              <a:t>Real Entity</a:t>
            </a:r>
            <a:r>
              <a:rPr lang="zh-CN" altLang="en-US" sz="2000" dirty="0">
                <a:ea typeface="宋体" panose="02010600030101010101" pitchFamily="2" charset="-122"/>
              </a:rPr>
              <a:t>，</a:t>
            </a:r>
            <a:r>
              <a:rPr lang="zh-CN" altLang="en-AU" sz="2000" dirty="0">
                <a:solidFill>
                  <a:srgbClr val="00B0F0"/>
                </a:solidFill>
                <a:ea typeface="宋体" panose="02010600030101010101" pitchFamily="2" charset="-122"/>
              </a:rPr>
              <a:t>只有</a:t>
            </a:r>
            <a:r>
              <a:rPr lang="en-AU" altLang="zh-CN" sz="2000" dirty="0">
                <a:solidFill>
                  <a:srgbClr val="00B0F0"/>
                </a:solidFill>
                <a:ea typeface="宋体" panose="02010600030101010101" pitchFamily="2" charset="-122"/>
              </a:rPr>
              <a:t>Real Entity</a:t>
            </a:r>
            <a:r>
              <a:rPr lang="zh-CN" altLang="en-AU" sz="2000" dirty="0">
                <a:solidFill>
                  <a:srgbClr val="00B0F0"/>
                </a:solidFill>
                <a:ea typeface="宋体" panose="02010600030101010101" pitchFamily="2" charset="-122"/>
              </a:rPr>
              <a:t>能访问</a:t>
            </a:r>
            <a:endParaRPr lang="en-AU" altLang="zh-CN" sz="2000" dirty="0">
              <a:solidFill>
                <a:srgbClr val="00B0F0"/>
              </a:solidFill>
            </a:endParaRPr>
          </a:p>
          <a:p>
            <a:r>
              <a:rPr lang="en-US" altLang="zh-CN" sz="2000" dirty="0">
                <a:ea typeface="宋体" panose="02010600030101010101" pitchFamily="2" charset="-122"/>
              </a:rPr>
              <a:t>Cellapp2</a:t>
            </a:r>
            <a:r>
              <a:rPr lang="zh-CN" altLang="en-US" sz="2000" dirty="0">
                <a:ea typeface="宋体" panose="02010600030101010101" pitchFamily="2" charset="-122"/>
              </a:rPr>
              <a:t>和</a:t>
            </a:r>
            <a:r>
              <a:rPr lang="en-US" altLang="zh-CN" sz="2000" dirty="0">
                <a:ea typeface="宋体" panose="02010600030101010101" pitchFamily="2" charset="-122"/>
              </a:rPr>
              <a:t>Cellapp3</a:t>
            </a:r>
            <a:r>
              <a:rPr lang="zh-CN" altLang="en-US" sz="2000" dirty="0">
                <a:ea typeface="宋体" panose="02010600030101010101" pitchFamily="2" charset="-122"/>
              </a:rPr>
              <a:t>无法访问到</a:t>
            </a:r>
            <a:r>
              <a:rPr lang="en-US" altLang="zh-CN" sz="2000" dirty="0">
                <a:ea typeface="宋体" panose="02010600030101010101" pitchFamily="2" charset="-122"/>
              </a:rPr>
              <a:t>Cellapp1</a:t>
            </a:r>
            <a:r>
              <a:rPr lang="zh-CN" altLang="en-US" sz="2000" dirty="0">
                <a:ea typeface="宋体" panose="02010600030101010101" pitchFamily="2" charset="-122"/>
              </a:rPr>
              <a:t>红色实体的</a:t>
            </a:r>
            <a:r>
              <a:rPr lang="en-US" altLang="zh-CN" sz="2000" dirty="0">
                <a:ea typeface="宋体" panose="02010600030101010101" pitchFamily="2" charset="-122"/>
              </a:rPr>
              <a:t>CELL_PRIVATE</a:t>
            </a:r>
            <a:r>
              <a:rPr lang="zh-CN" altLang="en-US" sz="2000" dirty="0">
                <a:ea typeface="宋体" panose="02010600030101010101" pitchFamily="2" charset="-122"/>
              </a:rPr>
              <a:t>属性</a:t>
            </a:r>
            <a:endParaRPr lang="en-US" altLang="zh-CN" sz="2000" dirty="0">
              <a:ea typeface="宋体" panose="02010600030101010101" pitchFamily="2" charset="-122"/>
            </a:endParaRPr>
          </a:p>
          <a:p>
            <a:r>
              <a:rPr lang="zh-CN" altLang="en-GB" sz="2000" dirty="0">
                <a:ea typeface="宋体" panose="02010600030101010101" pitchFamily="2" charset="-122"/>
              </a:rPr>
              <a:t>在</a:t>
            </a:r>
            <a:r>
              <a:rPr lang="en-GB" altLang="zh-CN" sz="2000" dirty="0">
                <a:ea typeface="宋体" panose="02010600030101010101" pitchFamily="2" charset="-122"/>
              </a:rPr>
              <a:t>.</a:t>
            </a:r>
            <a:r>
              <a:rPr lang="en-GB" altLang="zh-CN" sz="2000" dirty="0" err="1">
                <a:ea typeface="宋体" panose="02010600030101010101" pitchFamily="2" charset="-122"/>
              </a:rPr>
              <a:t>def</a:t>
            </a:r>
            <a:r>
              <a:rPr lang="zh-CN" altLang="en-GB" sz="2000" dirty="0">
                <a:ea typeface="宋体" panose="02010600030101010101" pitchFamily="2" charset="-122"/>
              </a:rPr>
              <a:t>文件里定义它们就意味着在</a:t>
            </a:r>
            <a:r>
              <a:rPr lang="en-GB" altLang="zh-CN" sz="2000" dirty="0">
                <a:ea typeface="宋体" panose="02010600030101010101" pitchFamily="2" charset="-122"/>
              </a:rPr>
              <a:t>Cell</a:t>
            </a:r>
            <a:r>
              <a:rPr lang="zh-CN" altLang="en-US" sz="2000" dirty="0">
                <a:ea typeface="宋体" panose="02010600030101010101" pitchFamily="2" charset="-122"/>
              </a:rPr>
              <a:t>的</a:t>
            </a:r>
            <a:r>
              <a:rPr lang="en-GB" altLang="zh-CN" sz="2000" dirty="0">
                <a:ea typeface="宋体" panose="02010600030101010101" pitchFamily="2" charset="-122"/>
              </a:rPr>
              <a:t>Entity</a:t>
            </a:r>
            <a:r>
              <a:rPr lang="zh-CN" altLang="en-GB" sz="2000" dirty="0">
                <a:ea typeface="宋体" panose="02010600030101010101" pitchFamily="2" charset="-122"/>
              </a:rPr>
              <a:t>从一个</a:t>
            </a:r>
            <a:r>
              <a:rPr lang="en-GB" altLang="zh-CN" sz="2000" dirty="0">
                <a:ea typeface="宋体" panose="02010600030101010101" pitchFamily="2" charset="-122"/>
              </a:rPr>
              <a:t>Cell</a:t>
            </a:r>
            <a:r>
              <a:rPr lang="zh-CN" altLang="en-GB" sz="2000" dirty="0">
                <a:ea typeface="宋体" panose="02010600030101010101" pitchFamily="2" charset="-122"/>
              </a:rPr>
              <a:t>换到另一个</a:t>
            </a:r>
            <a:r>
              <a:rPr lang="en-GB" altLang="zh-CN" sz="2000" dirty="0">
                <a:ea typeface="宋体" panose="02010600030101010101" pitchFamily="2" charset="-122"/>
              </a:rPr>
              <a:t>Cell</a:t>
            </a:r>
            <a:r>
              <a:rPr lang="zh-CN" altLang="en-GB" sz="2000" dirty="0">
                <a:ea typeface="宋体" panose="02010600030101010101" pitchFamily="2" charset="-122"/>
              </a:rPr>
              <a:t>上时这类的属性会被随着移植到新的</a:t>
            </a:r>
            <a:r>
              <a:rPr lang="en-GB" altLang="zh-CN" sz="2000" dirty="0">
                <a:ea typeface="宋体" panose="02010600030101010101" pitchFamily="2" charset="-122"/>
              </a:rPr>
              <a:t>Cell</a:t>
            </a:r>
            <a:r>
              <a:rPr lang="zh-CN" altLang="en-GB" sz="2000" dirty="0">
                <a:ea typeface="宋体" panose="02010600030101010101" pitchFamily="2" charset="-122"/>
              </a:rPr>
              <a:t>上。另外，这类的属性会被定期的备份到</a:t>
            </a:r>
            <a:r>
              <a:rPr lang="en-GB" altLang="zh-CN" sz="2000" dirty="0">
                <a:ea typeface="宋体" panose="02010600030101010101" pitchFamily="2" charset="-122"/>
              </a:rPr>
              <a:t>Base Entity</a:t>
            </a:r>
            <a:r>
              <a:rPr lang="zh-CN" altLang="en-GB" sz="2000" dirty="0">
                <a:ea typeface="宋体" panose="02010600030101010101" pitchFamily="2" charset="-122"/>
              </a:rPr>
              <a:t>上</a:t>
            </a:r>
            <a:endParaRPr lang="zh-CN" altLang="en-AU" sz="2000" dirty="0">
              <a:ea typeface="宋体" panose="02010600030101010101" pitchFamily="2" charset="-122"/>
            </a:endParaRPr>
          </a:p>
          <a:p>
            <a:r>
              <a:rPr lang="zh-CN" altLang="en-AU" sz="2000" dirty="0">
                <a:ea typeface="宋体" panose="02010600030101010101" pitchFamily="2" charset="-122"/>
              </a:rPr>
              <a:t>例如</a:t>
            </a:r>
            <a:r>
              <a:rPr lang="en-AU" altLang="zh-CN" sz="2000" dirty="0"/>
              <a:t>:</a:t>
            </a:r>
          </a:p>
          <a:p>
            <a:pPr marL="182245" lvl="1" indent="0">
              <a:buNone/>
            </a:pPr>
            <a:r>
              <a:rPr lang="en-AU" altLang="zh-CN" sz="1600" dirty="0">
                <a:ea typeface="宋体" panose="02010600030101010101" pitchFamily="2" charset="-122"/>
              </a:rPr>
              <a:t>        </a:t>
            </a:r>
            <a:r>
              <a:rPr lang="en-AU" altLang="zh-CN" sz="1600" dirty="0"/>
              <a:t>NPC AI </a:t>
            </a:r>
            <a:r>
              <a:rPr lang="zh-CN" altLang="en-AU" sz="1600" dirty="0">
                <a:ea typeface="宋体" panose="02010600030101010101" pitchFamily="2" charset="-122"/>
              </a:rPr>
              <a:t>‘想法’</a:t>
            </a:r>
          </a:p>
          <a:p>
            <a:pPr marL="0" lvl="1" indent="0">
              <a:buSzPct val="80000"/>
              <a:buNone/>
            </a:pPr>
            <a:r>
              <a:rPr lang="en-US" altLang="zh-CN" sz="1600" dirty="0">
                <a:ea typeface="宋体" panose="02010600030101010101" pitchFamily="2" charset="-122"/>
              </a:rPr>
              <a:t>            </a:t>
            </a:r>
            <a:r>
              <a:rPr lang="en-AU" altLang="zh-CN" sz="1600" dirty="0">
                <a:ea typeface="宋体" panose="02010600030101010101" pitchFamily="2" charset="-122"/>
              </a:rPr>
              <a:t>Player</a:t>
            </a:r>
            <a:r>
              <a:rPr lang="zh-CN" altLang="en-AU" sz="1600" dirty="0">
                <a:ea typeface="宋体" panose="02010600030101010101" pitchFamily="2" charset="-122"/>
              </a:rPr>
              <a:t>的关于游戏</a:t>
            </a:r>
            <a:r>
              <a:rPr lang="en-AU" altLang="zh-CN" sz="1600" dirty="0">
                <a:ea typeface="宋体" panose="02010600030101010101" pitchFamily="2" charset="-122"/>
              </a:rPr>
              <a:t>play</a:t>
            </a:r>
            <a:r>
              <a:rPr lang="zh-CN" altLang="en-AU" sz="1600" dirty="0">
                <a:ea typeface="宋体" panose="02010600030101010101" pitchFamily="2" charset="-122"/>
              </a:rPr>
              <a:t>的属性，但是其它</a:t>
            </a:r>
            <a:r>
              <a:rPr lang="en-AU" altLang="zh-CN" sz="1600" dirty="0">
                <a:ea typeface="宋体" panose="02010600030101010101" pitchFamily="2" charset="-122"/>
              </a:rPr>
              <a:t>player</a:t>
            </a:r>
            <a:r>
              <a:rPr lang="zh-CN" altLang="en-AU" sz="1600" dirty="0">
                <a:ea typeface="宋体" panose="02010600030101010101" pitchFamily="2" charset="-122"/>
              </a:rPr>
              <a:t>不应该看到</a:t>
            </a:r>
            <a:endParaRPr lang="en-AU" altLang="zh-CN" sz="1600" dirty="0"/>
          </a:p>
          <a:p>
            <a:pPr marL="0" indent="0">
              <a:buNone/>
            </a:pP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endParaRPr lang="en-AU" altLang="zh-CN" sz="20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4"/>
            <a:ext cx="7675280" cy="2385415"/>
            <a:chOff x="1066" y="1739"/>
            <a:chExt cx="4168" cy="1469"/>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547" cy="288"/>
              <a:chOff x="1066" y="1739"/>
              <a:chExt cx="547" cy="288"/>
            </a:xfrm>
          </p:grpSpPr>
          <p:sp>
            <p:nvSpPr>
              <p:cNvPr id="85" name="Rectangle 7"/>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434"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177" y="1739"/>
              <a:ext cx="498" cy="288"/>
              <a:chOff x="1066" y="1739"/>
              <a:chExt cx="498" cy="288"/>
            </a:xfrm>
          </p:grpSpPr>
          <p:sp>
            <p:nvSpPr>
              <p:cNvPr id="80" name="Rectangle 15"/>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154" y="1875"/>
                <a:ext cx="389"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a:t>
                </a:r>
                <a:endParaRPr lang="en-AU" sz="1000" b="1" dirty="0">
                  <a:solidFill>
                    <a:schemeClr val="tx2">
                      <a:lumMod val="75000"/>
                    </a:schemeClr>
                  </a:solidFill>
                </a:endParaRPr>
              </a:p>
            </p:txBody>
          </p:sp>
          <p:sp>
            <p:nvSpPr>
              <p:cNvPr id="82" name="Rectangle 17"/>
              <p:cNvSpPr>
                <a:spLocks noChangeArrowheads="1"/>
              </p:cNvSpPr>
              <p:nvPr/>
            </p:nvSpPr>
            <p:spPr bwMode="auto">
              <a:xfrm>
                <a:off x="1111"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3" name="Rectangle 18"/>
              <p:cNvSpPr>
                <a:spLocks noChangeArrowheads="1"/>
              </p:cNvSpPr>
              <p:nvPr/>
            </p:nvSpPr>
            <p:spPr bwMode="auto">
              <a:xfrm>
                <a:off x="1292"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4" name="Rectangle 19"/>
              <p:cNvSpPr>
                <a:spLocks noChangeArrowheads="1"/>
              </p:cNvSpPr>
              <p:nvPr/>
            </p:nvSpPr>
            <p:spPr bwMode="auto">
              <a:xfrm>
                <a:off x="1474"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grpSp>
          <p:nvGrpSpPr>
            <p:cNvPr id="71" name="Group 22"/>
            <p:cNvGrpSpPr/>
            <p:nvPr/>
          </p:nvGrpSpPr>
          <p:grpSpPr bwMode="auto">
            <a:xfrm>
              <a:off x="3266" y="1739"/>
              <a:ext cx="498" cy="261"/>
              <a:chOff x="1066" y="1739"/>
              <a:chExt cx="498" cy="261"/>
            </a:xfrm>
          </p:grpSpPr>
          <p:sp>
            <p:nvSpPr>
              <p:cNvPr id="76" name="Rectangle 23"/>
              <p:cNvSpPr>
                <a:spLocks noChangeArrowheads="1"/>
              </p:cNvSpPr>
              <p:nvPr/>
            </p:nvSpPr>
            <p:spPr bwMode="auto">
              <a:xfrm>
                <a:off x="1066" y="1739"/>
                <a:ext cx="498"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111"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8" name="Rectangle 26"/>
              <p:cNvSpPr>
                <a:spLocks noChangeArrowheads="1"/>
              </p:cNvSpPr>
              <p:nvPr/>
            </p:nvSpPr>
            <p:spPr bwMode="auto">
              <a:xfrm>
                <a:off x="1292"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9" name="Rectangle 27"/>
              <p:cNvSpPr>
                <a:spLocks noChangeArrowheads="1"/>
              </p:cNvSpPr>
              <p:nvPr/>
            </p:nvSpPr>
            <p:spPr bwMode="auto">
              <a:xfrm>
                <a:off x="1474"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dirty="0">
                <a:solidFill>
                  <a:srgbClr val="C00000"/>
                </a:solidFill>
                <a:ea typeface="宋体" panose="02010600030101010101" pitchFamily="2" charset="-122"/>
              </a:endParaRPr>
            </a:p>
            <a:p>
              <a:pPr algn="l">
                <a:lnSpc>
                  <a:spcPct val="150000"/>
                </a:lnSpc>
              </a:pP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5076056" y="4725144"/>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5" name="Rectangle 10"/>
          <p:cNvSpPr>
            <a:spLocks noChangeArrowheads="1"/>
          </p:cNvSpPr>
          <p:nvPr/>
        </p:nvSpPr>
        <p:spPr bwMode="auto">
          <a:xfrm>
            <a:off x="2539901"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0"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62" name="Rectangle 9"/>
          <p:cNvSpPr>
            <a:spLocks noChangeArrowheads="1"/>
          </p:cNvSpPr>
          <p:nvPr/>
        </p:nvSpPr>
        <p:spPr bwMode="auto">
          <a:xfrm>
            <a:off x="3863603"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3" name="Rectangle 10"/>
          <p:cNvSpPr>
            <a:spLocks noChangeArrowheads="1"/>
          </p:cNvSpPr>
          <p:nvPr/>
        </p:nvSpPr>
        <p:spPr bwMode="auto">
          <a:xfrm>
            <a:off x="419691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4" name="Rectangle 11"/>
          <p:cNvSpPr>
            <a:spLocks noChangeArrowheads="1"/>
          </p:cNvSpPr>
          <p:nvPr/>
        </p:nvSpPr>
        <p:spPr bwMode="auto">
          <a:xfrm>
            <a:off x="4532059"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a:t>
            </a:r>
            <a:r>
              <a:rPr lang="en-AU" altLang="zh-CN" dirty="0">
                <a:solidFill>
                  <a:schemeClr val="accent1"/>
                </a:solidFill>
                <a:ea typeface="宋体" panose="02010600030101010101" pitchFamily="2" charset="-122"/>
              </a:rPr>
              <a:t>CELL_PUBLIC</a:t>
            </a:r>
            <a:endParaRPr lang="zh-CN" altLang="en-US" sz="22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000" dirty="0">
                <a:ea typeface="宋体" panose="02010600030101010101" pitchFamily="2" charset="-122"/>
              </a:rPr>
              <a:t>属于</a:t>
            </a:r>
            <a:r>
              <a:rPr lang="en-AU" altLang="zh-CN" sz="2000" dirty="0">
                <a:ea typeface="宋体" panose="02010600030101010101" pitchFamily="2" charset="-122"/>
              </a:rPr>
              <a:t>Real Entity</a:t>
            </a:r>
          </a:p>
          <a:p>
            <a:pPr marL="0" indent="0">
              <a:buNone/>
            </a:pPr>
            <a:r>
              <a:rPr lang="zh-CN" altLang="en-AU" sz="2000" dirty="0">
                <a:ea typeface="宋体" panose="02010600030101010101" pitchFamily="2" charset="-122"/>
              </a:rPr>
              <a:t>        </a:t>
            </a:r>
            <a:r>
              <a:rPr lang="zh-CN" altLang="en-AU" sz="1600" dirty="0">
                <a:solidFill>
                  <a:srgbClr val="00B0F0"/>
                </a:solidFill>
                <a:ea typeface="宋体" panose="02010600030101010101" pitchFamily="2" charset="-122"/>
              </a:rPr>
              <a:t>它所属于的</a:t>
            </a:r>
            <a:r>
              <a:rPr lang="en-AU" altLang="zh-CN" sz="1600" dirty="0">
                <a:solidFill>
                  <a:srgbClr val="00B0F0"/>
                </a:solidFill>
                <a:ea typeface="宋体" panose="02010600030101010101" pitchFamily="2" charset="-122"/>
              </a:rPr>
              <a:t>Real Entity</a:t>
            </a:r>
            <a:r>
              <a:rPr lang="zh-CN" altLang="en-AU" sz="1600" dirty="0">
                <a:solidFill>
                  <a:srgbClr val="00B0F0"/>
                </a:solidFill>
                <a:ea typeface="宋体" panose="02010600030101010101" pitchFamily="2" charset="-122"/>
              </a:rPr>
              <a:t>和其对应的</a:t>
            </a:r>
            <a:r>
              <a:rPr lang="en-AU" altLang="zh-CN" sz="1600" dirty="0">
                <a:solidFill>
                  <a:srgbClr val="00B0F0"/>
                </a:solidFill>
                <a:ea typeface="宋体" panose="02010600030101010101" pitchFamily="2" charset="-122"/>
              </a:rPr>
              <a:t>ghost Entity</a:t>
            </a:r>
            <a:r>
              <a:rPr lang="zh-CN" altLang="en-AU" sz="1600" dirty="0">
                <a:solidFill>
                  <a:srgbClr val="00B0F0"/>
                </a:solidFill>
                <a:ea typeface="宋体" panose="02010600030101010101" pitchFamily="2" charset="-122"/>
              </a:rPr>
              <a:t>上都可以访问</a:t>
            </a:r>
            <a:endParaRPr lang="en-AU" altLang="zh-CN" sz="1600" dirty="0">
              <a:solidFill>
                <a:srgbClr val="00B0F0"/>
              </a:solidFill>
              <a:ea typeface="宋体" panose="02010600030101010101" pitchFamily="2" charset="-122"/>
            </a:endParaRPr>
          </a:p>
          <a:p>
            <a:r>
              <a:rPr lang="zh-CN" altLang="en-GB" sz="2000" dirty="0">
                <a:ea typeface="宋体" panose="02010600030101010101" pitchFamily="2" charset="-122"/>
              </a:rPr>
              <a:t>该类属性的值的改变会被</a:t>
            </a:r>
            <a:r>
              <a:rPr lang="zh-CN" altLang="en-GB" sz="2000" dirty="0">
                <a:solidFill>
                  <a:srgbClr val="00B0F0"/>
                </a:solidFill>
                <a:ea typeface="宋体" panose="02010600030101010101" pitchFamily="2" charset="-122"/>
              </a:rPr>
              <a:t>发布到其对应的</a:t>
            </a:r>
            <a:r>
              <a:rPr lang="en-GB" altLang="zh-CN" sz="2000" dirty="0">
                <a:solidFill>
                  <a:srgbClr val="00B0F0"/>
                </a:solidFill>
                <a:ea typeface="宋体" panose="02010600030101010101" pitchFamily="2" charset="-122"/>
              </a:rPr>
              <a:t>ghost Entity</a:t>
            </a:r>
            <a:r>
              <a:rPr lang="zh-CN" altLang="en-GB" sz="2000" dirty="0">
                <a:ea typeface="宋体" panose="02010600030101010101" pitchFamily="2" charset="-122"/>
              </a:rPr>
              <a:t>上。在</a:t>
            </a:r>
            <a:r>
              <a:rPr lang="en-GB" altLang="zh-CN" sz="2000" dirty="0">
                <a:ea typeface="宋体" panose="02010600030101010101" pitchFamily="2" charset="-122"/>
              </a:rPr>
              <a:t>ghost Entity</a:t>
            </a:r>
            <a:r>
              <a:rPr lang="zh-CN" altLang="en-GB" sz="2000" dirty="0">
                <a:ea typeface="宋体" panose="02010600030101010101" pitchFamily="2" charset="-122"/>
              </a:rPr>
              <a:t>上这类属性只是只读的属性</a:t>
            </a:r>
            <a:endParaRPr lang="en-US" altLang="zh-CN" sz="2000" dirty="0">
              <a:ea typeface="宋体" panose="02010600030101010101" pitchFamily="2" charset="-122"/>
            </a:endParaRPr>
          </a:p>
          <a:p>
            <a:r>
              <a:rPr lang="zh-CN" altLang="en-AU" sz="2000" dirty="0">
                <a:ea typeface="宋体" panose="02010600030101010101" pitchFamily="2" charset="-122"/>
              </a:rPr>
              <a:t>例如</a:t>
            </a:r>
            <a:r>
              <a:rPr lang="en-AU" altLang="zh-CN" sz="2000" dirty="0"/>
              <a:t>:</a:t>
            </a:r>
          </a:p>
          <a:p>
            <a:pPr marL="182245" lvl="1" indent="0">
              <a:buNone/>
            </a:pPr>
            <a:r>
              <a:rPr lang="zh-CN" altLang="en-AU" sz="1600" dirty="0">
                <a:ea typeface="宋体" panose="02010600030101010101" pitchFamily="2" charset="-122"/>
              </a:rPr>
              <a:t>        </a:t>
            </a:r>
            <a:r>
              <a:rPr lang="zh-CN" altLang="en-US" sz="1600" dirty="0">
                <a:ea typeface="宋体" panose="02010600030101010101" pitchFamily="2" charset="-122"/>
              </a:rPr>
              <a:t>怪</a:t>
            </a:r>
            <a:r>
              <a:rPr lang="zh-CN" altLang="en-AU" sz="1600" dirty="0">
                <a:ea typeface="宋体" panose="02010600030101010101" pitchFamily="2" charset="-122"/>
              </a:rPr>
              <a:t>物的暴力级别</a:t>
            </a:r>
            <a:r>
              <a:rPr lang="en-AU" altLang="zh-CN" sz="1600" dirty="0"/>
              <a:t> </a:t>
            </a:r>
          </a:p>
          <a:p>
            <a:pPr marL="182245" lvl="1" indent="0">
              <a:buNone/>
            </a:pPr>
            <a:r>
              <a:rPr lang="en-AU" altLang="zh-CN" sz="1600" dirty="0">
                <a:ea typeface="宋体" panose="02010600030101010101" pitchFamily="2" charset="-122"/>
              </a:rPr>
              <a:t>        </a:t>
            </a:r>
            <a:r>
              <a:rPr lang="en-US" altLang="zh-CN" sz="1600" dirty="0">
                <a:ea typeface="宋体" panose="02010600030101010101" pitchFamily="2" charset="-122"/>
              </a:rPr>
              <a:t>NPC</a:t>
            </a:r>
            <a:r>
              <a:rPr lang="zh-CN" altLang="en-US" sz="1600" dirty="0">
                <a:ea typeface="宋体" panose="02010600030101010101" pitchFamily="2" charset="-122"/>
              </a:rPr>
              <a:t>的等级</a:t>
            </a:r>
            <a:endParaRPr lang="en-AU" altLang="zh-CN" sz="1600" dirty="0"/>
          </a:p>
          <a:p>
            <a:pPr marL="0" indent="0">
              <a:buNone/>
            </a:pP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endParaRPr lang="en-AU" altLang="zh-CN" sz="20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4"/>
            <a:ext cx="7675280" cy="2385415"/>
            <a:chOff x="1066" y="1739"/>
            <a:chExt cx="4168" cy="1469"/>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710" cy="288"/>
              <a:chOff x="1066" y="1739"/>
              <a:chExt cx="710" cy="288"/>
            </a:xfrm>
          </p:grpSpPr>
          <p:sp>
            <p:nvSpPr>
              <p:cNvPr id="85" name="Rectangle 7"/>
              <p:cNvSpPr>
                <a:spLocks noChangeArrowheads="1"/>
              </p:cNvSpPr>
              <p:nvPr/>
            </p:nvSpPr>
            <p:spPr bwMode="auto">
              <a:xfrm>
                <a:off x="1066" y="1739"/>
                <a:ext cx="626"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597"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Cellapp1-space1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061" y="1739"/>
              <a:ext cx="649" cy="288"/>
              <a:chOff x="950" y="1739"/>
              <a:chExt cx="649" cy="288"/>
            </a:xfrm>
          </p:grpSpPr>
          <p:sp>
            <p:nvSpPr>
              <p:cNvPr id="80" name="Rectangle 15"/>
              <p:cNvSpPr>
                <a:spLocks noChangeArrowheads="1"/>
              </p:cNvSpPr>
              <p:nvPr/>
            </p:nvSpPr>
            <p:spPr bwMode="auto">
              <a:xfrm>
                <a:off x="950" y="1739"/>
                <a:ext cx="61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011" y="1875"/>
                <a:ext cx="58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Cellapp2-space1</a:t>
                </a:r>
                <a:endParaRPr lang="en-AU" sz="1000" b="1" dirty="0">
                  <a:solidFill>
                    <a:schemeClr val="tx2">
                      <a:lumMod val="75000"/>
                    </a:schemeClr>
                  </a:solidFill>
                </a:endParaRPr>
              </a:p>
            </p:txBody>
          </p:sp>
          <p:sp>
            <p:nvSpPr>
              <p:cNvPr id="82" name="Rectangle 17"/>
              <p:cNvSpPr>
                <a:spLocks noChangeArrowheads="1"/>
              </p:cNvSpPr>
              <p:nvPr/>
            </p:nvSpPr>
            <p:spPr bwMode="auto">
              <a:xfrm>
                <a:off x="1050"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3" name="Rectangle 18"/>
              <p:cNvSpPr>
                <a:spLocks noChangeArrowheads="1"/>
              </p:cNvSpPr>
              <p:nvPr/>
            </p:nvSpPr>
            <p:spPr bwMode="auto">
              <a:xfrm>
                <a:off x="123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4" name="Rectangle 19"/>
              <p:cNvSpPr>
                <a:spLocks noChangeArrowheads="1"/>
              </p:cNvSpPr>
              <p:nvPr/>
            </p:nvSpPr>
            <p:spPr bwMode="auto">
              <a:xfrm>
                <a:off x="1413"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1" name="Group 22"/>
            <p:cNvGrpSpPr/>
            <p:nvPr/>
          </p:nvGrpSpPr>
          <p:grpSpPr bwMode="auto">
            <a:xfrm>
              <a:off x="3129" y="1739"/>
              <a:ext cx="674" cy="261"/>
              <a:chOff x="929" y="1739"/>
              <a:chExt cx="674" cy="261"/>
            </a:xfrm>
          </p:grpSpPr>
          <p:sp>
            <p:nvSpPr>
              <p:cNvPr id="76" name="Rectangle 23"/>
              <p:cNvSpPr>
                <a:spLocks noChangeArrowheads="1"/>
              </p:cNvSpPr>
              <p:nvPr/>
            </p:nvSpPr>
            <p:spPr bwMode="auto">
              <a:xfrm>
                <a:off x="929" y="1739"/>
                <a:ext cx="67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056"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8" name="Rectangle 26"/>
              <p:cNvSpPr>
                <a:spLocks noChangeArrowheads="1"/>
              </p:cNvSpPr>
              <p:nvPr/>
            </p:nvSpPr>
            <p:spPr bwMode="auto">
              <a:xfrm>
                <a:off x="1237"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Rectangle 27"/>
              <p:cNvSpPr>
                <a:spLocks noChangeArrowheads="1"/>
              </p:cNvSpPr>
              <p:nvPr/>
            </p:nvSpPr>
            <p:spPr bwMode="auto">
              <a:xfrm>
                <a:off x="1419"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sz="800" dirty="0">
                <a:solidFill>
                  <a:srgbClr val="FFFF00"/>
                </a:solidFill>
              </a:endParaRPr>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dirty="0">
                <a:solidFill>
                  <a:srgbClr val="C00000"/>
                </a:solidFill>
                <a:ea typeface="宋体" panose="02010600030101010101" pitchFamily="2" charset="-122"/>
              </a:endParaRPr>
            </a:p>
            <a:p>
              <a:pPr algn="l">
                <a:lnSpc>
                  <a:spcPct val="150000"/>
                </a:lnSpc>
              </a:pP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4860032" y="4725144"/>
            <a:ext cx="11516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Cellapp3-space1</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5" name="Rectangle 10"/>
          <p:cNvSpPr>
            <a:spLocks noChangeArrowheads="1"/>
          </p:cNvSpPr>
          <p:nvPr/>
        </p:nvSpPr>
        <p:spPr bwMode="auto">
          <a:xfrm>
            <a:off x="2539901"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40" name="Rectangle 9"/>
          <p:cNvSpPr>
            <a:spLocks noChangeArrowheads="1"/>
          </p:cNvSpPr>
          <p:nvPr/>
        </p:nvSpPr>
        <p:spPr bwMode="auto">
          <a:xfrm>
            <a:off x="3863603"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1" name="Rectangle 10"/>
          <p:cNvSpPr>
            <a:spLocks noChangeArrowheads="1"/>
          </p:cNvSpPr>
          <p:nvPr/>
        </p:nvSpPr>
        <p:spPr bwMode="auto">
          <a:xfrm>
            <a:off x="419691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2" name="Rectangle 11"/>
          <p:cNvSpPr>
            <a:spLocks noChangeArrowheads="1"/>
          </p:cNvSpPr>
          <p:nvPr/>
        </p:nvSpPr>
        <p:spPr bwMode="auto">
          <a:xfrm>
            <a:off x="4532059"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 name="右大括号 5"/>
          <p:cNvSpPr/>
          <p:nvPr/>
        </p:nvSpPr>
        <p:spPr>
          <a:xfrm>
            <a:off x="6444282" y="4365104"/>
            <a:ext cx="155448"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599730" y="4490280"/>
            <a:ext cx="2448272" cy="461665"/>
          </a:xfrm>
          <a:prstGeom prst="rect">
            <a:avLst/>
          </a:prstGeom>
          <a:noFill/>
        </p:spPr>
        <p:txBody>
          <a:bodyPr wrap="square" rtlCol="0">
            <a:spAutoFit/>
          </a:bodyPr>
          <a:lstStyle/>
          <a:p>
            <a:r>
              <a:rPr lang="zh-CN" altLang="en-US" sz="1200" dirty="0">
                <a:solidFill>
                  <a:srgbClr val="FF0000"/>
                </a:solidFill>
              </a:rPr>
              <a:t>在同一个</a:t>
            </a:r>
            <a:r>
              <a:rPr lang="en-US" altLang="zh-CN" sz="1200" dirty="0">
                <a:solidFill>
                  <a:srgbClr val="FF0000"/>
                </a:solidFill>
              </a:rPr>
              <a:t>space</a:t>
            </a:r>
            <a:r>
              <a:rPr lang="zh-CN" altLang="en-US" sz="1200" dirty="0">
                <a:solidFill>
                  <a:srgbClr val="FF0000"/>
                </a:solidFill>
              </a:rPr>
              <a:t>中，并且其他实体都在红色实体附近</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a:t>
            </a:r>
            <a:r>
              <a:rPr lang="en-AU" altLang="zh-CN" sz="3600" dirty="0">
                <a:solidFill>
                  <a:schemeClr val="accent1"/>
                </a:solidFill>
                <a:ea typeface="宋体" panose="02010600030101010101" pitchFamily="2" charset="-122"/>
              </a:rPr>
              <a:t>CELL_PUBLIC_AND_OWN</a:t>
            </a:r>
            <a:endParaRPr lang="zh-CN" altLang="en-US" sz="36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000" dirty="0">
                <a:ea typeface="宋体" panose="02010600030101010101" pitchFamily="2" charset="-122"/>
              </a:rPr>
              <a:t>属于</a:t>
            </a:r>
            <a:r>
              <a:rPr lang="en-AU" altLang="zh-CN" sz="2000" dirty="0">
                <a:ea typeface="宋体" panose="02010600030101010101" pitchFamily="2" charset="-122"/>
              </a:rPr>
              <a:t>Real Entity</a:t>
            </a:r>
          </a:p>
          <a:p>
            <a:pPr marL="0" indent="0">
              <a:buNone/>
            </a:pPr>
            <a:r>
              <a:rPr lang="zh-CN" altLang="en-AU" sz="2000" dirty="0">
                <a:ea typeface="宋体" panose="02010600030101010101" pitchFamily="2" charset="-122"/>
              </a:rPr>
              <a:t>        </a:t>
            </a:r>
            <a:r>
              <a:rPr lang="zh-CN" altLang="en-AU" sz="1600" dirty="0">
                <a:ea typeface="宋体" panose="02010600030101010101" pitchFamily="2" charset="-122"/>
              </a:rPr>
              <a:t>它所属于的</a:t>
            </a:r>
            <a:r>
              <a:rPr lang="en-AU" altLang="zh-CN" sz="1600" dirty="0">
                <a:ea typeface="宋体" panose="02010600030101010101" pitchFamily="2" charset="-122"/>
              </a:rPr>
              <a:t>Real Entity</a:t>
            </a:r>
            <a:r>
              <a:rPr lang="zh-CN" altLang="en-AU" sz="1600" dirty="0">
                <a:ea typeface="宋体" panose="02010600030101010101" pitchFamily="2" charset="-122"/>
              </a:rPr>
              <a:t>和其对应的</a:t>
            </a:r>
            <a:r>
              <a:rPr lang="en-AU" altLang="zh-CN" sz="1600" dirty="0">
                <a:ea typeface="宋体" panose="02010600030101010101" pitchFamily="2" charset="-122"/>
              </a:rPr>
              <a:t>ghost Entity</a:t>
            </a:r>
            <a:r>
              <a:rPr lang="zh-CN" altLang="en-AU" sz="1600" dirty="0">
                <a:ea typeface="宋体" panose="02010600030101010101" pitchFamily="2" charset="-122"/>
              </a:rPr>
              <a:t>上都可以访问</a:t>
            </a:r>
            <a:endParaRPr lang="en-AU" altLang="zh-CN" sz="1600" dirty="0">
              <a:ea typeface="宋体" panose="02010600030101010101" pitchFamily="2" charset="-122"/>
            </a:endParaRPr>
          </a:p>
          <a:p>
            <a:r>
              <a:rPr lang="zh-CN" altLang="en-GB" sz="2000" dirty="0">
                <a:ea typeface="宋体" panose="02010600030101010101" pitchFamily="2" charset="-122"/>
              </a:rPr>
              <a:t>该类属性的值的改变会被</a:t>
            </a:r>
            <a:r>
              <a:rPr lang="zh-CN" altLang="en-GB" sz="2000" dirty="0">
                <a:solidFill>
                  <a:srgbClr val="00B0F0"/>
                </a:solidFill>
                <a:ea typeface="宋体" panose="02010600030101010101" pitchFamily="2" charset="-122"/>
              </a:rPr>
              <a:t>发布到其对应的</a:t>
            </a:r>
            <a:r>
              <a:rPr lang="en-GB" altLang="zh-CN" sz="2000" dirty="0">
                <a:solidFill>
                  <a:srgbClr val="00B0F0"/>
                </a:solidFill>
                <a:ea typeface="宋体" panose="02010600030101010101" pitchFamily="2" charset="-122"/>
              </a:rPr>
              <a:t>ghost Entity</a:t>
            </a:r>
            <a:r>
              <a:rPr lang="zh-CN" altLang="en-GB" sz="2000" dirty="0">
                <a:ea typeface="宋体" panose="02010600030101010101" pitchFamily="2" charset="-122"/>
              </a:rPr>
              <a:t>上。在</a:t>
            </a:r>
            <a:r>
              <a:rPr lang="en-GB" altLang="zh-CN" sz="2000" dirty="0">
                <a:ea typeface="宋体" panose="02010600030101010101" pitchFamily="2" charset="-122"/>
              </a:rPr>
              <a:t>ghost Entity</a:t>
            </a:r>
            <a:r>
              <a:rPr lang="zh-CN" altLang="en-GB" sz="2000" dirty="0">
                <a:ea typeface="宋体" panose="02010600030101010101" pitchFamily="2" charset="-122"/>
              </a:rPr>
              <a:t>上这类属性只是只读的属性</a:t>
            </a:r>
            <a:endParaRPr lang="en-US" altLang="zh-CN" sz="2000" dirty="0">
              <a:ea typeface="宋体" panose="02010600030101010101" pitchFamily="2" charset="-122"/>
            </a:endParaRPr>
          </a:p>
          <a:p>
            <a:r>
              <a:rPr lang="zh-CN" altLang="en-GB" sz="2000" dirty="0">
                <a:ea typeface="宋体" panose="02010600030101010101" pitchFamily="2" charset="-122"/>
              </a:rPr>
              <a:t>该类属性的值的改变也会被</a:t>
            </a:r>
            <a:r>
              <a:rPr lang="zh-CN" altLang="en-GB" sz="2000" dirty="0">
                <a:solidFill>
                  <a:srgbClr val="00B0F0"/>
                </a:solidFill>
                <a:ea typeface="宋体" panose="02010600030101010101" pitchFamily="2" charset="-122"/>
              </a:rPr>
              <a:t>发布到其对应的自己的客户端的</a:t>
            </a:r>
            <a:r>
              <a:rPr lang="en-GB" altLang="zh-CN" sz="2000" dirty="0">
                <a:solidFill>
                  <a:srgbClr val="00B0F0"/>
                </a:solidFill>
                <a:ea typeface="宋体" panose="02010600030101010101" pitchFamily="2" charset="-122"/>
              </a:rPr>
              <a:t>entity</a:t>
            </a:r>
            <a:r>
              <a:rPr lang="zh-CN" altLang="en-GB" sz="2000" dirty="0">
                <a:ea typeface="宋体" panose="02010600030101010101" pitchFamily="2" charset="-122"/>
              </a:rPr>
              <a:t>上。并且会有脚本的回调</a:t>
            </a:r>
            <a:r>
              <a:rPr lang="en-US" altLang="zh-CN" sz="2000" dirty="0">
                <a:ea typeface="宋体" panose="02010600030101010101" pitchFamily="2" charset="-122"/>
              </a:rPr>
              <a:t>(</a:t>
            </a:r>
            <a:r>
              <a:rPr lang="en-AU" altLang="zh-CN" sz="2000" dirty="0">
                <a:solidFill>
                  <a:srgbClr val="FF0000"/>
                </a:solidFill>
                <a:latin typeface="Courier New" panose="02070309020205020404" pitchFamily="49" charset="0"/>
              </a:rPr>
              <a:t>set_&lt;</a:t>
            </a:r>
            <a:r>
              <a:rPr lang="en-AU" altLang="zh-CN" sz="2000" dirty="0" err="1">
                <a:solidFill>
                  <a:srgbClr val="FF0000"/>
                </a:solidFill>
                <a:latin typeface="Courier New" panose="02070309020205020404" pitchFamily="49" charset="0"/>
              </a:rPr>
              <a:t>property_name</a:t>
            </a:r>
            <a:r>
              <a:rPr lang="en-AU" altLang="zh-CN" sz="2000" dirty="0">
                <a:solidFill>
                  <a:srgbClr val="FF0000"/>
                </a:solidFill>
                <a:latin typeface="Courier New" panose="02070309020205020404" pitchFamily="49" charset="0"/>
              </a:rPr>
              <a:t>&gt;()</a:t>
            </a:r>
            <a:r>
              <a:rPr lang="en-AU" altLang="zh-CN" sz="2000" dirty="0">
                <a:solidFill>
                  <a:schemeClr val="tx1"/>
                </a:solidFill>
                <a:latin typeface="Courier New" panose="02070309020205020404" pitchFamily="49" charset="0"/>
              </a:rPr>
              <a:t>)</a:t>
            </a:r>
            <a:r>
              <a:rPr lang="zh-CN" altLang="en-GB" sz="2000" dirty="0">
                <a:ea typeface="宋体" panose="02010600030101010101" pitchFamily="2" charset="-122"/>
              </a:rPr>
              <a:t>函数会被调用</a:t>
            </a:r>
            <a:endParaRPr lang="en-US" altLang="zh-CN" sz="2000" dirty="0">
              <a:ea typeface="宋体" panose="02010600030101010101" pitchFamily="2" charset="-122"/>
            </a:endParaRPr>
          </a:p>
          <a:p>
            <a:r>
              <a:rPr lang="zh-CN" altLang="en-AU" sz="2000" dirty="0">
                <a:ea typeface="宋体" panose="02010600030101010101" pitchFamily="2" charset="-122"/>
              </a:rPr>
              <a:t>例如</a:t>
            </a:r>
            <a:r>
              <a:rPr lang="en-AU" altLang="zh-CN" sz="2000" dirty="0"/>
              <a:t>:</a:t>
            </a:r>
          </a:p>
          <a:p>
            <a:pPr marL="182245" lvl="1" indent="0">
              <a:buNone/>
            </a:pPr>
            <a:r>
              <a:rPr lang="zh-CN" altLang="en-AU" sz="1600" dirty="0">
                <a:ea typeface="宋体" panose="02010600030101010101" pitchFamily="2" charset="-122"/>
              </a:rPr>
              <a:t>        </a:t>
            </a:r>
            <a:r>
              <a:rPr lang="en-US" altLang="zh-CN" sz="1600" dirty="0">
                <a:ea typeface="宋体" panose="02010600030101010101" pitchFamily="2" charset="-122"/>
              </a:rPr>
              <a:t>Avatar</a:t>
            </a:r>
            <a:r>
              <a:rPr lang="zh-CN" altLang="en-AU" sz="1600" dirty="0">
                <a:ea typeface="宋体" panose="02010600030101010101" pitchFamily="2" charset="-122"/>
              </a:rPr>
              <a:t>的</a:t>
            </a:r>
            <a:r>
              <a:rPr lang="zh-CN" altLang="en-US" sz="1600" dirty="0">
                <a:ea typeface="宋体" panose="02010600030101010101" pitchFamily="2" charset="-122"/>
              </a:rPr>
              <a:t>敌人列表</a:t>
            </a:r>
            <a:r>
              <a:rPr lang="zh-CN" altLang="en-US" sz="1600" dirty="0"/>
              <a:t>，服务端其他实体</a:t>
            </a:r>
            <a:r>
              <a:rPr lang="en-US" altLang="zh-CN" sz="1600" dirty="0"/>
              <a:t>AI</a:t>
            </a:r>
            <a:r>
              <a:rPr lang="zh-CN" altLang="en-US" sz="1600" dirty="0"/>
              <a:t>可以检查</a:t>
            </a:r>
            <a:r>
              <a:rPr lang="en-US" altLang="zh-CN" sz="1600" dirty="0"/>
              <a:t>Avatar</a:t>
            </a:r>
            <a:r>
              <a:rPr lang="zh-CN" altLang="en-US" sz="1600" dirty="0"/>
              <a:t>敌人列表并协助战斗，客户端可以显示敌人列表中的仇恨值做排名，而其他客户端则不需要看到当前</a:t>
            </a:r>
            <a:r>
              <a:rPr lang="en-US" altLang="zh-CN" sz="1600" dirty="0"/>
              <a:t>Avatar</a:t>
            </a:r>
            <a:r>
              <a:rPr lang="zh-CN" altLang="en-US" sz="1600" dirty="0"/>
              <a:t>的仇恨列表</a:t>
            </a:r>
            <a:endParaRPr lang="en-AU" altLang="zh-CN" sz="1600" dirty="0"/>
          </a:p>
          <a:p>
            <a:pPr marL="0" indent="0">
              <a:buNone/>
            </a:pPr>
            <a:endParaRPr lang="en-US" altLang="zh-CN" sz="2000" dirty="0">
              <a:ea typeface="宋体" panose="02010600030101010101" pitchFamily="2" charset="-122"/>
            </a:endParaRPr>
          </a:p>
          <a:p>
            <a:pPr marL="0" indent="0">
              <a:buNone/>
            </a:pPr>
            <a:r>
              <a:rPr lang="en-US" altLang="zh-CN" sz="2000" dirty="0">
                <a:ea typeface="宋体" panose="02010600030101010101" pitchFamily="2" charset="-122"/>
              </a:rPr>
              <a:t>             </a:t>
            </a:r>
            <a:endParaRPr lang="en-AU" altLang="zh-CN" sz="20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3"/>
            <a:ext cx="7675280" cy="2232774"/>
            <a:chOff x="1066" y="1739"/>
            <a:chExt cx="4168" cy="1375"/>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710" cy="288"/>
              <a:chOff x="1066" y="1739"/>
              <a:chExt cx="710" cy="288"/>
            </a:xfrm>
          </p:grpSpPr>
          <p:sp>
            <p:nvSpPr>
              <p:cNvPr id="85" name="Rectangle 7"/>
              <p:cNvSpPr>
                <a:spLocks noChangeArrowheads="1"/>
              </p:cNvSpPr>
              <p:nvPr/>
            </p:nvSpPr>
            <p:spPr bwMode="auto">
              <a:xfrm>
                <a:off x="1066" y="1739"/>
                <a:ext cx="626"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597"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Cellapp1-space1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061" y="1739"/>
              <a:ext cx="649" cy="288"/>
              <a:chOff x="950" y="1739"/>
              <a:chExt cx="649" cy="288"/>
            </a:xfrm>
          </p:grpSpPr>
          <p:sp>
            <p:nvSpPr>
              <p:cNvPr id="80" name="Rectangle 15"/>
              <p:cNvSpPr>
                <a:spLocks noChangeArrowheads="1"/>
              </p:cNvSpPr>
              <p:nvPr/>
            </p:nvSpPr>
            <p:spPr bwMode="auto">
              <a:xfrm>
                <a:off x="950" y="1739"/>
                <a:ext cx="61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011" y="1875"/>
                <a:ext cx="58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Cellapp2-space1</a:t>
                </a:r>
                <a:endParaRPr lang="en-AU" sz="1000" b="1" dirty="0">
                  <a:solidFill>
                    <a:schemeClr val="tx2">
                      <a:lumMod val="75000"/>
                    </a:schemeClr>
                  </a:solidFill>
                </a:endParaRPr>
              </a:p>
            </p:txBody>
          </p:sp>
          <p:sp>
            <p:nvSpPr>
              <p:cNvPr id="82" name="Rectangle 17"/>
              <p:cNvSpPr>
                <a:spLocks noChangeArrowheads="1"/>
              </p:cNvSpPr>
              <p:nvPr/>
            </p:nvSpPr>
            <p:spPr bwMode="auto">
              <a:xfrm>
                <a:off x="1047" y="1762"/>
                <a:ext cx="76"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83" name="Rectangle 18"/>
              <p:cNvSpPr>
                <a:spLocks noChangeArrowheads="1"/>
              </p:cNvSpPr>
              <p:nvPr/>
            </p:nvSpPr>
            <p:spPr bwMode="auto">
              <a:xfrm>
                <a:off x="123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4" name="Rectangle 19"/>
              <p:cNvSpPr>
                <a:spLocks noChangeArrowheads="1"/>
              </p:cNvSpPr>
              <p:nvPr/>
            </p:nvSpPr>
            <p:spPr bwMode="auto">
              <a:xfrm>
                <a:off x="1413"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1" name="Group 22"/>
            <p:cNvGrpSpPr/>
            <p:nvPr/>
          </p:nvGrpSpPr>
          <p:grpSpPr bwMode="auto">
            <a:xfrm>
              <a:off x="3129" y="1739"/>
              <a:ext cx="674" cy="261"/>
              <a:chOff x="929" y="1739"/>
              <a:chExt cx="674" cy="261"/>
            </a:xfrm>
          </p:grpSpPr>
          <p:sp>
            <p:nvSpPr>
              <p:cNvPr id="76" name="Rectangle 23"/>
              <p:cNvSpPr>
                <a:spLocks noChangeArrowheads="1"/>
              </p:cNvSpPr>
              <p:nvPr/>
            </p:nvSpPr>
            <p:spPr bwMode="auto">
              <a:xfrm>
                <a:off x="929" y="1739"/>
                <a:ext cx="67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056"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8" name="Rectangle 26"/>
              <p:cNvSpPr>
                <a:spLocks noChangeArrowheads="1"/>
              </p:cNvSpPr>
              <p:nvPr/>
            </p:nvSpPr>
            <p:spPr bwMode="auto">
              <a:xfrm>
                <a:off x="1237"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Rectangle 27"/>
              <p:cNvSpPr>
                <a:spLocks noChangeArrowheads="1"/>
              </p:cNvSpPr>
              <p:nvPr/>
            </p:nvSpPr>
            <p:spPr bwMode="auto">
              <a:xfrm>
                <a:off x="1419"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gn="l">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4860032" y="4725144"/>
            <a:ext cx="11516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Cellapp3-space1</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95" name="Rectangle 10"/>
          <p:cNvSpPr>
            <a:spLocks noChangeArrowheads="1"/>
          </p:cNvSpPr>
          <p:nvPr/>
        </p:nvSpPr>
        <p:spPr bwMode="auto">
          <a:xfrm>
            <a:off x="2539901"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40" name="Rectangle 9"/>
          <p:cNvSpPr>
            <a:spLocks noChangeArrowheads="1"/>
          </p:cNvSpPr>
          <p:nvPr/>
        </p:nvSpPr>
        <p:spPr bwMode="auto">
          <a:xfrm>
            <a:off x="3863603"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41" name="Rectangle 10"/>
          <p:cNvSpPr>
            <a:spLocks noChangeArrowheads="1"/>
          </p:cNvSpPr>
          <p:nvPr/>
        </p:nvSpPr>
        <p:spPr bwMode="auto">
          <a:xfrm>
            <a:off x="419691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2" name="Rectangle 11"/>
          <p:cNvSpPr>
            <a:spLocks noChangeArrowheads="1"/>
          </p:cNvSpPr>
          <p:nvPr/>
        </p:nvSpPr>
        <p:spPr bwMode="auto">
          <a:xfrm>
            <a:off x="4532059"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1</a:t>
            </a:r>
            <a:endParaRPr lang="zh-CN" altLang="en-US" sz="800" dirty="0">
              <a:solidFill>
                <a:schemeClr val="tx1"/>
              </a:solidFill>
            </a:endParaRPr>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t>2</a:t>
            </a:r>
            <a:endParaRPr lang="zh-CN" altLang="en-US" sz="800" dirty="0"/>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 name="右大括号 5"/>
          <p:cNvSpPr/>
          <p:nvPr/>
        </p:nvSpPr>
        <p:spPr>
          <a:xfrm>
            <a:off x="6444282" y="4365104"/>
            <a:ext cx="155448"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599730" y="4490280"/>
            <a:ext cx="2448272" cy="461665"/>
          </a:xfrm>
          <a:prstGeom prst="rect">
            <a:avLst/>
          </a:prstGeom>
          <a:noFill/>
        </p:spPr>
        <p:txBody>
          <a:bodyPr wrap="square" rtlCol="0">
            <a:spAutoFit/>
          </a:bodyPr>
          <a:lstStyle/>
          <a:p>
            <a:r>
              <a:rPr lang="zh-CN" altLang="en-US" sz="1200" dirty="0">
                <a:solidFill>
                  <a:srgbClr val="FF0000"/>
                </a:solidFill>
              </a:rPr>
              <a:t>在同一个</a:t>
            </a:r>
            <a:r>
              <a:rPr lang="en-US" altLang="zh-CN" sz="1200" dirty="0">
                <a:solidFill>
                  <a:srgbClr val="FF0000"/>
                </a:solidFill>
              </a:rPr>
              <a:t>space</a:t>
            </a:r>
            <a:r>
              <a:rPr lang="zh-CN" altLang="en-US" sz="1200" dirty="0">
                <a:solidFill>
                  <a:srgbClr val="FF0000"/>
                </a:solidFill>
              </a:rPr>
              <a:t>中，并且其他实体都在红色实体附近</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ALL_CLIENTS</a:t>
            </a:r>
            <a:endParaRPr lang="zh-CN" altLang="en-US" sz="36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1600" dirty="0">
                <a:ea typeface="宋体" panose="02010600030101010101" pitchFamily="2" charset="-122"/>
              </a:rPr>
              <a:t>属于</a:t>
            </a:r>
            <a:r>
              <a:rPr lang="en-AU" altLang="zh-CN" sz="1600" dirty="0">
                <a:ea typeface="宋体" panose="02010600030101010101" pitchFamily="2" charset="-122"/>
              </a:rPr>
              <a:t>Real Entity</a:t>
            </a:r>
          </a:p>
          <a:p>
            <a:pPr marL="0" indent="0">
              <a:buNone/>
            </a:pPr>
            <a:r>
              <a:rPr lang="zh-CN" altLang="en-AU" sz="1600" dirty="0">
                <a:solidFill>
                  <a:srgbClr val="00B0F0"/>
                </a:solidFill>
                <a:ea typeface="宋体" panose="02010600030101010101" pitchFamily="2" charset="-122"/>
              </a:rPr>
              <a:t>        </a:t>
            </a:r>
            <a:r>
              <a:rPr lang="zh-CN" altLang="en-AU" sz="1200" dirty="0">
                <a:solidFill>
                  <a:srgbClr val="00B0F0"/>
                </a:solidFill>
                <a:ea typeface="宋体" panose="02010600030101010101" pitchFamily="2" charset="-122"/>
              </a:rPr>
              <a:t>它所属于的</a:t>
            </a:r>
            <a:r>
              <a:rPr lang="en-AU" altLang="zh-CN" sz="1200" dirty="0">
                <a:solidFill>
                  <a:srgbClr val="00B0F0"/>
                </a:solidFill>
                <a:ea typeface="宋体" panose="02010600030101010101" pitchFamily="2" charset="-122"/>
              </a:rPr>
              <a:t>Real Entity</a:t>
            </a:r>
            <a:r>
              <a:rPr lang="zh-CN" altLang="en-AU" sz="1200" dirty="0">
                <a:solidFill>
                  <a:srgbClr val="00B0F0"/>
                </a:solidFill>
                <a:ea typeface="宋体" panose="02010600030101010101" pitchFamily="2" charset="-122"/>
              </a:rPr>
              <a:t>和其对应的</a:t>
            </a:r>
            <a:r>
              <a:rPr lang="en-AU" altLang="zh-CN" sz="1200" dirty="0">
                <a:solidFill>
                  <a:srgbClr val="00B0F0"/>
                </a:solidFill>
                <a:ea typeface="宋体" panose="02010600030101010101" pitchFamily="2" charset="-122"/>
              </a:rPr>
              <a:t>ghost Entity</a:t>
            </a:r>
            <a:r>
              <a:rPr lang="zh-CN" altLang="en-AU" sz="1200" dirty="0">
                <a:solidFill>
                  <a:srgbClr val="00B0F0"/>
                </a:solidFill>
                <a:ea typeface="宋体" panose="02010600030101010101" pitchFamily="2" charset="-122"/>
              </a:rPr>
              <a:t>上都可以访问</a:t>
            </a:r>
            <a:endParaRPr lang="en-AU" altLang="zh-CN" sz="1200" dirty="0">
              <a:solidFill>
                <a:srgbClr val="00B0F0"/>
              </a:solidFill>
              <a:ea typeface="宋体" panose="02010600030101010101" pitchFamily="2" charset="-122"/>
            </a:endParaRPr>
          </a:p>
          <a:p>
            <a:r>
              <a:rPr lang="zh-CN" altLang="en-GB" sz="1600" dirty="0">
                <a:ea typeface="宋体" panose="02010600030101010101" pitchFamily="2" charset="-122"/>
              </a:rPr>
              <a:t>该类属性的值的改变会被发布到其对应的</a:t>
            </a:r>
            <a:r>
              <a:rPr lang="en-GB" altLang="zh-CN" sz="1600" dirty="0">
                <a:ea typeface="宋体" panose="02010600030101010101" pitchFamily="2" charset="-122"/>
              </a:rPr>
              <a:t>ghost Entity</a:t>
            </a:r>
            <a:r>
              <a:rPr lang="zh-CN" altLang="en-GB" sz="1600" dirty="0">
                <a:ea typeface="宋体" panose="02010600030101010101" pitchFamily="2" charset="-122"/>
              </a:rPr>
              <a:t>上。在</a:t>
            </a:r>
            <a:r>
              <a:rPr lang="en-GB" altLang="zh-CN" sz="1600" dirty="0">
                <a:ea typeface="宋体" panose="02010600030101010101" pitchFamily="2" charset="-122"/>
              </a:rPr>
              <a:t>ghost Entity</a:t>
            </a:r>
            <a:r>
              <a:rPr lang="zh-CN" altLang="en-GB" sz="1600" dirty="0">
                <a:ea typeface="宋体" panose="02010600030101010101" pitchFamily="2" charset="-122"/>
              </a:rPr>
              <a:t>上这类属性只是只读的属性</a:t>
            </a:r>
            <a:endParaRPr lang="en-US" altLang="zh-CN" sz="1600" dirty="0">
              <a:ea typeface="宋体" panose="02010600030101010101" pitchFamily="2" charset="-122"/>
            </a:endParaRPr>
          </a:p>
          <a:p>
            <a:r>
              <a:rPr lang="zh-CN" altLang="en-GB" sz="1600" dirty="0">
                <a:ea typeface="宋体" panose="02010600030101010101" pitchFamily="2" charset="-122"/>
              </a:rPr>
              <a:t>该类属性的值的改变也会被发布到其对应的</a:t>
            </a:r>
            <a:r>
              <a:rPr lang="zh-CN" altLang="en-GB" sz="1600" dirty="0">
                <a:solidFill>
                  <a:srgbClr val="00B0F0"/>
                </a:solidFill>
                <a:ea typeface="宋体" panose="02010600030101010101" pitchFamily="2" charset="-122"/>
              </a:rPr>
              <a:t>自己的客户端的</a:t>
            </a:r>
            <a:r>
              <a:rPr lang="en-GB" altLang="zh-CN" sz="1600" dirty="0">
                <a:solidFill>
                  <a:srgbClr val="00B0F0"/>
                </a:solidFill>
                <a:ea typeface="宋体" panose="02010600030101010101" pitchFamily="2" charset="-122"/>
              </a:rPr>
              <a:t>Entity</a:t>
            </a:r>
            <a:r>
              <a:rPr lang="zh-CN" altLang="en-GB" sz="1600" dirty="0">
                <a:ea typeface="宋体" panose="02010600030101010101" pitchFamily="2" charset="-122"/>
              </a:rPr>
              <a:t>上。并且会有脚本的回调</a:t>
            </a:r>
            <a:r>
              <a:rPr lang="en-US" altLang="zh-CN" sz="1600" dirty="0">
                <a:ea typeface="宋体" panose="02010600030101010101" pitchFamily="2" charset="-122"/>
              </a:rPr>
              <a:t>(</a:t>
            </a:r>
            <a:r>
              <a:rPr lang="en-AU" altLang="zh-CN" sz="1600" dirty="0">
                <a:solidFill>
                  <a:srgbClr val="FF0000"/>
                </a:solidFill>
                <a:latin typeface="Courier New" panose="02070309020205020404" pitchFamily="49" charset="0"/>
              </a:rPr>
              <a:t>set_&lt;</a:t>
            </a:r>
            <a:r>
              <a:rPr lang="en-AU" altLang="zh-CN" sz="1600" dirty="0" err="1">
                <a:solidFill>
                  <a:srgbClr val="FF0000"/>
                </a:solidFill>
                <a:latin typeface="Courier New" panose="02070309020205020404" pitchFamily="49" charset="0"/>
              </a:rPr>
              <a:t>property_name</a:t>
            </a:r>
            <a:r>
              <a:rPr lang="en-AU" altLang="zh-CN" sz="1600" dirty="0">
                <a:solidFill>
                  <a:srgbClr val="FF0000"/>
                </a:solidFill>
                <a:latin typeface="Courier New" panose="02070309020205020404" pitchFamily="49" charset="0"/>
              </a:rPr>
              <a:t>&gt;()</a:t>
            </a:r>
            <a:r>
              <a:rPr lang="en-AU" altLang="zh-CN" sz="1600" dirty="0">
                <a:solidFill>
                  <a:schemeClr val="tx1"/>
                </a:solidFill>
                <a:latin typeface="Courier New" panose="02070309020205020404" pitchFamily="49" charset="0"/>
              </a:rPr>
              <a:t>)</a:t>
            </a:r>
            <a:r>
              <a:rPr lang="zh-CN" altLang="en-GB" sz="1600" dirty="0">
                <a:ea typeface="宋体" panose="02010600030101010101" pitchFamily="2" charset="-122"/>
              </a:rPr>
              <a:t>函数会被调用</a:t>
            </a:r>
            <a:endParaRPr lang="en-US" altLang="zh-CN" sz="1600" dirty="0">
              <a:ea typeface="宋体" panose="02010600030101010101" pitchFamily="2" charset="-122"/>
            </a:endParaRPr>
          </a:p>
          <a:p>
            <a:r>
              <a:rPr lang="zh-CN" altLang="en-GB" sz="1600" dirty="0">
                <a:ea typeface="宋体" panose="02010600030101010101" pitchFamily="2" charset="-122"/>
              </a:rPr>
              <a:t>如果其它的玩家的</a:t>
            </a:r>
            <a:r>
              <a:rPr lang="en-GB" altLang="zh-CN" sz="1600" dirty="0">
                <a:solidFill>
                  <a:srgbClr val="00B0F0"/>
                </a:solidFill>
                <a:ea typeface="宋体" panose="02010600030101010101" pitchFamily="2" charset="-122"/>
              </a:rPr>
              <a:t>AOI</a:t>
            </a:r>
            <a:r>
              <a:rPr lang="zh-CN" altLang="en-GB" sz="1600" dirty="0">
                <a:solidFill>
                  <a:srgbClr val="00B0F0"/>
                </a:solidFill>
                <a:ea typeface="宋体" panose="02010600030101010101" pitchFamily="2" charset="-122"/>
              </a:rPr>
              <a:t>范围内有这个属性隶属的</a:t>
            </a:r>
            <a:r>
              <a:rPr lang="en-GB" altLang="zh-CN" sz="1600" dirty="0">
                <a:solidFill>
                  <a:srgbClr val="00B0F0"/>
                </a:solidFill>
                <a:ea typeface="宋体" panose="02010600030101010101" pitchFamily="2" charset="-122"/>
              </a:rPr>
              <a:t>Entity</a:t>
            </a:r>
            <a:r>
              <a:rPr lang="zh-CN" altLang="en-GB" sz="1600" dirty="0">
                <a:ea typeface="宋体" panose="02010600030101010101" pitchFamily="2" charset="-122"/>
              </a:rPr>
              <a:t>，那么这个属性的值的改变也会被发布这些玩家的客户端的该</a:t>
            </a:r>
            <a:r>
              <a:rPr lang="en-GB" altLang="zh-CN" sz="1600" dirty="0">
                <a:ea typeface="宋体" panose="02010600030101010101" pitchFamily="2" charset="-122"/>
              </a:rPr>
              <a:t>Entity</a:t>
            </a:r>
            <a:r>
              <a:rPr lang="zh-CN" altLang="en-GB" sz="1600" dirty="0">
                <a:ea typeface="宋体" panose="02010600030101010101" pitchFamily="2" charset="-122"/>
              </a:rPr>
              <a:t>上</a:t>
            </a:r>
            <a:r>
              <a:rPr lang="zh-CN" altLang="en-US" sz="1600" dirty="0">
                <a:ea typeface="宋体" panose="02010600030101010101" pitchFamily="2" charset="-122"/>
              </a:rPr>
              <a:t>。</a:t>
            </a:r>
            <a:r>
              <a:rPr lang="zh-CN" altLang="en-GB" sz="1600" dirty="0">
                <a:ea typeface="宋体" panose="02010600030101010101" pitchFamily="2" charset="-122"/>
              </a:rPr>
              <a:t>并且会有脚本的回调</a:t>
            </a:r>
            <a:r>
              <a:rPr lang="en-US" altLang="zh-CN" sz="1600" dirty="0">
                <a:ea typeface="宋体" panose="02010600030101010101" pitchFamily="2" charset="-122"/>
              </a:rPr>
              <a:t>(</a:t>
            </a:r>
            <a:r>
              <a:rPr lang="en-AU" altLang="zh-CN" sz="1600" dirty="0">
                <a:solidFill>
                  <a:srgbClr val="FF0000"/>
                </a:solidFill>
                <a:latin typeface="Courier New" panose="02070309020205020404" pitchFamily="49" charset="0"/>
              </a:rPr>
              <a:t>set_&lt;</a:t>
            </a:r>
            <a:r>
              <a:rPr lang="en-AU" altLang="zh-CN" sz="1600" dirty="0" err="1">
                <a:solidFill>
                  <a:srgbClr val="FF0000"/>
                </a:solidFill>
                <a:latin typeface="Courier New" panose="02070309020205020404" pitchFamily="49" charset="0"/>
              </a:rPr>
              <a:t>property_name</a:t>
            </a:r>
            <a:r>
              <a:rPr lang="en-AU" altLang="zh-CN" sz="1600" dirty="0">
                <a:solidFill>
                  <a:srgbClr val="FF0000"/>
                </a:solidFill>
                <a:latin typeface="Courier New" panose="02070309020205020404" pitchFamily="49" charset="0"/>
              </a:rPr>
              <a:t>&gt;()</a:t>
            </a:r>
            <a:r>
              <a:rPr lang="en-AU" altLang="zh-CN" sz="1600" dirty="0">
                <a:solidFill>
                  <a:schemeClr val="tx1"/>
                </a:solidFill>
                <a:latin typeface="Courier New" panose="02070309020205020404" pitchFamily="49" charset="0"/>
              </a:rPr>
              <a:t>)</a:t>
            </a:r>
            <a:r>
              <a:rPr lang="zh-CN" altLang="en-GB" sz="1600" dirty="0">
                <a:ea typeface="宋体" panose="02010600030101010101" pitchFamily="2" charset="-122"/>
              </a:rPr>
              <a:t>函数会被调用</a:t>
            </a:r>
            <a:endParaRPr lang="en-US" altLang="zh-CN" sz="1600" dirty="0">
              <a:ea typeface="宋体" panose="02010600030101010101" pitchFamily="2" charset="-122"/>
            </a:endParaRPr>
          </a:p>
          <a:p>
            <a:r>
              <a:rPr lang="zh-CN" altLang="en-AU" sz="1600" dirty="0">
                <a:ea typeface="宋体" panose="02010600030101010101" pitchFamily="2" charset="-122"/>
              </a:rPr>
              <a:t>例如</a:t>
            </a:r>
            <a:r>
              <a:rPr lang="en-AU" altLang="zh-CN" sz="1600" dirty="0"/>
              <a:t>:</a:t>
            </a:r>
          </a:p>
          <a:p>
            <a:pPr marL="182245" lvl="1" indent="0">
              <a:buNone/>
            </a:pPr>
            <a:r>
              <a:rPr lang="zh-CN" altLang="en-AU" sz="1200" dirty="0">
                <a:ea typeface="宋体" panose="02010600030101010101" pitchFamily="2" charset="-122"/>
              </a:rPr>
              <a:t>        </a:t>
            </a:r>
            <a:r>
              <a:rPr lang="zh-CN" altLang="en-US" sz="1200" dirty="0">
                <a:ea typeface="宋体" panose="02010600030101010101" pitchFamily="2" charset="-122"/>
              </a:rPr>
              <a:t>实体名称</a:t>
            </a:r>
            <a:endParaRPr lang="en-US" altLang="zh-CN" sz="1200" dirty="0">
              <a:ea typeface="宋体" panose="02010600030101010101" pitchFamily="2" charset="-122"/>
            </a:endParaRPr>
          </a:p>
          <a:p>
            <a:pPr marL="182245" lvl="1" indent="0">
              <a:buNone/>
            </a:pPr>
            <a:r>
              <a:rPr lang="en-US" altLang="zh-CN" sz="1200" dirty="0">
                <a:ea typeface="宋体" panose="02010600030101010101" pitchFamily="2" charset="-122"/>
              </a:rPr>
              <a:t>        </a:t>
            </a:r>
            <a:r>
              <a:rPr lang="zh-CN" altLang="en-US" sz="1200" dirty="0">
                <a:ea typeface="宋体" panose="02010600030101010101" pitchFamily="2" charset="-122"/>
              </a:rPr>
              <a:t>实体血量与等级</a:t>
            </a:r>
            <a:endParaRPr lang="en-AU" altLang="zh-CN" sz="1200" dirty="0"/>
          </a:p>
          <a:p>
            <a:pPr marL="0" indent="0">
              <a:buNone/>
            </a:pPr>
            <a:endParaRPr lang="en-US" altLang="zh-CN" sz="1600" dirty="0">
              <a:ea typeface="宋体" panose="02010600030101010101" pitchFamily="2" charset="-122"/>
            </a:endParaRP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3"/>
            <a:ext cx="7675280" cy="2232774"/>
            <a:chOff x="1066" y="1739"/>
            <a:chExt cx="4168" cy="1375"/>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710" cy="288"/>
              <a:chOff x="1066" y="1739"/>
              <a:chExt cx="710" cy="288"/>
            </a:xfrm>
          </p:grpSpPr>
          <p:sp>
            <p:nvSpPr>
              <p:cNvPr id="85" name="Rectangle 7"/>
              <p:cNvSpPr>
                <a:spLocks noChangeArrowheads="1"/>
              </p:cNvSpPr>
              <p:nvPr/>
            </p:nvSpPr>
            <p:spPr bwMode="auto">
              <a:xfrm>
                <a:off x="1066" y="1739"/>
                <a:ext cx="626"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597"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Cellapp1-space1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061" y="1739"/>
              <a:ext cx="649" cy="288"/>
              <a:chOff x="950" y="1739"/>
              <a:chExt cx="649" cy="288"/>
            </a:xfrm>
          </p:grpSpPr>
          <p:sp>
            <p:nvSpPr>
              <p:cNvPr id="80" name="Rectangle 15"/>
              <p:cNvSpPr>
                <a:spLocks noChangeArrowheads="1"/>
              </p:cNvSpPr>
              <p:nvPr/>
            </p:nvSpPr>
            <p:spPr bwMode="auto">
              <a:xfrm>
                <a:off x="950" y="1739"/>
                <a:ext cx="61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011" y="1875"/>
                <a:ext cx="58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Cellapp2-space1</a:t>
                </a:r>
                <a:endParaRPr lang="en-AU" sz="1000" b="1" dirty="0">
                  <a:solidFill>
                    <a:schemeClr val="tx2">
                      <a:lumMod val="75000"/>
                    </a:schemeClr>
                  </a:solidFill>
                </a:endParaRPr>
              </a:p>
            </p:txBody>
          </p:sp>
          <p:sp>
            <p:nvSpPr>
              <p:cNvPr id="82" name="Rectangle 17"/>
              <p:cNvSpPr>
                <a:spLocks noChangeArrowheads="1"/>
              </p:cNvSpPr>
              <p:nvPr/>
            </p:nvSpPr>
            <p:spPr bwMode="auto">
              <a:xfrm>
                <a:off x="1047" y="1762"/>
                <a:ext cx="76"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83" name="Rectangle 18"/>
              <p:cNvSpPr>
                <a:spLocks noChangeArrowheads="1"/>
              </p:cNvSpPr>
              <p:nvPr/>
            </p:nvSpPr>
            <p:spPr bwMode="auto">
              <a:xfrm>
                <a:off x="123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4" name="Rectangle 19"/>
              <p:cNvSpPr>
                <a:spLocks noChangeArrowheads="1"/>
              </p:cNvSpPr>
              <p:nvPr/>
            </p:nvSpPr>
            <p:spPr bwMode="auto">
              <a:xfrm>
                <a:off x="1413"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1" name="Group 22"/>
            <p:cNvGrpSpPr/>
            <p:nvPr/>
          </p:nvGrpSpPr>
          <p:grpSpPr bwMode="auto">
            <a:xfrm>
              <a:off x="3129" y="1739"/>
              <a:ext cx="674" cy="261"/>
              <a:chOff x="929" y="1739"/>
              <a:chExt cx="674" cy="261"/>
            </a:xfrm>
          </p:grpSpPr>
          <p:sp>
            <p:nvSpPr>
              <p:cNvPr id="76" name="Rectangle 23"/>
              <p:cNvSpPr>
                <a:spLocks noChangeArrowheads="1"/>
              </p:cNvSpPr>
              <p:nvPr/>
            </p:nvSpPr>
            <p:spPr bwMode="auto">
              <a:xfrm>
                <a:off x="929" y="1739"/>
                <a:ext cx="67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056"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8" name="Rectangle 26"/>
              <p:cNvSpPr>
                <a:spLocks noChangeArrowheads="1"/>
              </p:cNvSpPr>
              <p:nvPr/>
            </p:nvSpPr>
            <p:spPr bwMode="auto">
              <a:xfrm>
                <a:off x="1237"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Rectangle 27"/>
              <p:cNvSpPr>
                <a:spLocks noChangeArrowheads="1"/>
              </p:cNvSpPr>
              <p:nvPr/>
            </p:nvSpPr>
            <p:spPr bwMode="auto">
              <a:xfrm>
                <a:off x="1419"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gn="l">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4860032" y="4725144"/>
            <a:ext cx="11516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Cellapp3-space1</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95" name="Rectangle 10"/>
          <p:cNvSpPr>
            <a:spLocks noChangeArrowheads="1"/>
          </p:cNvSpPr>
          <p:nvPr/>
        </p:nvSpPr>
        <p:spPr bwMode="auto">
          <a:xfrm>
            <a:off x="2539901"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40" name="Rectangle 9"/>
          <p:cNvSpPr>
            <a:spLocks noChangeArrowheads="1"/>
          </p:cNvSpPr>
          <p:nvPr/>
        </p:nvSpPr>
        <p:spPr bwMode="auto">
          <a:xfrm>
            <a:off x="3863603"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41" name="Rectangle 10"/>
          <p:cNvSpPr>
            <a:spLocks noChangeArrowheads="1"/>
          </p:cNvSpPr>
          <p:nvPr/>
        </p:nvSpPr>
        <p:spPr bwMode="auto">
          <a:xfrm>
            <a:off x="4196910"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2" name="Rectangle 11"/>
          <p:cNvSpPr>
            <a:spLocks noChangeArrowheads="1"/>
          </p:cNvSpPr>
          <p:nvPr/>
        </p:nvSpPr>
        <p:spPr bwMode="auto">
          <a:xfrm>
            <a:off x="4532059"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1</a:t>
            </a:r>
            <a:endParaRPr lang="zh-CN" altLang="en-US" sz="800" dirty="0">
              <a:solidFill>
                <a:schemeClr val="tx1"/>
              </a:solidFill>
            </a:endParaRPr>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t>2</a:t>
            </a:r>
            <a:endParaRPr lang="zh-CN" altLang="en-US" sz="800" dirty="0"/>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 name="右大括号 5"/>
          <p:cNvSpPr/>
          <p:nvPr/>
        </p:nvSpPr>
        <p:spPr>
          <a:xfrm>
            <a:off x="6444282" y="4365104"/>
            <a:ext cx="155448"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599730" y="4490280"/>
            <a:ext cx="2448272" cy="461665"/>
          </a:xfrm>
          <a:prstGeom prst="rect">
            <a:avLst/>
          </a:prstGeom>
          <a:noFill/>
        </p:spPr>
        <p:txBody>
          <a:bodyPr wrap="square" rtlCol="0">
            <a:spAutoFit/>
          </a:bodyPr>
          <a:lstStyle/>
          <a:p>
            <a:r>
              <a:rPr lang="zh-CN" altLang="en-US" sz="1200" dirty="0">
                <a:solidFill>
                  <a:srgbClr val="FF0000"/>
                </a:solidFill>
              </a:rPr>
              <a:t>在同一个</a:t>
            </a:r>
            <a:r>
              <a:rPr lang="en-US" altLang="zh-CN" sz="1200" dirty="0">
                <a:solidFill>
                  <a:srgbClr val="FF0000"/>
                </a:solidFill>
              </a:rPr>
              <a:t>space</a:t>
            </a:r>
            <a:r>
              <a:rPr lang="zh-CN" altLang="en-US" sz="1200" dirty="0">
                <a:solidFill>
                  <a:srgbClr val="FF0000"/>
                </a:solidFill>
              </a:rPr>
              <a:t>中，并且其他实体都在红色实体附近</a:t>
            </a:r>
          </a:p>
        </p:txBody>
      </p:sp>
      <p:sp>
        <p:nvSpPr>
          <p:cNvPr id="3" name="文本框 2"/>
          <p:cNvSpPr txBox="1"/>
          <p:nvPr/>
        </p:nvSpPr>
        <p:spPr>
          <a:xfrm>
            <a:off x="3505886" y="3272480"/>
            <a:ext cx="3107209" cy="369332"/>
          </a:xfrm>
          <a:prstGeom prst="rect">
            <a:avLst/>
          </a:prstGeom>
          <a:noFill/>
        </p:spPr>
        <p:txBody>
          <a:bodyPr wrap="square" rtlCol="0">
            <a:spAutoFit/>
          </a:bodyPr>
          <a:lstStyle/>
          <a:p>
            <a:r>
              <a:rPr lang="en-US" altLang="zh-CN" dirty="0">
                <a:solidFill>
                  <a:srgbClr val="FF0000"/>
                </a:solidFill>
              </a:rPr>
              <a:t>AOI</a:t>
            </a:r>
            <a:r>
              <a:rPr lang="zh-CN" altLang="en-US" dirty="0">
                <a:solidFill>
                  <a:srgbClr val="FF0000"/>
                </a:solidFill>
              </a:rPr>
              <a:t>范围内的所有</a:t>
            </a:r>
            <a:r>
              <a:rPr lang="en-US" altLang="zh-CN" dirty="0">
                <a:solidFill>
                  <a:srgbClr val="FF0000"/>
                </a:solidFill>
              </a:rPr>
              <a:t>client</a:t>
            </a:r>
            <a:endParaRPr lang="zh-CN" altLang="en-US"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OWN_CLIENT</a:t>
            </a:r>
            <a:endParaRPr lang="zh-CN" altLang="en-US" sz="36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1600" dirty="0">
                <a:ea typeface="宋体" panose="02010600030101010101" pitchFamily="2" charset="-122"/>
              </a:rPr>
              <a:t>属于</a:t>
            </a:r>
            <a:r>
              <a:rPr lang="en-AU" altLang="zh-CN" sz="1600" dirty="0">
                <a:ea typeface="宋体" panose="02010600030101010101" pitchFamily="2" charset="-122"/>
              </a:rPr>
              <a:t>Real Entity</a:t>
            </a:r>
          </a:p>
          <a:p>
            <a:r>
              <a:rPr lang="zh-CN" altLang="en-AU" sz="1600" dirty="0">
                <a:ea typeface="宋体" panose="02010600030101010101" pitchFamily="2" charset="-122"/>
              </a:rPr>
              <a:t>它所属于的</a:t>
            </a:r>
            <a:r>
              <a:rPr lang="en-AU" altLang="zh-CN" sz="1600" dirty="0">
                <a:solidFill>
                  <a:srgbClr val="00B0F0"/>
                </a:solidFill>
                <a:ea typeface="宋体" panose="02010600030101010101" pitchFamily="2" charset="-122"/>
              </a:rPr>
              <a:t>Real Entity</a:t>
            </a:r>
            <a:r>
              <a:rPr lang="zh-CN" altLang="en-AU" sz="1600" dirty="0">
                <a:solidFill>
                  <a:srgbClr val="00B0F0"/>
                </a:solidFill>
                <a:ea typeface="宋体" panose="02010600030101010101" pitchFamily="2" charset="-122"/>
              </a:rPr>
              <a:t>和自己的客户端可以访问</a:t>
            </a:r>
            <a:endParaRPr lang="en-US" altLang="zh-CN" sz="1600" dirty="0">
              <a:solidFill>
                <a:srgbClr val="00B0F0"/>
              </a:solidFill>
              <a:ea typeface="宋体" panose="02010600030101010101" pitchFamily="2" charset="-122"/>
            </a:endParaRPr>
          </a:p>
          <a:p>
            <a:r>
              <a:rPr lang="zh-CN" altLang="en-GB" sz="1600" dirty="0">
                <a:ea typeface="宋体" panose="02010600030101010101" pitchFamily="2" charset="-122"/>
              </a:rPr>
              <a:t>该类属性的值的改变也会被发布到其对应的</a:t>
            </a:r>
            <a:r>
              <a:rPr lang="zh-CN" altLang="en-GB" sz="1600" dirty="0">
                <a:solidFill>
                  <a:srgbClr val="00B0F0"/>
                </a:solidFill>
                <a:ea typeface="宋体" panose="02010600030101010101" pitchFamily="2" charset="-122"/>
              </a:rPr>
              <a:t>自己的客户端的</a:t>
            </a:r>
            <a:r>
              <a:rPr lang="en-GB" altLang="zh-CN" sz="1600" dirty="0">
                <a:solidFill>
                  <a:srgbClr val="00B0F0"/>
                </a:solidFill>
                <a:ea typeface="宋体" panose="02010600030101010101" pitchFamily="2" charset="-122"/>
              </a:rPr>
              <a:t>Entity</a:t>
            </a:r>
            <a:r>
              <a:rPr lang="zh-CN" altLang="en-GB" sz="1600" dirty="0">
                <a:ea typeface="宋体" panose="02010600030101010101" pitchFamily="2" charset="-122"/>
              </a:rPr>
              <a:t>上。并且会有脚本的回调</a:t>
            </a:r>
            <a:r>
              <a:rPr lang="en-US" altLang="zh-CN" sz="1600" dirty="0">
                <a:ea typeface="宋体" panose="02010600030101010101" pitchFamily="2" charset="-122"/>
              </a:rPr>
              <a:t>(</a:t>
            </a:r>
            <a:r>
              <a:rPr lang="en-AU" altLang="zh-CN" sz="1600" dirty="0">
                <a:solidFill>
                  <a:srgbClr val="FF0000"/>
                </a:solidFill>
                <a:latin typeface="Courier New" panose="02070309020205020404" pitchFamily="49" charset="0"/>
              </a:rPr>
              <a:t>set_&lt;</a:t>
            </a:r>
            <a:r>
              <a:rPr lang="en-AU" altLang="zh-CN" sz="1600" dirty="0" err="1">
                <a:solidFill>
                  <a:srgbClr val="FF0000"/>
                </a:solidFill>
                <a:latin typeface="Courier New" panose="02070309020205020404" pitchFamily="49" charset="0"/>
              </a:rPr>
              <a:t>property_name</a:t>
            </a:r>
            <a:r>
              <a:rPr lang="en-AU" altLang="zh-CN" sz="1600" dirty="0">
                <a:solidFill>
                  <a:srgbClr val="FF0000"/>
                </a:solidFill>
                <a:latin typeface="Courier New" panose="02070309020205020404" pitchFamily="49" charset="0"/>
              </a:rPr>
              <a:t>&gt;()</a:t>
            </a:r>
            <a:r>
              <a:rPr lang="en-AU" altLang="zh-CN" sz="1600" dirty="0">
                <a:solidFill>
                  <a:schemeClr val="tx1"/>
                </a:solidFill>
                <a:latin typeface="Courier New" panose="02070309020205020404" pitchFamily="49" charset="0"/>
              </a:rPr>
              <a:t>)</a:t>
            </a:r>
            <a:r>
              <a:rPr lang="zh-CN" altLang="en-GB" sz="1600" dirty="0">
                <a:ea typeface="宋体" panose="02010600030101010101" pitchFamily="2" charset="-122"/>
              </a:rPr>
              <a:t>函数会被调用</a:t>
            </a:r>
            <a:endParaRPr lang="en-AU" altLang="zh-CN" sz="1600" dirty="0">
              <a:ea typeface="宋体" panose="02010600030101010101" pitchFamily="2" charset="-122"/>
            </a:endParaRPr>
          </a:p>
          <a:p>
            <a:r>
              <a:rPr lang="zh-CN" altLang="en-AU" sz="1600" dirty="0">
                <a:ea typeface="宋体" panose="02010600030101010101" pitchFamily="2" charset="-122"/>
              </a:rPr>
              <a:t>例如</a:t>
            </a:r>
            <a:r>
              <a:rPr lang="en-AU" altLang="zh-CN" sz="1600" dirty="0"/>
              <a:t>:</a:t>
            </a:r>
          </a:p>
          <a:p>
            <a:pPr marL="182245" lvl="1" indent="0">
              <a:buNone/>
            </a:pPr>
            <a:r>
              <a:rPr lang="zh-CN" altLang="en-AU" sz="1200" dirty="0">
                <a:ea typeface="宋体" panose="02010600030101010101" pitchFamily="2" charset="-122"/>
              </a:rPr>
              <a:t>        </a:t>
            </a:r>
            <a:r>
              <a:rPr lang="zh-CN" altLang="en-US" sz="1200" dirty="0">
                <a:ea typeface="宋体" panose="02010600030101010101" pitchFamily="2" charset="-122"/>
              </a:rPr>
              <a:t>角色当前的敏捷、力量、智力属性，该属性用于计算角色最终的能力值，但其他实体不需要访问该属性，而自己的客户端需要在角色面板上显示这三个属性用于配点</a:t>
            </a:r>
            <a:endParaRPr lang="en-US" altLang="zh-CN" sz="1200" dirty="0">
              <a:ea typeface="宋体" panose="02010600030101010101" pitchFamily="2" charset="-122"/>
            </a:endParaRPr>
          </a:p>
          <a:p>
            <a:pPr marL="182245" lvl="1" indent="0">
              <a:buNone/>
            </a:pPr>
            <a:r>
              <a:rPr lang="en-US" altLang="zh-CN" sz="1200" dirty="0">
                <a:ea typeface="宋体" panose="02010600030101010101" pitchFamily="2" charset="-122"/>
              </a:rPr>
              <a:t>         </a:t>
            </a:r>
            <a:r>
              <a:rPr lang="zh-CN" altLang="en-US" sz="1200" dirty="0">
                <a:ea typeface="宋体" panose="02010600030101010101" pitchFamily="2" charset="-122"/>
              </a:rPr>
              <a:t>角色的经验值</a:t>
            </a:r>
            <a:endParaRPr lang="en-US" altLang="zh-CN" sz="1600" dirty="0">
              <a:ea typeface="宋体" panose="02010600030101010101" pitchFamily="2" charset="-122"/>
            </a:endParaRP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3"/>
            <a:ext cx="7675280" cy="2232774"/>
            <a:chOff x="1066" y="1739"/>
            <a:chExt cx="4168" cy="1375"/>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710" cy="288"/>
              <a:chOff x="1066" y="1739"/>
              <a:chExt cx="710" cy="288"/>
            </a:xfrm>
          </p:grpSpPr>
          <p:sp>
            <p:nvSpPr>
              <p:cNvPr id="85" name="Rectangle 7"/>
              <p:cNvSpPr>
                <a:spLocks noChangeArrowheads="1"/>
              </p:cNvSpPr>
              <p:nvPr/>
            </p:nvSpPr>
            <p:spPr bwMode="auto">
              <a:xfrm>
                <a:off x="1066" y="1739"/>
                <a:ext cx="626"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597"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Cellapp1-space1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061" y="1739"/>
              <a:ext cx="649" cy="288"/>
              <a:chOff x="950" y="1739"/>
              <a:chExt cx="649" cy="288"/>
            </a:xfrm>
          </p:grpSpPr>
          <p:sp>
            <p:nvSpPr>
              <p:cNvPr id="80" name="Rectangle 15"/>
              <p:cNvSpPr>
                <a:spLocks noChangeArrowheads="1"/>
              </p:cNvSpPr>
              <p:nvPr/>
            </p:nvSpPr>
            <p:spPr bwMode="auto">
              <a:xfrm>
                <a:off x="950" y="1739"/>
                <a:ext cx="61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011" y="1875"/>
                <a:ext cx="58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Cellapp2-space1</a:t>
                </a:r>
                <a:endParaRPr lang="en-AU" sz="1000" b="1" dirty="0">
                  <a:solidFill>
                    <a:schemeClr val="tx2">
                      <a:lumMod val="75000"/>
                    </a:schemeClr>
                  </a:solidFill>
                </a:endParaRPr>
              </a:p>
            </p:txBody>
          </p:sp>
          <p:sp>
            <p:nvSpPr>
              <p:cNvPr id="82" name="Rectangle 17"/>
              <p:cNvSpPr>
                <a:spLocks noChangeArrowheads="1"/>
              </p:cNvSpPr>
              <p:nvPr/>
            </p:nvSpPr>
            <p:spPr bwMode="auto">
              <a:xfrm>
                <a:off x="1047" y="1762"/>
                <a:ext cx="76"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83" name="Rectangle 18"/>
              <p:cNvSpPr>
                <a:spLocks noChangeArrowheads="1"/>
              </p:cNvSpPr>
              <p:nvPr/>
            </p:nvSpPr>
            <p:spPr bwMode="auto">
              <a:xfrm>
                <a:off x="1231"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4" name="Rectangle 19"/>
              <p:cNvSpPr>
                <a:spLocks noChangeArrowheads="1"/>
              </p:cNvSpPr>
              <p:nvPr/>
            </p:nvSpPr>
            <p:spPr bwMode="auto">
              <a:xfrm>
                <a:off x="1413"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grpSp>
          <p:nvGrpSpPr>
            <p:cNvPr id="71" name="Group 22"/>
            <p:cNvGrpSpPr/>
            <p:nvPr/>
          </p:nvGrpSpPr>
          <p:grpSpPr bwMode="auto">
            <a:xfrm>
              <a:off x="3129" y="1739"/>
              <a:ext cx="674" cy="261"/>
              <a:chOff x="929" y="1739"/>
              <a:chExt cx="674" cy="261"/>
            </a:xfrm>
          </p:grpSpPr>
          <p:sp>
            <p:nvSpPr>
              <p:cNvPr id="76" name="Rectangle 23"/>
              <p:cNvSpPr>
                <a:spLocks noChangeArrowheads="1"/>
              </p:cNvSpPr>
              <p:nvPr/>
            </p:nvSpPr>
            <p:spPr bwMode="auto">
              <a:xfrm>
                <a:off x="929" y="1739"/>
                <a:ext cx="67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056"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8" name="Rectangle 26"/>
              <p:cNvSpPr>
                <a:spLocks noChangeArrowheads="1"/>
              </p:cNvSpPr>
              <p:nvPr/>
            </p:nvSpPr>
            <p:spPr bwMode="auto">
              <a:xfrm>
                <a:off x="1237"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79" name="Rectangle 27"/>
              <p:cNvSpPr>
                <a:spLocks noChangeArrowheads="1"/>
              </p:cNvSpPr>
              <p:nvPr/>
            </p:nvSpPr>
            <p:spPr bwMode="auto">
              <a:xfrm>
                <a:off x="1419" y="1762"/>
                <a:ext cx="69" cy="68"/>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gn="l">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4860032" y="4725144"/>
            <a:ext cx="11516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Cellapp3-space1</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95" name="Rectangle 10"/>
          <p:cNvSpPr>
            <a:spLocks noChangeArrowheads="1"/>
          </p:cNvSpPr>
          <p:nvPr/>
        </p:nvSpPr>
        <p:spPr bwMode="auto">
          <a:xfrm>
            <a:off x="2539901"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40" name="Rectangle 9"/>
          <p:cNvSpPr>
            <a:spLocks noChangeArrowheads="1"/>
          </p:cNvSpPr>
          <p:nvPr/>
        </p:nvSpPr>
        <p:spPr bwMode="auto">
          <a:xfrm>
            <a:off x="3863603"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41" name="Rectangle 10"/>
          <p:cNvSpPr>
            <a:spLocks noChangeArrowheads="1"/>
          </p:cNvSpPr>
          <p:nvPr/>
        </p:nvSpPr>
        <p:spPr bwMode="auto">
          <a:xfrm>
            <a:off x="419691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2" name="Rectangle 11"/>
          <p:cNvSpPr>
            <a:spLocks noChangeArrowheads="1"/>
          </p:cNvSpPr>
          <p:nvPr/>
        </p:nvSpPr>
        <p:spPr bwMode="auto">
          <a:xfrm>
            <a:off x="4532059"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1</a:t>
            </a:r>
            <a:endParaRPr lang="zh-CN" altLang="en-US" sz="800" dirty="0">
              <a:solidFill>
                <a:schemeClr val="tx1"/>
              </a:solidFill>
            </a:endParaRPr>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t>2</a:t>
            </a:r>
            <a:endParaRPr lang="zh-CN" altLang="en-US" sz="800" dirty="0"/>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 name="右大括号 5"/>
          <p:cNvSpPr/>
          <p:nvPr/>
        </p:nvSpPr>
        <p:spPr>
          <a:xfrm>
            <a:off x="6444282" y="4365104"/>
            <a:ext cx="155448"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599730" y="4490280"/>
            <a:ext cx="2448272" cy="461665"/>
          </a:xfrm>
          <a:prstGeom prst="rect">
            <a:avLst/>
          </a:prstGeom>
          <a:noFill/>
        </p:spPr>
        <p:txBody>
          <a:bodyPr wrap="square" rtlCol="0">
            <a:spAutoFit/>
          </a:bodyPr>
          <a:lstStyle/>
          <a:p>
            <a:r>
              <a:rPr lang="zh-CN" altLang="en-US" sz="1200" dirty="0">
                <a:solidFill>
                  <a:srgbClr val="FF0000"/>
                </a:solidFill>
              </a:rPr>
              <a:t>在同一个</a:t>
            </a:r>
            <a:r>
              <a:rPr lang="en-US" altLang="zh-CN" sz="1200" dirty="0">
                <a:solidFill>
                  <a:srgbClr val="FF0000"/>
                </a:solidFill>
              </a:rPr>
              <a:t>space</a:t>
            </a:r>
            <a:r>
              <a:rPr lang="zh-CN" altLang="en-US" sz="1200" dirty="0">
                <a:solidFill>
                  <a:srgbClr val="FF0000"/>
                </a:solidFill>
              </a:rPr>
              <a:t>中，并且其他实体都在红色实体附近</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属性的发布</a:t>
            </a:r>
            <a:r>
              <a:rPr lang="en-US" altLang="zh-CN" dirty="0">
                <a:solidFill>
                  <a:schemeClr val="accent1"/>
                </a:solidFill>
                <a:ea typeface="宋体" panose="02010600030101010101" pitchFamily="2" charset="-122"/>
              </a:rPr>
              <a:t> – OTHER_CLIENTS</a:t>
            </a:r>
            <a:endParaRPr lang="zh-CN" altLang="en-US" sz="36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1600" dirty="0">
                <a:ea typeface="宋体" panose="02010600030101010101" pitchFamily="2" charset="-122"/>
              </a:rPr>
              <a:t>属于</a:t>
            </a:r>
            <a:r>
              <a:rPr lang="en-AU" altLang="zh-CN" sz="1600" dirty="0">
                <a:ea typeface="宋体" panose="02010600030101010101" pitchFamily="2" charset="-122"/>
              </a:rPr>
              <a:t>Real Entity</a:t>
            </a:r>
          </a:p>
          <a:p>
            <a:pPr marL="0" indent="0">
              <a:buNone/>
            </a:pPr>
            <a:r>
              <a:rPr lang="zh-CN" altLang="en-AU" sz="1600" dirty="0">
                <a:ea typeface="宋体" panose="02010600030101010101" pitchFamily="2" charset="-122"/>
              </a:rPr>
              <a:t>        </a:t>
            </a:r>
            <a:r>
              <a:rPr lang="zh-CN" altLang="en-AU" sz="1200" dirty="0">
                <a:ea typeface="宋体" panose="02010600030101010101" pitchFamily="2" charset="-122"/>
              </a:rPr>
              <a:t>它所属于的</a:t>
            </a:r>
            <a:r>
              <a:rPr lang="en-AU" altLang="zh-CN" sz="1200" dirty="0">
                <a:ea typeface="宋体" panose="02010600030101010101" pitchFamily="2" charset="-122"/>
              </a:rPr>
              <a:t>Real Entity</a:t>
            </a:r>
            <a:r>
              <a:rPr lang="zh-CN" altLang="en-AU" sz="1200" dirty="0">
                <a:ea typeface="宋体" panose="02010600030101010101" pitchFamily="2" charset="-122"/>
              </a:rPr>
              <a:t>和其对应的</a:t>
            </a:r>
            <a:r>
              <a:rPr lang="en-AU" altLang="zh-CN" sz="1200" dirty="0">
                <a:ea typeface="宋体" panose="02010600030101010101" pitchFamily="2" charset="-122"/>
              </a:rPr>
              <a:t>ghost Entity</a:t>
            </a:r>
            <a:r>
              <a:rPr lang="zh-CN" altLang="en-AU" sz="1200" dirty="0">
                <a:ea typeface="宋体" panose="02010600030101010101" pitchFamily="2" charset="-122"/>
              </a:rPr>
              <a:t>上</a:t>
            </a:r>
            <a:r>
              <a:rPr lang="zh-CN" altLang="en-US" sz="1200" dirty="0">
                <a:ea typeface="宋体" panose="02010600030101010101" pitchFamily="2" charset="-122"/>
              </a:rPr>
              <a:t>以及其他</a:t>
            </a:r>
            <a:r>
              <a:rPr lang="en-US" altLang="zh-CN" sz="1200" dirty="0">
                <a:ea typeface="宋体" panose="02010600030101010101" pitchFamily="2" charset="-122"/>
              </a:rPr>
              <a:t>de </a:t>
            </a:r>
            <a:r>
              <a:rPr lang="zh-CN" altLang="en-US" sz="1200" dirty="0">
                <a:ea typeface="宋体" panose="02010600030101010101" pitchFamily="2" charset="-122"/>
              </a:rPr>
              <a:t>客户端</a:t>
            </a:r>
            <a:r>
              <a:rPr lang="zh-CN" altLang="en-AU" sz="1200" dirty="0">
                <a:ea typeface="宋体" panose="02010600030101010101" pitchFamily="2" charset="-122"/>
              </a:rPr>
              <a:t>都可以访问</a:t>
            </a:r>
            <a:endParaRPr lang="en-AU" altLang="zh-CN" sz="1200" dirty="0">
              <a:ea typeface="宋体" panose="02010600030101010101" pitchFamily="2" charset="-122"/>
            </a:endParaRPr>
          </a:p>
          <a:p>
            <a:r>
              <a:rPr lang="zh-CN" altLang="en-GB" sz="1600" dirty="0">
                <a:ea typeface="宋体" panose="02010600030101010101" pitchFamily="2" charset="-122"/>
              </a:rPr>
              <a:t>该类属性的值的改变会被发布到其对应的</a:t>
            </a:r>
            <a:r>
              <a:rPr lang="en-GB" altLang="zh-CN" sz="1600" dirty="0">
                <a:ea typeface="宋体" panose="02010600030101010101" pitchFamily="2" charset="-122"/>
              </a:rPr>
              <a:t>ghost Entity</a:t>
            </a:r>
            <a:r>
              <a:rPr lang="zh-CN" altLang="en-GB" sz="1600" dirty="0">
                <a:ea typeface="宋体" panose="02010600030101010101" pitchFamily="2" charset="-122"/>
              </a:rPr>
              <a:t>上。在</a:t>
            </a:r>
            <a:r>
              <a:rPr lang="en-GB" altLang="zh-CN" sz="1600" dirty="0">
                <a:ea typeface="宋体" panose="02010600030101010101" pitchFamily="2" charset="-122"/>
              </a:rPr>
              <a:t>ghost Entity</a:t>
            </a:r>
            <a:r>
              <a:rPr lang="zh-CN" altLang="en-GB" sz="1600" dirty="0">
                <a:ea typeface="宋体" panose="02010600030101010101" pitchFamily="2" charset="-122"/>
              </a:rPr>
              <a:t>上这类属性只是只读的属性</a:t>
            </a:r>
            <a:endParaRPr lang="en-US" altLang="zh-CN" sz="1600" dirty="0">
              <a:ea typeface="宋体" panose="02010600030101010101" pitchFamily="2" charset="-122"/>
            </a:endParaRPr>
          </a:p>
          <a:p>
            <a:r>
              <a:rPr lang="zh-CN" altLang="en-GB" sz="1600" dirty="0">
                <a:ea typeface="宋体" panose="02010600030101010101" pitchFamily="2" charset="-122"/>
              </a:rPr>
              <a:t>如果其它的玩家的</a:t>
            </a:r>
            <a:r>
              <a:rPr lang="en-GB" altLang="zh-CN" sz="1600" dirty="0">
                <a:solidFill>
                  <a:srgbClr val="00B0F0"/>
                </a:solidFill>
                <a:ea typeface="宋体" panose="02010600030101010101" pitchFamily="2" charset="-122"/>
              </a:rPr>
              <a:t>AOI</a:t>
            </a:r>
            <a:r>
              <a:rPr lang="zh-CN" altLang="en-GB" sz="1600" dirty="0">
                <a:solidFill>
                  <a:srgbClr val="00B0F0"/>
                </a:solidFill>
                <a:ea typeface="宋体" panose="02010600030101010101" pitchFamily="2" charset="-122"/>
              </a:rPr>
              <a:t>范围内有这个属性隶属的</a:t>
            </a:r>
            <a:r>
              <a:rPr lang="en-GB" altLang="zh-CN" sz="1600" dirty="0">
                <a:solidFill>
                  <a:srgbClr val="00B0F0"/>
                </a:solidFill>
                <a:ea typeface="宋体" panose="02010600030101010101" pitchFamily="2" charset="-122"/>
              </a:rPr>
              <a:t>Entity</a:t>
            </a:r>
            <a:r>
              <a:rPr lang="zh-CN" altLang="en-GB" sz="1600" dirty="0">
                <a:ea typeface="宋体" panose="02010600030101010101" pitchFamily="2" charset="-122"/>
              </a:rPr>
              <a:t>，那么这个属性的值的改变也会被发布这些玩家的客户端的该</a:t>
            </a:r>
            <a:r>
              <a:rPr lang="en-GB" altLang="zh-CN" sz="1600" dirty="0">
                <a:ea typeface="宋体" panose="02010600030101010101" pitchFamily="2" charset="-122"/>
              </a:rPr>
              <a:t>Entity</a:t>
            </a:r>
            <a:r>
              <a:rPr lang="zh-CN" altLang="en-GB" sz="1600" dirty="0">
                <a:ea typeface="宋体" panose="02010600030101010101" pitchFamily="2" charset="-122"/>
              </a:rPr>
              <a:t>上</a:t>
            </a:r>
            <a:r>
              <a:rPr lang="zh-CN" altLang="en-US" sz="1600" dirty="0">
                <a:ea typeface="宋体" panose="02010600030101010101" pitchFamily="2" charset="-122"/>
              </a:rPr>
              <a:t>。</a:t>
            </a:r>
            <a:r>
              <a:rPr lang="zh-CN" altLang="en-GB" sz="1600" dirty="0">
                <a:ea typeface="宋体" panose="02010600030101010101" pitchFamily="2" charset="-122"/>
              </a:rPr>
              <a:t>并且会有脚本的回调</a:t>
            </a:r>
            <a:r>
              <a:rPr lang="en-US" altLang="zh-CN" sz="1600" dirty="0">
                <a:ea typeface="宋体" panose="02010600030101010101" pitchFamily="2" charset="-122"/>
              </a:rPr>
              <a:t>(</a:t>
            </a:r>
            <a:r>
              <a:rPr lang="en-AU" altLang="zh-CN" sz="1600" dirty="0">
                <a:solidFill>
                  <a:srgbClr val="FF0000"/>
                </a:solidFill>
                <a:latin typeface="Courier New" panose="02070309020205020404" pitchFamily="49" charset="0"/>
              </a:rPr>
              <a:t>set_&lt;</a:t>
            </a:r>
            <a:r>
              <a:rPr lang="en-AU" altLang="zh-CN" sz="1600" dirty="0" err="1">
                <a:solidFill>
                  <a:srgbClr val="FF0000"/>
                </a:solidFill>
                <a:latin typeface="Courier New" panose="02070309020205020404" pitchFamily="49" charset="0"/>
              </a:rPr>
              <a:t>property_name</a:t>
            </a:r>
            <a:r>
              <a:rPr lang="en-AU" altLang="zh-CN" sz="1600" dirty="0">
                <a:solidFill>
                  <a:srgbClr val="FF0000"/>
                </a:solidFill>
                <a:latin typeface="Courier New" panose="02070309020205020404" pitchFamily="49" charset="0"/>
              </a:rPr>
              <a:t>&gt;()</a:t>
            </a:r>
            <a:r>
              <a:rPr lang="en-AU" altLang="zh-CN" sz="1600" dirty="0">
                <a:solidFill>
                  <a:schemeClr val="tx1"/>
                </a:solidFill>
                <a:latin typeface="Courier New" panose="02070309020205020404" pitchFamily="49" charset="0"/>
              </a:rPr>
              <a:t>)</a:t>
            </a:r>
            <a:r>
              <a:rPr lang="zh-CN" altLang="en-GB" sz="1600" dirty="0">
                <a:ea typeface="宋体" panose="02010600030101010101" pitchFamily="2" charset="-122"/>
              </a:rPr>
              <a:t>函数会被调用</a:t>
            </a:r>
            <a:endParaRPr lang="en-US" altLang="zh-CN" sz="1600" dirty="0">
              <a:ea typeface="宋体" panose="02010600030101010101" pitchFamily="2" charset="-122"/>
            </a:endParaRPr>
          </a:p>
          <a:p>
            <a:r>
              <a:rPr lang="zh-CN" altLang="en-AU" sz="1600" dirty="0">
                <a:ea typeface="宋体" panose="02010600030101010101" pitchFamily="2" charset="-122"/>
              </a:rPr>
              <a:t>例如</a:t>
            </a:r>
            <a:r>
              <a:rPr lang="en-AU" altLang="zh-CN" sz="1600" dirty="0"/>
              <a:t>:</a:t>
            </a:r>
          </a:p>
          <a:p>
            <a:pPr lvl="1"/>
            <a:r>
              <a:rPr lang="zh-CN" altLang="en-AU" sz="1200" dirty="0">
                <a:ea typeface="宋体" panose="02010600030101010101" pitchFamily="2" charset="-122"/>
              </a:rPr>
              <a:t>动态的世界物品的状态</a:t>
            </a:r>
            <a:r>
              <a:rPr lang="en-AU" altLang="zh-CN" sz="1200" dirty="0">
                <a:ea typeface="宋体" panose="02010600030101010101" pitchFamily="2" charset="-122"/>
              </a:rPr>
              <a:t> (</a:t>
            </a:r>
            <a:r>
              <a:rPr lang="zh-CN" altLang="en-AU" sz="1200" dirty="0">
                <a:ea typeface="宋体" panose="02010600030101010101" pitchFamily="2" charset="-122"/>
              </a:rPr>
              <a:t>如</a:t>
            </a:r>
            <a:r>
              <a:rPr lang="en-AU" altLang="zh-CN" sz="1200" dirty="0">
                <a:ea typeface="宋体" panose="02010600030101010101" pitchFamily="2" charset="-122"/>
              </a:rPr>
              <a:t>:</a:t>
            </a:r>
            <a:r>
              <a:rPr lang="en-AU" altLang="zh-CN" sz="1200" dirty="0"/>
              <a:t> </a:t>
            </a:r>
            <a:r>
              <a:rPr lang="zh-CN" altLang="en-AU" sz="1200" dirty="0">
                <a:ea typeface="宋体" panose="02010600030101010101" pitchFamily="2" charset="-122"/>
              </a:rPr>
              <a:t>门</a:t>
            </a:r>
            <a:r>
              <a:rPr lang="en-AU" altLang="zh-CN" sz="1200" dirty="0"/>
              <a:t>, </a:t>
            </a:r>
            <a:r>
              <a:rPr lang="zh-CN" altLang="en-AU" sz="1200" dirty="0">
                <a:ea typeface="宋体" panose="02010600030101010101" pitchFamily="2" charset="-122"/>
              </a:rPr>
              <a:t>按钮</a:t>
            </a:r>
            <a:r>
              <a:rPr lang="en-AU" altLang="zh-CN" sz="1200" dirty="0"/>
              <a:t>, </a:t>
            </a:r>
            <a:r>
              <a:rPr lang="zh-CN" altLang="en-AU" sz="1200" dirty="0">
                <a:ea typeface="宋体" panose="02010600030101010101" pitchFamily="2" charset="-122"/>
              </a:rPr>
              <a:t>战利品</a:t>
            </a:r>
            <a:r>
              <a:rPr lang="en-AU" altLang="zh-CN" sz="1200" dirty="0"/>
              <a:t>)</a:t>
            </a:r>
          </a:p>
          <a:p>
            <a:pPr lvl="1"/>
            <a:r>
              <a:rPr lang="zh-CN" altLang="en-US" sz="1200" dirty="0">
                <a:ea typeface="宋体" panose="02010600030101010101" pitchFamily="2" charset="-122"/>
              </a:rPr>
              <a:t>客户端本地已知某状态，只是想将状态广播给其他客户端</a:t>
            </a:r>
            <a:endParaRPr lang="en-AU" altLang="zh-CN" sz="1200" dirty="0"/>
          </a:p>
          <a:p>
            <a:pPr marL="0" indent="0">
              <a:buNone/>
            </a:pPr>
            <a:endParaRPr lang="en-US" altLang="zh-CN" sz="1600" dirty="0">
              <a:ea typeface="宋体" panose="02010600030101010101" pitchFamily="2" charset="-122"/>
            </a:endParaRP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66" name="矩形 65"/>
          <p:cNvSpPr/>
          <p:nvPr/>
        </p:nvSpPr>
        <p:spPr>
          <a:xfrm>
            <a:off x="827584" y="4365104"/>
            <a:ext cx="5544616" cy="2448272"/>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grpSp>
        <p:nvGrpSpPr>
          <p:cNvPr id="67" name="Group 4"/>
          <p:cNvGrpSpPr/>
          <p:nvPr/>
        </p:nvGrpSpPr>
        <p:grpSpPr bwMode="auto">
          <a:xfrm>
            <a:off x="899592" y="4509203"/>
            <a:ext cx="7675280" cy="2232774"/>
            <a:chOff x="1066" y="1739"/>
            <a:chExt cx="4168" cy="1375"/>
          </a:xfrm>
        </p:grpSpPr>
        <p:sp>
          <p:nvSpPr>
            <p:cNvPr id="68" name="Rectangle 5"/>
            <p:cNvSpPr>
              <a:spLocks noChangeArrowheads="1"/>
            </p:cNvSpPr>
            <p:nvPr/>
          </p:nvSpPr>
          <p:spPr bwMode="auto">
            <a:xfrm>
              <a:off x="4077" y="2677"/>
              <a:ext cx="1157" cy="437"/>
            </a:xfrm>
            <a:prstGeom prst="rect">
              <a:avLst/>
            </a:prstGeom>
          </p:spPr>
          <p:style>
            <a:lnRef idx="3">
              <a:schemeClr val="lt1"/>
            </a:lnRef>
            <a:fillRef idx="1">
              <a:schemeClr val="accent4"/>
            </a:fillRef>
            <a:effectRef idx="1">
              <a:schemeClr val="accent4"/>
            </a:effectRef>
            <a:fontRef idx="minor">
              <a:schemeClr val="lt1"/>
            </a:fontRef>
          </p:style>
          <p:txBody>
            <a:bodyPr wrap="none" anchor="ctr"/>
            <a:lstStyle/>
            <a:p>
              <a:endParaRPr lang="zh-CN" altLang="en-US"/>
            </a:p>
          </p:txBody>
        </p:sp>
        <p:grpSp>
          <p:nvGrpSpPr>
            <p:cNvPr id="69" name="Group 6"/>
            <p:cNvGrpSpPr/>
            <p:nvPr/>
          </p:nvGrpSpPr>
          <p:grpSpPr bwMode="auto">
            <a:xfrm>
              <a:off x="1066" y="1739"/>
              <a:ext cx="710" cy="288"/>
              <a:chOff x="1066" y="1739"/>
              <a:chExt cx="710" cy="288"/>
            </a:xfrm>
          </p:grpSpPr>
          <p:sp>
            <p:nvSpPr>
              <p:cNvPr id="85" name="Rectangle 7"/>
              <p:cNvSpPr>
                <a:spLocks noChangeArrowheads="1"/>
              </p:cNvSpPr>
              <p:nvPr/>
            </p:nvSpPr>
            <p:spPr bwMode="auto">
              <a:xfrm>
                <a:off x="1066" y="1739"/>
                <a:ext cx="626"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Text Box 8"/>
              <p:cNvSpPr txBox="1">
                <a:spLocks noChangeArrowheads="1"/>
              </p:cNvSpPr>
              <p:nvPr/>
            </p:nvSpPr>
            <p:spPr bwMode="auto">
              <a:xfrm>
                <a:off x="1179" y="1875"/>
                <a:ext cx="597"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Cellapp1-space1</a:t>
                </a:r>
              </a:p>
            </p:txBody>
          </p:sp>
          <p:sp>
            <p:nvSpPr>
              <p:cNvPr id="87" name="Rectangle 9"/>
              <p:cNvSpPr>
                <a:spLocks noChangeArrowheads="1"/>
              </p:cNvSpPr>
              <p:nvPr/>
            </p:nvSpPr>
            <p:spPr bwMode="auto">
              <a:xfrm>
                <a:off x="111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8" name="Rectangle 10"/>
              <p:cNvSpPr>
                <a:spLocks noChangeArrowheads="1"/>
              </p:cNvSpPr>
              <p:nvPr/>
            </p:nvSpPr>
            <p:spPr bwMode="auto">
              <a:xfrm>
                <a:off x="1292"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9" name="Rectangle 11"/>
              <p:cNvSpPr>
                <a:spLocks noChangeArrowheads="1"/>
              </p:cNvSpPr>
              <p:nvPr/>
            </p:nvSpPr>
            <p:spPr bwMode="auto">
              <a:xfrm>
                <a:off x="1474"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0" name="Group 14"/>
            <p:cNvGrpSpPr/>
            <p:nvPr/>
          </p:nvGrpSpPr>
          <p:grpSpPr bwMode="auto">
            <a:xfrm>
              <a:off x="2061" y="1739"/>
              <a:ext cx="649" cy="288"/>
              <a:chOff x="950" y="1739"/>
              <a:chExt cx="649" cy="288"/>
            </a:xfrm>
          </p:grpSpPr>
          <p:sp>
            <p:nvSpPr>
              <p:cNvPr id="80" name="Rectangle 15"/>
              <p:cNvSpPr>
                <a:spLocks noChangeArrowheads="1"/>
              </p:cNvSpPr>
              <p:nvPr/>
            </p:nvSpPr>
            <p:spPr bwMode="auto">
              <a:xfrm>
                <a:off x="950" y="1739"/>
                <a:ext cx="61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Text Box 16"/>
              <p:cNvSpPr txBox="1">
                <a:spLocks noChangeArrowheads="1"/>
              </p:cNvSpPr>
              <p:nvPr/>
            </p:nvSpPr>
            <p:spPr bwMode="auto">
              <a:xfrm>
                <a:off x="1011" y="1875"/>
                <a:ext cx="588" cy="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Cellapp2-space1</a:t>
                </a:r>
                <a:endParaRPr lang="en-AU" sz="1000" b="1" dirty="0">
                  <a:solidFill>
                    <a:schemeClr val="tx2">
                      <a:lumMod val="75000"/>
                    </a:schemeClr>
                  </a:solidFill>
                </a:endParaRPr>
              </a:p>
            </p:txBody>
          </p:sp>
          <p:sp>
            <p:nvSpPr>
              <p:cNvPr id="82" name="Rectangle 17"/>
              <p:cNvSpPr>
                <a:spLocks noChangeArrowheads="1"/>
              </p:cNvSpPr>
              <p:nvPr/>
            </p:nvSpPr>
            <p:spPr bwMode="auto">
              <a:xfrm>
                <a:off x="1047" y="1762"/>
                <a:ext cx="76"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83" name="Rectangle 18"/>
              <p:cNvSpPr>
                <a:spLocks noChangeArrowheads="1"/>
              </p:cNvSpPr>
              <p:nvPr/>
            </p:nvSpPr>
            <p:spPr bwMode="auto">
              <a:xfrm>
                <a:off x="1231"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84" name="Rectangle 19"/>
              <p:cNvSpPr>
                <a:spLocks noChangeArrowheads="1"/>
              </p:cNvSpPr>
              <p:nvPr/>
            </p:nvSpPr>
            <p:spPr bwMode="auto">
              <a:xfrm>
                <a:off x="1413"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grpSp>
          <p:nvGrpSpPr>
            <p:cNvPr id="71" name="Group 22"/>
            <p:cNvGrpSpPr/>
            <p:nvPr/>
          </p:nvGrpSpPr>
          <p:grpSpPr bwMode="auto">
            <a:xfrm>
              <a:off x="3129" y="1739"/>
              <a:ext cx="674" cy="261"/>
              <a:chOff x="929" y="1739"/>
              <a:chExt cx="674" cy="261"/>
            </a:xfrm>
          </p:grpSpPr>
          <p:sp>
            <p:nvSpPr>
              <p:cNvPr id="76" name="Rectangle 23"/>
              <p:cNvSpPr>
                <a:spLocks noChangeArrowheads="1"/>
              </p:cNvSpPr>
              <p:nvPr/>
            </p:nvSpPr>
            <p:spPr bwMode="auto">
              <a:xfrm>
                <a:off x="929" y="1739"/>
                <a:ext cx="674" cy="26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Rectangle 25"/>
              <p:cNvSpPr>
                <a:spLocks noChangeArrowheads="1"/>
              </p:cNvSpPr>
              <p:nvPr/>
            </p:nvSpPr>
            <p:spPr bwMode="auto">
              <a:xfrm>
                <a:off x="1056"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8" name="Rectangle 26"/>
              <p:cNvSpPr>
                <a:spLocks noChangeArrowheads="1"/>
              </p:cNvSpPr>
              <p:nvPr/>
            </p:nvSpPr>
            <p:spPr bwMode="auto">
              <a:xfrm>
                <a:off x="1237"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Rectangle 27"/>
              <p:cNvSpPr>
                <a:spLocks noChangeArrowheads="1"/>
              </p:cNvSpPr>
              <p:nvPr/>
            </p:nvSpPr>
            <p:spPr bwMode="auto">
              <a:xfrm>
                <a:off x="1419" y="1762"/>
                <a:ext cx="69" cy="68"/>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72" name="Rectangle 38" descr="75%"/>
            <p:cNvSpPr>
              <a:spLocks noChangeArrowheads="1"/>
            </p:cNvSpPr>
            <p:nvPr/>
          </p:nvSpPr>
          <p:spPr bwMode="auto">
            <a:xfrm>
              <a:off x="1114" y="1893"/>
              <a:ext cx="69" cy="6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r>
                <a:rPr lang="en-US" altLang="zh-CN" sz="800" dirty="0">
                  <a:solidFill>
                    <a:srgbClr val="FFFF00"/>
                  </a:solidFill>
                </a:rPr>
                <a:t>1</a:t>
              </a:r>
              <a:endParaRPr lang="zh-CN" altLang="en-US" sz="800" dirty="0">
                <a:solidFill>
                  <a:srgbClr val="FFFF00"/>
                </a:solidFill>
              </a:endParaRPr>
            </a:p>
          </p:txBody>
        </p:sp>
        <p:sp>
          <p:nvSpPr>
            <p:cNvPr id="73" name="Rectangle 48" descr="75%"/>
            <p:cNvSpPr>
              <a:spLocks noChangeArrowheads="1"/>
            </p:cNvSpPr>
            <p:nvPr/>
          </p:nvSpPr>
          <p:spPr bwMode="auto">
            <a:xfrm>
              <a:off x="4103" y="2986"/>
              <a:ext cx="88" cy="78"/>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4" name="Text Box 49"/>
            <p:cNvSpPr txBox="1">
              <a:spLocks noChangeArrowheads="1"/>
            </p:cNvSpPr>
            <p:nvPr/>
          </p:nvSpPr>
          <p:spPr bwMode="auto">
            <a:xfrm>
              <a:off x="4190" y="2696"/>
              <a:ext cx="1044"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800" dirty="0">
                  <a:solidFill>
                    <a:schemeClr val="tx2">
                      <a:lumMod val="40000"/>
                      <a:lumOff val="60000"/>
                    </a:schemeClr>
                  </a:solidFill>
                  <a:ea typeface="宋体" panose="02010600030101010101" pitchFamily="2" charset="-122"/>
                </a:rPr>
                <a:t>不可访问该实体描述的属性的实体</a:t>
              </a:r>
              <a:endParaRPr lang="en-US" altLang="zh-CN" sz="800" dirty="0">
                <a:solidFill>
                  <a:schemeClr val="tx2">
                    <a:lumMod val="40000"/>
                    <a:lumOff val="60000"/>
                  </a:schemeClr>
                </a:solidFill>
                <a:ea typeface="宋体" panose="02010600030101010101" pitchFamily="2" charset="-122"/>
              </a:endParaRPr>
            </a:p>
            <a:p>
              <a:pPr algn="l">
                <a:lnSpc>
                  <a:spcPct val="150000"/>
                </a:lnSpc>
              </a:pPr>
              <a:r>
                <a:rPr lang="zh-CN" altLang="en-US" sz="800" b="0" dirty="0">
                  <a:solidFill>
                    <a:srgbClr val="92D050"/>
                  </a:solidFill>
                  <a:ea typeface="宋体" panose="02010600030101010101" pitchFamily="2" charset="-122"/>
                </a:rPr>
                <a:t>可访问该实体</a:t>
              </a:r>
              <a:r>
                <a:rPr lang="zh-CN" altLang="en-US" sz="800" dirty="0">
                  <a:solidFill>
                    <a:srgbClr val="92D050"/>
                  </a:solidFill>
                  <a:ea typeface="宋体" panose="02010600030101010101" pitchFamily="2" charset="-122"/>
                </a:rPr>
                <a:t>描述的属性的实体</a:t>
              </a:r>
              <a:endParaRPr lang="en-AU" altLang="zh-CN" sz="800" b="0" dirty="0">
                <a:solidFill>
                  <a:srgbClr val="92D050"/>
                </a:solidFill>
                <a:ea typeface="宋体" panose="02010600030101010101" pitchFamily="2" charset="-122"/>
              </a:endParaRPr>
            </a:p>
            <a:p>
              <a:pPr algn="l">
                <a:lnSpc>
                  <a:spcPct val="150000"/>
                </a:lnSpc>
              </a:pPr>
              <a:r>
                <a:rPr lang="zh-CN" altLang="en-US" sz="800" b="0" dirty="0">
                  <a:solidFill>
                    <a:srgbClr val="C00000"/>
                  </a:solidFill>
                  <a:ea typeface="宋体" panose="02010600030101010101" pitchFamily="2" charset="-122"/>
                </a:rPr>
                <a:t>当前</a:t>
              </a:r>
              <a:r>
                <a:rPr lang="zh-CN" altLang="en-US" sz="800" dirty="0">
                  <a:solidFill>
                    <a:srgbClr val="C00000"/>
                  </a:solidFill>
                  <a:ea typeface="宋体" panose="02010600030101010101" pitchFamily="2" charset="-122"/>
                </a:rPr>
                <a:t>所描述的实体，也可访问属性</a:t>
              </a:r>
              <a:endParaRPr lang="en-AU" altLang="zh-CN" sz="800" b="0" dirty="0">
                <a:solidFill>
                  <a:srgbClr val="C00000"/>
                </a:solidFill>
                <a:ea typeface="宋体" panose="02010600030101010101" pitchFamily="2" charset="-122"/>
              </a:endParaRPr>
            </a:p>
          </p:txBody>
        </p:sp>
        <p:sp>
          <p:nvSpPr>
            <p:cNvPr id="75" name="Rectangle 50"/>
            <p:cNvSpPr>
              <a:spLocks noChangeArrowheads="1"/>
            </p:cNvSpPr>
            <p:nvPr/>
          </p:nvSpPr>
          <p:spPr bwMode="auto">
            <a:xfrm>
              <a:off x="4103" y="2855"/>
              <a:ext cx="89" cy="79"/>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grpSp>
      <p:sp>
        <p:nvSpPr>
          <p:cNvPr id="90" name="Rectangle 50"/>
          <p:cNvSpPr>
            <a:spLocks noChangeArrowheads="1"/>
          </p:cNvSpPr>
          <p:nvPr/>
        </p:nvSpPr>
        <p:spPr bwMode="auto">
          <a:xfrm>
            <a:off x="6496341" y="6109029"/>
            <a:ext cx="163891" cy="128283"/>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1" name="Text Box 16"/>
          <p:cNvSpPr txBox="1">
            <a:spLocks noChangeArrowheads="1"/>
          </p:cNvSpPr>
          <p:nvPr/>
        </p:nvSpPr>
        <p:spPr bwMode="auto">
          <a:xfrm>
            <a:off x="4860032" y="4725144"/>
            <a:ext cx="11516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Cellapp3-space1</a:t>
            </a:r>
            <a:endParaRPr lang="en-AU" sz="1000" b="1" dirty="0">
              <a:solidFill>
                <a:schemeClr val="tx2">
                  <a:lumMod val="75000"/>
                </a:schemeClr>
              </a:solidFill>
            </a:endParaRPr>
          </a:p>
        </p:txBody>
      </p:sp>
      <p:sp>
        <p:nvSpPr>
          <p:cNvPr id="92" name="Rectangle 7"/>
          <p:cNvSpPr>
            <a:spLocks noChangeArrowheads="1"/>
          </p:cNvSpPr>
          <p:nvPr/>
        </p:nvSpPr>
        <p:spPr bwMode="auto">
          <a:xfrm>
            <a:off x="2123728"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Text Box 8"/>
          <p:cNvSpPr txBox="1">
            <a:spLocks noChangeArrowheads="1"/>
          </p:cNvSpPr>
          <p:nvPr/>
        </p:nvSpPr>
        <p:spPr bwMode="auto">
          <a:xfrm>
            <a:off x="2331815"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Client1</a:t>
            </a:r>
          </a:p>
        </p:txBody>
      </p:sp>
      <p:sp>
        <p:nvSpPr>
          <p:cNvPr id="94" name="Rectangle 9"/>
          <p:cNvSpPr>
            <a:spLocks noChangeArrowheads="1"/>
          </p:cNvSpPr>
          <p:nvPr/>
        </p:nvSpPr>
        <p:spPr bwMode="auto">
          <a:xfrm>
            <a:off x="2206594"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1</a:t>
            </a:r>
            <a:endParaRPr lang="zh-CN" altLang="en-US" sz="800" dirty="0">
              <a:solidFill>
                <a:schemeClr val="tx1"/>
              </a:solidFill>
            </a:endParaRPr>
          </a:p>
        </p:txBody>
      </p:sp>
      <p:sp>
        <p:nvSpPr>
          <p:cNvPr id="95" name="Rectangle 10"/>
          <p:cNvSpPr>
            <a:spLocks noChangeArrowheads="1"/>
          </p:cNvSpPr>
          <p:nvPr/>
        </p:nvSpPr>
        <p:spPr bwMode="auto">
          <a:xfrm>
            <a:off x="2539901"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6" name="Rectangle 11"/>
          <p:cNvSpPr>
            <a:spLocks noChangeArrowheads="1"/>
          </p:cNvSpPr>
          <p:nvPr/>
        </p:nvSpPr>
        <p:spPr bwMode="auto">
          <a:xfrm>
            <a:off x="2875050" y="6311052"/>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cxnSp>
        <p:nvCxnSpPr>
          <p:cNvPr id="98" name="直接连接符 97"/>
          <p:cNvCxnSpPr/>
          <p:nvPr/>
        </p:nvCxnSpPr>
        <p:spPr>
          <a:xfrm>
            <a:off x="827584" y="5949280"/>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38" name="Rectangle 7"/>
          <p:cNvSpPr>
            <a:spLocks noChangeArrowheads="1"/>
          </p:cNvSpPr>
          <p:nvPr/>
        </p:nvSpPr>
        <p:spPr bwMode="auto">
          <a:xfrm>
            <a:off x="3780737" y="6273704"/>
            <a:ext cx="917055"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8"/>
          <p:cNvSpPr txBox="1">
            <a:spLocks noChangeArrowheads="1"/>
          </p:cNvSpPr>
          <p:nvPr/>
        </p:nvSpPr>
        <p:spPr bwMode="auto">
          <a:xfrm>
            <a:off x="3988824" y="6494545"/>
            <a:ext cx="799200"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sz="1000" b="1" dirty="0">
                <a:solidFill>
                  <a:schemeClr val="tx2">
                    <a:lumMod val="75000"/>
                  </a:schemeClr>
                </a:solidFill>
              </a:rPr>
              <a:t>Client2</a:t>
            </a:r>
          </a:p>
        </p:txBody>
      </p:sp>
      <p:sp>
        <p:nvSpPr>
          <p:cNvPr id="40" name="Rectangle 9"/>
          <p:cNvSpPr>
            <a:spLocks noChangeArrowheads="1"/>
          </p:cNvSpPr>
          <p:nvPr/>
        </p:nvSpPr>
        <p:spPr bwMode="auto">
          <a:xfrm>
            <a:off x="3863603"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r>
              <a:rPr lang="en-US" altLang="zh-CN" sz="800" dirty="0">
                <a:solidFill>
                  <a:schemeClr val="tx1"/>
                </a:solidFill>
              </a:rPr>
              <a:t>2</a:t>
            </a:r>
            <a:endParaRPr lang="zh-CN" altLang="en-US" sz="800" dirty="0">
              <a:solidFill>
                <a:schemeClr val="tx1"/>
              </a:solidFill>
            </a:endParaRPr>
          </a:p>
        </p:txBody>
      </p:sp>
      <p:sp>
        <p:nvSpPr>
          <p:cNvPr id="41" name="Rectangle 10"/>
          <p:cNvSpPr>
            <a:spLocks noChangeArrowheads="1"/>
          </p:cNvSpPr>
          <p:nvPr/>
        </p:nvSpPr>
        <p:spPr bwMode="auto">
          <a:xfrm>
            <a:off x="4196910"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2" name="Rectangle 11"/>
          <p:cNvSpPr>
            <a:spLocks noChangeArrowheads="1"/>
          </p:cNvSpPr>
          <p:nvPr/>
        </p:nvSpPr>
        <p:spPr bwMode="auto">
          <a:xfrm>
            <a:off x="4532059" y="6311052"/>
            <a:ext cx="127062"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cxnSp>
        <p:nvCxnSpPr>
          <p:cNvPr id="44" name="直接连接符 43"/>
          <p:cNvCxnSpPr/>
          <p:nvPr/>
        </p:nvCxnSpPr>
        <p:spPr>
          <a:xfrm>
            <a:off x="827584" y="5085184"/>
            <a:ext cx="5544616"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15"/>
          <p:cNvSpPr>
            <a:spLocks noChangeArrowheads="1"/>
          </p:cNvSpPr>
          <p:nvPr/>
        </p:nvSpPr>
        <p:spPr bwMode="auto">
          <a:xfrm>
            <a:off x="2934866"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Text Box 16"/>
          <p:cNvSpPr txBox="1">
            <a:spLocks noChangeArrowheads="1"/>
          </p:cNvSpPr>
          <p:nvPr/>
        </p:nvSpPr>
        <p:spPr bwMode="auto">
          <a:xfrm>
            <a:off x="3096916"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Baseapp2</a:t>
            </a:r>
            <a:endParaRPr lang="en-AU" sz="1000" b="1" dirty="0">
              <a:solidFill>
                <a:schemeClr val="tx2">
                  <a:lumMod val="75000"/>
                </a:schemeClr>
              </a:solidFill>
            </a:endParaRPr>
          </a:p>
        </p:txBody>
      </p:sp>
      <p:sp>
        <p:nvSpPr>
          <p:cNvPr id="47" name="Rectangle 17"/>
          <p:cNvSpPr>
            <a:spLocks noChangeArrowheads="1"/>
          </p:cNvSpPr>
          <p:nvPr/>
        </p:nvSpPr>
        <p:spPr bwMode="auto">
          <a:xfrm>
            <a:off x="3017732"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8" name="Rectangle 19"/>
          <p:cNvSpPr>
            <a:spLocks noChangeArrowheads="1"/>
          </p:cNvSpPr>
          <p:nvPr/>
        </p:nvSpPr>
        <p:spPr bwMode="auto">
          <a:xfrm>
            <a:off x="3686187"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49" name="Rectangle 18"/>
          <p:cNvSpPr>
            <a:spLocks noChangeArrowheads="1"/>
          </p:cNvSpPr>
          <p:nvPr/>
        </p:nvSpPr>
        <p:spPr bwMode="auto">
          <a:xfrm>
            <a:off x="3364818"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0" name="Rectangle 15"/>
          <p:cNvSpPr>
            <a:spLocks noChangeArrowheads="1"/>
          </p:cNvSpPr>
          <p:nvPr/>
        </p:nvSpPr>
        <p:spPr bwMode="auto">
          <a:xfrm>
            <a:off x="899592" y="5301208"/>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Text Box 16"/>
          <p:cNvSpPr txBox="1">
            <a:spLocks noChangeArrowheads="1"/>
          </p:cNvSpPr>
          <p:nvPr/>
        </p:nvSpPr>
        <p:spPr bwMode="auto">
          <a:xfrm>
            <a:off x="1061642" y="5522050"/>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Baseapp1</a:t>
            </a:r>
            <a:endParaRPr lang="en-AU" sz="1000" b="1" dirty="0">
              <a:solidFill>
                <a:schemeClr val="tx2">
                  <a:lumMod val="75000"/>
                </a:schemeClr>
              </a:solidFill>
            </a:endParaRPr>
          </a:p>
        </p:txBody>
      </p:sp>
      <p:sp>
        <p:nvSpPr>
          <p:cNvPr id="52" name="Rectangle 17"/>
          <p:cNvSpPr>
            <a:spLocks noChangeArrowheads="1"/>
          </p:cNvSpPr>
          <p:nvPr/>
        </p:nvSpPr>
        <p:spPr bwMode="auto">
          <a:xfrm>
            <a:off x="982458"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solidFill>
                  <a:schemeClr val="tx1"/>
                </a:solidFill>
              </a:rPr>
              <a:t>1</a:t>
            </a:r>
            <a:endParaRPr lang="zh-CN" altLang="en-US" sz="800" dirty="0">
              <a:solidFill>
                <a:schemeClr val="tx1"/>
              </a:solidFill>
            </a:endParaRPr>
          </a:p>
        </p:txBody>
      </p:sp>
      <p:sp>
        <p:nvSpPr>
          <p:cNvPr id="53" name="Rectangle 19"/>
          <p:cNvSpPr>
            <a:spLocks noChangeArrowheads="1"/>
          </p:cNvSpPr>
          <p:nvPr/>
        </p:nvSpPr>
        <p:spPr bwMode="auto">
          <a:xfrm>
            <a:off x="1650913" y="533855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4" name="Rectangle 18"/>
          <p:cNvSpPr>
            <a:spLocks noChangeArrowheads="1"/>
          </p:cNvSpPr>
          <p:nvPr/>
        </p:nvSpPr>
        <p:spPr bwMode="auto">
          <a:xfrm>
            <a:off x="1329544" y="5336825"/>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r>
              <a:rPr lang="en-US" altLang="zh-CN" sz="800" dirty="0"/>
              <a:t>2</a:t>
            </a:r>
            <a:endParaRPr lang="zh-CN" altLang="en-US" sz="800" dirty="0"/>
          </a:p>
        </p:txBody>
      </p:sp>
      <p:sp>
        <p:nvSpPr>
          <p:cNvPr id="55" name="Rectangle 15"/>
          <p:cNvSpPr>
            <a:spLocks noChangeArrowheads="1"/>
          </p:cNvSpPr>
          <p:nvPr/>
        </p:nvSpPr>
        <p:spPr bwMode="auto">
          <a:xfrm>
            <a:off x="4951090" y="5337599"/>
            <a:ext cx="917054" cy="423821"/>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6"/>
          <p:cNvSpPr txBox="1">
            <a:spLocks noChangeArrowheads="1"/>
          </p:cNvSpPr>
          <p:nvPr/>
        </p:nvSpPr>
        <p:spPr bwMode="auto">
          <a:xfrm>
            <a:off x="5113140" y="5558441"/>
            <a:ext cx="716333" cy="246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AU" altLang="zh-CN" sz="1000" b="1" dirty="0">
                <a:solidFill>
                  <a:schemeClr val="tx2">
                    <a:lumMod val="75000"/>
                  </a:schemeClr>
                </a:solidFill>
              </a:rPr>
              <a:t>Baseapp3</a:t>
            </a:r>
            <a:endParaRPr lang="en-AU" sz="1000" b="1" dirty="0">
              <a:solidFill>
                <a:schemeClr val="tx2">
                  <a:lumMod val="75000"/>
                </a:schemeClr>
              </a:solidFill>
            </a:endParaRPr>
          </a:p>
        </p:txBody>
      </p:sp>
      <p:sp>
        <p:nvSpPr>
          <p:cNvPr id="57" name="Rectangle 17"/>
          <p:cNvSpPr>
            <a:spLocks noChangeArrowheads="1"/>
          </p:cNvSpPr>
          <p:nvPr/>
        </p:nvSpPr>
        <p:spPr bwMode="auto">
          <a:xfrm>
            <a:off x="5033956"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8" name="Rectangle 19"/>
          <p:cNvSpPr>
            <a:spLocks noChangeArrowheads="1"/>
          </p:cNvSpPr>
          <p:nvPr/>
        </p:nvSpPr>
        <p:spPr bwMode="auto">
          <a:xfrm>
            <a:off x="5702411" y="5374947"/>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59" name="Rectangle 18"/>
          <p:cNvSpPr>
            <a:spLocks noChangeArrowheads="1"/>
          </p:cNvSpPr>
          <p:nvPr/>
        </p:nvSpPr>
        <p:spPr bwMode="auto">
          <a:xfrm>
            <a:off x="5381042" y="5373216"/>
            <a:ext cx="127062"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6" name="右大括号 5"/>
          <p:cNvSpPr/>
          <p:nvPr/>
        </p:nvSpPr>
        <p:spPr>
          <a:xfrm>
            <a:off x="6444282" y="4365104"/>
            <a:ext cx="155448"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TextBox 6"/>
          <p:cNvSpPr txBox="1"/>
          <p:nvPr/>
        </p:nvSpPr>
        <p:spPr>
          <a:xfrm>
            <a:off x="6599730" y="4490280"/>
            <a:ext cx="2448272" cy="461665"/>
          </a:xfrm>
          <a:prstGeom prst="rect">
            <a:avLst/>
          </a:prstGeom>
          <a:noFill/>
        </p:spPr>
        <p:txBody>
          <a:bodyPr wrap="square" rtlCol="0">
            <a:spAutoFit/>
          </a:bodyPr>
          <a:lstStyle/>
          <a:p>
            <a:r>
              <a:rPr lang="zh-CN" altLang="en-US" sz="1200" dirty="0">
                <a:solidFill>
                  <a:srgbClr val="FF0000"/>
                </a:solidFill>
              </a:rPr>
              <a:t>在同一个</a:t>
            </a:r>
            <a:r>
              <a:rPr lang="en-US" altLang="zh-CN" sz="1200" dirty="0">
                <a:solidFill>
                  <a:srgbClr val="FF0000"/>
                </a:solidFill>
              </a:rPr>
              <a:t>space</a:t>
            </a:r>
            <a:r>
              <a:rPr lang="zh-CN" altLang="en-US" sz="1200" dirty="0">
                <a:solidFill>
                  <a:srgbClr val="FF0000"/>
                </a:solidFill>
              </a:rPr>
              <a:t>中，并且其他实体都在红色实体附近</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AU" altLang="zh-CN" dirty="0">
                <a:solidFill>
                  <a:schemeClr val="accent1"/>
                </a:solidFill>
              </a:rPr>
              <a:t>Volatile</a:t>
            </a:r>
            <a:r>
              <a:rPr lang="zh-CN" altLang="en-AU" dirty="0">
                <a:solidFill>
                  <a:schemeClr val="accent1"/>
                </a:solidFill>
                <a:ea typeface="宋体" panose="02010600030101010101" pitchFamily="2" charset="-122"/>
              </a:rPr>
              <a:t>属性</a:t>
            </a:r>
            <a:endParaRPr lang="zh-CN" altLang="en-US" sz="36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4000" dirty="0">
                <a:ea typeface="宋体" panose="02010600030101010101" pitchFamily="2" charset="-122"/>
              </a:rPr>
              <a:t>优化的协议</a:t>
            </a:r>
            <a:endParaRPr lang="en-AU" altLang="zh-CN" sz="4000" dirty="0"/>
          </a:p>
          <a:p>
            <a:r>
              <a:rPr lang="zh-CN" altLang="en-AU" sz="4000" dirty="0">
                <a:ea typeface="宋体" panose="02010600030101010101" pitchFamily="2" charset="-122"/>
              </a:rPr>
              <a:t>仅仅对最近更新的数据值有兴趣</a:t>
            </a:r>
            <a:endParaRPr lang="en-AU" altLang="zh-CN" sz="4000" dirty="0"/>
          </a:p>
          <a:p>
            <a:r>
              <a:rPr lang="en-AU" altLang="zh-CN" sz="4000" dirty="0"/>
              <a:t>Position (</a:t>
            </a:r>
            <a:r>
              <a:rPr lang="en-AU" altLang="zh-CN" sz="4000" dirty="0" err="1"/>
              <a:t>x,y,z</a:t>
            </a:r>
            <a:r>
              <a:rPr lang="en-AU" altLang="zh-CN" sz="4000" dirty="0"/>
              <a:t>)</a:t>
            </a:r>
          </a:p>
          <a:p>
            <a:r>
              <a:rPr lang="en-AU" altLang="zh-CN" sz="4000" dirty="0"/>
              <a:t>Yaw, Pitch, Roll</a:t>
            </a:r>
          </a:p>
          <a:p>
            <a:pPr marL="0" indent="0">
              <a:buNone/>
            </a:pPr>
            <a:endParaRPr lang="en-US" altLang="zh-CN" sz="1600" dirty="0">
              <a:ea typeface="宋体" panose="02010600030101010101" pitchFamily="2" charset="-122"/>
            </a:endParaRP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AU" dirty="0">
                <a:solidFill>
                  <a:schemeClr val="accent1"/>
                </a:solidFill>
                <a:ea typeface="宋体" panose="02010600030101010101" pitchFamily="2" charset="-122"/>
              </a:rPr>
              <a:t>属性</a:t>
            </a:r>
            <a:r>
              <a:rPr lang="en-AU" altLang="zh-CN" sz="4900" dirty="0">
                <a:solidFill>
                  <a:schemeClr val="accent1"/>
                </a:solidFill>
              </a:rPr>
              <a:t>Detail Level(</a:t>
            </a:r>
            <a:r>
              <a:rPr lang="zh-CN" altLang="en-US" sz="4900" dirty="0">
                <a:solidFill>
                  <a:schemeClr val="accent1"/>
                </a:solidFill>
              </a:rPr>
              <a:t>未实现</a:t>
            </a:r>
            <a:r>
              <a:rPr lang="en-AU" altLang="zh-CN" sz="4900" dirty="0">
                <a:solidFill>
                  <a:schemeClr val="accent1"/>
                </a:solidFill>
              </a:rPr>
              <a:t>)</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4000" dirty="0">
                <a:ea typeface="宋体" panose="02010600030101010101" pitchFamily="2" charset="-122"/>
              </a:rPr>
              <a:t>影响属性更新到客户端</a:t>
            </a:r>
            <a:endParaRPr lang="en-AU" altLang="zh-CN" sz="4000" dirty="0"/>
          </a:p>
          <a:p>
            <a:r>
              <a:rPr lang="zh-CN" altLang="en-AU" sz="4000" dirty="0">
                <a:ea typeface="宋体" panose="02010600030101010101" pitchFamily="2" charset="-122"/>
              </a:rPr>
              <a:t>典型地用于可看见的属性</a:t>
            </a:r>
            <a:endParaRPr lang="en-AU" altLang="zh-CN" sz="4000" dirty="0"/>
          </a:p>
          <a:p>
            <a:r>
              <a:rPr lang="zh-CN" altLang="en-AU" sz="4000" dirty="0">
                <a:ea typeface="宋体" panose="02010600030101010101" pitchFamily="2" charset="-122"/>
              </a:rPr>
              <a:t>带宽节省机制</a:t>
            </a:r>
            <a:endParaRPr lang="en-US" altLang="zh-CN" sz="4000" dirty="0">
              <a:ea typeface="宋体" panose="02010600030101010101" pitchFamily="2" charset="-122"/>
            </a:endParaRPr>
          </a:p>
          <a:p>
            <a:r>
              <a:rPr lang="zh-CN" altLang="en-AU" sz="4000" dirty="0">
                <a:ea typeface="宋体" panose="02010600030101010101" pitchFamily="2" charset="-122"/>
              </a:rPr>
              <a:t>如果需要可以使用，但不是必须用</a:t>
            </a:r>
            <a:endParaRPr lang="en-US" altLang="zh-CN" sz="4000" dirty="0">
              <a:ea typeface="宋体" panose="02010600030101010101" pitchFamily="2" charset="-122"/>
            </a:endParaRPr>
          </a:p>
          <a:p>
            <a:r>
              <a:rPr lang="zh-CN" altLang="en-AU" sz="4000" dirty="0">
                <a:ea typeface="宋体" panose="02010600030101010101" pitchFamily="2" charset="-122"/>
              </a:rPr>
              <a:t>用</a:t>
            </a:r>
            <a:r>
              <a:rPr lang="en-AU" altLang="zh-CN" sz="4000" dirty="0">
                <a:latin typeface="Courier New" panose="02070309020205020404" pitchFamily="49" charset="0"/>
              </a:rPr>
              <a:t>&lt;</a:t>
            </a:r>
            <a:r>
              <a:rPr lang="en-AU" altLang="zh-CN" sz="4000" dirty="0" err="1">
                <a:latin typeface="Courier New" panose="02070309020205020404" pitchFamily="49" charset="0"/>
              </a:rPr>
              <a:t>DetailLevel</a:t>
            </a:r>
            <a:r>
              <a:rPr lang="en-AU" altLang="zh-CN" sz="4000" dirty="0">
                <a:latin typeface="Courier New" panose="02070309020205020404" pitchFamily="49" charset="0"/>
              </a:rPr>
              <a:t>&gt;</a:t>
            </a:r>
            <a:r>
              <a:rPr lang="zh-CN" altLang="en-AU" sz="4000" dirty="0">
                <a:latin typeface="Courier New" panose="02070309020205020404" pitchFamily="49" charset="0"/>
                <a:ea typeface="宋体" panose="02010600030101010101" pitchFamily="2" charset="-122"/>
              </a:rPr>
              <a:t>指定</a:t>
            </a:r>
          </a:p>
          <a:p>
            <a:r>
              <a:rPr lang="en-AU" altLang="zh-CN" sz="4000" dirty="0"/>
              <a:t>Detail levels </a:t>
            </a:r>
            <a:r>
              <a:rPr lang="zh-CN" altLang="en-AU" sz="4000" dirty="0">
                <a:ea typeface="宋体" panose="02010600030101010101" pitchFamily="2" charset="-122"/>
              </a:rPr>
              <a:t>又名</a:t>
            </a:r>
            <a:r>
              <a:rPr lang="en-AU" altLang="zh-CN" sz="4000" dirty="0">
                <a:ea typeface="宋体" panose="02010600030101010101" pitchFamily="2" charset="-122"/>
              </a:rPr>
              <a:t> </a:t>
            </a:r>
            <a:r>
              <a:rPr lang="en-AU" altLang="zh-CN" sz="4000" dirty="0">
                <a:latin typeface="Courier New" panose="02070309020205020404" pitchFamily="49" charset="0"/>
              </a:rPr>
              <a:t>&lt;</a:t>
            </a:r>
            <a:r>
              <a:rPr lang="en-AU" altLang="zh-CN" sz="4000" dirty="0" err="1">
                <a:latin typeface="Courier New" panose="02070309020205020404" pitchFamily="49" charset="0"/>
              </a:rPr>
              <a:t>LodLevels</a:t>
            </a:r>
            <a:r>
              <a:rPr lang="en-AU" altLang="zh-CN" sz="4000" dirty="0">
                <a:latin typeface="Courier New" panose="02070309020205020404" pitchFamily="49" charset="0"/>
              </a:rPr>
              <a:t>&gt;</a:t>
            </a: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7504" y="1124744"/>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AU" dirty="0">
                <a:solidFill>
                  <a:schemeClr val="accent1"/>
                </a:solidFill>
                <a:ea typeface="宋体" panose="02010600030101010101" pitchFamily="2" charset="-122"/>
              </a:rPr>
              <a:t>属性</a:t>
            </a:r>
            <a:r>
              <a:rPr lang="en-AU" altLang="zh-CN" sz="4900" dirty="0">
                <a:solidFill>
                  <a:schemeClr val="accent1"/>
                </a:solidFill>
              </a:rPr>
              <a:t>Detail Level(</a:t>
            </a:r>
            <a:r>
              <a:rPr lang="zh-CN" altLang="en-US" sz="4900" dirty="0">
                <a:solidFill>
                  <a:schemeClr val="accent1"/>
                </a:solidFill>
              </a:rPr>
              <a:t>未实现</a:t>
            </a:r>
            <a:r>
              <a:rPr lang="en-AU" altLang="zh-CN" sz="4900" dirty="0">
                <a:solidFill>
                  <a:schemeClr val="accent1"/>
                </a:solidFill>
              </a:rPr>
              <a:t>)</a:t>
            </a:r>
            <a:endParaRPr lang="zh-CN" altLang="en-US" sz="4900" b="1" dirty="0">
              <a:solidFill>
                <a:schemeClr val="accent1"/>
              </a:solidFill>
              <a:latin typeface="+mn-ea"/>
              <a:ea typeface="+mn-ea"/>
            </a:endParaRPr>
          </a:p>
        </p:txBody>
      </p:sp>
      <p:sp>
        <p:nvSpPr>
          <p:cNvPr id="3" name="TextBox 2"/>
          <p:cNvSpPr txBox="1"/>
          <p:nvPr/>
        </p:nvSpPr>
        <p:spPr>
          <a:xfrm>
            <a:off x="323528" y="1052736"/>
            <a:ext cx="8208912" cy="5355312"/>
          </a:xfrm>
          <a:prstGeom prst="rect">
            <a:avLst/>
          </a:prstGeom>
          <a:noFill/>
        </p:spPr>
        <p:txBody>
          <a:bodyPr wrap="square" rtlCol="0">
            <a:spAutoFit/>
          </a:bodyPr>
          <a:lstStyle/>
          <a:p>
            <a:pPr>
              <a:spcBef>
                <a:spcPct val="0"/>
              </a:spcBef>
            </a:pPr>
            <a:r>
              <a:rPr lang="en-AU" altLang="zh-CN" dirty="0">
                <a:solidFill>
                  <a:schemeClr val="accent4">
                    <a:lumMod val="50000"/>
                  </a:schemeClr>
                </a:solidFill>
                <a:latin typeface="Courier New" panose="02070309020205020404" pitchFamily="49" charset="0"/>
              </a:rPr>
              <a:t>&lt;root&gt;</a:t>
            </a:r>
          </a:p>
          <a:p>
            <a:pPr>
              <a:spcBef>
                <a:spcPct val="0"/>
              </a:spcBef>
            </a:pPr>
            <a:endParaRPr lang="en-AU" altLang="zh-CN" dirty="0">
              <a:solidFill>
                <a:schemeClr val="accent4">
                  <a:lumMod val="50000"/>
                </a:schemeClr>
              </a:solidFill>
              <a:latin typeface="Courier New" panose="02070309020205020404" pitchFamily="49" charset="0"/>
            </a:endParaRPr>
          </a:p>
          <a:p>
            <a:pPr>
              <a:spcBef>
                <a:spcPct val="0"/>
              </a:spcBef>
            </a:pPr>
            <a:r>
              <a:rPr lang="en-AU" altLang="zh-CN" b="1" dirty="0">
                <a:solidFill>
                  <a:schemeClr val="accent4">
                    <a:lumMod val="50000"/>
                  </a:schemeClr>
                </a:solidFill>
                <a:latin typeface="Courier New" panose="02070309020205020404" pitchFamily="49" charset="0"/>
              </a:rPr>
              <a:t>   &lt;</a:t>
            </a:r>
            <a:r>
              <a:rPr lang="en-AU" altLang="zh-CN" b="1" dirty="0" err="1">
                <a:solidFill>
                  <a:srgbClr val="C00000"/>
                </a:solidFill>
                <a:latin typeface="Courier New" panose="02070309020205020404" pitchFamily="49" charset="0"/>
              </a:rPr>
              <a:t>LoDLevels</a:t>
            </a:r>
            <a:r>
              <a:rPr lang="en-AU" altLang="zh-CN" b="1" dirty="0">
                <a:solidFill>
                  <a:schemeClr val="accent4">
                    <a:lumMod val="50000"/>
                  </a:schemeClr>
                </a:solidFill>
                <a:latin typeface="Courier New" panose="02070309020205020404" pitchFamily="49" charset="0"/>
              </a:rPr>
              <a:t>&gt;</a:t>
            </a:r>
          </a:p>
          <a:p>
            <a:pPr>
              <a:spcBef>
                <a:spcPct val="0"/>
              </a:spcBef>
            </a:pPr>
            <a:r>
              <a:rPr lang="en-AU" altLang="zh-CN" b="1" dirty="0">
                <a:solidFill>
                  <a:schemeClr val="accent4">
                    <a:lumMod val="50000"/>
                  </a:schemeClr>
                </a:solidFill>
                <a:latin typeface="Courier New" panose="02070309020205020404" pitchFamily="49" charset="0"/>
              </a:rPr>
              <a:t>      &lt;level&gt;  20  &lt;label&gt; NEAR    &lt;/label&gt;  &lt;/level&gt;</a:t>
            </a:r>
          </a:p>
          <a:p>
            <a:pPr>
              <a:spcBef>
                <a:spcPct val="0"/>
              </a:spcBef>
            </a:pPr>
            <a:r>
              <a:rPr lang="en-AU" altLang="zh-CN" b="1" dirty="0">
                <a:solidFill>
                  <a:schemeClr val="accent4">
                    <a:lumMod val="50000"/>
                  </a:schemeClr>
                </a:solidFill>
                <a:latin typeface="Courier New" panose="02070309020205020404" pitchFamily="49" charset="0"/>
              </a:rPr>
              <a:t>      &lt;level&gt; 100  &lt;label&gt; MEDIUM  &lt;/label&gt;  &lt;/level&gt;</a:t>
            </a:r>
          </a:p>
          <a:p>
            <a:pPr>
              <a:spcBef>
                <a:spcPct val="0"/>
              </a:spcBef>
            </a:pPr>
            <a:r>
              <a:rPr lang="en-AU" altLang="zh-CN" b="1" dirty="0">
                <a:solidFill>
                  <a:schemeClr val="accent4">
                    <a:lumMod val="50000"/>
                  </a:schemeClr>
                </a:solidFill>
                <a:latin typeface="Courier New" panose="02070309020205020404" pitchFamily="49" charset="0"/>
              </a:rPr>
              <a:t>      &lt;level&gt; 250  &lt;label&gt; FAR     &lt;/label&gt;  &lt;/level&gt;</a:t>
            </a:r>
          </a:p>
          <a:p>
            <a:pPr>
              <a:spcBef>
                <a:spcPct val="0"/>
              </a:spcBef>
            </a:pPr>
            <a:r>
              <a:rPr lang="en-AU" altLang="zh-CN" b="1" dirty="0">
                <a:solidFill>
                  <a:schemeClr val="accent4">
                    <a:lumMod val="50000"/>
                  </a:schemeClr>
                </a:solidFill>
                <a:latin typeface="Courier New" panose="02070309020205020404" pitchFamily="49" charset="0"/>
              </a:rPr>
              <a:t>   &lt;/</a:t>
            </a:r>
            <a:r>
              <a:rPr lang="en-AU" altLang="zh-CN" b="1" dirty="0" err="1">
                <a:solidFill>
                  <a:srgbClr val="C00000"/>
                </a:solidFill>
                <a:latin typeface="Courier New" panose="02070309020205020404" pitchFamily="49" charset="0"/>
              </a:rPr>
              <a:t>LodLevels</a:t>
            </a:r>
            <a:r>
              <a:rPr lang="en-AU" altLang="zh-CN" b="1" dirty="0">
                <a:solidFill>
                  <a:schemeClr val="accent4">
                    <a:lumMod val="50000"/>
                  </a:schemeClr>
                </a:solidFill>
                <a:latin typeface="Courier New" panose="02070309020205020404" pitchFamily="49" charset="0"/>
              </a:rPr>
              <a:t>&gt;</a:t>
            </a:r>
          </a:p>
          <a:p>
            <a:pPr>
              <a:spcBef>
                <a:spcPct val="0"/>
              </a:spcBef>
            </a:pPr>
            <a:endParaRPr lang="en-AU" altLang="zh-CN" dirty="0">
              <a:solidFill>
                <a:schemeClr val="accent4">
                  <a:lumMod val="50000"/>
                </a:schemeClr>
              </a:solidFill>
              <a:latin typeface="Courier New" panose="02070309020205020404" pitchFamily="49" charset="0"/>
            </a:endParaRPr>
          </a:p>
          <a:p>
            <a:pPr>
              <a:spcBef>
                <a:spcPct val="0"/>
              </a:spcBef>
            </a:pPr>
            <a:r>
              <a:rPr lang="en-AU" altLang="zh-CN" dirty="0">
                <a:solidFill>
                  <a:schemeClr val="accent4">
                    <a:lumMod val="50000"/>
                  </a:schemeClr>
                </a:solidFill>
                <a:latin typeface="Courier New" panose="02070309020205020404" pitchFamily="49" charset="0"/>
              </a:rPr>
              <a:t>   &lt;Properties&gt;</a:t>
            </a:r>
          </a:p>
          <a:p>
            <a:pPr>
              <a:spcBef>
                <a:spcPct val="0"/>
              </a:spcBef>
            </a:pPr>
            <a:r>
              <a:rPr lang="en-AU" altLang="zh-CN" dirty="0">
                <a:solidFill>
                  <a:schemeClr val="accent4">
                    <a:lumMod val="50000"/>
                  </a:schemeClr>
                </a:solidFill>
                <a:latin typeface="Courier New" panose="02070309020205020404" pitchFamily="49" charset="0"/>
              </a:rPr>
              <a:t>      &lt;name&gt;</a:t>
            </a:r>
          </a:p>
          <a:p>
            <a:pPr>
              <a:spcBef>
                <a:spcPct val="0"/>
              </a:spcBef>
            </a:pPr>
            <a:r>
              <a:rPr lang="en-AU" altLang="zh-CN" dirty="0">
                <a:solidFill>
                  <a:schemeClr val="accent4">
                    <a:lumMod val="50000"/>
                  </a:schemeClr>
                </a:solidFill>
                <a:latin typeface="Courier New" panose="02070309020205020404" pitchFamily="49" charset="0"/>
              </a:rPr>
              <a:t>         &lt;Type&gt;          STRING       &lt;/Type&gt;</a:t>
            </a:r>
          </a:p>
          <a:p>
            <a:pPr>
              <a:spcBef>
                <a:spcPct val="0"/>
              </a:spcBef>
            </a:pPr>
            <a:r>
              <a:rPr lang="en-AU" altLang="zh-CN" dirty="0">
                <a:solidFill>
                  <a:schemeClr val="accent4">
                    <a:lumMod val="50000"/>
                  </a:schemeClr>
                </a:solidFill>
                <a:latin typeface="Courier New" panose="02070309020205020404" pitchFamily="49" charset="0"/>
              </a:rPr>
              <a:t>         &lt;Flags&gt;         ALL_CLIENTS  &lt;/Flags&gt;</a:t>
            </a:r>
          </a:p>
          <a:p>
            <a:pPr>
              <a:spcBef>
                <a:spcPct val="0"/>
              </a:spcBef>
            </a:pPr>
            <a:r>
              <a:rPr lang="en-AU" altLang="zh-CN" dirty="0">
                <a:solidFill>
                  <a:schemeClr val="accent4">
                    <a:lumMod val="50000"/>
                  </a:schemeClr>
                </a:solidFill>
                <a:latin typeface="Courier New" panose="02070309020205020404" pitchFamily="49" charset="0"/>
              </a:rPr>
              <a:t>         </a:t>
            </a:r>
            <a:r>
              <a:rPr lang="en-AU" altLang="zh-CN" b="1" dirty="0">
                <a:solidFill>
                  <a:schemeClr val="accent4">
                    <a:lumMod val="50000"/>
                  </a:schemeClr>
                </a:solidFill>
                <a:latin typeface="Courier New" panose="02070309020205020404" pitchFamily="49" charset="0"/>
              </a:rPr>
              <a:t>&lt;</a:t>
            </a:r>
            <a:r>
              <a:rPr lang="en-AU" altLang="zh-CN" b="1" dirty="0" err="1">
                <a:solidFill>
                  <a:srgbClr val="C00000"/>
                </a:solidFill>
                <a:latin typeface="Courier New" panose="02070309020205020404" pitchFamily="49" charset="0"/>
              </a:rPr>
              <a:t>DetailLevel</a:t>
            </a:r>
            <a:r>
              <a:rPr lang="en-AU" altLang="zh-CN" b="1" dirty="0">
                <a:solidFill>
                  <a:schemeClr val="accent4">
                    <a:lumMod val="50000"/>
                  </a:schemeClr>
                </a:solidFill>
                <a:latin typeface="Courier New" panose="02070309020205020404" pitchFamily="49" charset="0"/>
              </a:rPr>
              <a:t>&gt;   NEAR   &lt;/</a:t>
            </a:r>
            <a:r>
              <a:rPr lang="en-AU" altLang="zh-CN" b="1" dirty="0" err="1">
                <a:solidFill>
                  <a:srgbClr val="C00000"/>
                </a:solidFill>
                <a:latin typeface="Courier New" panose="02070309020205020404" pitchFamily="49" charset="0"/>
              </a:rPr>
              <a:t>DetailLevel</a:t>
            </a:r>
            <a:r>
              <a:rPr lang="en-AU" altLang="zh-CN" b="1" dirty="0">
                <a:solidFill>
                  <a:schemeClr val="accent4">
                    <a:lumMod val="50000"/>
                  </a:schemeClr>
                </a:solidFill>
                <a:latin typeface="Courier New" panose="02070309020205020404" pitchFamily="49" charset="0"/>
              </a:rPr>
              <a:t>&gt;</a:t>
            </a:r>
          </a:p>
          <a:p>
            <a:pPr>
              <a:spcBef>
                <a:spcPct val="0"/>
              </a:spcBef>
            </a:pPr>
            <a:r>
              <a:rPr lang="en-AU" altLang="zh-CN" dirty="0">
                <a:solidFill>
                  <a:schemeClr val="accent4">
                    <a:lumMod val="50000"/>
                  </a:schemeClr>
                </a:solidFill>
                <a:latin typeface="Courier New" panose="02070309020205020404" pitchFamily="49" charset="0"/>
              </a:rPr>
              <a:t>      &lt;/name&gt;</a:t>
            </a:r>
          </a:p>
          <a:p>
            <a:pPr>
              <a:spcBef>
                <a:spcPct val="0"/>
              </a:spcBef>
            </a:pPr>
            <a:r>
              <a:rPr lang="en-AU" altLang="zh-CN" dirty="0">
                <a:solidFill>
                  <a:schemeClr val="accent4">
                    <a:lumMod val="50000"/>
                  </a:schemeClr>
                </a:solidFill>
                <a:latin typeface="Courier New" panose="02070309020205020404" pitchFamily="49" charset="0"/>
              </a:rPr>
              <a:t>   &lt;/Properties&gt;</a:t>
            </a:r>
          </a:p>
          <a:p>
            <a:pPr>
              <a:spcBef>
                <a:spcPct val="0"/>
              </a:spcBef>
            </a:pPr>
            <a:endParaRPr lang="en-AU" altLang="zh-CN" dirty="0">
              <a:solidFill>
                <a:schemeClr val="accent4">
                  <a:lumMod val="50000"/>
                </a:schemeClr>
              </a:solidFill>
              <a:latin typeface="Courier New" panose="02070309020205020404" pitchFamily="49" charset="0"/>
            </a:endParaRPr>
          </a:p>
          <a:p>
            <a:pPr>
              <a:spcBef>
                <a:spcPct val="0"/>
              </a:spcBef>
            </a:pPr>
            <a:r>
              <a:rPr lang="en-AU" altLang="zh-CN" dirty="0">
                <a:solidFill>
                  <a:schemeClr val="accent4">
                    <a:lumMod val="50000"/>
                  </a:schemeClr>
                </a:solidFill>
                <a:latin typeface="Courier New" panose="02070309020205020404" pitchFamily="49" charset="0"/>
              </a:rPr>
              <a:t>   ...</a:t>
            </a:r>
          </a:p>
          <a:p>
            <a:pPr>
              <a:spcBef>
                <a:spcPct val="0"/>
              </a:spcBef>
            </a:pPr>
            <a:r>
              <a:rPr lang="en-AU" altLang="zh-CN" dirty="0">
                <a:solidFill>
                  <a:schemeClr val="accent4">
                    <a:lumMod val="50000"/>
                  </a:schemeClr>
                </a:solidFill>
                <a:latin typeface="Courier New" panose="02070309020205020404" pitchFamily="49" charset="0"/>
              </a:rPr>
              <a:t>&lt;/root&gt;</a:t>
            </a:r>
          </a:p>
          <a:p>
            <a:endParaRPr lang="zh-CN" altLang="en-US" dirty="0">
              <a:solidFill>
                <a:schemeClr val="accent4">
                  <a:lumMod val="50000"/>
                </a:schemeClr>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的数据保存</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400" dirty="0">
                <a:ea typeface="宋体" panose="02010600030101010101" pitchFamily="2" charset="-122"/>
              </a:rPr>
              <a:t>一些</a:t>
            </a:r>
            <a:r>
              <a:rPr lang="en-AU" altLang="zh-CN" sz="2400" dirty="0">
                <a:ea typeface="宋体" panose="02010600030101010101" pitchFamily="2" charset="-122"/>
              </a:rPr>
              <a:t>entity</a:t>
            </a:r>
            <a:r>
              <a:rPr lang="zh-CN" altLang="en-AU" sz="2400" dirty="0">
                <a:ea typeface="宋体" panose="02010600030101010101" pitchFamily="2" charset="-122"/>
              </a:rPr>
              <a:t>和它们的数据可能需要保存到数据库，这样就是服务器重启了这些数据也还有效</a:t>
            </a:r>
            <a:endParaRPr lang="en-AU" altLang="zh-CN" sz="2400" dirty="0"/>
          </a:p>
          <a:p>
            <a:r>
              <a:rPr lang="zh-CN" altLang="en-AU" sz="2400" dirty="0">
                <a:ea typeface="宋体" panose="02010600030101010101" pitchFamily="2" charset="-122"/>
              </a:rPr>
              <a:t>在属性上定义</a:t>
            </a:r>
            <a:endParaRPr lang="en-AU" altLang="zh-CN" sz="2400" dirty="0"/>
          </a:p>
          <a:p>
            <a:r>
              <a:rPr lang="en-AU" altLang="zh-CN" sz="2400" dirty="0">
                <a:ea typeface="宋体" panose="02010600030101010101" pitchFamily="2" charset="-122"/>
              </a:rPr>
              <a:t>Entity</a:t>
            </a:r>
            <a:r>
              <a:rPr lang="zh-CN" altLang="en-AU" sz="2400" dirty="0">
                <a:ea typeface="宋体" panose="02010600030101010101" pitchFamily="2" charset="-122"/>
              </a:rPr>
              <a:t>被存到数据库里</a:t>
            </a:r>
            <a:endParaRPr lang="en-AU" altLang="zh-CN" sz="2400" dirty="0"/>
          </a:p>
          <a:p>
            <a:r>
              <a:rPr lang="zh-CN" altLang="en-AU" sz="2400" dirty="0">
                <a:ea typeface="宋体" panose="02010600030101010101" pitchFamily="2" charset="-122"/>
              </a:rPr>
              <a:t>自动在数据库里创建一个</a:t>
            </a:r>
            <a:r>
              <a:rPr lang="en-AU" altLang="zh-CN" sz="2400" dirty="0" err="1">
                <a:latin typeface="Courier New" panose="02070309020205020404" pitchFamily="49" charset="0"/>
              </a:rPr>
              <a:t>self.databaseID</a:t>
            </a:r>
            <a:endParaRPr lang="en-AU" altLang="zh-CN" sz="2400" dirty="0"/>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5" name="矩形 4"/>
          <p:cNvSpPr/>
          <p:nvPr/>
        </p:nvSpPr>
        <p:spPr>
          <a:xfrm>
            <a:off x="107504" y="3356992"/>
            <a:ext cx="8928992" cy="3312368"/>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3" name="TextBox 2"/>
          <p:cNvSpPr txBox="1"/>
          <p:nvPr/>
        </p:nvSpPr>
        <p:spPr>
          <a:xfrm>
            <a:off x="179512" y="3501008"/>
            <a:ext cx="8856984" cy="3416320"/>
          </a:xfrm>
          <a:prstGeom prst="rect">
            <a:avLst/>
          </a:prstGeom>
          <a:noFill/>
        </p:spPr>
        <p:txBody>
          <a:bodyPr wrap="square" rtlCol="0">
            <a:spAutoFit/>
          </a:bodyPr>
          <a:lstStyle/>
          <a:p>
            <a:pPr>
              <a:spcBef>
                <a:spcPct val="0"/>
              </a:spcBef>
            </a:pPr>
            <a:r>
              <a:rPr lang="en-AU" altLang="zh-CN" dirty="0">
                <a:solidFill>
                  <a:schemeClr val="accent4">
                    <a:lumMod val="50000"/>
                  </a:schemeClr>
                </a:solidFill>
                <a:latin typeface="Courier New" panose="02070309020205020404" pitchFamily="49" charset="0"/>
              </a:rPr>
              <a:t>&lt;root&gt;</a:t>
            </a:r>
          </a:p>
          <a:p>
            <a:pPr>
              <a:spcBef>
                <a:spcPct val="0"/>
              </a:spcBef>
            </a:pPr>
            <a:r>
              <a:rPr lang="en-AU" altLang="zh-CN" dirty="0">
                <a:solidFill>
                  <a:schemeClr val="accent4">
                    <a:lumMod val="50000"/>
                  </a:schemeClr>
                </a:solidFill>
                <a:latin typeface="Courier New" panose="02070309020205020404" pitchFamily="49" charset="0"/>
              </a:rPr>
              <a:t>   &lt;Properties&gt;</a:t>
            </a:r>
          </a:p>
          <a:p>
            <a:pPr>
              <a:spcBef>
                <a:spcPct val="0"/>
              </a:spcBef>
            </a:pPr>
            <a:r>
              <a:rPr lang="en-AU" altLang="zh-CN" dirty="0">
                <a:solidFill>
                  <a:schemeClr val="accent4">
                    <a:lumMod val="50000"/>
                  </a:schemeClr>
                </a:solidFill>
                <a:latin typeface="Courier New" panose="02070309020205020404" pitchFamily="49" charset="0"/>
              </a:rPr>
              <a:t>      &lt;name&gt;</a:t>
            </a:r>
          </a:p>
          <a:p>
            <a:pPr>
              <a:spcBef>
                <a:spcPct val="0"/>
              </a:spcBef>
            </a:pPr>
            <a:r>
              <a:rPr lang="en-AU" altLang="zh-CN" dirty="0">
                <a:solidFill>
                  <a:schemeClr val="accent4">
                    <a:lumMod val="50000"/>
                  </a:schemeClr>
                </a:solidFill>
                <a:latin typeface="Courier New" panose="02070309020205020404" pitchFamily="49" charset="0"/>
              </a:rPr>
              <a:t>         &lt;Type&gt;        STRING       &lt;/Type&gt;</a:t>
            </a:r>
          </a:p>
          <a:p>
            <a:pPr>
              <a:spcBef>
                <a:spcPct val="0"/>
              </a:spcBef>
            </a:pPr>
            <a:r>
              <a:rPr lang="en-AU" altLang="zh-CN" dirty="0">
                <a:solidFill>
                  <a:schemeClr val="accent4">
                    <a:lumMod val="50000"/>
                  </a:schemeClr>
                </a:solidFill>
                <a:latin typeface="Courier New" panose="02070309020205020404" pitchFamily="49" charset="0"/>
              </a:rPr>
              <a:t>         &lt;Flags&gt;       ALL_CLIENTS  &lt;/Flags&gt;</a:t>
            </a:r>
          </a:p>
          <a:p>
            <a:pPr>
              <a:spcBef>
                <a:spcPct val="0"/>
              </a:spcBef>
            </a:pPr>
            <a:r>
              <a:rPr lang="en-AU" altLang="zh-CN" dirty="0">
                <a:solidFill>
                  <a:schemeClr val="accent4">
                    <a:lumMod val="50000"/>
                  </a:schemeClr>
                </a:solidFill>
                <a:latin typeface="Courier New" panose="02070309020205020404" pitchFamily="49" charset="0"/>
              </a:rPr>
              <a:t>         </a:t>
            </a:r>
            <a:r>
              <a:rPr lang="en-AU" altLang="zh-CN" b="1" dirty="0">
                <a:solidFill>
                  <a:srgbClr val="C00000"/>
                </a:solidFill>
                <a:latin typeface="Courier New" panose="02070309020205020404" pitchFamily="49" charset="0"/>
              </a:rPr>
              <a:t>&lt;Persistent&gt;  true         &lt;/Persistent&gt;</a:t>
            </a:r>
          </a:p>
          <a:p>
            <a:pPr>
              <a:spcBef>
                <a:spcPct val="0"/>
              </a:spcBef>
            </a:pPr>
            <a:r>
              <a:rPr lang="en-AU" altLang="zh-CN" dirty="0">
                <a:solidFill>
                  <a:schemeClr val="accent4">
                    <a:lumMod val="50000"/>
                  </a:schemeClr>
                </a:solidFill>
                <a:latin typeface="Courier New" panose="02070309020205020404" pitchFamily="49" charset="0"/>
              </a:rPr>
              <a:t>      &lt;/name&gt;</a:t>
            </a:r>
          </a:p>
          <a:p>
            <a:pPr>
              <a:spcBef>
                <a:spcPct val="0"/>
              </a:spcBef>
            </a:pPr>
            <a:r>
              <a:rPr lang="en-AU" altLang="zh-CN" dirty="0">
                <a:solidFill>
                  <a:schemeClr val="accent4">
                    <a:lumMod val="50000"/>
                  </a:schemeClr>
                </a:solidFill>
                <a:latin typeface="Courier New" panose="02070309020205020404" pitchFamily="49" charset="0"/>
              </a:rPr>
              <a:t>   &lt;/Properties&gt;</a:t>
            </a:r>
          </a:p>
          <a:p>
            <a:pPr>
              <a:spcBef>
                <a:spcPct val="0"/>
              </a:spcBef>
            </a:pPr>
            <a:endParaRPr lang="en-AU" altLang="zh-CN" dirty="0">
              <a:solidFill>
                <a:schemeClr val="accent4">
                  <a:lumMod val="50000"/>
                </a:schemeClr>
              </a:solidFill>
              <a:latin typeface="Courier New" panose="02070309020205020404" pitchFamily="49" charset="0"/>
            </a:endParaRPr>
          </a:p>
          <a:p>
            <a:pPr>
              <a:spcBef>
                <a:spcPct val="0"/>
              </a:spcBef>
            </a:pPr>
            <a:r>
              <a:rPr lang="en-AU" altLang="zh-CN" dirty="0">
                <a:solidFill>
                  <a:schemeClr val="accent4">
                    <a:lumMod val="50000"/>
                  </a:schemeClr>
                </a:solidFill>
                <a:latin typeface="Courier New" panose="02070309020205020404" pitchFamily="49" charset="0"/>
              </a:rPr>
              <a:t>   ...</a:t>
            </a:r>
          </a:p>
          <a:p>
            <a:pPr>
              <a:spcBef>
                <a:spcPct val="0"/>
              </a:spcBef>
            </a:pPr>
            <a:r>
              <a:rPr lang="en-AU" altLang="zh-CN" dirty="0">
                <a:solidFill>
                  <a:schemeClr val="accent4">
                    <a:lumMod val="50000"/>
                  </a:schemeClr>
                </a:solidFill>
                <a:latin typeface="Courier New" panose="02070309020205020404" pitchFamily="49" charset="0"/>
              </a:rPr>
              <a:t>&lt;/root&gt;</a:t>
            </a:r>
          </a:p>
          <a:p>
            <a:endParaRPr lang="zh-CN" altLang="en-US" dirty="0"/>
          </a:p>
        </p:txBody>
      </p:sp>
      <p:sp>
        <p:nvSpPr>
          <p:cNvPr id="6" name="文本框 5"/>
          <p:cNvSpPr txBox="1"/>
          <p:nvPr/>
        </p:nvSpPr>
        <p:spPr>
          <a:xfrm>
            <a:off x="3556337" y="5291916"/>
            <a:ext cx="4009431" cy="369332"/>
          </a:xfrm>
          <a:prstGeom prst="rect">
            <a:avLst/>
          </a:prstGeom>
          <a:noFill/>
        </p:spPr>
        <p:txBody>
          <a:bodyPr wrap="none" rtlCol="0">
            <a:spAutoFit/>
          </a:bodyPr>
          <a:lstStyle/>
          <a:p>
            <a:r>
              <a:rPr lang="en-AU" altLang="zh-CN" b="1" dirty="0">
                <a:solidFill>
                  <a:srgbClr val="C00000"/>
                </a:solidFill>
                <a:latin typeface="Courier New" panose="02070309020205020404" pitchFamily="49" charset="0"/>
              </a:rPr>
              <a:t>Persistent:</a:t>
            </a:r>
            <a:r>
              <a:rPr lang="zh-CN" altLang="en-US" dirty="0">
                <a:solidFill>
                  <a:srgbClr val="FF0000"/>
                </a:solidFill>
              </a:rPr>
              <a:t>是否持久化属性的标识</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方法</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分别定义在</a:t>
            </a:r>
            <a:endParaRPr lang="en-AU" altLang="zh-CN" dirty="0"/>
          </a:p>
          <a:p>
            <a:pPr lvl="1"/>
            <a:r>
              <a:rPr lang="en-AU" altLang="zh-CN" dirty="0"/>
              <a:t>Client / Cell / Base</a:t>
            </a:r>
          </a:p>
          <a:p>
            <a:r>
              <a:rPr lang="zh-CN" altLang="en-AU" dirty="0">
                <a:ea typeface="宋体" panose="02010600030101010101" pitchFamily="2" charset="-122"/>
              </a:rPr>
              <a:t>必须定义参数</a:t>
            </a:r>
            <a:endParaRPr lang="en-AU" altLang="zh-CN" dirty="0"/>
          </a:p>
          <a:p>
            <a:r>
              <a:rPr lang="en-AU" altLang="zh-CN" dirty="0"/>
              <a:t>Base / </a:t>
            </a:r>
            <a:r>
              <a:rPr lang="en-AU" altLang="zh-CN" dirty="0">
                <a:ea typeface="宋体" panose="02010600030101010101" pitchFamily="2" charset="-122"/>
              </a:rPr>
              <a:t>Cell</a:t>
            </a:r>
            <a:r>
              <a:rPr lang="zh-CN" altLang="en-AU" dirty="0">
                <a:ea typeface="宋体" panose="02010600030101010101" pitchFamily="2" charset="-122"/>
              </a:rPr>
              <a:t>方法可以被暴露给</a:t>
            </a:r>
            <a:r>
              <a:rPr lang="en-AU" altLang="zh-CN" dirty="0">
                <a:ea typeface="宋体" panose="02010600030101010101" pitchFamily="2" charset="-122"/>
              </a:rPr>
              <a:t>Client</a:t>
            </a:r>
            <a:r>
              <a:rPr lang="zh-CN" altLang="en-AU" dirty="0">
                <a:ea typeface="宋体" panose="02010600030101010101" pitchFamily="2" charset="-122"/>
              </a:rPr>
              <a:t>端使用</a:t>
            </a:r>
            <a:endParaRPr lang="en-AU" altLang="zh-CN" dirty="0"/>
          </a:p>
          <a:p>
            <a:r>
              <a:rPr lang="en-AU" altLang="zh-CN" dirty="0"/>
              <a:t>Client</a:t>
            </a:r>
            <a:r>
              <a:rPr lang="zh-CN" altLang="en-AU" dirty="0">
                <a:ea typeface="宋体" panose="02010600030101010101" pitchFamily="2" charset="-122"/>
              </a:rPr>
              <a:t>方法可以指定一个最大的可调用范围</a:t>
            </a:r>
            <a:endParaRPr lang="en-AU" altLang="zh-CN" dirty="0">
              <a:ea typeface="宋体" panose="02010600030101010101" pitchFamily="2" charset="-122"/>
            </a:endParaRPr>
          </a:p>
          <a:p>
            <a:r>
              <a:rPr lang="zh-CN" altLang="en-AU" dirty="0">
                <a:ea typeface="宋体" panose="02010600030101010101" pitchFamily="2" charset="-122"/>
              </a:rPr>
              <a:t>要远程的调用</a:t>
            </a:r>
            <a:r>
              <a:rPr lang="en-AU" altLang="zh-CN" dirty="0">
                <a:ea typeface="宋体" panose="02010600030101010101" pitchFamily="2" charset="-122"/>
              </a:rPr>
              <a:t>(</a:t>
            </a:r>
            <a:r>
              <a:rPr lang="zh-CN" altLang="en-AU" dirty="0">
                <a:ea typeface="宋体" panose="02010600030101010101" pitchFamily="2" charset="-122"/>
              </a:rPr>
              <a:t>跨域</a:t>
            </a:r>
            <a:r>
              <a:rPr lang="en-AU" altLang="zh-CN" dirty="0"/>
              <a:t>Client / Cell / Base</a:t>
            </a:r>
            <a:r>
              <a:rPr lang="en-AU" altLang="zh-CN" dirty="0">
                <a:ea typeface="宋体" panose="02010600030101010101" pitchFamily="2" charset="-122"/>
              </a:rPr>
              <a:t>)</a:t>
            </a:r>
            <a:r>
              <a:rPr lang="zh-CN" altLang="en-AU" dirty="0">
                <a:ea typeface="宋体" panose="02010600030101010101" pitchFamily="2" charset="-122"/>
              </a:rPr>
              <a:t>必须在定义文件</a:t>
            </a:r>
            <a:r>
              <a:rPr lang="en-AU" altLang="zh-CN" dirty="0">
                <a:ea typeface="宋体" panose="02010600030101010101" pitchFamily="2" charset="-122"/>
              </a:rPr>
              <a:t>(.</a:t>
            </a:r>
            <a:r>
              <a:rPr lang="en-AU" altLang="zh-CN" dirty="0" err="1">
                <a:ea typeface="宋体" panose="02010600030101010101" pitchFamily="2" charset="-122"/>
              </a:rPr>
              <a:t>def</a:t>
            </a:r>
            <a:r>
              <a:rPr lang="en-AU" altLang="zh-CN" dirty="0">
                <a:ea typeface="宋体" panose="02010600030101010101" pitchFamily="2" charset="-122"/>
              </a:rPr>
              <a:t>)</a:t>
            </a:r>
            <a:r>
              <a:rPr lang="zh-CN" altLang="en-AU" dirty="0">
                <a:ea typeface="宋体" panose="02010600030101010101" pitchFamily="2" charset="-122"/>
              </a:rPr>
              <a:t>里定义</a:t>
            </a:r>
            <a:endParaRPr lang="en-AU" altLang="zh-CN" dirty="0">
              <a:ea typeface="宋体" panose="02010600030101010101" pitchFamily="2" charset="-122"/>
            </a:endParaRPr>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方法</a:t>
            </a:r>
            <a:endParaRPr lang="zh-CN" altLang="en-US" sz="4900" b="1" dirty="0">
              <a:solidFill>
                <a:schemeClr val="accent1"/>
              </a:solidFill>
              <a:latin typeface="+mn-ea"/>
              <a:ea typeface="+mn-ea"/>
            </a:endParaRPr>
          </a:p>
        </p:txBody>
      </p:sp>
      <p:sp>
        <p:nvSpPr>
          <p:cNvPr id="5" name="矩形 4"/>
          <p:cNvSpPr/>
          <p:nvPr/>
        </p:nvSpPr>
        <p:spPr>
          <a:xfrm>
            <a:off x="107504" y="1052736"/>
            <a:ext cx="8928992" cy="554461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6" name="TextBox 5"/>
          <p:cNvSpPr txBox="1"/>
          <p:nvPr/>
        </p:nvSpPr>
        <p:spPr>
          <a:xfrm>
            <a:off x="335215" y="1109997"/>
            <a:ext cx="8208912" cy="5262979"/>
          </a:xfrm>
          <a:prstGeom prst="rect">
            <a:avLst/>
          </a:prstGeom>
          <a:noFill/>
        </p:spPr>
        <p:txBody>
          <a:bodyPr wrap="square" rtlCol="0">
            <a:spAutoFit/>
          </a:bodyPr>
          <a:lstStyle/>
          <a:p>
            <a:pPr>
              <a:spcBef>
                <a:spcPct val="0"/>
              </a:spcBef>
            </a:pPr>
            <a:r>
              <a:rPr lang="en-AU" altLang="zh-CN" sz="1400" dirty="0">
                <a:solidFill>
                  <a:schemeClr val="accent4">
                    <a:lumMod val="50000"/>
                  </a:schemeClr>
                </a:solidFill>
                <a:latin typeface="Courier New" panose="02070309020205020404" pitchFamily="49" charset="0"/>
              </a:rPr>
              <a:t>&lt;root&gt;</a:t>
            </a:r>
          </a:p>
          <a:p>
            <a:pPr>
              <a:spcBef>
                <a:spcPct val="0"/>
              </a:spcBef>
            </a:pPr>
            <a:r>
              <a:rPr lang="en-AU" altLang="zh-CN" sz="1400" dirty="0">
                <a:solidFill>
                  <a:schemeClr val="accent4">
                    <a:lumMod val="50000"/>
                  </a:schemeClr>
                </a:solidFill>
                <a:latin typeface="Courier New" panose="02070309020205020404" pitchFamily="49" charset="0"/>
              </a:rPr>
              <a:t>   &lt;Properties&gt;</a:t>
            </a:r>
          </a:p>
          <a:p>
            <a:pPr>
              <a:spcBef>
                <a:spcPct val="0"/>
              </a:spcBef>
            </a:pPr>
            <a:r>
              <a:rPr lang="en-AU" altLang="zh-CN" sz="1400" dirty="0">
                <a:solidFill>
                  <a:schemeClr val="accent4">
                    <a:lumMod val="50000"/>
                  </a:schemeClr>
                </a:solidFill>
                <a:latin typeface="Courier New" panose="02070309020205020404" pitchFamily="49" charset="0"/>
              </a:rPr>
              <a:t>      ...</a:t>
            </a:r>
          </a:p>
          <a:p>
            <a:pPr>
              <a:spcBef>
                <a:spcPct val="0"/>
              </a:spcBef>
            </a:pPr>
            <a:r>
              <a:rPr lang="en-AU" altLang="zh-CN" sz="1400" dirty="0">
                <a:solidFill>
                  <a:schemeClr val="accent4">
                    <a:lumMod val="50000"/>
                  </a:schemeClr>
                </a:solidFill>
                <a:latin typeface="Courier New" panose="02070309020205020404" pitchFamily="49" charset="0"/>
              </a:rPr>
              <a:t>   &lt;/Properties&gt;</a:t>
            </a:r>
          </a:p>
          <a:p>
            <a:pPr>
              <a:spcBef>
                <a:spcPct val="0"/>
              </a:spcBef>
            </a:pPr>
            <a:endParaRPr lang="en-AU" altLang="zh-CN" sz="1400" dirty="0">
              <a:solidFill>
                <a:schemeClr val="accent4">
                  <a:lumMod val="50000"/>
                </a:schemeClr>
              </a:solidFill>
              <a:latin typeface="Courier New" panose="02070309020205020404" pitchFamily="49" charset="0"/>
            </a:endParaRP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ClientMethods</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     ...</a:t>
            </a: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ClientMethods</a:t>
            </a:r>
            <a:r>
              <a:rPr lang="en-AU" altLang="zh-CN" sz="1400" dirty="0">
                <a:solidFill>
                  <a:schemeClr val="accent4">
                    <a:lumMod val="50000"/>
                  </a:schemeClr>
                </a:solidFill>
                <a:latin typeface="Courier New" panose="02070309020205020404" pitchFamily="49" charset="0"/>
              </a:rPr>
              <a:t>&gt;</a:t>
            </a:r>
          </a:p>
          <a:p>
            <a:pPr>
              <a:spcBef>
                <a:spcPct val="0"/>
              </a:spcBef>
            </a:pPr>
            <a:endParaRPr lang="en-AU" altLang="zh-CN" sz="1400" dirty="0">
              <a:solidFill>
                <a:schemeClr val="accent4">
                  <a:lumMod val="50000"/>
                </a:schemeClr>
              </a:solidFill>
              <a:latin typeface="Courier New" panose="02070309020205020404" pitchFamily="49" charset="0"/>
            </a:endParaRP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BaseMethods</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dirty="0" err="1">
                <a:solidFill>
                  <a:schemeClr val="accent4">
                    <a:lumMod val="50000"/>
                  </a:schemeClr>
                </a:solidFill>
                <a:latin typeface="Courier New" panose="02070309020205020404" pitchFamily="49" charset="0"/>
              </a:rPr>
              <a:t>addToFriendsList</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         &lt;!-- Entity ID --&gt;</a:t>
            </a: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dirty="0" err="1">
                <a:solidFill>
                  <a:schemeClr val="accent4">
                    <a:lumMod val="50000"/>
                  </a:schemeClr>
                </a:solidFill>
                <a:latin typeface="Courier New" panose="02070309020205020404" pitchFamily="49" charset="0"/>
              </a:rPr>
              <a:t>Arg</a:t>
            </a:r>
            <a:r>
              <a:rPr lang="en-AU" altLang="zh-CN" sz="1400" dirty="0">
                <a:solidFill>
                  <a:schemeClr val="accent4">
                    <a:lumMod val="50000"/>
                  </a:schemeClr>
                </a:solidFill>
                <a:latin typeface="Courier New" panose="02070309020205020404" pitchFamily="49" charset="0"/>
              </a:rPr>
              <a:t>&gt;  INT32  &lt;/</a:t>
            </a:r>
            <a:r>
              <a:rPr lang="en-AU" altLang="zh-CN" sz="1400" dirty="0" err="1">
                <a:solidFill>
                  <a:schemeClr val="accent4">
                    <a:lumMod val="50000"/>
                  </a:schemeClr>
                </a:solidFill>
                <a:latin typeface="Courier New" panose="02070309020205020404" pitchFamily="49" charset="0"/>
              </a:rPr>
              <a:t>Arg</a:t>
            </a:r>
            <a:r>
              <a:rPr lang="en-AU" altLang="zh-CN" sz="1400" dirty="0">
                <a:solidFill>
                  <a:schemeClr val="accent4">
                    <a:lumMod val="50000"/>
                  </a:schemeClr>
                </a:solidFill>
                <a:latin typeface="Courier New" panose="02070309020205020404" pitchFamily="49" charset="0"/>
              </a:rPr>
              <a:t>&gt;</a:t>
            </a:r>
          </a:p>
          <a:p>
            <a:pPr>
              <a:spcBef>
                <a:spcPct val="0"/>
              </a:spcBef>
            </a:pPr>
            <a:endParaRPr lang="en-AU" altLang="zh-CN" sz="1400" dirty="0">
              <a:solidFill>
                <a:schemeClr val="accent4">
                  <a:lumMod val="50000"/>
                </a:schemeClr>
              </a:solidFill>
              <a:latin typeface="Courier New" panose="02070309020205020404" pitchFamily="49" charset="0"/>
            </a:endParaRPr>
          </a:p>
          <a:p>
            <a:pPr>
              <a:spcBef>
                <a:spcPct val="0"/>
              </a:spcBef>
            </a:pPr>
            <a:r>
              <a:rPr lang="en-AU" altLang="zh-CN" sz="1400" dirty="0">
                <a:solidFill>
                  <a:schemeClr val="accent4">
                    <a:lumMod val="50000"/>
                  </a:schemeClr>
                </a:solidFill>
                <a:latin typeface="Courier New" panose="02070309020205020404" pitchFamily="49" charset="0"/>
              </a:rPr>
              <a:t>         &lt;!-- Expose to client </a:t>
            </a:r>
            <a:r>
              <a:rPr lang="en-AU" altLang="zh-CN" sz="1400" dirty="0">
                <a:solidFill>
                  <a:schemeClr val="accent4">
                    <a:lumMod val="50000"/>
                  </a:schemeClr>
                </a:solidFill>
                <a:latin typeface="Courier New" panose="02070309020205020404" pitchFamily="49" charset="0"/>
                <a:sym typeface="Wingdings" panose="05000000000000000000" pitchFamily="2" charset="2"/>
              </a:rPr>
              <a:t>--&gt;</a:t>
            </a:r>
          </a:p>
          <a:p>
            <a:pPr>
              <a:spcBef>
                <a:spcPct val="0"/>
              </a:spcBef>
            </a:pPr>
            <a:r>
              <a:rPr lang="en-AU" altLang="zh-CN" sz="1400" dirty="0">
                <a:solidFill>
                  <a:schemeClr val="accent4">
                    <a:lumMod val="50000"/>
                  </a:schemeClr>
                </a:solidFill>
                <a:latin typeface="Courier New" panose="02070309020205020404" pitchFamily="49" charset="0"/>
                <a:sym typeface="Wingdings" panose="05000000000000000000" pitchFamily="2" charset="2"/>
              </a:rPr>
              <a:t>         &lt;Exposed /&gt;</a:t>
            </a:r>
            <a:endParaRPr lang="en-AU" altLang="zh-CN" sz="1400" dirty="0">
              <a:solidFill>
                <a:schemeClr val="accent4">
                  <a:lumMod val="50000"/>
                </a:schemeClr>
              </a:solidFill>
              <a:latin typeface="Courier New" panose="02070309020205020404" pitchFamily="49" charset="0"/>
            </a:endParaRP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dirty="0" err="1">
                <a:solidFill>
                  <a:schemeClr val="accent4">
                    <a:lumMod val="50000"/>
                  </a:schemeClr>
                </a:solidFill>
                <a:latin typeface="Courier New" panose="02070309020205020404" pitchFamily="49" charset="0"/>
              </a:rPr>
              <a:t>addToFriendsList</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BaseMethods</a:t>
            </a:r>
            <a:r>
              <a:rPr lang="en-AU" altLang="zh-CN" sz="1400" dirty="0">
                <a:solidFill>
                  <a:schemeClr val="accent4">
                    <a:lumMod val="50000"/>
                  </a:schemeClr>
                </a:solidFill>
                <a:latin typeface="Courier New" panose="02070309020205020404" pitchFamily="49" charset="0"/>
              </a:rPr>
              <a:t>&gt;</a:t>
            </a:r>
          </a:p>
          <a:p>
            <a:pPr>
              <a:spcBef>
                <a:spcPct val="0"/>
              </a:spcBef>
            </a:pPr>
            <a:endParaRPr lang="en-AU" altLang="zh-CN" sz="1400" dirty="0">
              <a:solidFill>
                <a:schemeClr val="accent4">
                  <a:lumMod val="50000"/>
                </a:schemeClr>
              </a:solidFill>
              <a:latin typeface="Courier New" panose="02070309020205020404" pitchFamily="49" charset="0"/>
            </a:endParaRP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CellMethods</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      ...</a:t>
            </a:r>
          </a:p>
          <a:p>
            <a:pPr>
              <a:spcBef>
                <a:spcPct val="0"/>
              </a:spcBef>
            </a:pPr>
            <a:r>
              <a:rPr lang="en-AU" altLang="zh-CN" sz="1400" dirty="0">
                <a:solidFill>
                  <a:schemeClr val="accent4">
                    <a:lumMod val="50000"/>
                  </a:schemeClr>
                </a:solidFill>
                <a:latin typeface="Courier New" panose="02070309020205020404" pitchFamily="49" charset="0"/>
              </a:rPr>
              <a:t>   &lt;/</a:t>
            </a:r>
            <a:r>
              <a:rPr lang="en-AU" altLang="zh-CN" sz="1400" b="1" dirty="0" err="1">
                <a:solidFill>
                  <a:schemeClr val="accent4">
                    <a:lumMod val="50000"/>
                  </a:schemeClr>
                </a:solidFill>
                <a:latin typeface="Courier New" panose="02070309020205020404" pitchFamily="49" charset="0"/>
              </a:rPr>
              <a:t>CellMethods</a:t>
            </a:r>
            <a:r>
              <a:rPr lang="en-AU" altLang="zh-CN" sz="1400" dirty="0">
                <a:solidFill>
                  <a:schemeClr val="accent4">
                    <a:lumMod val="50000"/>
                  </a:schemeClr>
                </a:solidFill>
                <a:latin typeface="Courier New" panose="02070309020205020404" pitchFamily="49" charset="0"/>
              </a:rPr>
              <a:t>&gt;</a:t>
            </a:r>
          </a:p>
          <a:p>
            <a:pPr>
              <a:spcBef>
                <a:spcPct val="0"/>
              </a:spcBef>
            </a:pPr>
            <a:r>
              <a:rPr lang="en-AU" altLang="zh-CN" sz="1400" dirty="0">
                <a:solidFill>
                  <a:schemeClr val="accent4">
                    <a:lumMod val="50000"/>
                  </a:schemeClr>
                </a:solidFill>
                <a:latin typeface="Courier New" panose="02070309020205020404" pitchFamily="49" charset="0"/>
              </a:rPr>
              <a:t>&lt;/root&gt;</a:t>
            </a:r>
          </a:p>
          <a:p>
            <a:endParaRPr lang="zh-CN" altLang="en-US" sz="1400" dirty="0">
              <a:solidFill>
                <a:schemeClr val="accent4">
                  <a:lumMod val="50000"/>
                </a:schemeClr>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暴露方法（允许</a:t>
            </a:r>
            <a:r>
              <a:rPr lang="en-US" altLang="zh-CN" dirty="0">
                <a:solidFill>
                  <a:schemeClr val="accent1"/>
                </a:solidFill>
                <a:ea typeface="宋体" panose="02010600030101010101" pitchFamily="2" charset="-122"/>
              </a:rPr>
              <a:t>Client</a:t>
            </a:r>
            <a:r>
              <a:rPr lang="zh-CN" altLang="en-US" dirty="0">
                <a:solidFill>
                  <a:schemeClr val="accent1"/>
                </a:solidFill>
                <a:ea typeface="宋体" panose="02010600030101010101" pitchFamily="2" charset="-122"/>
              </a:rPr>
              <a:t>调用）</a:t>
            </a:r>
            <a:endParaRPr lang="zh-CN" altLang="en-US" sz="4900" b="1" dirty="0">
              <a:solidFill>
                <a:schemeClr val="accent1"/>
              </a:solidFill>
              <a:latin typeface="+mn-ea"/>
              <a:ea typeface="+mn-ea"/>
            </a:endParaRPr>
          </a:p>
        </p:txBody>
      </p:sp>
      <p:sp>
        <p:nvSpPr>
          <p:cNvPr id="7" name="Rectangle 3"/>
          <p:cNvSpPr txBox="1">
            <a:spLocks noChangeArrowheads="1"/>
          </p:cNvSpPr>
          <p:nvPr/>
        </p:nvSpPr>
        <p:spPr bwMode="auto">
          <a:xfrm>
            <a:off x="89124" y="1196752"/>
            <a:ext cx="905487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不是所有的</a:t>
            </a:r>
            <a:r>
              <a:rPr lang="en-AU" altLang="zh-CN" dirty="0">
                <a:ea typeface="宋体" panose="02010600030101010101" pitchFamily="2" charset="-122"/>
              </a:rPr>
              <a:t>server</a:t>
            </a:r>
            <a:r>
              <a:rPr lang="zh-CN" altLang="en-AU" dirty="0">
                <a:ea typeface="宋体" panose="02010600030101010101" pitchFamily="2" charset="-122"/>
              </a:rPr>
              <a:t>方法都被暴露的</a:t>
            </a:r>
            <a:endParaRPr lang="en-AU" altLang="zh-CN" dirty="0"/>
          </a:p>
          <a:p>
            <a:r>
              <a:rPr lang="zh-CN" altLang="en-AU" dirty="0">
                <a:ea typeface="宋体" panose="02010600030101010101" pitchFamily="2" charset="-122"/>
              </a:rPr>
              <a:t>需要以</a:t>
            </a:r>
            <a:r>
              <a:rPr lang="en-AU" altLang="zh-CN" dirty="0">
                <a:latin typeface="Courier New" panose="02070309020205020404" pitchFamily="49" charset="0"/>
              </a:rPr>
              <a:t>&lt;Exposed /&gt;</a:t>
            </a:r>
            <a:r>
              <a:rPr lang="zh-CN" altLang="en-AU" dirty="0">
                <a:latin typeface="Courier New" panose="02070309020205020404" pitchFamily="49" charset="0"/>
                <a:ea typeface="宋体" panose="02010600030101010101" pitchFamily="2" charset="-122"/>
              </a:rPr>
              <a:t>声明</a:t>
            </a:r>
            <a:r>
              <a:rPr lang="en-US" altLang="zh-CN" sz="1800" dirty="0">
                <a:solidFill>
                  <a:srgbClr val="FF0000"/>
                </a:solidFill>
                <a:latin typeface="Courier New" panose="02070309020205020404" pitchFamily="49" charset="0"/>
                <a:ea typeface="宋体" panose="02010600030101010101" pitchFamily="2" charset="-122"/>
              </a:rPr>
              <a:t>(</a:t>
            </a:r>
            <a:r>
              <a:rPr lang="zh-CN" altLang="en-US" sz="1800" dirty="0">
                <a:solidFill>
                  <a:srgbClr val="FF0000"/>
                </a:solidFill>
                <a:latin typeface="Courier New" panose="02070309020205020404" pitchFamily="49" charset="0"/>
                <a:ea typeface="宋体" panose="02010600030101010101" pitchFamily="2" charset="-122"/>
              </a:rPr>
              <a:t>是否暴露给</a:t>
            </a:r>
            <a:r>
              <a:rPr lang="en-US" altLang="zh-CN" sz="1800" dirty="0">
                <a:solidFill>
                  <a:srgbClr val="FF0000"/>
                </a:solidFill>
                <a:latin typeface="Courier New" panose="02070309020205020404" pitchFamily="49" charset="0"/>
                <a:ea typeface="宋体" panose="02010600030101010101" pitchFamily="2" charset="-122"/>
              </a:rPr>
              <a:t>client</a:t>
            </a:r>
            <a:r>
              <a:rPr lang="zh-CN" altLang="en-US" sz="1800" dirty="0">
                <a:solidFill>
                  <a:srgbClr val="FF0000"/>
                </a:solidFill>
                <a:latin typeface="Courier New" panose="02070309020205020404" pitchFamily="49" charset="0"/>
                <a:ea typeface="宋体" panose="02010600030101010101" pitchFamily="2" charset="-122"/>
              </a:rPr>
              <a:t>使用</a:t>
            </a:r>
            <a:r>
              <a:rPr lang="en-US" altLang="zh-CN" sz="1800" dirty="0">
                <a:solidFill>
                  <a:srgbClr val="FF0000"/>
                </a:solidFill>
                <a:latin typeface="Courier New" panose="02070309020205020404" pitchFamily="49" charset="0"/>
                <a:ea typeface="宋体" panose="02010600030101010101" pitchFamily="2" charset="-122"/>
              </a:rPr>
              <a:t>)</a:t>
            </a:r>
            <a:endParaRPr lang="zh-CN" altLang="en-AU" sz="1800" dirty="0">
              <a:solidFill>
                <a:srgbClr val="FF0000"/>
              </a:solidFill>
              <a:latin typeface="Courier New" panose="02070309020205020404" pitchFamily="49" charset="0"/>
              <a:ea typeface="宋体" panose="02010600030101010101" pitchFamily="2" charset="-122"/>
            </a:endParaRPr>
          </a:p>
          <a:p>
            <a:r>
              <a:rPr lang="zh-CN" altLang="en-AU" dirty="0">
                <a:ea typeface="宋体" panose="02010600030101010101" pitchFamily="2" charset="-122"/>
              </a:rPr>
              <a:t>暴露的</a:t>
            </a:r>
            <a:r>
              <a:rPr lang="en-AU" altLang="zh-CN" dirty="0"/>
              <a:t>Cell</a:t>
            </a:r>
            <a:r>
              <a:rPr lang="zh-CN" altLang="en-AU" dirty="0">
                <a:ea typeface="宋体" panose="02010600030101010101" pitchFamily="2" charset="-122"/>
              </a:rPr>
              <a:t>方法</a:t>
            </a:r>
            <a:r>
              <a:rPr lang="en-US" altLang="zh-CN" sz="1800" dirty="0">
                <a:solidFill>
                  <a:srgbClr val="FF0000"/>
                </a:solidFill>
                <a:latin typeface="Courier New" panose="02070309020205020404" pitchFamily="49" charset="0"/>
                <a:ea typeface="宋体" panose="02010600030101010101" pitchFamily="2" charset="-122"/>
              </a:rPr>
              <a:t>(</a:t>
            </a:r>
            <a:r>
              <a:rPr lang="zh-CN" altLang="en-US" sz="1800" dirty="0">
                <a:solidFill>
                  <a:srgbClr val="FF0000"/>
                </a:solidFill>
                <a:latin typeface="Courier New" panose="02070309020205020404" pitchFamily="49" charset="0"/>
                <a:ea typeface="宋体" panose="02010600030101010101" pitchFamily="2" charset="-122"/>
              </a:rPr>
              <a:t>定义咋</a:t>
            </a:r>
            <a:r>
              <a:rPr lang="en-US" altLang="zh-CN" sz="1800" dirty="0" err="1">
                <a:solidFill>
                  <a:srgbClr val="FF0000"/>
                </a:solidFill>
                <a:latin typeface="Courier New" panose="02070309020205020404" pitchFamily="49" charset="0"/>
                <a:ea typeface="宋体" panose="02010600030101010101" pitchFamily="2" charset="-122"/>
              </a:rPr>
              <a:t>CellMethods</a:t>
            </a:r>
            <a:r>
              <a:rPr lang="zh-CN" altLang="en-US" sz="1800" dirty="0">
                <a:solidFill>
                  <a:srgbClr val="FF0000"/>
                </a:solidFill>
                <a:latin typeface="Courier New" panose="02070309020205020404" pitchFamily="49" charset="0"/>
                <a:ea typeface="宋体" panose="02010600030101010101" pitchFamily="2" charset="-122"/>
              </a:rPr>
              <a:t>节点下声明为</a:t>
            </a:r>
            <a:r>
              <a:rPr lang="en-AU" altLang="zh-CN" sz="1800" dirty="0">
                <a:solidFill>
                  <a:srgbClr val="A31515"/>
                </a:solidFill>
                <a:highlight>
                  <a:srgbClr val="FFFFFF"/>
                </a:highlight>
                <a:latin typeface="新宋体" panose="02010609030101010101" pitchFamily="49" charset="-122"/>
                <a:ea typeface="新宋体" panose="02010609030101010101" pitchFamily="49" charset="-122"/>
              </a:rPr>
              <a:t>Exposed</a:t>
            </a:r>
            <a:r>
              <a:rPr lang="zh-CN" altLang="en-US" sz="1800" dirty="0">
                <a:solidFill>
                  <a:srgbClr val="FF0000"/>
                </a:solidFill>
                <a:latin typeface="Courier New" panose="02070309020205020404" pitchFamily="49" charset="0"/>
                <a:ea typeface="宋体" panose="02010600030101010101" pitchFamily="2" charset="-122"/>
              </a:rPr>
              <a:t>的</a:t>
            </a:r>
            <a:r>
              <a:rPr lang="en-US" altLang="zh-CN" sz="1800" dirty="0">
                <a:solidFill>
                  <a:srgbClr val="FF0000"/>
                </a:solidFill>
                <a:latin typeface="Courier New" panose="02070309020205020404" pitchFamily="49" charset="0"/>
                <a:ea typeface="宋体" panose="02010600030101010101" pitchFamily="2" charset="-122"/>
              </a:rPr>
              <a:t>)</a:t>
            </a:r>
            <a:endParaRPr lang="zh-CN" altLang="en-AU" sz="1800" dirty="0">
              <a:solidFill>
                <a:srgbClr val="FF0000"/>
              </a:solidFill>
              <a:latin typeface="Courier New" panose="02070309020205020404" pitchFamily="49" charset="0"/>
              <a:ea typeface="宋体" panose="02010600030101010101" pitchFamily="2" charset="-122"/>
            </a:endParaRPr>
          </a:p>
          <a:p>
            <a:pPr lvl="1"/>
            <a:r>
              <a:rPr lang="zh-CN" altLang="en-AU" sz="2000" dirty="0">
                <a:ea typeface="宋体" panose="02010600030101010101" pitchFamily="2" charset="-122"/>
              </a:rPr>
              <a:t>自动的接收调用方的</a:t>
            </a:r>
            <a:r>
              <a:rPr lang="en-AU" altLang="zh-CN" sz="2000" dirty="0" err="1"/>
              <a:t>EntityID</a:t>
            </a:r>
            <a:endParaRPr lang="en-AU" altLang="zh-CN" sz="2000" dirty="0"/>
          </a:p>
          <a:p>
            <a:pPr lvl="1"/>
            <a:r>
              <a:rPr lang="zh-CN" altLang="en-AU" sz="2000" dirty="0">
                <a:ea typeface="宋体" panose="02010600030101010101" pitchFamily="2" charset="-122"/>
              </a:rPr>
              <a:t>通常要检查是否</a:t>
            </a:r>
            <a:br>
              <a:rPr lang="en-AU" altLang="zh-CN" sz="2000" dirty="0"/>
            </a:br>
            <a:r>
              <a:rPr lang="en-AU" altLang="zh-CN" sz="2000" dirty="0">
                <a:latin typeface="Courier New" panose="02070309020205020404" pitchFamily="49" charset="0"/>
              </a:rPr>
              <a:t>self.id == </a:t>
            </a:r>
            <a:r>
              <a:rPr lang="en-AU" altLang="zh-CN" sz="2000" dirty="0" err="1">
                <a:latin typeface="Courier New" panose="02070309020205020404" pitchFamily="49" charset="0"/>
              </a:rPr>
              <a:t>callerID</a:t>
            </a:r>
            <a:endParaRPr lang="en-AU" altLang="zh-CN" sz="2000" dirty="0">
              <a:latin typeface="Courier New" panose="02070309020205020404" pitchFamily="49" charset="0"/>
            </a:endParaRPr>
          </a:p>
          <a:p>
            <a:r>
              <a:rPr lang="zh-CN" altLang="en-AU" dirty="0">
                <a:ea typeface="宋体" panose="02010600030101010101" pitchFamily="2" charset="-122"/>
              </a:rPr>
              <a:t>暴露的</a:t>
            </a:r>
            <a:r>
              <a:rPr lang="en-AU" altLang="zh-CN" dirty="0"/>
              <a:t>Base</a:t>
            </a:r>
            <a:r>
              <a:rPr lang="zh-CN" altLang="en-AU" dirty="0">
                <a:ea typeface="宋体" panose="02010600030101010101" pitchFamily="2" charset="-122"/>
              </a:rPr>
              <a:t>方法</a:t>
            </a:r>
            <a:r>
              <a:rPr lang="en-US" altLang="zh-CN" sz="1800" dirty="0">
                <a:solidFill>
                  <a:srgbClr val="FF0000"/>
                </a:solidFill>
                <a:latin typeface="Courier New" panose="02070309020205020404" pitchFamily="49" charset="0"/>
                <a:ea typeface="宋体" panose="02010600030101010101" pitchFamily="2" charset="-122"/>
              </a:rPr>
              <a:t>(</a:t>
            </a:r>
            <a:r>
              <a:rPr lang="zh-CN" altLang="en-US" sz="1800" dirty="0">
                <a:solidFill>
                  <a:srgbClr val="FF0000"/>
                </a:solidFill>
                <a:latin typeface="Courier New" panose="02070309020205020404" pitchFamily="49" charset="0"/>
                <a:ea typeface="宋体" panose="02010600030101010101" pitchFamily="2" charset="-122"/>
              </a:rPr>
              <a:t>定义咋</a:t>
            </a:r>
            <a:r>
              <a:rPr lang="en-US" altLang="zh-CN" sz="1800" dirty="0" err="1">
                <a:solidFill>
                  <a:srgbClr val="A31515"/>
                </a:solidFill>
                <a:highlight>
                  <a:srgbClr val="FFFFFF"/>
                </a:highlight>
                <a:latin typeface="新宋体" panose="02010609030101010101" pitchFamily="49" charset="-122"/>
                <a:ea typeface="新宋体" panose="02010609030101010101" pitchFamily="49" charset="-122"/>
              </a:rPr>
              <a:t>BaseMethods</a:t>
            </a:r>
            <a:r>
              <a:rPr lang="zh-CN" altLang="en-US" sz="1800" dirty="0">
                <a:solidFill>
                  <a:srgbClr val="FF0000"/>
                </a:solidFill>
                <a:latin typeface="Courier New" panose="02070309020205020404" pitchFamily="49" charset="0"/>
                <a:ea typeface="宋体" panose="02010600030101010101" pitchFamily="2" charset="-122"/>
              </a:rPr>
              <a:t>节点下声明为</a:t>
            </a:r>
            <a:r>
              <a:rPr lang="en-AU" altLang="zh-CN" sz="1800" dirty="0">
                <a:solidFill>
                  <a:srgbClr val="FF0000"/>
                </a:solidFill>
                <a:latin typeface="Courier New" panose="02070309020205020404" pitchFamily="49" charset="0"/>
                <a:ea typeface="宋体" panose="02010600030101010101" pitchFamily="2" charset="-122"/>
              </a:rPr>
              <a:t>Exposed</a:t>
            </a:r>
            <a:r>
              <a:rPr lang="zh-CN" altLang="en-US" sz="1800" dirty="0">
                <a:solidFill>
                  <a:srgbClr val="FF0000"/>
                </a:solidFill>
                <a:latin typeface="Courier New" panose="02070309020205020404" pitchFamily="49" charset="0"/>
                <a:ea typeface="宋体" panose="02010600030101010101" pitchFamily="2" charset="-122"/>
              </a:rPr>
              <a:t>的</a:t>
            </a:r>
            <a:r>
              <a:rPr lang="en-US" altLang="zh-CN" sz="1800" dirty="0">
                <a:solidFill>
                  <a:srgbClr val="FF0000"/>
                </a:solidFill>
                <a:latin typeface="Courier New" panose="02070309020205020404" pitchFamily="49" charset="0"/>
                <a:ea typeface="宋体" panose="02010600030101010101" pitchFamily="2" charset="-122"/>
              </a:rPr>
              <a:t>)</a:t>
            </a:r>
            <a:endParaRPr lang="zh-CN" altLang="en-AU" sz="1800" dirty="0">
              <a:solidFill>
                <a:srgbClr val="FF0000"/>
              </a:solidFill>
              <a:latin typeface="Courier New" panose="02070309020205020404" pitchFamily="49" charset="0"/>
              <a:ea typeface="宋体" panose="02010600030101010101" pitchFamily="2" charset="-122"/>
            </a:endParaRPr>
          </a:p>
          <a:p>
            <a:pPr lvl="1"/>
            <a:r>
              <a:rPr lang="zh-CN" altLang="en-AU" sz="2000" dirty="0">
                <a:ea typeface="宋体" panose="02010600030101010101" pitchFamily="2" charset="-122"/>
              </a:rPr>
              <a:t>只有自己的</a:t>
            </a:r>
            <a:r>
              <a:rPr lang="en-AU" altLang="zh-CN" sz="2000" dirty="0">
                <a:ea typeface="宋体" panose="02010600030101010101" pitchFamily="2" charset="-122"/>
              </a:rPr>
              <a:t>Client</a:t>
            </a:r>
            <a:r>
              <a:rPr lang="zh-CN" altLang="en-AU" sz="2000" dirty="0">
                <a:ea typeface="宋体" panose="02010600030101010101" pitchFamily="2" charset="-122"/>
              </a:rPr>
              <a:t>可以调用</a:t>
            </a:r>
            <a:endParaRPr lang="en-AU" altLang="zh-CN" sz="2000" dirty="0"/>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方法</a:t>
            </a:r>
            <a:r>
              <a:rPr lang="en-US" altLang="zh-CN" dirty="0">
                <a:solidFill>
                  <a:schemeClr val="accent1"/>
                </a:solidFill>
                <a:ea typeface="宋体" panose="02010600030101010101" pitchFamily="2" charset="-122"/>
              </a:rPr>
              <a:t>(</a:t>
            </a:r>
            <a:r>
              <a:rPr lang="zh-CN" altLang="en-US" dirty="0">
                <a:solidFill>
                  <a:schemeClr val="accent1"/>
                </a:solidFill>
                <a:ea typeface="宋体" panose="02010600030101010101" pitchFamily="2" charset="-122"/>
              </a:rPr>
              <a:t>本页未实现</a:t>
            </a:r>
            <a:r>
              <a:rPr lang="en-US" altLang="zh-CN" dirty="0">
                <a:solidFill>
                  <a:schemeClr val="accent1"/>
                </a:solidFill>
                <a:ea typeface="宋体" panose="02010600030101010101" pitchFamily="2" charset="-122"/>
              </a:rPr>
              <a:t>)</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ea typeface="宋体" panose="02010600030101010101" pitchFamily="2" charset="-122"/>
              </a:rPr>
              <a:t>Client</a:t>
            </a:r>
            <a:r>
              <a:rPr lang="zh-CN" altLang="en-AU" dirty="0">
                <a:ea typeface="宋体" panose="02010600030101010101" pitchFamily="2" charset="-122"/>
              </a:rPr>
              <a:t>方法</a:t>
            </a:r>
            <a:r>
              <a:rPr lang="en-AU" altLang="zh-CN" dirty="0" err="1">
                <a:ea typeface="宋体" panose="02010600030101010101" pitchFamily="2" charset="-122"/>
              </a:rPr>
              <a:t>LoD</a:t>
            </a:r>
            <a:endParaRPr lang="en-AU" altLang="zh-CN" dirty="0">
              <a:ea typeface="宋体" panose="02010600030101010101" pitchFamily="2" charset="-122"/>
            </a:endParaRPr>
          </a:p>
          <a:p>
            <a:pPr lvl="1"/>
            <a:r>
              <a:rPr lang="zh-CN" altLang="en-AU" dirty="0">
                <a:ea typeface="宋体" panose="02010600030101010101" pitchFamily="2" charset="-122"/>
              </a:rPr>
              <a:t>帮助减少客户端带宽的使用</a:t>
            </a:r>
            <a:endParaRPr lang="en-AU" altLang="zh-CN" dirty="0"/>
          </a:p>
          <a:p>
            <a:pPr lvl="1"/>
            <a:r>
              <a:rPr lang="zh-CN" altLang="en-AU" dirty="0">
                <a:ea typeface="宋体" panose="02010600030101010101" pitchFamily="2" charset="-122"/>
              </a:rPr>
              <a:t>在近距离产生可视的效果</a:t>
            </a:r>
            <a:endParaRPr lang="en-AU" altLang="zh-CN" dirty="0"/>
          </a:p>
          <a:p>
            <a:pPr lvl="1"/>
            <a:r>
              <a:rPr lang="zh-CN" altLang="en-AU" dirty="0">
                <a:ea typeface="宋体" panose="02010600030101010101" pitchFamily="2" charset="-122"/>
              </a:rPr>
              <a:t>当广播</a:t>
            </a:r>
            <a:r>
              <a:rPr lang="en-AU" altLang="zh-CN" dirty="0">
                <a:ea typeface="宋体" panose="02010600030101010101" pitchFamily="2" charset="-122"/>
              </a:rPr>
              <a:t>Client</a:t>
            </a:r>
            <a:r>
              <a:rPr lang="zh-CN" altLang="en-AU" dirty="0">
                <a:ea typeface="宋体" panose="02010600030101010101" pitchFamily="2" charset="-122"/>
              </a:rPr>
              <a:t>消息时很有用</a:t>
            </a:r>
            <a:endParaRPr lang="en-AU" altLang="zh-CN" dirty="0"/>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5" name="矩形 4"/>
          <p:cNvSpPr/>
          <p:nvPr/>
        </p:nvSpPr>
        <p:spPr>
          <a:xfrm>
            <a:off x="107504" y="3356992"/>
            <a:ext cx="8928992" cy="3312368"/>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6" name="TextBox 5"/>
          <p:cNvSpPr txBox="1"/>
          <p:nvPr/>
        </p:nvSpPr>
        <p:spPr>
          <a:xfrm>
            <a:off x="179512" y="3501008"/>
            <a:ext cx="8856984" cy="3570208"/>
          </a:xfrm>
          <a:prstGeom prst="rect">
            <a:avLst/>
          </a:prstGeom>
          <a:noFill/>
        </p:spPr>
        <p:txBody>
          <a:bodyPr wrap="square" rtlCol="0">
            <a:spAutoFit/>
          </a:bodyPr>
          <a:lstStyle/>
          <a:p>
            <a:pPr>
              <a:spcBef>
                <a:spcPct val="0"/>
              </a:spcBef>
            </a:pPr>
            <a:r>
              <a:rPr lang="en-AU" altLang="zh-CN" sz="1600" dirty="0">
                <a:solidFill>
                  <a:schemeClr val="accent2">
                    <a:lumMod val="50000"/>
                  </a:schemeClr>
                </a:solidFill>
                <a:latin typeface="Courier New" panose="02070309020205020404" pitchFamily="49" charset="0"/>
              </a:rPr>
              <a:t>&lt;root&gt;</a:t>
            </a:r>
          </a:p>
          <a:p>
            <a:pPr>
              <a:spcBef>
                <a:spcPct val="0"/>
              </a:spcBef>
            </a:pPr>
            <a:r>
              <a:rPr lang="en-AU" altLang="zh-CN" sz="1600" dirty="0">
                <a:solidFill>
                  <a:schemeClr val="accent2">
                    <a:lumMod val="50000"/>
                  </a:schemeClr>
                </a:solidFill>
                <a:latin typeface="Courier New" panose="02070309020205020404" pitchFamily="49" charset="0"/>
              </a:rPr>
              <a:t>   ...</a:t>
            </a:r>
          </a:p>
          <a:p>
            <a:pPr>
              <a:spcBef>
                <a:spcPct val="0"/>
              </a:spcBef>
            </a:pPr>
            <a:endParaRPr lang="en-AU" altLang="zh-CN" sz="1600" dirty="0">
              <a:solidFill>
                <a:schemeClr val="accent2">
                  <a:lumMod val="50000"/>
                </a:schemeClr>
              </a:solidFill>
              <a:latin typeface="Courier New" panose="02070309020205020404" pitchFamily="49" charset="0"/>
            </a:endParaRPr>
          </a:p>
          <a:p>
            <a:pPr>
              <a:spcBef>
                <a:spcPct val="0"/>
              </a:spcBef>
            </a:pPr>
            <a:r>
              <a:rPr lang="en-AU" altLang="zh-CN" sz="1600" dirty="0">
                <a:solidFill>
                  <a:schemeClr val="accent2">
                    <a:lumMod val="50000"/>
                  </a:schemeClr>
                </a:solidFill>
                <a:latin typeface="Courier New" panose="02070309020205020404" pitchFamily="49" charset="0"/>
              </a:rPr>
              <a:t>   &lt;</a:t>
            </a:r>
            <a:r>
              <a:rPr lang="en-AU" altLang="zh-CN" sz="1600" dirty="0" err="1">
                <a:solidFill>
                  <a:schemeClr val="accent2">
                    <a:lumMod val="50000"/>
                  </a:schemeClr>
                </a:solidFill>
                <a:latin typeface="Courier New" panose="02070309020205020404" pitchFamily="49" charset="0"/>
              </a:rPr>
              <a:t>ClientMethods</a:t>
            </a:r>
            <a:r>
              <a:rPr lang="en-AU" altLang="zh-CN" sz="1600" dirty="0">
                <a:solidFill>
                  <a:schemeClr val="accent2">
                    <a:lumMod val="50000"/>
                  </a:schemeClr>
                </a:solidFill>
                <a:latin typeface="Courier New" panose="02070309020205020404" pitchFamily="49" charset="0"/>
              </a:rPr>
              <a:t>&gt;</a:t>
            </a:r>
          </a:p>
          <a:p>
            <a:pPr>
              <a:spcBef>
                <a:spcPct val="0"/>
              </a:spcBef>
            </a:pPr>
            <a:r>
              <a:rPr lang="en-AU" altLang="zh-CN" sz="1600" dirty="0">
                <a:solidFill>
                  <a:schemeClr val="accent2">
                    <a:lumMod val="50000"/>
                  </a:schemeClr>
                </a:solidFill>
                <a:latin typeface="Courier New" panose="02070309020205020404" pitchFamily="49" charset="0"/>
              </a:rPr>
              <a:t>     ...</a:t>
            </a:r>
          </a:p>
          <a:p>
            <a:pPr>
              <a:spcBef>
                <a:spcPct val="0"/>
              </a:spcBef>
            </a:pPr>
            <a:r>
              <a:rPr lang="en-AU" altLang="zh-CN" sz="1600" dirty="0">
                <a:solidFill>
                  <a:schemeClr val="accent2">
                    <a:lumMod val="50000"/>
                  </a:schemeClr>
                </a:solidFill>
                <a:latin typeface="Courier New" panose="02070309020205020404" pitchFamily="49" charset="0"/>
              </a:rPr>
              <a:t>     &lt;smile&gt;</a:t>
            </a:r>
          </a:p>
          <a:p>
            <a:pPr>
              <a:spcBef>
                <a:spcPct val="0"/>
              </a:spcBef>
            </a:pPr>
            <a:r>
              <a:rPr lang="en-AU" altLang="zh-CN" sz="1600" dirty="0">
                <a:solidFill>
                  <a:schemeClr val="accent2">
                    <a:lumMod val="50000"/>
                  </a:schemeClr>
                </a:solidFill>
                <a:latin typeface="Courier New" panose="02070309020205020404" pitchFamily="49" charset="0"/>
              </a:rPr>
              <a:t>       </a:t>
            </a:r>
            <a:r>
              <a:rPr lang="en-AU" altLang="zh-CN" sz="1600" b="1" dirty="0">
                <a:solidFill>
                  <a:schemeClr val="accent2">
                    <a:lumMod val="50000"/>
                  </a:schemeClr>
                </a:solidFill>
                <a:latin typeface="Courier New" panose="02070309020205020404" pitchFamily="49" charset="0"/>
              </a:rPr>
              <a:t>&lt;</a:t>
            </a:r>
            <a:r>
              <a:rPr lang="en-AU" altLang="zh-CN" sz="1600" b="1" dirty="0" err="1">
                <a:solidFill>
                  <a:schemeClr val="accent2">
                    <a:lumMod val="50000"/>
                  </a:schemeClr>
                </a:solidFill>
                <a:latin typeface="Courier New" panose="02070309020205020404" pitchFamily="49" charset="0"/>
              </a:rPr>
              <a:t>DetailDistance</a:t>
            </a:r>
            <a:r>
              <a:rPr lang="en-AU" altLang="zh-CN" sz="1600" b="1" dirty="0">
                <a:solidFill>
                  <a:schemeClr val="accent2">
                    <a:lumMod val="50000"/>
                  </a:schemeClr>
                </a:solidFill>
                <a:latin typeface="Courier New" panose="02070309020205020404" pitchFamily="49" charset="0"/>
              </a:rPr>
              <a:t>&gt; 30 &lt;/</a:t>
            </a:r>
            <a:r>
              <a:rPr lang="en-AU" altLang="zh-CN" sz="1600" b="1" dirty="0" err="1">
                <a:solidFill>
                  <a:schemeClr val="accent2">
                    <a:lumMod val="50000"/>
                  </a:schemeClr>
                </a:solidFill>
                <a:latin typeface="Courier New" panose="02070309020205020404" pitchFamily="49" charset="0"/>
              </a:rPr>
              <a:t>DetailDistance</a:t>
            </a:r>
            <a:r>
              <a:rPr lang="en-AU" altLang="zh-CN" sz="1600" b="1" dirty="0">
                <a:solidFill>
                  <a:schemeClr val="accent2">
                    <a:lumMod val="50000"/>
                  </a:schemeClr>
                </a:solidFill>
                <a:latin typeface="Courier New" panose="02070309020205020404" pitchFamily="49" charset="0"/>
              </a:rPr>
              <a:t>&gt;</a:t>
            </a:r>
          </a:p>
          <a:p>
            <a:pPr>
              <a:spcBef>
                <a:spcPct val="0"/>
              </a:spcBef>
            </a:pPr>
            <a:r>
              <a:rPr lang="en-AU" altLang="zh-CN" sz="1600" dirty="0">
                <a:solidFill>
                  <a:schemeClr val="accent2">
                    <a:lumMod val="50000"/>
                  </a:schemeClr>
                </a:solidFill>
                <a:latin typeface="Courier New" panose="02070309020205020404" pitchFamily="49" charset="0"/>
              </a:rPr>
              <a:t>     &lt;/smile&gt;</a:t>
            </a:r>
          </a:p>
          <a:p>
            <a:pPr>
              <a:spcBef>
                <a:spcPct val="0"/>
              </a:spcBef>
            </a:pPr>
            <a:r>
              <a:rPr lang="en-AU" altLang="zh-CN" sz="1600" dirty="0">
                <a:solidFill>
                  <a:schemeClr val="accent2">
                    <a:lumMod val="50000"/>
                  </a:schemeClr>
                </a:solidFill>
                <a:latin typeface="Courier New" panose="02070309020205020404" pitchFamily="49" charset="0"/>
              </a:rPr>
              <a:t>     ...</a:t>
            </a:r>
          </a:p>
          <a:p>
            <a:pPr>
              <a:spcBef>
                <a:spcPct val="0"/>
              </a:spcBef>
            </a:pPr>
            <a:r>
              <a:rPr lang="en-AU" altLang="zh-CN" sz="1600" dirty="0">
                <a:solidFill>
                  <a:schemeClr val="accent2">
                    <a:lumMod val="50000"/>
                  </a:schemeClr>
                </a:solidFill>
                <a:latin typeface="Courier New" panose="02070309020205020404" pitchFamily="49" charset="0"/>
              </a:rPr>
              <a:t>   &lt;/</a:t>
            </a:r>
            <a:r>
              <a:rPr lang="en-AU" altLang="zh-CN" sz="1600" dirty="0" err="1">
                <a:solidFill>
                  <a:schemeClr val="accent2">
                    <a:lumMod val="50000"/>
                  </a:schemeClr>
                </a:solidFill>
                <a:latin typeface="Courier New" panose="02070309020205020404" pitchFamily="49" charset="0"/>
              </a:rPr>
              <a:t>ClientMethods</a:t>
            </a:r>
            <a:r>
              <a:rPr lang="en-AU" altLang="zh-CN" sz="1600" dirty="0">
                <a:solidFill>
                  <a:schemeClr val="accent2">
                    <a:lumMod val="50000"/>
                  </a:schemeClr>
                </a:solidFill>
                <a:latin typeface="Courier New" panose="02070309020205020404" pitchFamily="49" charset="0"/>
              </a:rPr>
              <a:t>&gt;</a:t>
            </a:r>
          </a:p>
          <a:p>
            <a:pPr>
              <a:spcBef>
                <a:spcPct val="0"/>
              </a:spcBef>
            </a:pPr>
            <a:endParaRPr lang="en-AU" altLang="zh-CN" sz="1600" dirty="0">
              <a:solidFill>
                <a:schemeClr val="accent2">
                  <a:lumMod val="50000"/>
                </a:schemeClr>
              </a:solidFill>
              <a:latin typeface="Courier New" panose="02070309020205020404" pitchFamily="49" charset="0"/>
            </a:endParaRPr>
          </a:p>
          <a:p>
            <a:pPr>
              <a:spcBef>
                <a:spcPct val="0"/>
              </a:spcBef>
            </a:pPr>
            <a:r>
              <a:rPr lang="en-AU" altLang="zh-CN" sz="1600" dirty="0">
                <a:solidFill>
                  <a:schemeClr val="accent2">
                    <a:lumMod val="50000"/>
                  </a:schemeClr>
                </a:solidFill>
                <a:latin typeface="Courier New" panose="02070309020205020404" pitchFamily="49" charset="0"/>
              </a:rPr>
              <a:t>   ...</a:t>
            </a:r>
          </a:p>
          <a:p>
            <a:pPr>
              <a:spcBef>
                <a:spcPct val="0"/>
              </a:spcBef>
            </a:pPr>
            <a:r>
              <a:rPr lang="en-AU" altLang="zh-CN" sz="1600" dirty="0">
                <a:solidFill>
                  <a:schemeClr val="accent2">
                    <a:lumMod val="50000"/>
                  </a:schemeClr>
                </a:solidFill>
                <a:latin typeface="Courier New" panose="02070309020205020404" pitchFamily="49" charset="0"/>
              </a:rPr>
              <a:t>&lt;/root&gt;</a:t>
            </a:r>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方法</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t>Entit</a:t>
            </a:r>
            <a:r>
              <a:rPr lang="en-AU" altLang="zh-CN" dirty="0">
                <a:ea typeface="宋体" panose="02010600030101010101" pitchFamily="2" charset="-122"/>
              </a:rPr>
              <a:t>y</a:t>
            </a:r>
            <a:r>
              <a:rPr lang="zh-CN" altLang="en-AU" dirty="0">
                <a:ea typeface="宋体" panose="02010600030101010101" pitchFamily="2" charset="-122"/>
              </a:rPr>
              <a:t>根据需要存在于</a:t>
            </a:r>
            <a:r>
              <a:rPr lang="en-AU" altLang="zh-CN" dirty="0">
                <a:ea typeface="宋体" panose="02010600030101010101" pitchFamily="2" charset="-122"/>
              </a:rPr>
              <a:t>Cell/Base/Client</a:t>
            </a:r>
            <a:r>
              <a:rPr lang="zh-CN" altLang="en-AU" dirty="0">
                <a:ea typeface="宋体" panose="02010600030101010101" pitchFamily="2" charset="-122"/>
              </a:rPr>
              <a:t>分布平台的一个或多个上。</a:t>
            </a:r>
            <a:endParaRPr lang="en-AU" altLang="zh-CN" dirty="0"/>
          </a:p>
          <a:p>
            <a:r>
              <a:rPr lang="zh-CN" altLang="en-AU" dirty="0">
                <a:ea typeface="宋体" panose="02010600030101010101" pitchFamily="2" charset="-122"/>
              </a:rPr>
              <a:t>如果在一个分布平台上没有</a:t>
            </a:r>
            <a:r>
              <a:rPr lang="en-AU" altLang="zh-CN" dirty="0">
                <a:ea typeface="宋体" panose="02010600030101010101" pitchFamily="2" charset="-122"/>
              </a:rPr>
              <a:t>Entity</a:t>
            </a:r>
            <a:r>
              <a:rPr lang="zh-CN" altLang="en-AU" dirty="0">
                <a:ea typeface="宋体" panose="02010600030101010101" pitchFamily="2" charset="-122"/>
              </a:rPr>
              <a:t>存在的需要，那么在这个平台上也不需要</a:t>
            </a:r>
            <a:r>
              <a:rPr lang="zh-CN" altLang="en-US" dirty="0">
                <a:ea typeface="宋体" panose="02010600030101010101" pitchFamily="2" charset="-122"/>
              </a:rPr>
              <a:t>该</a:t>
            </a:r>
            <a:r>
              <a:rPr lang="en-AU" altLang="zh-CN" dirty="0">
                <a:ea typeface="宋体" panose="02010600030101010101" pitchFamily="2" charset="-122"/>
              </a:rPr>
              <a:t>Entity</a:t>
            </a:r>
            <a:r>
              <a:rPr lang="zh-CN" altLang="en-AU" dirty="0">
                <a:ea typeface="宋体" panose="02010600030101010101" pitchFamily="2" charset="-122"/>
              </a:rPr>
              <a:t>的</a:t>
            </a:r>
            <a:r>
              <a:rPr lang="en-AU" altLang="zh-CN" dirty="0">
                <a:ea typeface="宋体" panose="02010600030101010101" pitchFamily="2" charset="-122"/>
              </a:rPr>
              <a:t>Python</a:t>
            </a:r>
            <a:r>
              <a:rPr lang="zh-CN" altLang="en-AU" dirty="0">
                <a:ea typeface="宋体" panose="02010600030101010101" pitchFamily="2" charset="-122"/>
              </a:rPr>
              <a:t>脚本。</a:t>
            </a:r>
            <a:endParaRPr lang="en-AU" altLang="zh-CN" dirty="0"/>
          </a:p>
          <a:p>
            <a:pPr marL="0" indent="0">
              <a:buNone/>
            </a:pPr>
            <a:r>
              <a:rPr lang="en-US" altLang="zh-CN" sz="1600" dirty="0">
                <a:ea typeface="宋体" panose="02010600030101010101" pitchFamily="2" charset="-122"/>
              </a:rPr>
              <a:t>         </a:t>
            </a:r>
            <a:endParaRPr lang="en-AU" altLang="zh-CN" sz="1600" dirty="0">
              <a:ea typeface="宋体" panose="02010600030101010101" pitchFamily="2" charset="-122"/>
            </a:endParaRPr>
          </a:p>
        </p:txBody>
      </p:sp>
      <p:sp>
        <p:nvSpPr>
          <p:cNvPr id="3" name="文本框 2"/>
          <p:cNvSpPr txBox="1"/>
          <p:nvPr/>
        </p:nvSpPr>
        <p:spPr>
          <a:xfrm>
            <a:off x="611560" y="3861048"/>
            <a:ext cx="7757636" cy="1200329"/>
          </a:xfrm>
          <a:prstGeom prst="rect">
            <a:avLst/>
          </a:prstGeom>
          <a:noFill/>
        </p:spPr>
        <p:txBody>
          <a:bodyPr wrap="none" rtlCol="0">
            <a:spAutoFit/>
          </a:bodyPr>
          <a:lstStyle/>
          <a:p>
            <a:r>
              <a:rPr lang="zh-CN" altLang="en-US" dirty="0">
                <a:solidFill>
                  <a:srgbClr val="FF0000"/>
                </a:solidFill>
              </a:rPr>
              <a:t>如工会</a:t>
            </a:r>
            <a:r>
              <a:rPr lang="en-US" altLang="zh-CN" dirty="0">
                <a:solidFill>
                  <a:srgbClr val="FF0000"/>
                </a:solidFill>
              </a:rPr>
              <a:t>,</a:t>
            </a:r>
            <a:r>
              <a:rPr lang="zh-CN" altLang="en-US" dirty="0">
                <a:solidFill>
                  <a:srgbClr val="FF0000"/>
                </a:solidFill>
              </a:rPr>
              <a:t>只处理一些业务而非空间上的功能</a:t>
            </a:r>
            <a:r>
              <a:rPr lang="en-US" altLang="zh-CN" dirty="0">
                <a:solidFill>
                  <a:srgbClr val="FF0000"/>
                </a:solidFill>
              </a:rPr>
              <a:t>,</a:t>
            </a:r>
            <a:r>
              <a:rPr lang="zh-CN" altLang="en-US" dirty="0">
                <a:solidFill>
                  <a:srgbClr val="FF0000"/>
                </a:solidFill>
              </a:rPr>
              <a:t>不需要在</a:t>
            </a:r>
            <a:r>
              <a:rPr lang="en-US" altLang="zh-CN" dirty="0" err="1">
                <a:solidFill>
                  <a:srgbClr val="FF0000"/>
                </a:solidFill>
              </a:rPr>
              <a:t>cellapp</a:t>
            </a:r>
            <a:r>
              <a:rPr lang="zh-CN" altLang="en-US" dirty="0">
                <a:solidFill>
                  <a:srgbClr val="FF0000"/>
                </a:solidFill>
              </a:rPr>
              <a:t>上处理</a:t>
            </a:r>
            <a:r>
              <a:rPr lang="en-US" altLang="zh-CN" dirty="0">
                <a:solidFill>
                  <a:srgbClr val="FF0000"/>
                </a:solidFill>
              </a:rPr>
              <a:t>,</a:t>
            </a:r>
          </a:p>
          <a:p>
            <a:r>
              <a:rPr lang="zh-CN" altLang="en-US" dirty="0">
                <a:solidFill>
                  <a:srgbClr val="FF0000"/>
                </a:solidFill>
              </a:rPr>
              <a:t>在</a:t>
            </a:r>
            <a:r>
              <a:rPr lang="en-US" altLang="zh-CN" dirty="0" err="1">
                <a:solidFill>
                  <a:srgbClr val="FF0000"/>
                </a:solidFill>
              </a:rPr>
              <a:t>baseapp</a:t>
            </a:r>
            <a:r>
              <a:rPr lang="zh-CN" altLang="en-US" dirty="0">
                <a:solidFill>
                  <a:srgbClr val="FF0000"/>
                </a:solidFill>
              </a:rPr>
              <a:t>上完全可以处理</a:t>
            </a:r>
            <a:r>
              <a:rPr lang="en-US" altLang="zh-CN" dirty="0">
                <a:solidFill>
                  <a:srgbClr val="FF0000"/>
                </a:solidFill>
              </a:rPr>
              <a:t>(</a:t>
            </a:r>
            <a:r>
              <a:rPr lang="zh-CN" altLang="en-US" dirty="0">
                <a:solidFill>
                  <a:srgbClr val="FF0000"/>
                </a:solidFill>
              </a:rPr>
              <a:t>如申请、踢出等</a:t>
            </a:r>
            <a:r>
              <a:rPr lang="en-US" altLang="zh-CN" dirty="0">
                <a:solidFill>
                  <a:srgbClr val="FF0000"/>
                </a:solidFill>
              </a:rPr>
              <a:t>),</a:t>
            </a:r>
          </a:p>
          <a:p>
            <a:r>
              <a:rPr lang="zh-CN" altLang="en-US" dirty="0">
                <a:solidFill>
                  <a:srgbClr val="FF0000"/>
                </a:solidFill>
              </a:rPr>
              <a:t>因此</a:t>
            </a:r>
            <a:r>
              <a:rPr lang="en-US" altLang="zh-CN" dirty="0">
                <a:solidFill>
                  <a:srgbClr val="FF0000"/>
                </a:solidFill>
              </a:rPr>
              <a:t>.def</a:t>
            </a:r>
            <a:r>
              <a:rPr lang="zh-CN" altLang="en-US" dirty="0">
                <a:solidFill>
                  <a:srgbClr val="FF0000"/>
                </a:solidFill>
              </a:rPr>
              <a:t>下都不要定义</a:t>
            </a:r>
            <a:r>
              <a:rPr lang="en-US" altLang="zh-CN" dirty="0">
                <a:solidFill>
                  <a:srgbClr val="FF0000"/>
                </a:solidFill>
              </a:rPr>
              <a:t>&lt;</a:t>
            </a:r>
            <a:r>
              <a:rPr lang="en-US" altLang="zh-CN" dirty="0" err="1">
                <a:solidFill>
                  <a:srgbClr val="FF0000"/>
                </a:solidFill>
              </a:rPr>
              <a:t>CellMethods</a:t>
            </a:r>
            <a:r>
              <a:rPr lang="en-US" altLang="zh-CN" dirty="0">
                <a:solidFill>
                  <a:srgbClr val="FF0000"/>
                </a:solidFill>
              </a:rPr>
              <a:t>&gt;</a:t>
            </a:r>
            <a:r>
              <a:rPr lang="zh-CN" altLang="en-US" dirty="0">
                <a:solidFill>
                  <a:srgbClr val="FF0000"/>
                </a:solidFill>
              </a:rPr>
              <a:t>节点</a:t>
            </a:r>
            <a:r>
              <a:rPr lang="en-US" altLang="zh-CN" dirty="0">
                <a:solidFill>
                  <a:srgbClr val="FF0000"/>
                </a:solidFill>
              </a:rPr>
              <a:t> ,</a:t>
            </a:r>
            <a:r>
              <a:rPr lang="zh-CN" altLang="en-US" dirty="0">
                <a:solidFill>
                  <a:srgbClr val="FF0000"/>
                </a:solidFill>
              </a:rPr>
              <a:t>所以</a:t>
            </a:r>
            <a:r>
              <a:rPr lang="en-US" altLang="zh-CN" dirty="0">
                <a:solidFill>
                  <a:srgbClr val="FF0000"/>
                </a:solidFill>
              </a:rPr>
              <a:t>cell</a:t>
            </a:r>
            <a:r>
              <a:rPr lang="zh-CN" altLang="en-US" dirty="0">
                <a:solidFill>
                  <a:srgbClr val="FF0000"/>
                </a:solidFill>
              </a:rPr>
              <a:t>目录下没有对应的</a:t>
            </a:r>
            <a:r>
              <a:rPr lang="en-US" altLang="zh-CN" dirty="0">
                <a:solidFill>
                  <a:srgbClr val="FF0000"/>
                </a:solidFill>
              </a:rPr>
              <a:t>.</a:t>
            </a:r>
            <a:r>
              <a:rPr lang="en-US" altLang="zh-CN" dirty="0" err="1">
                <a:solidFill>
                  <a:srgbClr val="FF0000"/>
                </a:solidFill>
              </a:rPr>
              <a:t>py</a:t>
            </a:r>
            <a:r>
              <a:rPr lang="zh-CN" altLang="en-US" dirty="0">
                <a:solidFill>
                  <a:srgbClr val="FF0000"/>
                </a:solidFill>
              </a:rPr>
              <a:t>文件</a:t>
            </a:r>
          </a:p>
          <a:p>
            <a:endParaRPr lang="en-US" altLang="zh-CN"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dirty="0">
                <a:solidFill>
                  <a:schemeClr val="accent1"/>
                </a:solidFill>
                <a:ea typeface="宋体" panose="02010600030101010101" pitchFamily="2" charset="-122"/>
              </a:rPr>
              <a:t>Entity</a:t>
            </a:r>
            <a:r>
              <a:rPr lang="zh-CN" altLang="en-US" dirty="0">
                <a:solidFill>
                  <a:schemeClr val="accent1"/>
                </a:solidFill>
                <a:ea typeface="宋体" panose="02010600030101010101" pitchFamily="2" charset="-122"/>
              </a:rPr>
              <a:t>分布式存在的例子</a:t>
            </a:r>
            <a:endParaRPr lang="zh-CN" altLang="en-US" sz="4900" b="1" dirty="0">
              <a:solidFill>
                <a:schemeClr val="accent1"/>
              </a:solidFill>
              <a:latin typeface="+mn-ea"/>
              <a:ea typeface="+mn-ea"/>
            </a:endParaRPr>
          </a:p>
        </p:txBody>
      </p:sp>
      <p:sp>
        <p:nvSpPr>
          <p:cNvPr id="5" name="Text Box 3"/>
          <p:cNvSpPr txBox="1">
            <a:spLocks noChangeArrowheads="1"/>
          </p:cNvSpPr>
          <p:nvPr/>
        </p:nvSpPr>
        <p:spPr bwMode="auto">
          <a:xfrm>
            <a:off x="1582738" y="2241550"/>
            <a:ext cx="1871662" cy="452438"/>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en-AU" sz="2800" b="0">
                <a:latin typeface="Verdana" panose="020B0604030504040204" pitchFamily="34" charset="0"/>
              </a:rPr>
              <a:t>Base</a:t>
            </a:r>
            <a:endParaRPr lang="en-US" altLang="zh-CN" sz="2800" b="0">
              <a:latin typeface="Verdana" panose="020B0604030504040204" pitchFamily="34" charset="0"/>
              <a:ea typeface="宋体" panose="02010600030101010101" pitchFamily="2" charset="-122"/>
            </a:endParaRPr>
          </a:p>
        </p:txBody>
      </p:sp>
      <p:sp>
        <p:nvSpPr>
          <p:cNvPr id="7" name="Line 5"/>
          <p:cNvSpPr>
            <a:spLocks noChangeShapeType="1"/>
          </p:cNvSpPr>
          <p:nvPr/>
        </p:nvSpPr>
        <p:spPr bwMode="auto">
          <a:xfrm flipV="1">
            <a:off x="4157663" y="3598863"/>
            <a:ext cx="1587" cy="238125"/>
          </a:xfrm>
          <a:prstGeom prst="line">
            <a:avLst/>
          </a:prstGeom>
          <a:noFill/>
          <a:ln w="9525">
            <a:solidFill>
              <a:srgbClr val="00007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Text Box 6"/>
          <p:cNvSpPr txBox="1">
            <a:spLocks noChangeArrowheads="1"/>
          </p:cNvSpPr>
          <p:nvPr/>
        </p:nvSpPr>
        <p:spPr bwMode="auto">
          <a:xfrm>
            <a:off x="3454400" y="2241550"/>
            <a:ext cx="1871663" cy="452438"/>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en-AU" sz="2800" b="0">
                <a:latin typeface="Verdana" panose="020B0604030504040204" pitchFamily="34" charset="0"/>
              </a:rPr>
              <a:t>Cell</a:t>
            </a:r>
            <a:endParaRPr lang="en-US" altLang="zh-CN" sz="2800" b="0">
              <a:latin typeface="Verdana" panose="020B0604030504040204" pitchFamily="34" charset="0"/>
              <a:ea typeface="宋体" panose="02010600030101010101" pitchFamily="2" charset="-122"/>
            </a:endParaRPr>
          </a:p>
        </p:txBody>
      </p:sp>
      <p:sp>
        <p:nvSpPr>
          <p:cNvPr id="9" name="Line 7"/>
          <p:cNvSpPr>
            <a:spLocks noChangeShapeType="1"/>
          </p:cNvSpPr>
          <p:nvPr/>
        </p:nvSpPr>
        <p:spPr bwMode="auto">
          <a:xfrm flipV="1">
            <a:off x="6588125" y="3598863"/>
            <a:ext cx="1588" cy="238125"/>
          </a:xfrm>
          <a:prstGeom prst="line">
            <a:avLst/>
          </a:prstGeom>
          <a:noFill/>
          <a:ln w="9525">
            <a:solidFill>
              <a:srgbClr val="00007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Text Box 8"/>
          <p:cNvSpPr txBox="1">
            <a:spLocks noChangeArrowheads="1"/>
          </p:cNvSpPr>
          <p:nvPr/>
        </p:nvSpPr>
        <p:spPr bwMode="auto">
          <a:xfrm>
            <a:off x="5327650" y="2241550"/>
            <a:ext cx="1871663" cy="452438"/>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en-AU" sz="2800" b="0">
                <a:latin typeface="Verdana" panose="020B0604030504040204" pitchFamily="34" charset="0"/>
              </a:rPr>
              <a:t>Client</a:t>
            </a:r>
            <a:endParaRPr lang="en-US" altLang="zh-CN" sz="2800" b="0">
              <a:latin typeface="Verdana" panose="020B0604030504040204" pitchFamily="34" charset="0"/>
              <a:ea typeface="宋体" panose="02010600030101010101" pitchFamily="2" charset="-122"/>
            </a:endParaRPr>
          </a:p>
        </p:txBody>
      </p:sp>
      <p:sp>
        <p:nvSpPr>
          <p:cNvPr id="11" name="Text Box 9"/>
          <p:cNvSpPr txBox="1">
            <a:spLocks noChangeArrowheads="1"/>
          </p:cNvSpPr>
          <p:nvPr/>
        </p:nvSpPr>
        <p:spPr bwMode="auto">
          <a:xfrm>
            <a:off x="5326063" y="2693988"/>
            <a:ext cx="1871662" cy="422275"/>
          </a:xfrm>
          <a:prstGeom prst="rect">
            <a:avLst/>
          </a:prstGeom>
        </p:spPr>
        <p:style>
          <a:lnRef idx="1">
            <a:schemeClr val="accent3"/>
          </a:lnRef>
          <a:fillRef idx="3">
            <a:schemeClr val="accent3"/>
          </a:fillRef>
          <a:effectRef idx="2">
            <a:schemeClr val="accent3"/>
          </a:effectRef>
          <a:fontRef idx="minor">
            <a:schemeClr val="lt1"/>
          </a:fontRef>
        </p:style>
        <p:txBody>
          <a:bodyPr lIns="54000" tIns="10800" rIns="0" bIns="10800"/>
          <a:lstStyle/>
          <a:p>
            <a:pPr algn="l"/>
            <a:endParaRPr lang="en-AU" sz="2600" b="0">
              <a:solidFill>
                <a:srgbClr val="00007D"/>
              </a:solidFill>
              <a:latin typeface="Verdana" panose="020B0604030504040204" pitchFamily="34" charset="0"/>
            </a:endParaRPr>
          </a:p>
        </p:txBody>
      </p:sp>
      <p:sp>
        <p:nvSpPr>
          <p:cNvPr id="12" name="Text Box 10"/>
          <p:cNvSpPr txBox="1">
            <a:spLocks noChangeArrowheads="1"/>
          </p:cNvSpPr>
          <p:nvPr/>
        </p:nvSpPr>
        <p:spPr bwMode="auto">
          <a:xfrm>
            <a:off x="1582738" y="2693988"/>
            <a:ext cx="3743325" cy="422275"/>
          </a:xfrm>
          <a:prstGeom prst="rect">
            <a:avLst/>
          </a:prstGeom>
        </p:spPr>
        <p:style>
          <a:lnRef idx="1">
            <a:schemeClr val="accent3"/>
          </a:lnRef>
          <a:fillRef idx="3">
            <a:schemeClr val="accent3"/>
          </a:fillRef>
          <a:effectRef idx="2">
            <a:schemeClr val="accent3"/>
          </a:effectRef>
          <a:fontRef idx="minor">
            <a:schemeClr val="lt1"/>
          </a:fontRef>
        </p:style>
        <p:txBody>
          <a:bodyPr lIns="54000" tIns="10800" rIns="0" bIns="10800"/>
          <a:lstStyle/>
          <a:p>
            <a:r>
              <a:rPr lang="en-US" altLang="zh-CN" sz="2600" dirty="0" err="1">
                <a:solidFill>
                  <a:srgbClr val="00007D"/>
                </a:solidFill>
                <a:latin typeface="Courier New" panose="02070309020205020404" pitchFamily="49" charset="0"/>
                <a:ea typeface="宋体" panose="02010600030101010101" pitchFamily="2" charset="-122"/>
              </a:rPr>
              <a:t>SpawnPoint</a:t>
            </a:r>
            <a:endParaRPr lang="en-US" altLang="zh-CN" sz="2600" dirty="0">
              <a:solidFill>
                <a:srgbClr val="00007D"/>
              </a:solidFill>
              <a:latin typeface="Courier New" panose="02070309020205020404" pitchFamily="49" charset="0"/>
              <a:ea typeface="宋体" panose="02010600030101010101" pitchFamily="2" charset="-122"/>
            </a:endParaRPr>
          </a:p>
        </p:txBody>
      </p:sp>
      <p:sp>
        <p:nvSpPr>
          <p:cNvPr id="13" name="Text Box 11"/>
          <p:cNvSpPr txBox="1">
            <a:spLocks noChangeArrowheads="1"/>
          </p:cNvSpPr>
          <p:nvPr/>
        </p:nvSpPr>
        <p:spPr bwMode="auto">
          <a:xfrm>
            <a:off x="3455988" y="3116263"/>
            <a:ext cx="3743325" cy="422275"/>
          </a:xfrm>
          <a:prstGeom prst="rect">
            <a:avLst/>
          </a:prstGeom>
        </p:spPr>
        <p:style>
          <a:lnRef idx="1">
            <a:schemeClr val="dk1"/>
          </a:lnRef>
          <a:fillRef idx="2">
            <a:schemeClr val="dk1"/>
          </a:fillRef>
          <a:effectRef idx="1">
            <a:schemeClr val="dk1"/>
          </a:effectRef>
          <a:fontRef idx="minor">
            <a:schemeClr val="dk1"/>
          </a:fontRef>
        </p:style>
        <p:txBody>
          <a:bodyPr lIns="54000" tIns="10800" rIns="0" bIns="10800"/>
          <a:lstStyle/>
          <a:p>
            <a:r>
              <a:rPr lang="zh-CN" altLang="en-AU" sz="2600" b="0" dirty="0">
                <a:solidFill>
                  <a:srgbClr val="00007D"/>
                </a:solidFill>
                <a:latin typeface="Verdana" panose="020B0604030504040204" pitchFamily="34" charset="0"/>
                <a:ea typeface="宋体" panose="02010600030101010101" pitchFamily="2" charset="-122"/>
              </a:rPr>
              <a:t>召唤的</a:t>
            </a:r>
            <a:r>
              <a:rPr lang="zh-CN" altLang="en-US" sz="2600" dirty="0">
                <a:solidFill>
                  <a:srgbClr val="00007D"/>
                </a:solidFill>
                <a:latin typeface="Verdana" panose="020B0604030504040204" pitchFamily="34" charset="0"/>
                <a:ea typeface="宋体" panose="02010600030101010101" pitchFamily="2" charset="-122"/>
              </a:rPr>
              <a:t>生物实体</a:t>
            </a:r>
            <a:r>
              <a:rPr lang="en-AU" altLang="zh-CN" sz="2600" b="0" dirty="0">
                <a:solidFill>
                  <a:srgbClr val="00007D"/>
                </a:solidFill>
                <a:latin typeface="Verdana" panose="020B0604030504040204" pitchFamily="34" charset="0"/>
                <a:ea typeface="宋体" panose="02010600030101010101" pitchFamily="2" charset="-122"/>
              </a:rPr>
              <a:t>*</a:t>
            </a:r>
            <a:endParaRPr lang="en-US" altLang="zh-CN" sz="2600" b="0" dirty="0">
              <a:solidFill>
                <a:srgbClr val="00007D"/>
              </a:solidFill>
              <a:latin typeface="Verdana" panose="020B0604030504040204" pitchFamily="34" charset="0"/>
              <a:ea typeface="宋体" panose="02010600030101010101" pitchFamily="2" charset="-122"/>
            </a:endParaRPr>
          </a:p>
        </p:txBody>
      </p:sp>
      <p:sp>
        <p:nvSpPr>
          <p:cNvPr id="14" name="Text Box 12"/>
          <p:cNvSpPr txBox="1">
            <a:spLocks noChangeArrowheads="1"/>
          </p:cNvSpPr>
          <p:nvPr/>
        </p:nvSpPr>
        <p:spPr bwMode="auto">
          <a:xfrm>
            <a:off x="1582738" y="3538538"/>
            <a:ext cx="5614987" cy="422275"/>
          </a:xfrm>
          <a:prstGeom prst="rect">
            <a:avLst/>
          </a:prstGeom>
        </p:spPr>
        <p:style>
          <a:lnRef idx="1">
            <a:schemeClr val="accent6"/>
          </a:lnRef>
          <a:fillRef idx="2">
            <a:schemeClr val="accent6"/>
          </a:fillRef>
          <a:effectRef idx="1">
            <a:schemeClr val="accent6"/>
          </a:effectRef>
          <a:fontRef idx="minor">
            <a:schemeClr val="dk1"/>
          </a:fontRef>
        </p:style>
        <p:txBody>
          <a:bodyPr lIns="54000" tIns="10800" rIns="0" bIns="10800"/>
          <a:lstStyle/>
          <a:p>
            <a:r>
              <a:rPr lang="en-AU" sz="2600" b="0" dirty="0">
                <a:solidFill>
                  <a:srgbClr val="00007D"/>
                </a:solidFill>
                <a:latin typeface="Verdana" panose="020B0604030504040204" pitchFamily="34" charset="0"/>
              </a:rPr>
              <a:t>Player Entity</a:t>
            </a:r>
            <a:endParaRPr lang="en-US" altLang="zh-CN" sz="2600" b="0" dirty="0">
              <a:solidFill>
                <a:srgbClr val="00007D"/>
              </a:solidFill>
              <a:latin typeface="Verdana" panose="020B0604030504040204" pitchFamily="34" charset="0"/>
              <a:ea typeface="宋体" panose="02010600030101010101" pitchFamily="2" charset="-122"/>
            </a:endParaRPr>
          </a:p>
        </p:txBody>
      </p:sp>
      <p:sp>
        <p:nvSpPr>
          <p:cNvPr id="15" name="Text Box 13"/>
          <p:cNvSpPr txBox="1">
            <a:spLocks noChangeArrowheads="1"/>
          </p:cNvSpPr>
          <p:nvPr/>
        </p:nvSpPr>
        <p:spPr bwMode="auto">
          <a:xfrm>
            <a:off x="1582738" y="3960813"/>
            <a:ext cx="5614987" cy="422275"/>
          </a:xfrm>
          <a:prstGeom prst="rect">
            <a:avLst/>
          </a:prstGeom>
        </p:spPr>
        <p:style>
          <a:lnRef idx="1">
            <a:schemeClr val="accent5"/>
          </a:lnRef>
          <a:fillRef idx="3">
            <a:schemeClr val="accent5"/>
          </a:fillRef>
          <a:effectRef idx="2">
            <a:schemeClr val="accent5"/>
          </a:effectRef>
          <a:fontRef idx="minor">
            <a:schemeClr val="lt1"/>
          </a:fontRef>
        </p:style>
        <p:txBody>
          <a:bodyPr lIns="54000" tIns="10800" rIns="0" bIns="10800"/>
          <a:lstStyle/>
          <a:p>
            <a:r>
              <a:rPr lang="en-AU" sz="2600" b="0">
                <a:solidFill>
                  <a:srgbClr val="00007D"/>
                </a:solidFill>
                <a:latin typeface="Verdana" panose="020B0604030504040204" pitchFamily="34" charset="0"/>
              </a:rPr>
              <a:t>Server AI/NPC's</a:t>
            </a:r>
            <a:endParaRPr lang="en-US" altLang="zh-CN" sz="2600" b="0">
              <a:solidFill>
                <a:srgbClr val="00007D"/>
              </a:solidFill>
              <a:latin typeface="Verdana" panose="020B0604030504040204" pitchFamily="34" charset="0"/>
              <a:ea typeface="宋体" panose="02010600030101010101" pitchFamily="2" charset="-122"/>
            </a:endParaRPr>
          </a:p>
        </p:txBody>
      </p:sp>
      <p:sp>
        <p:nvSpPr>
          <p:cNvPr id="16" name="Line 14"/>
          <p:cNvSpPr>
            <a:spLocks noChangeShapeType="1"/>
          </p:cNvSpPr>
          <p:nvPr/>
        </p:nvSpPr>
        <p:spPr bwMode="auto">
          <a:xfrm flipV="1">
            <a:off x="3455988" y="2241550"/>
            <a:ext cx="0" cy="452438"/>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5"/>
          <p:cNvSpPr>
            <a:spLocks noChangeShapeType="1"/>
          </p:cNvSpPr>
          <p:nvPr/>
        </p:nvSpPr>
        <p:spPr bwMode="auto">
          <a:xfrm flipV="1">
            <a:off x="5340350" y="2241550"/>
            <a:ext cx="0" cy="452438"/>
          </a:xfrm>
          <a:prstGeom prst="line">
            <a:avLst/>
          </a:prstGeom>
          <a:no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p:cNvSpPr txBox="1">
            <a:spLocks noChangeArrowheads="1"/>
          </p:cNvSpPr>
          <p:nvPr/>
        </p:nvSpPr>
        <p:spPr bwMode="auto">
          <a:xfrm>
            <a:off x="1547813" y="4545013"/>
            <a:ext cx="65897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b="1" dirty="0">
                <a:solidFill>
                  <a:srgbClr val="C00000"/>
                </a:solidFill>
                <a:latin typeface="Verdana" panose="020B0604030504040204" pitchFamily="34" charset="0"/>
                <a:ea typeface="宋体" panose="02010600030101010101" pitchFamily="2" charset="-122"/>
              </a:rPr>
              <a:t>* 没有</a:t>
            </a:r>
            <a:r>
              <a:rPr lang="en-US" altLang="zh-CN" b="1" dirty="0">
                <a:solidFill>
                  <a:srgbClr val="C00000"/>
                </a:solidFill>
                <a:latin typeface="Verdana" panose="020B0604030504040204" pitchFamily="34" charset="0"/>
                <a:ea typeface="宋体" panose="02010600030101010101" pitchFamily="2" charset="-122"/>
              </a:rPr>
              <a:t>Base</a:t>
            </a:r>
            <a:r>
              <a:rPr lang="zh-CN" altLang="en-US" b="1" dirty="0">
                <a:solidFill>
                  <a:srgbClr val="C00000"/>
                </a:solidFill>
                <a:latin typeface="Verdana" panose="020B0604030504040204" pitchFamily="34" charset="0"/>
                <a:ea typeface="宋体" panose="02010600030101010101" pitchFamily="2" charset="-122"/>
              </a:rPr>
              <a:t>部分的</a:t>
            </a:r>
            <a:r>
              <a:rPr lang="en-US" altLang="zh-CN" b="1" dirty="0">
                <a:solidFill>
                  <a:srgbClr val="C00000"/>
                </a:solidFill>
                <a:latin typeface="Verdana" panose="020B0604030504040204" pitchFamily="34" charset="0"/>
                <a:ea typeface="宋体" panose="02010600030101010101" pitchFamily="2" charset="-122"/>
              </a:rPr>
              <a:t>Entity</a:t>
            </a:r>
            <a:r>
              <a:rPr lang="zh-CN" altLang="en-US" b="1" dirty="0">
                <a:solidFill>
                  <a:srgbClr val="C00000"/>
                </a:solidFill>
                <a:latin typeface="Verdana" panose="020B0604030504040204" pitchFamily="34" charset="0"/>
                <a:ea typeface="宋体" panose="02010600030101010101" pitchFamily="2" charset="-122"/>
              </a:rPr>
              <a:t>是不参与容错的</a:t>
            </a:r>
            <a:endParaRPr lang="en-AU" b="1" dirty="0">
              <a:solidFill>
                <a:srgbClr val="C00000"/>
              </a:solidFill>
              <a:latin typeface="Verdana" panose="020B0604030504040204" pitchFamily="34" charset="0"/>
            </a:endParaRPr>
          </a:p>
        </p:txBody>
      </p:sp>
      <p:sp>
        <p:nvSpPr>
          <p:cNvPr id="6" name="Text Box 4"/>
          <p:cNvSpPr txBox="1">
            <a:spLocks noChangeArrowheads="1"/>
          </p:cNvSpPr>
          <p:nvPr/>
        </p:nvSpPr>
        <p:spPr bwMode="auto">
          <a:xfrm>
            <a:off x="1582738" y="3116263"/>
            <a:ext cx="1871662" cy="422275"/>
          </a:xfrm>
          <a:prstGeom prst="rect">
            <a:avLst/>
          </a:prstGeom>
        </p:spPr>
        <p:style>
          <a:lnRef idx="1">
            <a:schemeClr val="dk1"/>
          </a:lnRef>
          <a:fillRef idx="2">
            <a:schemeClr val="dk1"/>
          </a:fillRef>
          <a:effectRef idx="1">
            <a:schemeClr val="dk1"/>
          </a:effectRef>
          <a:fontRef idx="minor">
            <a:schemeClr val="dk1"/>
          </a:fontRef>
        </p:style>
        <p:txBody>
          <a:bodyPr lIns="0" tIns="10800" rIns="0" bIns="10800"/>
          <a:lstStyle/>
          <a:p>
            <a:r>
              <a:rPr lang="zh-CN" altLang="en-AU" sz="2600" b="0" dirty="0">
                <a:solidFill>
                  <a:srgbClr val="00007D"/>
                </a:solidFill>
                <a:latin typeface="Verdana" panose="020B0604030504040204" pitchFamily="34" charset="0"/>
                <a:ea typeface="宋体" panose="02010600030101010101" pitchFamily="2" charset="-122"/>
              </a:rPr>
              <a:t>聊天</a:t>
            </a:r>
            <a:r>
              <a:rPr lang="en-US" altLang="zh-CN" sz="2600" b="0" dirty="0">
                <a:solidFill>
                  <a:srgbClr val="00007D"/>
                </a:solidFill>
                <a:latin typeface="Verdana" panose="020B0604030504040204" pitchFamily="34" charset="0"/>
                <a:ea typeface="宋体" panose="02010600030101010101" pitchFamily="2" charset="-122"/>
              </a:rPr>
              <a:t>/</a:t>
            </a:r>
            <a:r>
              <a:rPr lang="zh-CN" altLang="en-US" sz="2600" b="0" dirty="0">
                <a:solidFill>
                  <a:srgbClr val="00007D"/>
                </a:solidFill>
                <a:latin typeface="Verdana" panose="020B0604030504040204" pitchFamily="34" charset="0"/>
                <a:ea typeface="宋体" panose="02010600030101010101" pitchFamily="2" charset="-122"/>
              </a:rPr>
              <a:t>公会</a:t>
            </a:r>
            <a:endParaRPr lang="en-US" altLang="zh-CN" sz="2600" b="0" dirty="0">
              <a:solidFill>
                <a:srgbClr val="00007D"/>
              </a:solidFill>
              <a:latin typeface="Verdana" panose="020B0604030504040204" pitchFamily="34" charset="0"/>
              <a:ea typeface="宋体" panose="02010600030101010101" pitchFamily="2" charset="-122"/>
            </a:endParaRPr>
          </a:p>
        </p:txBody>
      </p:sp>
      <p:sp>
        <p:nvSpPr>
          <p:cNvPr id="3" name="文本框 2"/>
          <p:cNvSpPr txBox="1"/>
          <p:nvPr/>
        </p:nvSpPr>
        <p:spPr>
          <a:xfrm>
            <a:off x="1541263" y="5126593"/>
            <a:ext cx="5089855" cy="369332"/>
          </a:xfrm>
          <a:prstGeom prst="rect">
            <a:avLst/>
          </a:prstGeom>
          <a:noFill/>
        </p:spPr>
        <p:txBody>
          <a:bodyPr wrap="none" rtlCol="0">
            <a:spAutoFit/>
          </a:bodyPr>
          <a:lstStyle/>
          <a:p>
            <a:r>
              <a:rPr lang="zh-CN" altLang="en-US" dirty="0">
                <a:solidFill>
                  <a:srgbClr val="FF0000"/>
                </a:solidFill>
              </a:rPr>
              <a:t>像一些临时存在于地图的怪</a:t>
            </a:r>
            <a:r>
              <a:rPr lang="en-US" altLang="zh-CN" dirty="0">
                <a:solidFill>
                  <a:srgbClr val="FF0000"/>
                </a:solidFill>
              </a:rPr>
              <a:t>,</a:t>
            </a:r>
            <a:r>
              <a:rPr lang="zh-CN" altLang="en-US" dirty="0">
                <a:solidFill>
                  <a:srgbClr val="FF0000"/>
                </a:solidFill>
              </a:rPr>
              <a:t>是不需要进行容灾的</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脚本开发的指导</a:t>
            </a:r>
          </a:p>
        </p:txBody>
      </p:sp>
      <p:sp>
        <p:nvSpPr>
          <p:cNvPr id="17" name="Rectangle 3"/>
          <p:cNvSpPr txBox="1">
            <a:spLocks noChangeArrowheads="1"/>
          </p:cNvSpPr>
          <p:nvPr/>
        </p:nvSpPr>
        <p:spPr bwMode="auto">
          <a:xfrm>
            <a:off x="89124" y="1196752"/>
            <a:ext cx="905487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尽可能的把负载放到</a:t>
            </a:r>
            <a:r>
              <a:rPr lang="en-AU" altLang="zh-CN" dirty="0" err="1"/>
              <a:t>BaseApp</a:t>
            </a:r>
            <a:r>
              <a:rPr lang="en-AU" altLang="zh-CN" sz="1400" dirty="0">
                <a:solidFill>
                  <a:srgbClr val="FF0000"/>
                </a:solidFill>
              </a:rPr>
              <a:t>(</a:t>
            </a:r>
            <a:r>
              <a:rPr lang="en-US" altLang="zh-CN" sz="1400" dirty="0" err="1">
                <a:solidFill>
                  <a:srgbClr val="FF0000"/>
                </a:solidFill>
              </a:rPr>
              <a:t>cellapp</a:t>
            </a:r>
            <a:r>
              <a:rPr lang="zh-CN" altLang="en-US" sz="1400" dirty="0">
                <a:solidFill>
                  <a:srgbClr val="FF0000"/>
                </a:solidFill>
              </a:rPr>
              <a:t>处理空间相关逻辑更耗</a:t>
            </a:r>
            <a:r>
              <a:rPr lang="en-US" altLang="zh-CN" sz="1400" dirty="0" err="1">
                <a:solidFill>
                  <a:srgbClr val="FF0000"/>
                </a:solidFill>
              </a:rPr>
              <a:t>cpu</a:t>
            </a:r>
            <a:r>
              <a:rPr lang="en-US" altLang="zh-CN" sz="1400" dirty="0">
                <a:solidFill>
                  <a:srgbClr val="FF0000"/>
                </a:solidFill>
              </a:rPr>
              <a:t>,</a:t>
            </a:r>
            <a:r>
              <a:rPr lang="zh-CN" altLang="en-US" sz="1400" dirty="0">
                <a:solidFill>
                  <a:srgbClr val="FF0000"/>
                </a:solidFill>
              </a:rPr>
              <a:t>所以</a:t>
            </a:r>
            <a:r>
              <a:rPr lang="en-US" altLang="zh-CN" sz="1400" dirty="0" err="1">
                <a:solidFill>
                  <a:srgbClr val="FF0000"/>
                </a:solidFill>
              </a:rPr>
              <a:t>cellapp</a:t>
            </a:r>
            <a:r>
              <a:rPr lang="zh-CN" altLang="en-US" sz="1400" dirty="0">
                <a:solidFill>
                  <a:srgbClr val="FF0000"/>
                </a:solidFill>
              </a:rPr>
              <a:t>尽量移除一些</a:t>
            </a:r>
            <a:r>
              <a:rPr lang="en-US" altLang="zh-CN" sz="1400" dirty="0">
                <a:solidFill>
                  <a:srgbClr val="FF0000"/>
                </a:solidFill>
              </a:rPr>
              <a:t>base</a:t>
            </a:r>
            <a:r>
              <a:rPr lang="zh-CN" altLang="en-US" sz="1400" dirty="0">
                <a:solidFill>
                  <a:srgbClr val="FF0000"/>
                </a:solidFill>
              </a:rPr>
              <a:t>中就能实现的且相对耗性能的功能</a:t>
            </a:r>
            <a:r>
              <a:rPr lang="en-AU" altLang="zh-CN" sz="1400" dirty="0">
                <a:solidFill>
                  <a:srgbClr val="FF0000"/>
                </a:solidFill>
              </a:rPr>
              <a:t>)</a:t>
            </a:r>
          </a:p>
          <a:p>
            <a:r>
              <a:rPr lang="zh-CN" altLang="en-AU" dirty="0">
                <a:ea typeface="宋体" panose="02010600030101010101" pitchFamily="2" charset="-122"/>
              </a:rPr>
              <a:t>尽可能减少需要保存到数据库的</a:t>
            </a:r>
            <a:r>
              <a:rPr lang="en-AU" altLang="zh-CN" dirty="0">
                <a:ea typeface="宋体" panose="02010600030101010101" pitchFamily="2" charset="-122"/>
              </a:rPr>
              <a:t>Entity</a:t>
            </a:r>
            <a:r>
              <a:rPr lang="zh-CN" altLang="en-AU" dirty="0">
                <a:ea typeface="宋体" panose="02010600030101010101" pitchFamily="2" charset="-122"/>
              </a:rPr>
              <a:t>的属性</a:t>
            </a:r>
            <a:r>
              <a:rPr lang="en-US" altLang="zh-CN" sz="1200" dirty="0">
                <a:solidFill>
                  <a:srgbClr val="FF0000"/>
                </a:solidFill>
                <a:ea typeface="宋体" panose="02010600030101010101" pitchFamily="2" charset="-122"/>
              </a:rPr>
              <a:t>(</a:t>
            </a:r>
            <a:r>
              <a:rPr lang="zh-CN" altLang="en-US" sz="1200" dirty="0">
                <a:solidFill>
                  <a:srgbClr val="FF0000"/>
                </a:solidFill>
                <a:ea typeface="宋体" panose="02010600030101010101" pitchFamily="2" charset="-122"/>
              </a:rPr>
              <a:t>没必要的属性不存</a:t>
            </a:r>
            <a:r>
              <a:rPr lang="en-US" altLang="zh-CN" sz="1200" dirty="0">
                <a:solidFill>
                  <a:srgbClr val="FF0000"/>
                </a:solidFill>
                <a:ea typeface="宋体" panose="02010600030101010101" pitchFamily="2" charset="-122"/>
              </a:rPr>
              <a:t>)</a:t>
            </a:r>
            <a:endParaRPr lang="zh-CN" altLang="en-AU" sz="1200" dirty="0">
              <a:solidFill>
                <a:srgbClr val="FF0000"/>
              </a:solidFill>
              <a:ea typeface="宋体" panose="02010600030101010101" pitchFamily="2" charset="-122"/>
            </a:endParaRPr>
          </a:p>
          <a:p>
            <a:r>
              <a:rPr lang="zh-CN" altLang="en-AU" dirty="0">
                <a:ea typeface="宋体" panose="02010600030101010101" pitchFamily="2" charset="-122"/>
              </a:rPr>
              <a:t>避免过多调用</a:t>
            </a:r>
            <a:r>
              <a:rPr lang="en-AU" altLang="zh-CN" dirty="0" err="1">
                <a:latin typeface="Courier New" panose="02070309020205020404" pitchFamily="49" charset="0"/>
              </a:rPr>
              <a:t>writeToDB</a:t>
            </a:r>
            <a:r>
              <a:rPr lang="en-AU" altLang="zh-CN" sz="1800" dirty="0">
                <a:solidFill>
                  <a:srgbClr val="FF0000"/>
                </a:solidFill>
                <a:latin typeface="Courier New" panose="02070309020205020404" pitchFamily="49" charset="0"/>
              </a:rPr>
              <a:t>(</a:t>
            </a:r>
            <a:r>
              <a:rPr lang="zh-CN" altLang="en-US" sz="1800" dirty="0">
                <a:solidFill>
                  <a:srgbClr val="FF0000"/>
                </a:solidFill>
                <a:latin typeface="Courier New" panose="02070309020205020404" pitchFamily="49" charset="0"/>
              </a:rPr>
              <a:t>减少</a:t>
            </a:r>
            <a:r>
              <a:rPr lang="en-US" altLang="zh-CN" sz="1800" dirty="0">
                <a:solidFill>
                  <a:srgbClr val="FF0000"/>
                </a:solidFill>
                <a:latin typeface="Courier New" panose="02070309020205020404" pitchFamily="49" charset="0"/>
              </a:rPr>
              <a:t>IO</a:t>
            </a:r>
            <a:r>
              <a:rPr lang="zh-CN" altLang="en-US" sz="1800" dirty="0">
                <a:solidFill>
                  <a:srgbClr val="FF0000"/>
                </a:solidFill>
                <a:latin typeface="Courier New" panose="02070309020205020404" pitchFamily="49" charset="0"/>
              </a:rPr>
              <a:t>次数</a:t>
            </a:r>
            <a:r>
              <a:rPr lang="en-AU" altLang="zh-CN" sz="1800" dirty="0">
                <a:solidFill>
                  <a:srgbClr val="FF0000"/>
                </a:solidFill>
                <a:latin typeface="Courier New" panose="02070309020205020404" pitchFamily="49" charset="0"/>
              </a:rPr>
              <a:t>)</a:t>
            </a:r>
            <a:endParaRPr lang="en-AU" altLang="zh-CN" sz="1800" dirty="0">
              <a:solidFill>
                <a:srgbClr val="FF0000"/>
              </a:solidFill>
            </a:endParaRPr>
          </a:p>
          <a:p>
            <a:r>
              <a:rPr lang="zh-CN" altLang="en-AU" dirty="0">
                <a:ea typeface="宋体" panose="02010600030101010101" pitchFamily="2" charset="-122"/>
              </a:rPr>
              <a:t>尽量减少复杂层级的数据</a:t>
            </a:r>
            <a:r>
              <a:rPr lang="en-US" altLang="zh-CN" sz="1400" dirty="0">
                <a:solidFill>
                  <a:srgbClr val="FF0000"/>
                </a:solidFill>
                <a:ea typeface="宋体" panose="02010600030101010101" pitchFamily="2" charset="-122"/>
              </a:rPr>
              <a:t>(</a:t>
            </a:r>
            <a:r>
              <a:rPr lang="zh-CN" altLang="en-US" sz="1400" dirty="0">
                <a:solidFill>
                  <a:srgbClr val="FF0000"/>
                </a:solidFill>
                <a:ea typeface="宋体" panose="02010600030101010101" pitchFamily="2" charset="-122"/>
              </a:rPr>
              <a:t>数据结构相对简单</a:t>
            </a:r>
            <a:r>
              <a:rPr lang="en-US" altLang="zh-CN" sz="1400" dirty="0">
                <a:solidFill>
                  <a:srgbClr val="FF0000"/>
                </a:solidFill>
                <a:ea typeface="宋体" panose="02010600030101010101" pitchFamily="2" charset="-122"/>
              </a:rPr>
              <a:t>,</a:t>
            </a:r>
            <a:r>
              <a:rPr lang="zh-CN" altLang="en-US" sz="1400" dirty="0">
                <a:solidFill>
                  <a:srgbClr val="FF0000"/>
                </a:solidFill>
                <a:ea typeface="宋体" panose="02010600030101010101" pitchFamily="2" charset="-122"/>
              </a:rPr>
              <a:t>方便访问</a:t>
            </a:r>
            <a:r>
              <a:rPr lang="en-US" altLang="zh-CN" sz="1400" dirty="0">
                <a:solidFill>
                  <a:srgbClr val="FF0000"/>
                </a:solidFill>
                <a:ea typeface="宋体" panose="02010600030101010101" pitchFamily="2" charset="-122"/>
              </a:rPr>
              <a:t>)</a:t>
            </a:r>
            <a:endParaRPr lang="en-AU" altLang="zh-CN" sz="1400" dirty="0">
              <a:solidFill>
                <a:srgbClr val="FF0000"/>
              </a:solidFill>
            </a:endParaRPr>
          </a:p>
          <a:p>
            <a:pPr lvl="1"/>
            <a:r>
              <a:rPr lang="zh-CN" altLang="en-AU" dirty="0">
                <a:ea typeface="宋体" panose="02010600030101010101" pitchFamily="2" charset="-122"/>
              </a:rPr>
              <a:t>如</a:t>
            </a:r>
            <a:r>
              <a:rPr lang="en-AU" altLang="zh-CN" dirty="0"/>
              <a:t>: </a:t>
            </a:r>
            <a:r>
              <a:rPr lang="zh-CN" altLang="en-AU" dirty="0">
                <a:ea typeface="宋体" panose="02010600030101010101" pitchFamily="2" charset="-122"/>
              </a:rPr>
              <a:t>多维数组</a:t>
            </a:r>
            <a:endParaRPr lang="en-AU" altLang="zh-CN" dirty="0"/>
          </a:p>
          <a:p>
            <a:r>
              <a:rPr lang="zh-CN" altLang="en-AU" dirty="0">
                <a:ea typeface="宋体" panose="02010600030101010101" pitchFamily="2" charset="-122"/>
              </a:rPr>
              <a:t>如果脚本的执行时间超过</a:t>
            </a:r>
            <a:r>
              <a:rPr lang="en-AU" altLang="zh-CN" dirty="0">
                <a:ea typeface="宋体" panose="02010600030101010101" pitchFamily="2" charset="-122"/>
              </a:rPr>
              <a:t>1</a:t>
            </a:r>
            <a:r>
              <a:rPr lang="zh-CN" altLang="en-AU" dirty="0">
                <a:ea typeface="宋体" panose="02010600030101010101" pitchFamily="2" charset="-122"/>
              </a:rPr>
              <a:t>个</a:t>
            </a:r>
            <a:r>
              <a:rPr lang="en-AU" altLang="zh-CN" dirty="0">
                <a:ea typeface="宋体" panose="02010600030101010101" pitchFamily="2" charset="-122"/>
              </a:rPr>
              <a:t>game tick</a:t>
            </a:r>
            <a:r>
              <a:rPr lang="zh-CN" altLang="en-AU" dirty="0">
                <a:ea typeface="宋体" panose="02010600030101010101" pitchFamily="2" charset="-122"/>
              </a:rPr>
              <a:t>，会负面地影响服务器的效率</a:t>
            </a:r>
            <a:r>
              <a:rPr lang="en-US" altLang="zh-CN" sz="1200" dirty="0">
                <a:solidFill>
                  <a:srgbClr val="FF0000"/>
                </a:solidFill>
                <a:ea typeface="宋体" panose="02010600030101010101" pitchFamily="2" charset="-122"/>
              </a:rPr>
              <a:t>(</a:t>
            </a:r>
            <a:r>
              <a:rPr lang="zh-CN" altLang="en-US" sz="1200" dirty="0">
                <a:solidFill>
                  <a:srgbClr val="FF0000"/>
                </a:solidFill>
                <a:ea typeface="宋体" panose="02010600030101010101" pitchFamily="2" charset="-122"/>
              </a:rPr>
              <a:t>例如</a:t>
            </a:r>
            <a:r>
              <a:rPr lang="en-US" altLang="zh-CN" sz="1200" dirty="0">
                <a:solidFill>
                  <a:srgbClr val="FF0000"/>
                </a:solidFill>
                <a:ea typeface="宋体" panose="02010600030101010101" pitchFamily="2" charset="-122"/>
              </a:rPr>
              <a:t>20</a:t>
            </a:r>
            <a:r>
              <a:rPr lang="zh-CN" altLang="en-US" sz="1200" dirty="0">
                <a:solidFill>
                  <a:srgbClr val="FF0000"/>
                </a:solidFill>
                <a:ea typeface="宋体" panose="02010600030101010101" pitchFamily="2" charset="-122"/>
              </a:rPr>
              <a:t>赫兹对应</a:t>
            </a:r>
            <a:r>
              <a:rPr lang="en-AU" altLang="zh-CN" sz="1200" dirty="0">
                <a:solidFill>
                  <a:srgbClr val="FF0000"/>
                </a:solidFill>
                <a:ea typeface="宋体" panose="02010600030101010101" pitchFamily="2" charset="-122"/>
              </a:rPr>
              <a:t>game tick</a:t>
            </a:r>
            <a:r>
              <a:rPr lang="en-US" altLang="zh-CN" sz="1200" dirty="0">
                <a:solidFill>
                  <a:srgbClr val="FF0000"/>
                </a:solidFill>
                <a:ea typeface="宋体" panose="02010600030101010101" pitchFamily="2" charset="-122"/>
              </a:rPr>
              <a:t>=50</a:t>
            </a:r>
            <a:r>
              <a:rPr lang="zh-CN" altLang="en-US" sz="1200" dirty="0">
                <a:solidFill>
                  <a:srgbClr val="FF0000"/>
                </a:solidFill>
                <a:ea typeface="宋体" panose="02010600030101010101" pitchFamily="2" charset="-122"/>
              </a:rPr>
              <a:t>毫秒更新一次</a:t>
            </a:r>
            <a:r>
              <a:rPr lang="en-US" altLang="zh-CN" sz="1200" dirty="0">
                <a:solidFill>
                  <a:srgbClr val="FF0000"/>
                </a:solidFill>
                <a:ea typeface="宋体" panose="02010600030101010101" pitchFamily="2" charset="-122"/>
              </a:rPr>
              <a:t>,</a:t>
            </a:r>
            <a:r>
              <a:rPr lang="zh-CN" altLang="en-US" sz="1200" dirty="0">
                <a:solidFill>
                  <a:srgbClr val="FF0000"/>
                </a:solidFill>
                <a:ea typeface="宋体" panose="02010600030101010101" pitchFamily="2" charset="-122"/>
              </a:rPr>
              <a:t>如果执行逻辑时长超过</a:t>
            </a:r>
            <a:r>
              <a:rPr lang="en-AU" altLang="zh-CN" sz="1200" dirty="0">
                <a:solidFill>
                  <a:srgbClr val="FF0000"/>
                </a:solidFill>
                <a:ea typeface="宋体" panose="02010600030101010101" pitchFamily="2" charset="-122"/>
              </a:rPr>
              <a:t>game tick</a:t>
            </a:r>
            <a:r>
              <a:rPr lang="zh-CN" altLang="en-US" sz="1200" dirty="0">
                <a:solidFill>
                  <a:srgbClr val="FF0000"/>
                </a:solidFill>
                <a:ea typeface="宋体" panose="02010600030101010101" pitchFamily="2" charset="-122"/>
              </a:rPr>
              <a:t>毫秒</a:t>
            </a:r>
            <a:r>
              <a:rPr lang="en-US" altLang="zh-CN" sz="1200" dirty="0">
                <a:solidFill>
                  <a:srgbClr val="FF0000"/>
                </a:solidFill>
                <a:ea typeface="宋体" panose="02010600030101010101" pitchFamily="2" charset="-122"/>
              </a:rPr>
              <a:t>,</a:t>
            </a:r>
            <a:r>
              <a:rPr lang="zh-CN" altLang="en-US" sz="1200" dirty="0">
                <a:solidFill>
                  <a:srgbClr val="FF0000"/>
                </a:solidFill>
                <a:ea typeface="宋体" panose="02010600030101010101" pitchFamily="2" charset="-122"/>
              </a:rPr>
              <a:t>下次更新就延迟了</a:t>
            </a:r>
            <a:r>
              <a:rPr lang="en-US" altLang="zh-CN" sz="1200" dirty="0">
                <a:solidFill>
                  <a:srgbClr val="FF0000"/>
                </a:solidFill>
                <a:ea typeface="宋体" panose="02010600030101010101" pitchFamily="2" charset="-122"/>
              </a:rPr>
              <a:t>)</a:t>
            </a:r>
            <a:endParaRPr lang="en-AU" altLang="zh-CN" sz="1200" dirty="0">
              <a:solidFill>
                <a:srgbClr val="FF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第三章</a:t>
            </a:r>
          </a:p>
        </p:txBody>
      </p:sp>
      <p:sp>
        <p:nvSpPr>
          <p:cNvPr id="12" name="TextBox 11"/>
          <p:cNvSpPr txBox="1"/>
          <p:nvPr/>
        </p:nvSpPr>
        <p:spPr>
          <a:xfrm>
            <a:off x="1619672" y="2924944"/>
            <a:ext cx="633670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a:t>
            </a:r>
            <a:r>
              <a:rPr lang="en-US" altLang="zh-CN" sz="3600" b="1" kern="0" dirty="0">
                <a:solidFill>
                  <a:schemeClr val="tx2"/>
                </a:solidFill>
                <a:latin typeface="Verdana" panose="020B0604030504040204"/>
                <a:ea typeface="宋体" panose="02010600030101010101" pitchFamily="2" charset="-122"/>
              </a:rPr>
              <a:t>Entity</a:t>
            </a:r>
            <a:r>
              <a:rPr lang="zh-CN" altLang="en-US" sz="3600" b="1" kern="0" dirty="0">
                <a:solidFill>
                  <a:schemeClr val="tx2"/>
                </a:solidFill>
                <a:latin typeface="Verdana" panose="020B0604030504040204"/>
                <a:ea typeface="宋体" panose="02010600030101010101" pitchFamily="2" charset="-122"/>
              </a:rPr>
              <a:t>的通信</a:t>
            </a:r>
            <a:endParaRPr lang="zh-CN" altLang="en-US" sz="3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sz="2800" dirty="0">
                <a:ea typeface="宋体" panose="02010600030101010101" pitchFamily="2" charset="-122"/>
              </a:rPr>
              <a:t>指向 远程进程的</a:t>
            </a:r>
            <a:r>
              <a:rPr lang="en-AU" altLang="zh-CN" sz="2800" dirty="0">
                <a:ea typeface="宋体" panose="02010600030101010101" pitchFamily="2" charset="-122"/>
              </a:rPr>
              <a:t>Entity</a:t>
            </a:r>
          </a:p>
          <a:p>
            <a:pPr lvl="1"/>
            <a:r>
              <a:rPr lang="zh-CN" altLang="en-AU" sz="2400" dirty="0">
                <a:ea typeface="宋体" panose="02010600030101010101" pitchFamily="2" charset="-122"/>
              </a:rPr>
              <a:t>如</a:t>
            </a:r>
            <a:r>
              <a:rPr lang="en-AU" altLang="zh-CN" sz="2400" dirty="0"/>
              <a:t>: </a:t>
            </a:r>
            <a:r>
              <a:rPr lang="zh-CN" altLang="en-AU" sz="2400" dirty="0">
                <a:ea typeface="宋体" panose="02010600030101010101" pitchFamily="2" charset="-122"/>
              </a:rPr>
              <a:t>一个</a:t>
            </a:r>
            <a:r>
              <a:rPr lang="en-AU" altLang="zh-CN" sz="2400" dirty="0">
                <a:ea typeface="宋体" panose="02010600030101010101" pitchFamily="2" charset="-122"/>
              </a:rPr>
              <a:t>Entity</a:t>
            </a:r>
            <a:r>
              <a:rPr lang="zh-CN" altLang="en-AU" sz="2400" dirty="0">
                <a:ea typeface="宋体" panose="02010600030101010101" pitchFamily="2" charset="-122"/>
              </a:rPr>
              <a:t>的</a:t>
            </a:r>
            <a:r>
              <a:rPr lang="en-AU" altLang="zh-CN" sz="2400" dirty="0">
                <a:ea typeface="宋体" panose="02010600030101010101" pitchFamily="2" charset="-122"/>
              </a:rPr>
              <a:t>Cell</a:t>
            </a:r>
            <a:r>
              <a:rPr lang="zh-CN" altLang="en-AU" sz="2400" dirty="0">
                <a:ea typeface="宋体" panose="02010600030101010101" pitchFamily="2" charset="-122"/>
              </a:rPr>
              <a:t>部分</a:t>
            </a:r>
          </a:p>
          <a:p>
            <a:r>
              <a:rPr lang="zh-CN" altLang="en-AU" sz="2800" dirty="0">
                <a:ea typeface="宋体" panose="02010600030101010101" pitchFamily="2" charset="-122"/>
              </a:rPr>
              <a:t>使得可以远程的调用函数</a:t>
            </a:r>
            <a:r>
              <a:rPr lang="zh-CN" altLang="en-AU" sz="2800" dirty="0">
                <a:solidFill>
                  <a:srgbClr val="00B0F0"/>
                </a:solidFill>
                <a:ea typeface="宋体" panose="02010600030101010101" pitchFamily="2" charset="-122"/>
              </a:rPr>
              <a:t>（从一个进程调用另一个进程的函数）</a:t>
            </a:r>
            <a:endParaRPr lang="en-AU" altLang="zh-CN" sz="2800" dirty="0">
              <a:solidFill>
                <a:srgbClr val="00B0F0"/>
              </a:solidFill>
            </a:endParaRPr>
          </a:p>
          <a:p>
            <a:pPr lvl="1"/>
            <a:r>
              <a:rPr lang="zh-CN" altLang="en-AU" sz="2400" dirty="0">
                <a:ea typeface="宋体" panose="02010600030101010101" pitchFamily="2" charset="-122"/>
              </a:rPr>
              <a:t>如</a:t>
            </a:r>
            <a:r>
              <a:rPr lang="en-AU" altLang="zh-CN" sz="2400" dirty="0"/>
              <a:t>: </a:t>
            </a:r>
            <a:r>
              <a:rPr lang="en-US" altLang="en-AU" sz="2400" dirty="0" err="1">
                <a:latin typeface="Courier New" panose="02070309020205020404" pitchFamily="49" charset="0"/>
              </a:rPr>
              <a:t>ec</a:t>
            </a:r>
            <a:r>
              <a:rPr lang="en-AU" altLang="zh-CN" sz="2400" dirty="0"/>
              <a:t> </a:t>
            </a:r>
            <a:r>
              <a:rPr lang="zh-CN" altLang="en-AU" sz="2400" dirty="0">
                <a:ea typeface="宋体" panose="02010600030101010101" pitchFamily="2" charset="-122"/>
              </a:rPr>
              <a:t>是一个</a:t>
            </a:r>
            <a:r>
              <a:rPr lang="en-AU" altLang="zh-CN" sz="2400" dirty="0">
                <a:ea typeface="宋体" panose="02010600030101010101" pitchFamily="2" charset="-122"/>
              </a:rPr>
              <a:t>Cell </a:t>
            </a:r>
            <a:r>
              <a:rPr lang="en-US" altLang="en-AU" sz="2400" dirty="0">
                <a:ea typeface="宋体" panose="02010600030101010101" pitchFamily="2" charset="-122"/>
              </a:rPr>
              <a:t>E</a:t>
            </a:r>
            <a:r>
              <a:rPr lang="en-AU" altLang="zh-CN" sz="2400" dirty="0"/>
              <a:t>ntity</a:t>
            </a:r>
            <a:r>
              <a:rPr lang="en-US" altLang="en-AU" sz="2400" dirty="0"/>
              <a:t>Call</a:t>
            </a:r>
            <a:br>
              <a:rPr lang="en-AU" altLang="zh-CN" sz="2400" dirty="0"/>
            </a:br>
            <a:r>
              <a:rPr lang="en-AU" altLang="zh-CN" sz="2400" dirty="0"/>
              <a:t>  </a:t>
            </a:r>
            <a:r>
              <a:rPr lang="en-US" altLang="en-AU" sz="2400" dirty="0" err="1">
                <a:latin typeface="Courier New" panose="02070309020205020404" pitchFamily="49" charset="0"/>
              </a:rPr>
              <a:t>ec</a:t>
            </a:r>
            <a:r>
              <a:rPr lang="en-AU" altLang="zh-CN" sz="2400" dirty="0" err="1">
                <a:latin typeface="Courier New" panose="02070309020205020404" pitchFamily="49" charset="0"/>
              </a:rPr>
              <a:t>.someMethod</a:t>
            </a:r>
            <a:r>
              <a:rPr lang="en-AU" altLang="zh-CN" sz="2400" dirty="0">
                <a:latin typeface="Courier New" panose="02070309020205020404" pitchFamily="49" charset="0"/>
              </a:rPr>
              <a:t>( a, b )</a:t>
            </a:r>
            <a:br>
              <a:rPr lang="en-AU" altLang="zh-CN" sz="2400" dirty="0"/>
            </a:br>
            <a:r>
              <a:rPr lang="zh-CN" altLang="en-AU" sz="2400" dirty="0">
                <a:ea typeface="宋体" panose="02010600030101010101" pitchFamily="2" charset="-122"/>
              </a:rPr>
              <a:t>会引发</a:t>
            </a:r>
            <a:r>
              <a:rPr lang="en-AU" altLang="zh-CN" sz="2400" dirty="0">
                <a:ea typeface="宋体" panose="02010600030101010101" pitchFamily="2" charset="-122"/>
              </a:rPr>
              <a:t>Real cell entity</a:t>
            </a:r>
            <a:r>
              <a:rPr lang="zh-CN" altLang="en-AU" sz="2400" dirty="0">
                <a:ea typeface="宋体" panose="02010600030101010101" pitchFamily="2" charset="-122"/>
              </a:rPr>
              <a:t>所在的进程的</a:t>
            </a:r>
            <a:r>
              <a:rPr lang="en-AU" altLang="zh-CN" sz="2400" dirty="0" err="1">
                <a:latin typeface="Courier New" panose="02070309020205020404" pitchFamily="49" charset="0"/>
              </a:rPr>
              <a:t>someMethod</a:t>
            </a:r>
            <a:r>
              <a:rPr lang="en-AU" altLang="zh-CN" sz="2400" dirty="0">
                <a:latin typeface="Courier New" panose="02070309020205020404" pitchFamily="49" charset="0"/>
              </a:rPr>
              <a:t>()</a:t>
            </a:r>
            <a:r>
              <a:rPr lang="zh-CN" altLang="en-AU" sz="2400" dirty="0">
                <a:latin typeface="Courier New" panose="02070309020205020404" pitchFamily="49" charset="0"/>
                <a:ea typeface="宋体" panose="02010600030101010101" pitchFamily="2" charset="-122"/>
              </a:rPr>
              <a:t>的调用</a:t>
            </a:r>
            <a:endParaRPr lang="en-US" altLang="zh-CN" sz="2400" dirty="0">
              <a:latin typeface="Courier New" panose="02070309020205020404" pitchFamily="49" charset="0"/>
              <a:ea typeface="宋体" panose="02010600030101010101" pitchFamily="2" charset="-122"/>
            </a:endParaRPr>
          </a:p>
          <a:p>
            <a:pPr marL="182245" lvl="1" indent="0">
              <a:buNone/>
            </a:pPr>
            <a:r>
              <a:rPr lang="en-US" altLang="zh-CN" sz="1600" dirty="0">
                <a:solidFill>
                  <a:srgbClr val="FF0000"/>
                </a:solidFill>
                <a:latin typeface="Courier New" panose="02070309020205020404" pitchFamily="49" charset="0"/>
                <a:ea typeface="宋体" panose="02010600030101010101" pitchFamily="2" charset="-122"/>
              </a:rPr>
              <a:t>(</a:t>
            </a:r>
            <a:r>
              <a:rPr lang="zh-CN" altLang="en-US" sz="1600" dirty="0">
                <a:solidFill>
                  <a:srgbClr val="FF0000"/>
                </a:solidFill>
                <a:latin typeface="Courier New" panose="02070309020205020404" pitchFamily="49" charset="0"/>
                <a:ea typeface="宋体" panose="02010600030101010101" pitchFamily="2" charset="-122"/>
              </a:rPr>
              <a:t>也就是当前进程下的</a:t>
            </a:r>
            <a:r>
              <a:rPr lang="en-US" altLang="zh-CN" sz="1600" dirty="0" err="1">
                <a:solidFill>
                  <a:srgbClr val="FF0000"/>
                </a:solidFill>
                <a:latin typeface="Courier New" panose="02070309020205020404" pitchFamily="49" charset="0"/>
                <a:ea typeface="宋体" panose="02010600030101010101" pitchFamily="2" charset="-122"/>
              </a:rPr>
              <a:t>ec</a:t>
            </a:r>
            <a:r>
              <a:rPr lang="zh-CN" altLang="en-US" sz="1600" dirty="0">
                <a:solidFill>
                  <a:srgbClr val="FF0000"/>
                </a:solidFill>
                <a:latin typeface="Courier New" panose="02070309020205020404" pitchFamily="49" charset="0"/>
                <a:ea typeface="宋体" panose="02010600030101010101" pitchFamily="2" charset="-122"/>
              </a:rPr>
              <a:t>对应的</a:t>
            </a:r>
            <a:r>
              <a:rPr lang="en-US" altLang="zh-CN" sz="1600" dirty="0">
                <a:solidFill>
                  <a:srgbClr val="FF0000"/>
                </a:solidFill>
                <a:latin typeface="Courier New" panose="02070309020205020404" pitchFamily="49" charset="0"/>
                <a:ea typeface="宋体" panose="02010600030101010101" pitchFamily="2" charset="-122"/>
              </a:rPr>
              <a:t>entity</a:t>
            </a:r>
            <a:r>
              <a:rPr lang="zh-CN" altLang="en-US" sz="1600" dirty="0">
                <a:solidFill>
                  <a:srgbClr val="FF0000"/>
                </a:solidFill>
                <a:latin typeface="Courier New" panose="02070309020205020404" pitchFamily="49" charset="0"/>
                <a:ea typeface="宋体" panose="02010600030101010101" pitchFamily="2" charset="-122"/>
              </a:rPr>
              <a:t>调用了 </a:t>
            </a:r>
            <a:r>
              <a:rPr lang="en-US" altLang="zh-CN" sz="1600" dirty="0">
                <a:solidFill>
                  <a:srgbClr val="FF0000"/>
                </a:solidFill>
                <a:latin typeface="Courier New" panose="02070309020205020404" pitchFamily="49" charset="0"/>
                <a:ea typeface="宋体" panose="02010600030101010101" pitchFamily="2" charset="-122"/>
              </a:rPr>
              <a:t>cell</a:t>
            </a:r>
            <a:r>
              <a:rPr lang="zh-CN" altLang="en-US" sz="1600" dirty="0">
                <a:solidFill>
                  <a:srgbClr val="FF0000"/>
                </a:solidFill>
                <a:latin typeface="Courier New" panose="02070309020205020404" pitchFamily="49" charset="0"/>
                <a:ea typeface="宋体" panose="02010600030101010101" pitchFamily="2" charset="-122"/>
              </a:rPr>
              <a:t>下对应</a:t>
            </a:r>
            <a:r>
              <a:rPr lang="en-US" altLang="zh-CN" sz="1600" dirty="0">
                <a:solidFill>
                  <a:srgbClr val="FF0000"/>
                </a:solidFill>
                <a:latin typeface="Courier New" panose="02070309020205020404" pitchFamily="49" charset="0"/>
                <a:ea typeface="宋体" panose="02010600030101010101" pitchFamily="2" charset="-122"/>
              </a:rPr>
              <a:t>real entity</a:t>
            </a:r>
            <a:r>
              <a:rPr lang="zh-CN" altLang="en-US" sz="1600" dirty="0">
                <a:solidFill>
                  <a:srgbClr val="FF0000"/>
                </a:solidFill>
                <a:latin typeface="Courier New" panose="02070309020205020404" pitchFamily="49" charset="0"/>
                <a:ea typeface="宋体" panose="02010600030101010101" pitchFamily="2" charset="-122"/>
              </a:rPr>
              <a:t>的方法</a:t>
            </a:r>
            <a:r>
              <a:rPr lang="en-US" altLang="zh-CN" sz="1600" dirty="0">
                <a:solidFill>
                  <a:srgbClr val="FF0000"/>
                </a:solidFill>
                <a:latin typeface="Courier New" panose="02070309020205020404" pitchFamily="49" charset="0"/>
                <a:ea typeface="宋体" panose="02010600030101010101" pitchFamily="2" charset="-122"/>
              </a:rPr>
              <a:t>)</a:t>
            </a:r>
            <a:endParaRPr lang="en-AU" altLang="zh-CN" sz="1600" dirty="0">
              <a:solidFill>
                <a:srgbClr val="FF0000"/>
              </a:solidFill>
            </a:endParaRPr>
          </a:p>
          <a:p>
            <a:r>
              <a:rPr lang="en-AU" altLang="zh-CN" sz="2800" dirty="0"/>
              <a:t>Intra-entity</a:t>
            </a:r>
            <a:r>
              <a:rPr lang="zh-CN" altLang="en-AU" sz="2800" dirty="0">
                <a:ea typeface="宋体" panose="02010600030101010101" pitchFamily="2" charset="-122"/>
              </a:rPr>
              <a:t>通信</a:t>
            </a:r>
          </a:p>
          <a:p>
            <a:pPr lvl="1"/>
            <a:r>
              <a:rPr lang="zh-CN" altLang="en-AU" sz="2400" dirty="0">
                <a:ea typeface="宋体" panose="02010600030101010101" pitchFamily="2" charset="-122"/>
              </a:rPr>
              <a:t>如</a:t>
            </a:r>
            <a:r>
              <a:rPr lang="en-AU" altLang="zh-CN" sz="2400" dirty="0"/>
              <a:t>: </a:t>
            </a:r>
            <a:r>
              <a:rPr lang="zh-CN" altLang="en-AU" sz="2400" dirty="0">
                <a:ea typeface="宋体" panose="02010600030101010101" pitchFamily="2" charset="-122"/>
              </a:rPr>
              <a:t>从</a:t>
            </a:r>
            <a:r>
              <a:rPr lang="en-AU" altLang="zh-CN" sz="2400" dirty="0"/>
              <a:t>Cell</a:t>
            </a:r>
            <a:r>
              <a:rPr lang="zh-CN" altLang="en-AU" sz="2400" dirty="0">
                <a:ea typeface="宋体" panose="02010600030101010101" pitchFamily="2" charset="-122"/>
              </a:rPr>
              <a:t>部分到</a:t>
            </a:r>
            <a:r>
              <a:rPr lang="en-AU" altLang="zh-CN" sz="2400" dirty="0"/>
              <a:t>Base</a:t>
            </a:r>
            <a:r>
              <a:rPr lang="zh-CN" altLang="en-AU" sz="2400" dirty="0">
                <a:ea typeface="宋体" panose="02010600030101010101" pitchFamily="2" charset="-122"/>
              </a:rPr>
              <a:t>部分</a:t>
            </a:r>
          </a:p>
          <a:p>
            <a:r>
              <a:rPr lang="en-AU" altLang="zh-CN" sz="2800" dirty="0"/>
              <a:t>Inter-entity</a:t>
            </a:r>
            <a:r>
              <a:rPr lang="zh-CN" altLang="en-AU" sz="2800" dirty="0">
                <a:ea typeface="宋体" panose="02010600030101010101" pitchFamily="2" charset="-122"/>
              </a:rPr>
              <a:t>通信</a:t>
            </a:r>
          </a:p>
          <a:p>
            <a:pPr lvl="1"/>
            <a:r>
              <a:rPr lang="zh-CN" altLang="en-AU" sz="2400" dirty="0">
                <a:ea typeface="宋体" panose="02010600030101010101" pitchFamily="2" charset="-122"/>
              </a:rPr>
              <a:t>如</a:t>
            </a:r>
            <a:r>
              <a:rPr lang="en-AU" altLang="zh-CN" sz="2400" dirty="0"/>
              <a:t>: </a:t>
            </a:r>
            <a:r>
              <a:rPr lang="en-AU" altLang="zh-CN" sz="2400" dirty="0">
                <a:ea typeface="宋体" panose="02010600030101010101" pitchFamily="2" charset="-122"/>
              </a:rPr>
              <a:t>Entity A</a:t>
            </a:r>
            <a:r>
              <a:rPr lang="zh-CN" altLang="en-AU" sz="2400" dirty="0">
                <a:ea typeface="宋体" panose="02010600030101010101" pitchFamily="2" charset="-122"/>
              </a:rPr>
              <a:t>的</a:t>
            </a:r>
            <a:r>
              <a:rPr lang="en-AU" altLang="zh-CN" sz="2400" dirty="0">
                <a:ea typeface="宋体" panose="02010600030101010101" pitchFamily="2" charset="-122"/>
              </a:rPr>
              <a:t>Cell</a:t>
            </a:r>
            <a:r>
              <a:rPr lang="zh-CN" altLang="en-AU" sz="2400" dirty="0">
                <a:ea typeface="宋体" panose="02010600030101010101" pitchFamily="2" charset="-122"/>
              </a:rPr>
              <a:t>部分到</a:t>
            </a:r>
            <a:r>
              <a:rPr lang="en-AU" altLang="zh-CN" sz="2400" dirty="0">
                <a:ea typeface="宋体" panose="02010600030101010101" pitchFamily="2" charset="-122"/>
              </a:rPr>
              <a:t>Entity B</a:t>
            </a:r>
            <a:r>
              <a:rPr lang="zh-CN" altLang="en-AU" sz="2400" dirty="0">
                <a:ea typeface="宋体" panose="02010600030101010101" pitchFamily="2" charset="-122"/>
              </a:rPr>
              <a:t>的</a:t>
            </a:r>
            <a:r>
              <a:rPr lang="en-AU" altLang="zh-CN" sz="2400" dirty="0">
                <a:ea typeface="宋体" panose="02010600030101010101" pitchFamily="2" charset="-122"/>
              </a:rPr>
              <a:t>Base</a:t>
            </a:r>
            <a:r>
              <a:rPr lang="zh-CN" altLang="en-AU" sz="2400" dirty="0">
                <a:ea typeface="宋体" panose="02010600030101010101" pitchFamily="2" charset="-122"/>
              </a:rPr>
              <a:t>部分</a:t>
            </a:r>
            <a:endParaRPr lang="en-AU" altLang="zh-CN" sz="2400" dirty="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sym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zh-CN" altLang="en-AU" dirty="0">
                <a:ea typeface="宋体" panose="02010600030101010101" pitchFamily="2" charset="-122"/>
              </a:rPr>
              <a:t>不同的类型</a:t>
            </a:r>
            <a:endParaRPr lang="en-AU" altLang="zh-CN" dirty="0"/>
          </a:p>
          <a:p>
            <a:pPr lvl="1">
              <a:lnSpc>
                <a:spcPct val="90000"/>
              </a:lnSpc>
            </a:pPr>
            <a:r>
              <a:rPr lang="en-AU" altLang="zh-CN" dirty="0"/>
              <a:t>Base</a:t>
            </a:r>
          </a:p>
          <a:p>
            <a:pPr lvl="1">
              <a:lnSpc>
                <a:spcPct val="90000"/>
              </a:lnSpc>
            </a:pPr>
            <a:r>
              <a:rPr lang="en-AU" altLang="zh-CN" dirty="0"/>
              <a:t>Cell</a:t>
            </a:r>
          </a:p>
          <a:p>
            <a:pPr lvl="1">
              <a:lnSpc>
                <a:spcPct val="90000"/>
              </a:lnSpc>
            </a:pPr>
            <a:r>
              <a:rPr lang="en-AU" altLang="zh-CN" dirty="0"/>
              <a:t>Client</a:t>
            </a:r>
          </a:p>
          <a:p>
            <a:pPr lvl="1">
              <a:lnSpc>
                <a:spcPct val="90000"/>
              </a:lnSpc>
            </a:pPr>
            <a:r>
              <a:rPr lang="zh-CN" altLang="en-AU" dirty="0">
                <a:ea typeface="宋体" panose="02010600030101010101" pitchFamily="2" charset="-122"/>
              </a:rPr>
              <a:t>单步跳转</a:t>
            </a:r>
          </a:p>
          <a:p>
            <a:pPr lvl="1">
              <a:lnSpc>
                <a:spcPct val="90000"/>
              </a:lnSpc>
            </a:pPr>
            <a:r>
              <a:rPr lang="zh-CN" altLang="en-AU" dirty="0">
                <a:ea typeface="宋体" panose="02010600030101010101" pitchFamily="2" charset="-122"/>
              </a:rPr>
              <a:t>多步跳转</a:t>
            </a:r>
          </a:p>
          <a:p>
            <a:pPr lvl="2">
              <a:lnSpc>
                <a:spcPct val="90000"/>
              </a:lnSpc>
            </a:pPr>
            <a:r>
              <a:rPr lang="zh-CN" altLang="en-AU" dirty="0">
                <a:ea typeface="宋体" panose="02010600030101010101" pitchFamily="2" charset="-122"/>
              </a:rPr>
              <a:t>通过</a:t>
            </a:r>
            <a:r>
              <a:rPr lang="en-AU" altLang="zh-CN" dirty="0">
                <a:ea typeface="宋体" panose="02010600030101010101" pitchFamily="2" charset="-122"/>
              </a:rPr>
              <a:t>base</a:t>
            </a:r>
            <a:r>
              <a:rPr lang="zh-CN" altLang="en-AU" dirty="0">
                <a:ea typeface="宋体" panose="02010600030101010101" pitchFamily="2" charset="-122"/>
              </a:rPr>
              <a:t>到</a:t>
            </a:r>
            <a:r>
              <a:rPr lang="en-AU" altLang="zh-CN" dirty="0">
                <a:ea typeface="宋体" panose="02010600030101010101" pitchFamily="2" charset="-122"/>
              </a:rPr>
              <a:t>cell(</a:t>
            </a:r>
            <a:r>
              <a:rPr lang="en-AU" altLang="zh-CN" dirty="0" err="1">
                <a:ea typeface="宋体" panose="02010600030101010101" pitchFamily="2" charset="-122"/>
              </a:rPr>
              <a:t>xxx.base.cell.someMethod</a:t>
            </a:r>
            <a:r>
              <a:rPr lang="en-AU" altLang="zh-CN" dirty="0">
                <a:ea typeface="宋体" panose="02010600030101010101" pitchFamily="2" charset="-122"/>
              </a:rPr>
              <a:t>())</a:t>
            </a:r>
            <a:endParaRPr lang="en-AU" altLang="zh-CN" dirty="0"/>
          </a:p>
          <a:p>
            <a:pPr>
              <a:lnSpc>
                <a:spcPct val="90000"/>
              </a:lnSpc>
            </a:pPr>
            <a:r>
              <a:rPr lang="zh-CN" altLang="en-AU" dirty="0">
                <a:ea typeface="宋体" panose="02010600030101010101" pitchFamily="2" charset="-122"/>
              </a:rPr>
              <a:t>一些</a:t>
            </a:r>
            <a:r>
              <a:rPr lang="en-AU" altLang="zh-CN" dirty="0" err="1"/>
              <a:t>KBEngine</a:t>
            </a:r>
            <a:r>
              <a:rPr lang="zh-CN" altLang="en-AU" dirty="0">
                <a:ea typeface="宋体" panose="02010600030101010101" pitchFamily="2" charset="-122"/>
              </a:rPr>
              <a:t>方法可能只接收</a:t>
            </a:r>
            <a:r>
              <a:rPr lang="zh-CN" altLang="en-US" dirty="0">
                <a:ea typeface="宋体" panose="02010600030101010101" pitchFamily="2" charset="-122"/>
              </a:rPr>
              <a:t>一些特</a:t>
            </a:r>
            <a:r>
              <a:rPr lang="zh-CN" altLang="en-AU" dirty="0">
                <a:ea typeface="宋体" panose="02010600030101010101" pitchFamily="2" charset="-122"/>
              </a:rPr>
              <a:t>定的类型的</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endParaRPr lang="en-AU" altLang="zh-CN" dirty="0"/>
          </a:p>
          <a:p>
            <a:pPr lvl="1">
              <a:lnSpc>
                <a:spcPct val="90000"/>
              </a:lnSpc>
            </a:pPr>
            <a:r>
              <a:rPr lang="zh-CN" altLang="en-AU" dirty="0">
                <a:ea typeface="宋体" panose="02010600030101010101" pitchFamily="2" charset="-122"/>
              </a:rPr>
              <a:t>细节请参考</a:t>
            </a:r>
            <a:r>
              <a:rPr lang="en-AU" altLang="zh-CN" dirty="0"/>
              <a:t>API</a:t>
            </a:r>
            <a:r>
              <a:rPr lang="zh-CN" altLang="en-AU" dirty="0">
                <a:ea typeface="宋体" panose="02010600030101010101" pitchFamily="2" charset="-122"/>
              </a:rPr>
              <a:t>文档</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sym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dirty="0"/>
              <a:t>Entit</a:t>
            </a:r>
            <a:r>
              <a:rPr lang="en-AU" altLang="zh-CN" dirty="0">
                <a:ea typeface="宋体" panose="02010600030101010101" pitchFamily="2" charset="-122"/>
              </a:rPr>
              <a:t>y</a:t>
            </a:r>
            <a:r>
              <a:rPr lang="zh-CN" altLang="en-AU" dirty="0">
                <a:ea typeface="宋体" panose="02010600030101010101" pitchFamily="2" charset="-122"/>
              </a:rPr>
              <a:t>有</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US" dirty="0">
                <a:ea typeface="宋体" panose="02010600030101010101" pitchFamily="2" charset="-122"/>
              </a:rPr>
              <a:t>成员变量</a:t>
            </a:r>
            <a:endParaRPr lang="zh-CN" altLang="en-AU" dirty="0">
              <a:ea typeface="宋体" panose="02010600030101010101" pitchFamily="2" charset="-122"/>
            </a:endParaRPr>
          </a:p>
          <a:p>
            <a:pPr lvl="1"/>
            <a:r>
              <a:rPr lang="en-AU" altLang="zh-CN" dirty="0"/>
              <a:t>Client entit</a:t>
            </a:r>
            <a:r>
              <a:rPr lang="en-AU" altLang="zh-CN" dirty="0">
                <a:ea typeface="宋体" panose="02010600030101010101" pitchFamily="2" charset="-122"/>
              </a:rPr>
              <a:t>y</a:t>
            </a:r>
            <a:r>
              <a:rPr lang="en-AU" altLang="zh-CN" dirty="0"/>
              <a:t>: </a:t>
            </a:r>
            <a:r>
              <a:rPr lang="en-AU" altLang="zh-CN" dirty="0" err="1">
                <a:latin typeface="Courier New" panose="02070309020205020404" pitchFamily="49" charset="0"/>
              </a:rPr>
              <a:t>self.cell</a:t>
            </a:r>
            <a:r>
              <a:rPr lang="en-AU" altLang="zh-CN" dirty="0"/>
              <a:t>, </a:t>
            </a:r>
            <a:r>
              <a:rPr lang="en-AU" altLang="zh-CN" dirty="0" err="1">
                <a:latin typeface="Courier New" panose="02070309020205020404" pitchFamily="49" charset="0"/>
              </a:rPr>
              <a:t>self.base</a:t>
            </a:r>
            <a:r>
              <a:rPr lang="en-AU" altLang="zh-CN" dirty="0"/>
              <a:t> (</a:t>
            </a:r>
            <a:r>
              <a:rPr lang="zh-CN" altLang="en-AU" dirty="0">
                <a:ea typeface="宋体" panose="02010600030101010101" pitchFamily="2" charset="-122"/>
              </a:rPr>
              <a:t>用于玩家</a:t>
            </a:r>
            <a:r>
              <a:rPr lang="en-AU" altLang="zh-CN" dirty="0"/>
              <a:t>)</a:t>
            </a:r>
          </a:p>
          <a:p>
            <a:pPr marL="182245" lvl="1" indent="0">
              <a:buNone/>
            </a:pPr>
            <a:r>
              <a:rPr lang="en-US" altLang="zh-CN" sz="1400" dirty="0">
                <a:solidFill>
                  <a:srgbClr val="FF0000"/>
                </a:solidFill>
              </a:rPr>
              <a:t>(client entity</a:t>
            </a:r>
            <a:r>
              <a:rPr lang="zh-CN" altLang="en-US" sz="1400" dirty="0">
                <a:solidFill>
                  <a:srgbClr val="FF0000"/>
                </a:solidFill>
              </a:rPr>
              <a:t>能调用</a:t>
            </a:r>
            <a:r>
              <a:rPr lang="en-US" altLang="zh-CN" sz="1400" dirty="0">
                <a:solidFill>
                  <a:srgbClr val="FF0000"/>
                </a:solidFill>
              </a:rPr>
              <a:t>cell</a:t>
            </a:r>
            <a:r>
              <a:rPr lang="zh-CN" altLang="en-US" sz="1400" dirty="0">
                <a:solidFill>
                  <a:srgbClr val="FF0000"/>
                </a:solidFill>
              </a:rPr>
              <a:t>和</a:t>
            </a:r>
            <a:r>
              <a:rPr lang="en-US" altLang="zh-CN" sz="1400" dirty="0">
                <a:solidFill>
                  <a:srgbClr val="FF0000"/>
                </a:solidFill>
              </a:rPr>
              <a:t>base</a:t>
            </a:r>
            <a:r>
              <a:rPr lang="zh-CN" altLang="en-US" sz="1400" dirty="0">
                <a:solidFill>
                  <a:srgbClr val="FF0000"/>
                </a:solidFill>
              </a:rPr>
              <a:t>下的函数</a:t>
            </a:r>
            <a:r>
              <a:rPr lang="en-US" altLang="zh-CN" sz="1400" dirty="0">
                <a:solidFill>
                  <a:srgbClr val="FF0000"/>
                </a:solidFill>
              </a:rPr>
              <a:t>)</a:t>
            </a:r>
            <a:endParaRPr lang="en-AU" altLang="zh-CN" sz="1400" dirty="0">
              <a:solidFill>
                <a:srgbClr val="FF0000"/>
              </a:solidFill>
            </a:endParaRPr>
          </a:p>
          <a:p>
            <a:pPr lvl="1"/>
            <a:r>
              <a:rPr lang="en-AU" altLang="zh-CN" dirty="0"/>
              <a:t>Base entit</a:t>
            </a:r>
            <a:r>
              <a:rPr lang="en-AU" altLang="zh-CN" dirty="0">
                <a:ea typeface="宋体" panose="02010600030101010101" pitchFamily="2" charset="-122"/>
              </a:rPr>
              <a:t>y</a:t>
            </a:r>
            <a:r>
              <a:rPr lang="en-AU" altLang="zh-CN" dirty="0"/>
              <a:t>: </a:t>
            </a:r>
            <a:r>
              <a:rPr lang="en-AU" altLang="zh-CN" dirty="0" err="1">
                <a:latin typeface="Courier New" panose="02070309020205020404" pitchFamily="49" charset="0"/>
              </a:rPr>
              <a:t>self.cell</a:t>
            </a:r>
            <a:r>
              <a:rPr lang="en-US" altLang="zh-CN" sz="1400" dirty="0">
                <a:solidFill>
                  <a:srgbClr val="FF0000"/>
                </a:solidFill>
              </a:rPr>
              <a:t>(base entity</a:t>
            </a:r>
            <a:r>
              <a:rPr lang="zh-CN" altLang="en-US" sz="1400" dirty="0">
                <a:solidFill>
                  <a:srgbClr val="FF0000"/>
                </a:solidFill>
              </a:rPr>
              <a:t>只能调用</a:t>
            </a:r>
            <a:r>
              <a:rPr lang="en-US" altLang="zh-CN" sz="1400" dirty="0">
                <a:solidFill>
                  <a:srgbClr val="FF0000"/>
                </a:solidFill>
              </a:rPr>
              <a:t>cell</a:t>
            </a:r>
            <a:r>
              <a:rPr lang="zh-CN" altLang="en-US" sz="1400" dirty="0">
                <a:solidFill>
                  <a:srgbClr val="FF0000"/>
                </a:solidFill>
              </a:rPr>
              <a:t>下的函数</a:t>
            </a:r>
            <a:r>
              <a:rPr lang="en-US" altLang="zh-CN" sz="1400" dirty="0">
                <a:solidFill>
                  <a:srgbClr val="FF0000"/>
                </a:solidFill>
              </a:rPr>
              <a:t>)</a:t>
            </a:r>
            <a:endParaRPr lang="en-AU" altLang="zh-CN" dirty="0">
              <a:latin typeface="Courier New" panose="02070309020205020404" pitchFamily="49" charset="0"/>
            </a:endParaRPr>
          </a:p>
          <a:p>
            <a:pPr lvl="1"/>
            <a:r>
              <a:rPr lang="en-AU" altLang="zh-CN" dirty="0"/>
              <a:t>Proxy entit</a:t>
            </a:r>
            <a:r>
              <a:rPr lang="en-AU" altLang="zh-CN" dirty="0">
                <a:ea typeface="宋体" panose="02010600030101010101" pitchFamily="2" charset="-122"/>
              </a:rPr>
              <a:t>y</a:t>
            </a:r>
            <a:r>
              <a:rPr lang="en-AU" altLang="zh-CN" dirty="0"/>
              <a:t>: </a:t>
            </a:r>
            <a:r>
              <a:rPr lang="en-AU" altLang="zh-CN" dirty="0" err="1">
                <a:latin typeface="Courier New" panose="02070309020205020404" pitchFamily="49" charset="0"/>
              </a:rPr>
              <a:t>self.cell</a:t>
            </a:r>
            <a:r>
              <a:rPr lang="en-AU" altLang="zh-CN" dirty="0"/>
              <a:t>, </a:t>
            </a:r>
            <a:r>
              <a:rPr lang="en-AU" altLang="zh-CN" dirty="0" err="1">
                <a:latin typeface="Courier New" panose="02070309020205020404" pitchFamily="49" charset="0"/>
              </a:rPr>
              <a:t>self.client</a:t>
            </a:r>
            <a:r>
              <a:rPr lang="en-US" altLang="zh-CN" sz="1400" dirty="0">
                <a:solidFill>
                  <a:srgbClr val="FF0000"/>
                </a:solidFill>
              </a:rPr>
              <a:t>(base proxy</a:t>
            </a:r>
            <a:r>
              <a:rPr lang="zh-CN" altLang="en-US" sz="1400" dirty="0">
                <a:solidFill>
                  <a:srgbClr val="FF0000"/>
                </a:solidFill>
              </a:rPr>
              <a:t>能调用</a:t>
            </a:r>
            <a:r>
              <a:rPr lang="en-US" altLang="zh-CN" sz="1400" dirty="0">
                <a:solidFill>
                  <a:srgbClr val="FF0000"/>
                </a:solidFill>
              </a:rPr>
              <a:t>cell</a:t>
            </a:r>
            <a:r>
              <a:rPr lang="zh-CN" altLang="en-US" sz="1400" dirty="0">
                <a:solidFill>
                  <a:srgbClr val="FF0000"/>
                </a:solidFill>
              </a:rPr>
              <a:t>和</a:t>
            </a:r>
            <a:r>
              <a:rPr lang="en-US" altLang="zh-CN" sz="1400" dirty="0">
                <a:solidFill>
                  <a:srgbClr val="FF0000"/>
                </a:solidFill>
              </a:rPr>
              <a:t>client</a:t>
            </a:r>
            <a:r>
              <a:rPr lang="zh-CN" altLang="en-US" sz="1400" dirty="0">
                <a:solidFill>
                  <a:srgbClr val="FF0000"/>
                </a:solidFill>
              </a:rPr>
              <a:t>下的函数</a:t>
            </a:r>
            <a:r>
              <a:rPr lang="en-US" altLang="zh-CN" sz="1400" dirty="0">
                <a:solidFill>
                  <a:srgbClr val="FF0000"/>
                </a:solidFill>
              </a:rPr>
              <a:t>)</a:t>
            </a:r>
            <a:endParaRPr lang="en-AU" altLang="zh-CN" dirty="0">
              <a:latin typeface="Courier New" panose="02070309020205020404" pitchFamily="49" charset="0"/>
            </a:endParaRPr>
          </a:p>
          <a:p>
            <a:pPr lvl="1"/>
            <a:r>
              <a:rPr lang="en-AU" altLang="zh-CN" dirty="0"/>
              <a:t>Cell entit</a:t>
            </a:r>
            <a:r>
              <a:rPr lang="en-AU" altLang="zh-CN" dirty="0">
                <a:ea typeface="宋体" panose="02010600030101010101" pitchFamily="2" charset="-122"/>
              </a:rPr>
              <a:t>y</a:t>
            </a:r>
            <a:r>
              <a:rPr lang="en-AU" altLang="zh-CN" dirty="0"/>
              <a:t>:</a:t>
            </a:r>
            <a:endParaRPr lang="en-AU" altLang="zh-CN" sz="1400" dirty="0">
              <a:solidFill>
                <a:srgbClr val="FF0000"/>
              </a:solidFill>
            </a:endParaRPr>
          </a:p>
          <a:p>
            <a:pPr lvl="2"/>
            <a:r>
              <a:rPr lang="en-AU" altLang="zh-CN" dirty="0" err="1">
                <a:latin typeface="Courier New" panose="02070309020205020404" pitchFamily="49" charset="0"/>
              </a:rPr>
              <a:t>self.base</a:t>
            </a:r>
            <a:endParaRPr lang="en-AU" altLang="zh-CN" dirty="0"/>
          </a:p>
          <a:p>
            <a:pPr lvl="2"/>
            <a:r>
              <a:rPr lang="en-AU" altLang="zh-CN" dirty="0" err="1">
                <a:latin typeface="Courier New" panose="02070309020205020404" pitchFamily="49" charset="0"/>
              </a:rPr>
              <a:t>self.ownClient</a:t>
            </a:r>
            <a:r>
              <a:rPr lang="en-US" altLang="zh-CN" sz="1400" dirty="0">
                <a:solidFill>
                  <a:srgbClr val="FF0000"/>
                </a:solidFill>
              </a:rPr>
              <a:t>(</a:t>
            </a:r>
            <a:r>
              <a:rPr lang="zh-CN" altLang="en-US" sz="1400" dirty="0">
                <a:solidFill>
                  <a:srgbClr val="FF0000"/>
                </a:solidFill>
              </a:rPr>
              <a:t>当前</a:t>
            </a:r>
            <a:r>
              <a:rPr lang="en-US" altLang="zh-CN" sz="1400" dirty="0">
                <a:solidFill>
                  <a:srgbClr val="FF0000"/>
                </a:solidFill>
              </a:rPr>
              <a:t>real entity</a:t>
            </a:r>
            <a:r>
              <a:rPr lang="zh-CN" altLang="en-US" sz="1400" dirty="0">
                <a:solidFill>
                  <a:srgbClr val="FF0000"/>
                </a:solidFill>
              </a:rPr>
              <a:t>对应的</a:t>
            </a:r>
            <a:r>
              <a:rPr lang="en-US" altLang="zh-CN" sz="1400" dirty="0">
                <a:solidFill>
                  <a:srgbClr val="FF0000"/>
                </a:solidFill>
              </a:rPr>
              <a:t>client)</a:t>
            </a:r>
            <a:endParaRPr lang="en-AU" altLang="zh-CN" sz="1400" dirty="0">
              <a:solidFill>
                <a:srgbClr val="FF0000"/>
              </a:solidFill>
            </a:endParaRPr>
          </a:p>
          <a:p>
            <a:pPr lvl="2"/>
            <a:r>
              <a:rPr lang="en-AU" altLang="zh-CN" dirty="0" err="1">
                <a:latin typeface="Courier New" panose="02070309020205020404" pitchFamily="49" charset="0"/>
              </a:rPr>
              <a:t>self.allClients</a:t>
            </a:r>
            <a:r>
              <a:rPr lang="en-US" altLang="zh-CN" sz="1400" dirty="0">
                <a:solidFill>
                  <a:srgbClr val="FF0000"/>
                </a:solidFill>
              </a:rPr>
              <a:t>(AOI</a:t>
            </a:r>
            <a:r>
              <a:rPr lang="zh-CN" altLang="en-US" sz="1400" dirty="0">
                <a:solidFill>
                  <a:srgbClr val="FF0000"/>
                </a:solidFill>
              </a:rPr>
              <a:t>关联下的</a:t>
            </a:r>
            <a:r>
              <a:rPr lang="en-US" altLang="zh-CN" sz="1400" dirty="0">
                <a:solidFill>
                  <a:srgbClr val="FF0000"/>
                </a:solidFill>
              </a:rPr>
              <a:t>client,</a:t>
            </a:r>
            <a:r>
              <a:rPr lang="zh-CN" altLang="en-US" sz="1400" dirty="0">
                <a:solidFill>
                  <a:srgbClr val="FF0000"/>
                </a:solidFill>
              </a:rPr>
              <a:t>包括</a:t>
            </a:r>
            <a:r>
              <a:rPr lang="en-AU" altLang="zh-CN" sz="1400" dirty="0" err="1">
                <a:solidFill>
                  <a:srgbClr val="FF0000"/>
                </a:solidFill>
              </a:rPr>
              <a:t>ownClient</a:t>
            </a:r>
            <a:r>
              <a:rPr lang="en-US" altLang="zh-CN" sz="1400" dirty="0">
                <a:solidFill>
                  <a:srgbClr val="FF0000"/>
                </a:solidFill>
              </a:rPr>
              <a:t>)</a:t>
            </a:r>
            <a:endParaRPr lang="en-AU" altLang="zh-CN" sz="1400" dirty="0">
              <a:solidFill>
                <a:srgbClr val="FF0000"/>
              </a:solidFill>
            </a:endParaRPr>
          </a:p>
          <a:p>
            <a:pPr lvl="2"/>
            <a:r>
              <a:rPr lang="en-AU" altLang="zh-CN" dirty="0" err="1">
                <a:latin typeface="Courier New" panose="02070309020205020404" pitchFamily="49" charset="0"/>
              </a:rPr>
              <a:t>self.otherClients</a:t>
            </a:r>
            <a:r>
              <a:rPr lang="en-US" altLang="zh-CN" sz="1400" dirty="0">
                <a:solidFill>
                  <a:srgbClr val="FF0000"/>
                </a:solidFill>
              </a:rPr>
              <a:t>(AOI</a:t>
            </a:r>
            <a:r>
              <a:rPr lang="zh-CN" altLang="en-US" sz="1400" dirty="0">
                <a:solidFill>
                  <a:srgbClr val="FF0000"/>
                </a:solidFill>
              </a:rPr>
              <a:t>关联下的</a:t>
            </a:r>
            <a:r>
              <a:rPr lang="en-US" altLang="zh-CN" sz="1400" dirty="0">
                <a:solidFill>
                  <a:srgbClr val="FF0000"/>
                </a:solidFill>
              </a:rPr>
              <a:t>client,</a:t>
            </a:r>
            <a:r>
              <a:rPr lang="zh-CN" altLang="en-US" sz="1400" dirty="0">
                <a:solidFill>
                  <a:srgbClr val="FF0000"/>
                </a:solidFill>
              </a:rPr>
              <a:t>不包括</a:t>
            </a:r>
            <a:r>
              <a:rPr lang="en-AU" altLang="zh-CN" sz="1400" dirty="0" err="1">
                <a:solidFill>
                  <a:srgbClr val="FF0000"/>
                </a:solidFill>
              </a:rPr>
              <a:t>ownClient</a:t>
            </a:r>
            <a:r>
              <a:rPr lang="en-US" altLang="zh-CN" sz="1400" dirty="0">
                <a:solidFill>
                  <a:srgbClr val="FF0000"/>
                </a:solidFill>
              </a:rPr>
              <a:t>)</a:t>
            </a:r>
            <a:endParaRPr lang="en-AU" altLang="zh-CN" sz="1400" dirty="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sym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当一个</a:t>
            </a:r>
            <a:r>
              <a:rPr lang="en-AU" altLang="zh-CN" dirty="0">
                <a:ea typeface="宋体" panose="02010600030101010101" pitchFamily="2" charset="-122"/>
              </a:rPr>
              <a:t>Entity</a:t>
            </a:r>
            <a:r>
              <a:rPr lang="zh-CN" altLang="en-AU" dirty="0">
                <a:ea typeface="宋体" panose="02010600030101010101" pitchFamily="2" charset="-122"/>
              </a:rPr>
              <a:t>对象被传到一个有</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AU" dirty="0">
                <a:ea typeface="宋体" panose="02010600030101010101" pitchFamily="2" charset="-122"/>
              </a:rPr>
              <a:t>参数的</a:t>
            </a:r>
            <a:r>
              <a:rPr lang="en-AU" altLang="zh-CN" dirty="0">
                <a:ea typeface="宋体" panose="02010600030101010101" pitchFamily="2" charset="-122"/>
              </a:rPr>
              <a:t>server</a:t>
            </a:r>
            <a:r>
              <a:rPr lang="zh-CN" altLang="en-AU" dirty="0">
                <a:ea typeface="宋体" panose="02010600030101010101" pitchFamily="2" charset="-122"/>
              </a:rPr>
              <a:t>方法时，</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US" dirty="0">
                <a:ea typeface="宋体" panose="02010600030101010101" pitchFamily="2" charset="-122"/>
              </a:rPr>
              <a:t>对象</a:t>
            </a:r>
            <a:r>
              <a:rPr lang="zh-CN" altLang="en-AU" dirty="0">
                <a:ea typeface="宋体" panose="02010600030101010101" pitchFamily="2" charset="-122"/>
              </a:rPr>
              <a:t>被自动地</a:t>
            </a:r>
            <a:r>
              <a:rPr lang="zh-CN" altLang="en-US" dirty="0">
                <a:ea typeface="宋体" panose="02010600030101010101" pitchFamily="2" charset="-122"/>
              </a:rPr>
              <a:t>创建</a:t>
            </a:r>
            <a:endParaRPr lang="en-US" altLang="zh-CN" dirty="0">
              <a:ea typeface="宋体" panose="02010600030101010101" pitchFamily="2" charset="-122"/>
            </a:endParaRPr>
          </a:p>
          <a:p>
            <a:r>
              <a:rPr lang="zh-CN" altLang="en-AU" dirty="0">
                <a:ea typeface="宋体" panose="02010600030101010101" pitchFamily="2" charset="-122"/>
              </a:rPr>
              <a:t>例如</a:t>
            </a:r>
            <a:r>
              <a:rPr lang="en-AU" altLang="zh-CN" dirty="0"/>
              <a:t>:</a:t>
            </a:r>
          </a:p>
          <a:p>
            <a:pPr lvl="1"/>
            <a:r>
              <a:rPr lang="en-AU" altLang="zh-CN" dirty="0">
                <a:ea typeface="宋体" panose="02010600030101010101" pitchFamily="2" charset="-122"/>
              </a:rPr>
              <a:t>Cell</a:t>
            </a:r>
            <a:r>
              <a:rPr lang="zh-CN" altLang="en-AU" dirty="0">
                <a:ea typeface="宋体" panose="02010600030101010101" pitchFamily="2" charset="-122"/>
              </a:rPr>
              <a:t>方法</a:t>
            </a:r>
            <a:r>
              <a:rPr lang="en-AU" altLang="zh-CN" dirty="0" err="1">
                <a:latin typeface="Courier New" panose="02070309020205020404" pitchFamily="49" charset="0"/>
                <a:ea typeface="宋体" panose="02010600030101010101" pitchFamily="2" charset="-122"/>
              </a:rPr>
              <a:t>talkToMe</a:t>
            </a:r>
            <a:r>
              <a:rPr lang="en-AU" altLang="zh-CN" dirty="0">
                <a:latin typeface="Courier New" panose="02070309020205020404" pitchFamily="49" charset="0"/>
              </a:rPr>
              <a:t>()</a:t>
            </a:r>
            <a:r>
              <a:rPr lang="zh-CN" altLang="en-AU" dirty="0">
                <a:ea typeface="宋体" panose="02010600030101010101" pitchFamily="2" charset="-122"/>
              </a:rPr>
              <a:t>有一个</a:t>
            </a:r>
            <a:r>
              <a:rPr lang="en-US" altLang="en-AU" dirty="0">
                <a:latin typeface="Courier New" panose="02070309020205020404" pitchFamily="49" charset="0"/>
              </a:rPr>
              <a:t>ENTITYCALL</a:t>
            </a:r>
            <a:r>
              <a:rPr lang="zh-CN" altLang="en-AU" dirty="0">
                <a:latin typeface="Courier New" panose="02070309020205020404" pitchFamily="49" charset="0"/>
                <a:ea typeface="宋体" panose="02010600030101010101" pitchFamily="2" charset="-122"/>
              </a:rPr>
              <a:t>参数</a:t>
            </a:r>
            <a:endParaRPr lang="zh-CN" altLang="en-AU" dirty="0">
              <a:ea typeface="宋体" panose="02010600030101010101" pitchFamily="2" charset="-122"/>
            </a:endParaRPr>
          </a:p>
          <a:p>
            <a:pPr lvl="1"/>
            <a:r>
              <a:rPr lang="zh-CN" altLang="en-AU" dirty="0">
                <a:ea typeface="宋体" panose="02010600030101010101" pitchFamily="2" charset="-122"/>
              </a:rPr>
              <a:t>在一个</a:t>
            </a:r>
            <a:r>
              <a:rPr lang="en-AU" altLang="zh-CN" dirty="0"/>
              <a:t>Cell</a:t>
            </a:r>
            <a:r>
              <a:rPr lang="zh-CN" altLang="en-AU" dirty="0">
                <a:ea typeface="宋体" panose="02010600030101010101" pitchFamily="2" charset="-122"/>
              </a:rPr>
              <a:t>上</a:t>
            </a:r>
            <a:r>
              <a:rPr lang="en-AU" altLang="zh-CN" dirty="0"/>
              <a:t>, </a:t>
            </a:r>
            <a:r>
              <a:rPr lang="en-AU" altLang="zh-CN" dirty="0" err="1"/>
              <a:t>EntityA</a:t>
            </a:r>
            <a:r>
              <a:rPr lang="zh-CN" altLang="en-AU" dirty="0">
                <a:ea typeface="宋体" panose="02010600030101010101" pitchFamily="2" charset="-122"/>
              </a:rPr>
              <a:t>调用</a:t>
            </a:r>
            <a:r>
              <a:rPr lang="en-AU" altLang="zh-CN" dirty="0"/>
              <a:t>:</a:t>
            </a:r>
            <a:br>
              <a:rPr lang="en-AU" altLang="zh-CN" dirty="0"/>
            </a:br>
            <a:r>
              <a:rPr lang="en-AU" altLang="zh-CN" dirty="0" err="1">
                <a:latin typeface="Courier New" panose="02070309020205020404" pitchFamily="49" charset="0"/>
              </a:rPr>
              <a:t>entityB.talkToMe</a:t>
            </a:r>
            <a:r>
              <a:rPr lang="en-AU" altLang="zh-CN" dirty="0">
                <a:latin typeface="Courier New" panose="02070309020205020404" pitchFamily="49" charset="0"/>
              </a:rPr>
              <a:t>( self )</a:t>
            </a:r>
          </a:p>
          <a:p>
            <a:pPr lvl="1"/>
            <a:r>
              <a:rPr lang="en-AU" altLang="zh-CN" dirty="0"/>
              <a:t>Entity A</a:t>
            </a:r>
            <a:r>
              <a:rPr lang="zh-CN" altLang="en-AU" dirty="0">
                <a:ea typeface="宋体" panose="02010600030101010101" pitchFamily="2" charset="-122"/>
              </a:rPr>
              <a:t>的</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AU" dirty="0">
                <a:ea typeface="宋体" panose="02010600030101010101" pitchFamily="2" charset="-122"/>
              </a:rPr>
              <a:t>被传到</a:t>
            </a:r>
            <a:r>
              <a:rPr lang="en-AU" altLang="zh-CN" dirty="0"/>
              <a:t>Entity B</a:t>
            </a:r>
            <a:br>
              <a:rPr lang="en-AU" altLang="zh-CN" dirty="0"/>
            </a:br>
            <a:r>
              <a:rPr lang="en-AU" altLang="zh-CN" dirty="0" err="1">
                <a:latin typeface="Courier New" panose="02070309020205020404" pitchFamily="49" charset="0"/>
              </a:rPr>
              <a:t>def</a:t>
            </a:r>
            <a:r>
              <a:rPr lang="en-AU" altLang="zh-CN" dirty="0">
                <a:latin typeface="Courier New" panose="02070309020205020404" pitchFamily="49" charset="0"/>
              </a:rPr>
              <a:t> </a:t>
            </a:r>
            <a:r>
              <a:rPr lang="en-AU" altLang="zh-CN" dirty="0" err="1">
                <a:latin typeface="Courier New" panose="02070309020205020404" pitchFamily="49" charset="0"/>
              </a:rPr>
              <a:t>talkToMe</a:t>
            </a:r>
            <a:r>
              <a:rPr lang="en-AU" altLang="zh-CN" dirty="0">
                <a:latin typeface="Courier New" panose="02070309020205020404" pitchFamily="49" charset="0"/>
              </a:rPr>
              <a:t>( self, </a:t>
            </a:r>
            <a:r>
              <a:rPr lang="en-US" altLang="en-AU" dirty="0">
                <a:latin typeface="Courier New" panose="02070309020205020404" pitchFamily="49" charset="0"/>
              </a:rPr>
              <a:t>ec</a:t>
            </a:r>
            <a:r>
              <a:rPr lang="en-AU" altLang="zh-CN" dirty="0">
                <a:latin typeface="Courier New" panose="02070309020205020404" pitchFamily="49" charset="0"/>
              </a:rPr>
              <a:t>):</a:t>
            </a:r>
            <a:br>
              <a:rPr lang="en-AU" altLang="zh-CN" dirty="0">
                <a:latin typeface="Courier New" panose="02070309020205020404" pitchFamily="49" charset="0"/>
              </a:rPr>
            </a:br>
            <a:r>
              <a:rPr lang="en-AU" altLang="zh-CN" dirty="0">
                <a:latin typeface="Courier New" panose="02070309020205020404" pitchFamily="49" charset="0"/>
              </a:rPr>
              <a:t>   </a:t>
            </a:r>
            <a:r>
              <a:rPr lang="en-US" altLang="en-AU" dirty="0" err="1">
                <a:latin typeface="Courier New" panose="02070309020205020404" pitchFamily="49" charset="0"/>
              </a:rPr>
              <a:t>ec</a:t>
            </a:r>
            <a:r>
              <a:rPr lang="en-AU" altLang="zh-CN" dirty="0" err="1">
                <a:latin typeface="Courier New" panose="02070309020205020404" pitchFamily="49" charset="0"/>
              </a:rPr>
              <a:t>.sendMsg</a:t>
            </a:r>
            <a:r>
              <a:rPr lang="en-AU" altLang="zh-CN" dirty="0">
                <a:latin typeface="Courier New" panose="02070309020205020404" pitchFamily="49" charset="0"/>
              </a:rPr>
              <a:t>( “hello” )</a:t>
            </a:r>
          </a:p>
          <a:p>
            <a:pPr lvl="1"/>
            <a:r>
              <a:rPr lang="en-AU" altLang="zh-CN" dirty="0"/>
              <a:t>Entity A</a:t>
            </a:r>
            <a:r>
              <a:rPr lang="zh-CN" altLang="en-AU" dirty="0">
                <a:ea typeface="宋体" panose="02010600030101010101" pitchFamily="2" charset="-122"/>
              </a:rPr>
              <a:t>的</a:t>
            </a:r>
            <a:r>
              <a:rPr lang="en-AU" altLang="zh-CN" dirty="0" err="1">
                <a:latin typeface="Courier New" panose="02070309020205020404" pitchFamily="49" charset="0"/>
              </a:rPr>
              <a:t>sendMsg</a:t>
            </a:r>
            <a:r>
              <a:rPr lang="en-AU" altLang="zh-CN" dirty="0">
                <a:latin typeface="Courier New" panose="02070309020205020404" pitchFamily="49" charset="0"/>
              </a:rPr>
              <a:t>()</a:t>
            </a:r>
            <a:r>
              <a:rPr lang="zh-CN" altLang="en-AU" dirty="0">
                <a:latin typeface="Courier New" panose="02070309020205020404" pitchFamily="49" charset="0"/>
                <a:ea typeface="宋体" panose="02010600030101010101" pitchFamily="2" charset="-122"/>
              </a:rPr>
              <a:t>被调用（以</a:t>
            </a:r>
            <a:r>
              <a:rPr lang="en-AU" altLang="zh-CN" dirty="0"/>
              <a:t> </a:t>
            </a:r>
            <a:r>
              <a:rPr lang="en-AU" altLang="zh-CN" dirty="0">
                <a:latin typeface="Courier New" panose="02070309020205020404" pitchFamily="49" charset="0"/>
              </a:rPr>
              <a:t>“hello”</a:t>
            </a:r>
            <a:r>
              <a:rPr lang="zh-CN" altLang="en-AU" dirty="0">
                <a:latin typeface="Courier New" panose="02070309020205020404" pitchFamily="49" charset="0"/>
                <a:ea typeface="宋体" panose="02010600030101010101" pitchFamily="2" charset="-122"/>
              </a:rPr>
              <a:t>为参数）</a:t>
            </a:r>
            <a:endParaRPr lang="en-AU" altLang="zh-CN" dirty="0">
              <a:latin typeface="Courier New" panose="02070309020205020404" pitchFamily="49"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存储</a:t>
            </a:r>
            <a:r>
              <a:rPr lang="en-US" altLang="zh-CN" sz="4900" b="1" dirty="0">
                <a:solidFill>
                  <a:schemeClr val="accent1"/>
                </a:solidFill>
                <a:latin typeface="+mn-ea"/>
                <a:ea typeface="+mn-ea"/>
                <a:sym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sz="2800" dirty="0">
                <a:ea typeface="宋体" panose="02010600030101010101" pitchFamily="2" charset="-122"/>
              </a:rPr>
              <a:t>Base entity</a:t>
            </a:r>
            <a:r>
              <a:rPr lang="zh-CN" altLang="en-US" sz="2800" dirty="0">
                <a:ea typeface="宋体" panose="02010600030101010101" pitchFamily="2" charset="-122"/>
              </a:rPr>
              <a:t>的</a:t>
            </a:r>
            <a:r>
              <a:rPr lang="en-US" altLang="en-AU" sz="2800" dirty="0">
                <a:ea typeface="宋体" panose="02010600030101010101" pitchFamily="2" charset="-122"/>
                <a:sym typeface="+mn-ea"/>
              </a:rPr>
              <a:t>E</a:t>
            </a:r>
            <a:r>
              <a:rPr lang="en-AU" altLang="zh-CN" sz="2800" dirty="0">
                <a:sym typeface="+mn-ea"/>
              </a:rPr>
              <a:t>ntity</a:t>
            </a:r>
            <a:r>
              <a:rPr lang="en-US" altLang="en-AU" sz="2800" dirty="0">
                <a:sym typeface="+mn-ea"/>
              </a:rPr>
              <a:t>Call</a:t>
            </a:r>
            <a:r>
              <a:rPr lang="zh-CN" altLang="en-US" sz="2800" dirty="0">
                <a:ea typeface="宋体" panose="02010600030101010101" pitchFamily="2" charset="-122"/>
              </a:rPr>
              <a:t>是在</a:t>
            </a:r>
            <a:r>
              <a:rPr lang="en-US" altLang="zh-CN" sz="2800" dirty="0">
                <a:ea typeface="宋体" panose="02010600030101010101" pitchFamily="2" charset="-122"/>
              </a:rPr>
              <a:t>Entity</a:t>
            </a:r>
            <a:r>
              <a:rPr lang="zh-CN" altLang="en-US" sz="2800" dirty="0">
                <a:ea typeface="宋体" panose="02010600030101010101" pitchFamily="2" charset="-122"/>
              </a:rPr>
              <a:t>的</a:t>
            </a:r>
            <a:r>
              <a:rPr lang="zh-CN" altLang="en-US" sz="2800" dirty="0">
                <a:solidFill>
                  <a:srgbClr val="00B0F0"/>
                </a:solidFill>
                <a:ea typeface="宋体" panose="02010600030101010101" pitchFamily="2" charset="-122"/>
              </a:rPr>
              <a:t>生命周期内都有效</a:t>
            </a:r>
            <a:r>
              <a:rPr lang="zh-CN" altLang="en-US" sz="2800" dirty="0">
                <a:ea typeface="宋体" panose="02010600030101010101" pitchFamily="2" charset="-122"/>
              </a:rPr>
              <a:t>的</a:t>
            </a:r>
            <a:endParaRPr lang="en-US" altLang="zh-CN" sz="2800" dirty="0">
              <a:ea typeface="宋体" panose="02010600030101010101" pitchFamily="2" charset="-122"/>
            </a:endParaRPr>
          </a:p>
          <a:p>
            <a:pPr lvl="1"/>
            <a:r>
              <a:rPr lang="en-US" altLang="zh-CN" sz="2400" dirty="0">
                <a:ea typeface="宋体" panose="02010600030101010101" pitchFamily="2" charset="-122"/>
              </a:rPr>
              <a:t>Base entity</a:t>
            </a:r>
            <a:r>
              <a:rPr lang="zh-CN" altLang="en-US" sz="2400" dirty="0">
                <a:ea typeface="宋体" panose="02010600030101010101" pitchFamily="2" charset="-122"/>
              </a:rPr>
              <a:t>所在的</a:t>
            </a:r>
            <a:r>
              <a:rPr lang="en-US" altLang="zh-CN" sz="2400" dirty="0" err="1">
                <a:ea typeface="宋体" panose="02010600030101010101" pitchFamily="2" charset="-122"/>
              </a:rPr>
              <a:t>Baseapp</a:t>
            </a:r>
            <a:r>
              <a:rPr lang="zh-CN" altLang="en-US" sz="2400" dirty="0">
                <a:ea typeface="宋体" panose="02010600030101010101" pitchFamily="2" charset="-122"/>
              </a:rPr>
              <a:t>永远不改变</a:t>
            </a:r>
            <a:endParaRPr lang="en-US" altLang="zh-CN" sz="2400" dirty="0">
              <a:ea typeface="宋体" panose="02010600030101010101" pitchFamily="2" charset="-122"/>
            </a:endParaRPr>
          </a:p>
          <a:p>
            <a:pPr lvl="1"/>
            <a:r>
              <a:rPr lang="zh-CN" altLang="en-US" sz="2400" dirty="0">
                <a:ea typeface="宋体" panose="02010600030101010101" pitchFamily="2" charset="-122"/>
              </a:rPr>
              <a:t>可以用于</a:t>
            </a:r>
            <a:r>
              <a:rPr lang="zh-CN" altLang="en-US" sz="2400" dirty="0">
                <a:solidFill>
                  <a:srgbClr val="00B0F0"/>
                </a:solidFill>
                <a:ea typeface="宋体" panose="02010600030101010101" pitchFamily="2" charset="-122"/>
              </a:rPr>
              <a:t>长久的</a:t>
            </a:r>
            <a:r>
              <a:rPr lang="en-US" altLang="zh-CN" sz="2400" dirty="0">
                <a:solidFill>
                  <a:srgbClr val="00B0F0"/>
                </a:solidFill>
                <a:ea typeface="宋体" panose="02010600030101010101" pitchFamily="2" charset="-122"/>
              </a:rPr>
              <a:t>Entity</a:t>
            </a:r>
            <a:r>
              <a:rPr lang="zh-CN" altLang="en-US" sz="2400" dirty="0">
                <a:solidFill>
                  <a:srgbClr val="00B0F0"/>
                </a:solidFill>
                <a:ea typeface="宋体" panose="02010600030101010101" pitchFamily="2" charset="-122"/>
              </a:rPr>
              <a:t>间的通信</a:t>
            </a:r>
          </a:p>
          <a:p>
            <a:pPr lvl="1"/>
            <a:r>
              <a:rPr lang="zh-CN" altLang="en-US" sz="2400" dirty="0">
                <a:ea typeface="宋体" panose="02010600030101010101" pitchFamily="2" charset="-122"/>
              </a:rPr>
              <a:t>如果储存一个</a:t>
            </a:r>
            <a:r>
              <a:rPr lang="en-US" altLang="en-AU" sz="2400" dirty="0">
                <a:ea typeface="宋体" panose="02010600030101010101" pitchFamily="2" charset="-122"/>
                <a:sym typeface="+mn-ea"/>
              </a:rPr>
              <a:t>E</a:t>
            </a:r>
            <a:r>
              <a:rPr lang="en-AU" altLang="zh-CN" sz="2400" dirty="0">
                <a:sym typeface="+mn-ea"/>
              </a:rPr>
              <a:t>ntity</a:t>
            </a:r>
            <a:r>
              <a:rPr lang="en-US" altLang="en-AU" sz="2400" dirty="0">
                <a:sym typeface="+mn-ea"/>
              </a:rPr>
              <a:t>Call</a:t>
            </a:r>
            <a:r>
              <a:rPr lang="zh-CN" altLang="en-US" sz="2400" dirty="0">
                <a:ea typeface="宋体" panose="02010600030101010101" pitchFamily="2" charset="-122"/>
              </a:rPr>
              <a:t>，必须实现一个消息通知的机制（</a:t>
            </a:r>
            <a:r>
              <a:rPr lang="en-US" altLang="zh-CN" sz="2400" dirty="0">
                <a:ea typeface="宋体" panose="02010600030101010101" pitchFamily="2" charset="-122"/>
              </a:rPr>
              <a:t>Entity</a:t>
            </a:r>
            <a:r>
              <a:rPr lang="zh-CN" altLang="en-US" sz="2400" dirty="0">
                <a:ea typeface="宋体" panose="02010600030101010101" pitchFamily="2" charset="-122"/>
              </a:rPr>
              <a:t>删除时通知</a:t>
            </a:r>
            <a:r>
              <a:rPr lang="en-US" altLang="en-AU" sz="2400" dirty="0">
                <a:ea typeface="宋体" panose="02010600030101010101" pitchFamily="2" charset="-122"/>
                <a:sym typeface="+mn-ea"/>
              </a:rPr>
              <a:t>E</a:t>
            </a:r>
            <a:r>
              <a:rPr lang="en-AU" altLang="zh-CN" sz="2400" dirty="0">
                <a:sym typeface="+mn-ea"/>
              </a:rPr>
              <a:t>ntity</a:t>
            </a:r>
            <a:r>
              <a:rPr lang="en-US" altLang="en-AU" sz="2400" dirty="0">
                <a:sym typeface="+mn-ea"/>
              </a:rPr>
              <a:t>Call</a:t>
            </a:r>
            <a:r>
              <a:rPr lang="zh-CN" altLang="en-US" sz="2400" dirty="0">
                <a:ea typeface="宋体" panose="02010600030101010101" pitchFamily="2" charset="-122"/>
              </a:rPr>
              <a:t>无效）</a:t>
            </a:r>
          </a:p>
          <a:p>
            <a:pPr>
              <a:spcBef>
                <a:spcPct val="50000"/>
              </a:spcBef>
            </a:pPr>
            <a:r>
              <a:rPr lang="en-US" altLang="zh-CN" sz="2800" dirty="0">
                <a:ea typeface="宋体" panose="02010600030101010101" pitchFamily="2" charset="-122"/>
              </a:rPr>
              <a:t>Cell </a:t>
            </a:r>
            <a:r>
              <a:rPr lang="en-US" altLang="en-AU" sz="2800" dirty="0">
                <a:ea typeface="宋体" panose="02010600030101010101" pitchFamily="2" charset="-122"/>
                <a:sym typeface="+mn-ea"/>
              </a:rPr>
              <a:t>E</a:t>
            </a:r>
            <a:r>
              <a:rPr lang="en-AU" altLang="zh-CN" sz="2800" dirty="0">
                <a:sym typeface="+mn-ea"/>
              </a:rPr>
              <a:t>ntity</a:t>
            </a:r>
            <a:r>
              <a:rPr lang="en-US" altLang="en-AU" sz="2800" dirty="0">
                <a:sym typeface="+mn-ea"/>
              </a:rPr>
              <a:t>Call</a:t>
            </a:r>
            <a:r>
              <a:rPr lang="zh-CN" altLang="en-US" sz="2800" dirty="0">
                <a:ea typeface="宋体" panose="02010600030101010101" pitchFamily="2" charset="-122"/>
              </a:rPr>
              <a:t>只在很</a:t>
            </a:r>
            <a:r>
              <a:rPr lang="zh-CN" altLang="en-US" sz="2800" dirty="0">
                <a:solidFill>
                  <a:srgbClr val="00B0F0"/>
                </a:solidFill>
                <a:ea typeface="宋体" panose="02010600030101010101" pitchFamily="2" charset="-122"/>
              </a:rPr>
              <a:t>短的时间内有效</a:t>
            </a:r>
            <a:endParaRPr lang="en-US" altLang="zh-CN" sz="2800" dirty="0">
              <a:solidFill>
                <a:srgbClr val="00B0F0"/>
              </a:solidFill>
              <a:ea typeface="宋体" panose="02010600030101010101" pitchFamily="2" charset="-122"/>
            </a:endParaRPr>
          </a:p>
          <a:p>
            <a:pPr lvl="1">
              <a:spcBef>
                <a:spcPct val="50000"/>
              </a:spcBef>
            </a:pPr>
            <a:r>
              <a:rPr lang="en-US" altLang="zh-CN" sz="2400" dirty="0">
                <a:ea typeface="宋体" panose="02010600030101010101" pitchFamily="2" charset="-122"/>
              </a:rPr>
              <a:t>Cell entity</a:t>
            </a:r>
            <a:r>
              <a:rPr lang="zh-CN" altLang="en-US" sz="2400" dirty="0">
                <a:ea typeface="宋体" panose="02010600030101010101" pitchFamily="2" charset="-122"/>
              </a:rPr>
              <a:t>所在的</a:t>
            </a:r>
            <a:r>
              <a:rPr lang="en-US" altLang="zh-CN" sz="2400" dirty="0" err="1">
                <a:ea typeface="宋体" panose="02010600030101010101" pitchFamily="2" charset="-122"/>
              </a:rPr>
              <a:t>Cellapp</a:t>
            </a:r>
            <a:r>
              <a:rPr lang="zh-CN" altLang="en-US" sz="2400" dirty="0">
                <a:ea typeface="宋体" panose="02010600030101010101" pitchFamily="2" charset="-122"/>
              </a:rPr>
              <a:t>随时可能改变</a:t>
            </a:r>
            <a:endParaRPr lang="en-US" altLang="zh-CN" sz="2400" dirty="0">
              <a:ea typeface="宋体" panose="02010600030101010101" pitchFamily="2" charset="-122"/>
            </a:endParaRPr>
          </a:p>
          <a:p>
            <a:pPr lvl="1">
              <a:spcBef>
                <a:spcPct val="40000"/>
              </a:spcBef>
            </a:pPr>
            <a:r>
              <a:rPr lang="zh-CN" altLang="en-US" sz="2400" dirty="0">
                <a:ea typeface="宋体" panose="02010600030101010101" pitchFamily="2" charset="-122"/>
              </a:rPr>
              <a:t>不要保存</a:t>
            </a:r>
            <a:r>
              <a:rPr lang="en-US" altLang="zh-CN" sz="2400" dirty="0">
                <a:ea typeface="宋体" panose="02010600030101010101" pitchFamily="2" charset="-122"/>
              </a:rPr>
              <a:t>Cell </a:t>
            </a:r>
            <a:r>
              <a:rPr lang="en-US" altLang="en-AU" sz="2400" dirty="0">
                <a:ea typeface="宋体" panose="02010600030101010101" pitchFamily="2" charset="-122"/>
                <a:sym typeface="+mn-ea"/>
              </a:rPr>
              <a:t>E</a:t>
            </a:r>
            <a:r>
              <a:rPr lang="en-AU" altLang="zh-CN" sz="2400" dirty="0">
                <a:sym typeface="+mn-ea"/>
              </a:rPr>
              <a:t>ntity</a:t>
            </a:r>
            <a:r>
              <a:rPr lang="en-US" altLang="en-AU" sz="2400" dirty="0">
                <a:sym typeface="+mn-ea"/>
              </a:rPr>
              <a:t>Call</a:t>
            </a:r>
            <a:r>
              <a:rPr lang="zh-CN" altLang="en-US" sz="2400" dirty="0">
                <a:ea typeface="宋体" panose="02010600030101010101" pitchFamily="2" charset="-122"/>
              </a:rPr>
              <a:t>作为属性</a:t>
            </a:r>
            <a:endParaRPr lang="en-US" altLang="zh-CN" sz="2400" dirty="0">
              <a:ea typeface="宋体" panose="02010600030101010101" pitchFamily="2" charset="-122"/>
            </a:endParaRPr>
          </a:p>
          <a:p>
            <a:pPr lvl="1">
              <a:spcBef>
                <a:spcPct val="40000"/>
              </a:spcBef>
            </a:pPr>
            <a:r>
              <a:rPr lang="zh-CN" altLang="en-US" sz="2400" dirty="0">
                <a:solidFill>
                  <a:srgbClr val="00B0F0"/>
                </a:solidFill>
                <a:ea typeface="宋体" panose="02010600030101010101" pitchFamily="2" charset="-122"/>
              </a:rPr>
              <a:t>立即使用，立即释放</a:t>
            </a:r>
            <a:endParaRPr lang="en-AU" altLang="zh-CN" sz="2400" dirty="0">
              <a:solidFill>
                <a:srgbClr val="00B0F0"/>
              </a:solidFill>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存储</a:t>
            </a:r>
            <a:r>
              <a:rPr lang="en-US" altLang="zh-CN" sz="4900" b="1" dirty="0">
                <a:solidFill>
                  <a:schemeClr val="accent1"/>
                </a:solidFill>
                <a:latin typeface="+mn-ea"/>
                <a:ea typeface="+mn-ea"/>
                <a:sym typeface="+mn-ea"/>
              </a:rPr>
              <a:t>EntityCall</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spcBef>
                <a:spcPct val="50000"/>
              </a:spcBef>
            </a:pPr>
            <a:r>
              <a:rPr lang="zh-CN" altLang="en-US" dirty="0">
                <a:ea typeface="宋体" panose="02010600030101010101" pitchFamily="2" charset="-122"/>
              </a:rPr>
              <a:t>不能从</a:t>
            </a:r>
            <a:r>
              <a:rPr lang="en-US" altLang="zh-CN" dirty="0">
                <a:ea typeface="宋体" panose="02010600030101010101" pitchFamily="2" charset="-122"/>
              </a:rPr>
              <a:t>Client</a:t>
            </a:r>
            <a:r>
              <a:rPr lang="zh-CN" altLang="en-US" dirty="0">
                <a:ea typeface="宋体" panose="02010600030101010101" pitchFamily="2" charset="-122"/>
              </a:rPr>
              <a:t>传递</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US" dirty="0">
                <a:ea typeface="宋体" panose="02010600030101010101" pitchFamily="2" charset="-122"/>
              </a:rPr>
              <a:t>也不能传递</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US" dirty="0">
                <a:ea typeface="宋体" panose="02010600030101010101" pitchFamily="2" charset="-122"/>
              </a:rPr>
              <a:t>到</a:t>
            </a:r>
            <a:r>
              <a:rPr lang="en-US" altLang="zh-CN" dirty="0">
                <a:ea typeface="宋体" panose="02010600030101010101" pitchFamily="2" charset="-122"/>
              </a:rPr>
              <a:t>Client</a:t>
            </a:r>
          </a:p>
          <a:p>
            <a:pPr lvl="1">
              <a:spcBef>
                <a:spcPct val="50000"/>
              </a:spcBef>
            </a:pPr>
            <a:r>
              <a:rPr lang="zh-CN" altLang="en-US" dirty="0">
                <a:solidFill>
                  <a:srgbClr val="00B0F0"/>
                </a:solidFill>
                <a:ea typeface="宋体" panose="02010600030101010101" pitchFamily="2" charset="-122"/>
              </a:rPr>
              <a:t>不能信任</a:t>
            </a:r>
            <a:r>
              <a:rPr lang="en-US" altLang="zh-CN" dirty="0">
                <a:solidFill>
                  <a:srgbClr val="00B0F0"/>
                </a:solidFill>
                <a:ea typeface="宋体" panose="02010600030101010101" pitchFamily="2" charset="-122"/>
              </a:rPr>
              <a:t>Client</a:t>
            </a:r>
          </a:p>
          <a:p>
            <a:pPr lvl="1">
              <a:spcBef>
                <a:spcPct val="50000"/>
              </a:spcBef>
            </a:pPr>
            <a:r>
              <a:rPr lang="zh-CN" altLang="en-US" dirty="0">
                <a:ea typeface="宋体" panose="02010600030101010101" pitchFamily="2" charset="-122"/>
              </a:rPr>
              <a:t>取而代之用</a:t>
            </a:r>
            <a:r>
              <a:rPr lang="en-US" altLang="zh-CN" dirty="0">
                <a:ea typeface="宋体" panose="02010600030101010101" pitchFamily="2" charset="-122"/>
              </a:rPr>
              <a:t>Entity ID</a:t>
            </a:r>
          </a:p>
          <a:p>
            <a:pPr>
              <a:spcBef>
                <a:spcPts val="1750"/>
              </a:spcBef>
            </a:pP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r>
              <a:rPr lang="zh-CN" altLang="en-GB" dirty="0">
                <a:solidFill>
                  <a:srgbClr val="00B0F0"/>
                </a:solidFill>
                <a:ea typeface="宋体" panose="02010600030101010101" pitchFamily="2" charset="-122"/>
              </a:rPr>
              <a:t>不能被存储到数据库</a:t>
            </a:r>
            <a:r>
              <a:rPr lang="zh-CN" altLang="en-GB" dirty="0">
                <a:ea typeface="宋体" panose="02010600030101010101" pitchFamily="2" charset="-122"/>
              </a:rPr>
              <a:t>里</a:t>
            </a:r>
            <a:endParaRPr lang="en-GB" altLang="zh-CN" dirty="0"/>
          </a:p>
          <a:p>
            <a:pPr lvl="1">
              <a:spcBef>
                <a:spcPts val="1750"/>
              </a:spcBef>
            </a:pPr>
            <a:r>
              <a:rPr lang="zh-CN" altLang="en-GB" dirty="0">
                <a:ea typeface="宋体" panose="02010600030101010101" pitchFamily="2" charset="-122"/>
              </a:rPr>
              <a:t>当</a:t>
            </a:r>
            <a:r>
              <a:rPr lang="en-GB" altLang="zh-CN" dirty="0">
                <a:ea typeface="宋体" panose="02010600030101010101" pitchFamily="2" charset="-122"/>
              </a:rPr>
              <a:t>Server</a:t>
            </a:r>
            <a:r>
              <a:rPr lang="zh-CN" altLang="en-GB" dirty="0">
                <a:ea typeface="宋体" panose="02010600030101010101" pitchFamily="2" charset="-122"/>
              </a:rPr>
              <a:t>重启</a:t>
            </a:r>
            <a:r>
              <a:rPr lang="zh-CN" altLang="en-US" dirty="0">
                <a:ea typeface="宋体" panose="02010600030101010101" pitchFamily="2" charset="-122"/>
              </a:rPr>
              <a:t>后</a:t>
            </a:r>
            <a:r>
              <a:rPr lang="en-GB" altLang="zh-CN" dirty="0">
                <a:ea typeface="宋体" panose="02010600030101010101" pitchFamily="2" charset="-122"/>
              </a:rPr>
              <a:t>IP</a:t>
            </a:r>
            <a:r>
              <a:rPr lang="zh-CN" altLang="en-GB" dirty="0">
                <a:ea typeface="宋体" panose="02010600030101010101" pitchFamily="2" charset="-122"/>
              </a:rPr>
              <a:t>地址会被改变</a:t>
            </a:r>
            <a:endParaRPr lang="en-GB"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89124" y="2492896"/>
            <a:ext cx="9019380" cy="4248472"/>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Cell</a:t>
            </a:r>
            <a:r>
              <a:rPr lang="zh-CN" altLang="en-US" sz="4900" b="1" dirty="0">
                <a:solidFill>
                  <a:schemeClr val="accent1"/>
                </a:solidFill>
                <a:latin typeface="+mn-ea"/>
                <a:ea typeface="+mn-ea"/>
              </a:rPr>
              <a:t>到</a:t>
            </a:r>
            <a:r>
              <a:rPr lang="en-US" altLang="zh-CN" sz="4900" b="1" dirty="0">
                <a:solidFill>
                  <a:schemeClr val="accent1"/>
                </a:solidFill>
                <a:latin typeface="+mn-ea"/>
                <a:ea typeface="+mn-ea"/>
              </a:rPr>
              <a:t>Client</a:t>
            </a:r>
            <a:r>
              <a:rPr lang="zh-CN" altLang="en-US" sz="4900" b="1" dirty="0">
                <a:solidFill>
                  <a:schemeClr val="accent1"/>
                </a:solidFill>
                <a:latin typeface="+mn-ea"/>
                <a:ea typeface="+mn-ea"/>
              </a:rPr>
              <a:t>的通信</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spcBef>
                <a:spcPct val="0"/>
              </a:spcBef>
            </a:pPr>
            <a:r>
              <a:rPr lang="en-US" altLang="zh-CN" sz="2000" dirty="0">
                <a:latin typeface="Courier New" panose="02070309020205020404" pitchFamily="49" charset="0"/>
                <a:ea typeface="宋体" panose="02010600030101010101" pitchFamily="2" charset="-122"/>
              </a:rPr>
              <a:t>Self</a:t>
            </a:r>
            <a:r>
              <a:rPr lang="zh-CN" altLang="en-US" sz="2000" dirty="0">
                <a:latin typeface="Courier New" panose="02070309020205020404" pitchFamily="49" charset="0"/>
                <a:ea typeface="宋体" panose="02010600030101010101" pitchFamily="2" charset="-122"/>
              </a:rPr>
              <a:t>是</a:t>
            </a:r>
            <a:r>
              <a:rPr lang="en-US" altLang="zh-CN" sz="2000" dirty="0">
                <a:latin typeface="Courier New" panose="02070309020205020404" pitchFamily="49" charset="0"/>
                <a:ea typeface="宋体" panose="02010600030101010101" pitchFamily="2" charset="-122"/>
              </a:rPr>
              <a:t>Player A</a:t>
            </a:r>
          </a:p>
          <a:p>
            <a:pPr>
              <a:spcBef>
                <a:spcPct val="0"/>
              </a:spcBef>
            </a:pPr>
            <a:r>
              <a:rPr lang="en-US" altLang="zh-CN" sz="2000" dirty="0">
                <a:latin typeface="Verdana" panose="020B0604030504040204" pitchFamily="34" charset="0"/>
                <a:ea typeface="宋体" panose="02010600030101010101" pitchFamily="2" charset="-122"/>
              </a:rPr>
              <a:t>Player</a:t>
            </a:r>
            <a:r>
              <a:rPr lang="zh-CN" altLang="en-US" sz="2000" dirty="0">
                <a:latin typeface="Verdana" panose="020B0604030504040204" pitchFamily="34" charset="0"/>
                <a:ea typeface="宋体" panose="02010600030101010101" pitchFamily="2" charset="-122"/>
              </a:rPr>
              <a:t>在</a:t>
            </a:r>
            <a:r>
              <a:rPr lang="en-US" altLang="zh-CN" sz="2000" dirty="0" err="1">
                <a:latin typeface="Verdana" panose="020B0604030504040204" pitchFamily="34" charset="0"/>
                <a:ea typeface="宋体" panose="02010600030101010101" pitchFamily="2" charset="-122"/>
              </a:rPr>
              <a:t>Baseapp</a:t>
            </a:r>
            <a:r>
              <a:rPr lang="zh-CN" altLang="en-US" sz="2000" dirty="0">
                <a:latin typeface="Verdana" panose="020B0604030504040204" pitchFamily="34" charset="0"/>
                <a:ea typeface="宋体" panose="02010600030101010101" pitchFamily="2" charset="-122"/>
              </a:rPr>
              <a:t>上必须是一个</a:t>
            </a:r>
            <a:r>
              <a:rPr lang="en-US" altLang="zh-CN" sz="2000" dirty="0">
                <a:latin typeface="Verdana" panose="020B0604030504040204" pitchFamily="34" charset="0"/>
                <a:ea typeface="宋体" panose="02010600030101010101" pitchFamily="2" charset="-122"/>
              </a:rPr>
              <a:t> Proxy</a:t>
            </a:r>
          </a:p>
          <a:p>
            <a:pPr>
              <a:spcBef>
                <a:spcPct val="0"/>
              </a:spcBef>
            </a:pPr>
            <a:r>
              <a:rPr lang="zh-CN" altLang="en-US" sz="2000" dirty="0">
                <a:latin typeface="Verdana" panose="020B0604030504040204" pitchFamily="34" charset="0"/>
                <a:ea typeface="宋体" panose="02010600030101010101" pitchFamily="2" charset="-122"/>
              </a:rPr>
              <a:t>这些</a:t>
            </a:r>
            <a:r>
              <a:rPr lang="en-US" altLang="en-AU" sz="2000" dirty="0">
                <a:ea typeface="宋体" panose="02010600030101010101" pitchFamily="2" charset="-122"/>
                <a:sym typeface="+mn-ea"/>
              </a:rPr>
              <a:t>E</a:t>
            </a:r>
            <a:r>
              <a:rPr lang="en-AU" altLang="zh-CN" sz="2000" dirty="0">
                <a:sym typeface="+mn-ea"/>
              </a:rPr>
              <a:t>ntity</a:t>
            </a:r>
            <a:r>
              <a:rPr lang="en-US" altLang="en-AU" sz="2000" dirty="0">
                <a:sym typeface="+mn-ea"/>
              </a:rPr>
              <a:t>Call</a:t>
            </a:r>
            <a:r>
              <a:rPr lang="zh-CN" altLang="en-US" sz="2000" dirty="0">
                <a:latin typeface="Courier New" panose="02070309020205020404" pitchFamily="49" charset="0"/>
                <a:ea typeface="宋体" panose="02010600030101010101" pitchFamily="2" charset="-122"/>
              </a:rPr>
              <a:t>不能被传递</a:t>
            </a:r>
            <a:endParaRPr lang="en-US" altLang="zh-CN" sz="2000" dirty="0">
              <a:latin typeface="Courier New" panose="02070309020205020404" pitchFamily="49" charset="0"/>
              <a:ea typeface="宋体" panose="02010600030101010101" pitchFamily="2" charset="-122"/>
            </a:endParaRPr>
          </a:p>
          <a:p>
            <a:pPr>
              <a:spcBef>
                <a:spcPct val="0"/>
              </a:spcBef>
            </a:pPr>
            <a:r>
              <a:rPr lang="zh-CN" altLang="en-US" sz="2000" dirty="0">
                <a:latin typeface="Courier New" panose="02070309020205020404" pitchFamily="49" charset="0"/>
                <a:ea typeface="宋体" panose="02010600030101010101" pitchFamily="2" charset="-122"/>
              </a:rPr>
              <a:t>消息由</a:t>
            </a:r>
            <a:r>
              <a:rPr lang="en-US" altLang="zh-CN" sz="2000" dirty="0" err="1">
                <a:latin typeface="Courier New" panose="02070309020205020404" pitchFamily="49" charset="0"/>
                <a:ea typeface="宋体" panose="02010600030101010101" pitchFamily="2" charset="-122"/>
              </a:rPr>
              <a:t>Baseapp</a:t>
            </a:r>
            <a:r>
              <a:rPr lang="zh-CN" altLang="en-US" sz="2000" dirty="0">
                <a:latin typeface="Courier New" panose="02070309020205020404" pitchFamily="49" charset="0"/>
                <a:ea typeface="宋体" panose="02010600030101010101" pitchFamily="2" charset="-122"/>
              </a:rPr>
              <a:t>中转到</a:t>
            </a:r>
            <a:r>
              <a:rPr lang="en-US" altLang="zh-CN" sz="2000" dirty="0">
                <a:latin typeface="Courier New" panose="02070309020205020404" pitchFamily="49" charset="0"/>
                <a:ea typeface="宋体" panose="02010600030101010101" pitchFamily="2" charset="-122"/>
              </a:rPr>
              <a:t>Client</a:t>
            </a:r>
            <a:endParaRPr lang="en-US" altLang="zh-CN" sz="2000" dirty="0">
              <a:latin typeface="Verdana" panose="020B0604030504040204" pitchFamily="34" charset="0"/>
              <a:ea typeface="宋体" panose="02010600030101010101" pitchFamily="2" charset="-122"/>
            </a:endParaRPr>
          </a:p>
        </p:txBody>
      </p:sp>
      <p:grpSp>
        <p:nvGrpSpPr>
          <p:cNvPr id="5" name="Group 6"/>
          <p:cNvGrpSpPr/>
          <p:nvPr/>
        </p:nvGrpSpPr>
        <p:grpSpPr bwMode="auto">
          <a:xfrm>
            <a:off x="370583" y="2874069"/>
            <a:ext cx="6356350" cy="3479801"/>
            <a:chOff x="566" y="1629"/>
            <a:chExt cx="4004" cy="2192"/>
          </a:xfrm>
        </p:grpSpPr>
        <p:sp>
          <p:nvSpPr>
            <p:cNvPr id="6" name="Line 7"/>
            <p:cNvSpPr>
              <a:spLocks noChangeShapeType="1"/>
            </p:cNvSpPr>
            <p:nvPr/>
          </p:nvSpPr>
          <p:spPr bwMode="auto">
            <a:xfrm>
              <a:off x="764" y="3486"/>
              <a:ext cx="2710"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7" name="Line 8"/>
            <p:cNvSpPr>
              <a:spLocks noChangeShapeType="1"/>
            </p:cNvSpPr>
            <p:nvPr/>
          </p:nvSpPr>
          <p:spPr bwMode="auto">
            <a:xfrm flipV="1">
              <a:off x="3061" y="1862"/>
              <a:ext cx="1498" cy="1198"/>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8" name="Line 9"/>
            <p:cNvSpPr>
              <a:spLocks noChangeShapeType="1"/>
            </p:cNvSpPr>
            <p:nvPr/>
          </p:nvSpPr>
          <p:spPr bwMode="auto">
            <a:xfrm flipV="1">
              <a:off x="3061" y="2396"/>
              <a:ext cx="1498" cy="664"/>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9" name="Line 10"/>
            <p:cNvSpPr>
              <a:spLocks noChangeShapeType="1"/>
            </p:cNvSpPr>
            <p:nvPr/>
          </p:nvSpPr>
          <p:spPr bwMode="auto">
            <a:xfrm flipV="1">
              <a:off x="3061" y="3060"/>
              <a:ext cx="1481"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0" name="Line 11"/>
            <p:cNvSpPr>
              <a:spLocks noChangeShapeType="1"/>
            </p:cNvSpPr>
            <p:nvPr/>
          </p:nvSpPr>
          <p:spPr bwMode="auto">
            <a:xfrm flipV="1">
              <a:off x="3474" y="2456"/>
              <a:ext cx="1085" cy="103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1" name="Line 12"/>
            <p:cNvSpPr>
              <a:spLocks noChangeShapeType="1"/>
            </p:cNvSpPr>
            <p:nvPr/>
          </p:nvSpPr>
          <p:spPr bwMode="auto">
            <a:xfrm flipV="1">
              <a:off x="3474" y="3114"/>
              <a:ext cx="1096" cy="372"/>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2" name="Line 13"/>
            <p:cNvSpPr>
              <a:spLocks noChangeShapeType="1"/>
            </p:cNvSpPr>
            <p:nvPr/>
          </p:nvSpPr>
          <p:spPr bwMode="auto">
            <a:xfrm>
              <a:off x="566" y="3816"/>
              <a:ext cx="3988"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3" name="Line 14"/>
            <p:cNvSpPr>
              <a:spLocks noChangeShapeType="1"/>
            </p:cNvSpPr>
            <p:nvPr/>
          </p:nvSpPr>
          <p:spPr bwMode="auto">
            <a:xfrm>
              <a:off x="566" y="1934"/>
              <a:ext cx="0" cy="1882"/>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4" name="Line 15"/>
            <p:cNvSpPr>
              <a:spLocks noChangeShapeType="1"/>
            </p:cNvSpPr>
            <p:nvPr/>
          </p:nvSpPr>
          <p:spPr bwMode="auto">
            <a:xfrm>
              <a:off x="762" y="1970"/>
              <a:ext cx="0" cy="1516"/>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5" name="Line 16"/>
            <p:cNvSpPr>
              <a:spLocks noChangeShapeType="1"/>
            </p:cNvSpPr>
            <p:nvPr/>
          </p:nvSpPr>
          <p:spPr bwMode="auto">
            <a:xfrm>
              <a:off x="975" y="3060"/>
              <a:ext cx="2086"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6" name="Line 17"/>
            <p:cNvSpPr>
              <a:spLocks noChangeShapeType="1"/>
            </p:cNvSpPr>
            <p:nvPr/>
          </p:nvSpPr>
          <p:spPr bwMode="auto">
            <a:xfrm>
              <a:off x="975" y="1969"/>
              <a:ext cx="0" cy="1083"/>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8" name="Line 18"/>
            <p:cNvSpPr>
              <a:spLocks noChangeShapeType="1"/>
            </p:cNvSpPr>
            <p:nvPr/>
          </p:nvSpPr>
          <p:spPr bwMode="auto">
            <a:xfrm>
              <a:off x="1240" y="1788"/>
              <a:ext cx="3319"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9" name="Rectangle 19"/>
            <p:cNvSpPr>
              <a:spLocks noChangeArrowheads="1"/>
            </p:cNvSpPr>
            <p:nvPr/>
          </p:nvSpPr>
          <p:spPr bwMode="auto">
            <a:xfrm>
              <a:off x="1301" y="1629"/>
              <a:ext cx="18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self.ownClient.chat()</a:t>
              </a:r>
            </a:p>
          </p:txBody>
        </p:sp>
        <p:sp>
          <p:nvSpPr>
            <p:cNvPr id="20" name="Rectangle 20"/>
            <p:cNvSpPr>
              <a:spLocks noChangeArrowheads="1"/>
            </p:cNvSpPr>
            <p:nvPr/>
          </p:nvSpPr>
          <p:spPr bwMode="auto">
            <a:xfrm>
              <a:off x="1067" y="3321"/>
              <a:ext cx="20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self.otherClients.chat()</a:t>
              </a:r>
            </a:p>
          </p:txBody>
        </p:sp>
        <p:sp>
          <p:nvSpPr>
            <p:cNvPr id="21" name="Rectangle 21"/>
            <p:cNvSpPr>
              <a:spLocks noChangeArrowheads="1"/>
            </p:cNvSpPr>
            <p:nvPr/>
          </p:nvSpPr>
          <p:spPr bwMode="auto">
            <a:xfrm>
              <a:off x="1067" y="2887"/>
              <a:ext cx="18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self.allClients.chat()</a:t>
              </a:r>
            </a:p>
          </p:txBody>
        </p:sp>
        <p:sp>
          <p:nvSpPr>
            <p:cNvPr id="22" name="Rectangle 22"/>
            <p:cNvSpPr>
              <a:spLocks noChangeArrowheads="1"/>
            </p:cNvSpPr>
            <p:nvPr/>
          </p:nvSpPr>
          <p:spPr bwMode="auto">
            <a:xfrm>
              <a:off x="1067" y="3647"/>
              <a:ext cx="286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dirty="0" err="1">
                  <a:solidFill>
                    <a:srgbClr val="00007D"/>
                  </a:solidFill>
                  <a:latin typeface="Courier New" panose="02070309020205020404" pitchFamily="49" charset="0"/>
                  <a:ea typeface="宋体" panose="02010600030101010101" pitchFamily="2" charset="-122"/>
                </a:rPr>
                <a:t>self.clientEntity</a:t>
              </a:r>
              <a:r>
                <a:rPr lang="en-US" altLang="zh-CN" dirty="0">
                  <a:solidFill>
                    <a:srgbClr val="00007D"/>
                  </a:solidFill>
                  <a:latin typeface="Courier New" panose="02070309020205020404" pitchFamily="49" charset="0"/>
                  <a:ea typeface="宋体" panose="02010600030101010101" pitchFamily="2" charset="-122"/>
                </a:rPr>
                <a:t>(</a:t>
              </a:r>
              <a:r>
                <a:rPr lang="en-US" altLang="zh-CN" dirty="0" err="1">
                  <a:solidFill>
                    <a:srgbClr val="00007D"/>
                  </a:solidFill>
                  <a:latin typeface="Courier New" panose="02070309020205020404" pitchFamily="49" charset="0"/>
                  <a:ea typeface="宋体" panose="02010600030101010101" pitchFamily="2" charset="-122"/>
                </a:rPr>
                <a:t>entityX</a:t>
              </a:r>
              <a:r>
                <a:rPr lang="en-US" altLang="zh-CN" dirty="0">
                  <a:solidFill>
                    <a:srgbClr val="00007D"/>
                  </a:solidFill>
                  <a:latin typeface="Courier New" panose="02070309020205020404" pitchFamily="49" charset="0"/>
                  <a:ea typeface="宋体" panose="02010600030101010101" pitchFamily="2" charset="-122"/>
                </a:rPr>
                <a:t>).chat()</a:t>
              </a:r>
            </a:p>
          </p:txBody>
        </p:sp>
      </p:grpSp>
      <p:sp>
        <p:nvSpPr>
          <p:cNvPr id="3" name="矩形 2"/>
          <p:cNvSpPr/>
          <p:nvPr/>
        </p:nvSpPr>
        <p:spPr>
          <a:xfrm>
            <a:off x="251520" y="2874069"/>
            <a:ext cx="1189037" cy="48418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200" b="1" dirty="0" err="1">
                <a:latin typeface="Arial Black" panose="020B0A04020102020204" pitchFamily="34" charset="0"/>
              </a:rPr>
              <a:t>Cellapp</a:t>
            </a:r>
            <a:endParaRPr lang="en-US" altLang="zh-CN" sz="1200" b="1" dirty="0">
              <a:latin typeface="Arial Black" panose="020B0A04020102020204" pitchFamily="34" charset="0"/>
            </a:endParaRPr>
          </a:p>
          <a:p>
            <a:pPr algn="ctr"/>
            <a:r>
              <a:rPr lang="en-US" altLang="zh-CN" sz="1200" b="1" dirty="0">
                <a:latin typeface="Arial Black" panose="020B0A04020102020204" pitchFamily="34" charset="0"/>
              </a:rPr>
              <a:t>Player A</a:t>
            </a:r>
            <a:endParaRPr lang="zh-CN" altLang="en-US" sz="1200" b="1" dirty="0">
              <a:latin typeface="Arial Black" panose="020B0A04020102020204" pitchFamily="34" charset="0"/>
            </a:endParaRPr>
          </a:p>
        </p:txBody>
      </p:sp>
      <p:sp>
        <p:nvSpPr>
          <p:cNvPr id="32" name="矩形 31"/>
          <p:cNvSpPr/>
          <p:nvPr/>
        </p:nvSpPr>
        <p:spPr>
          <a:xfrm>
            <a:off x="6709470" y="2874069"/>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33" name="矩形 32"/>
          <p:cNvSpPr/>
          <p:nvPr/>
        </p:nvSpPr>
        <p:spPr>
          <a:xfrm>
            <a:off x="6708354" y="3880916"/>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B</a:t>
            </a:r>
            <a:endParaRPr lang="zh-CN" altLang="en-US" dirty="0"/>
          </a:p>
        </p:txBody>
      </p:sp>
      <p:sp>
        <p:nvSpPr>
          <p:cNvPr id="34" name="矩形 33"/>
          <p:cNvSpPr/>
          <p:nvPr/>
        </p:nvSpPr>
        <p:spPr>
          <a:xfrm>
            <a:off x="6709471" y="4961036"/>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C</a:t>
            </a:r>
            <a:endParaRPr lang="zh-CN" altLang="en-US" dirty="0"/>
          </a:p>
        </p:txBody>
      </p:sp>
      <p:sp>
        <p:nvSpPr>
          <p:cNvPr id="35" name="矩形 34"/>
          <p:cNvSpPr/>
          <p:nvPr/>
        </p:nvSpPr>
        <p:spPr>
          <a:xfrm>
            <a:off x="6708354" y="6041156"/>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36" name="TextBox 35"/>
          <p:cNvSpPr txBox="1"/>
          <p:nvPr/>
        </p:nvSpPr>
        <p:spPr>
          <a:xfrm>
            <a:off x="7884368" y="2996952"/>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44" name="TextBox 43"/>
          <p:cNvSpPr txBox="1"/>
          <p:nvPr/>
        </p:nvSpPr>
        <p:spPr>
          <a:xfrm>
            <a:off x="7884368" y="4031486"/>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45" name="TextBox 44"/>
          <p:cNvSpPr txBox="1"/>
          <p:nvPr/>
        </p:nvSpPr>
        <p:spPr>
          <a:xfrm>
            <a:off x="7920881" y="5111606"/>
            <a:ext cx="1043607"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46" name="TextBox 45"/>
          <p:cNvSpPr txBox="1"/>
          <p:nvPr/>
        </p:nvSpPr>
        <p:spPr>
          <a:xfrm>
            <a:off x="7920881" y="6165304"/>
            <a:ext cx="1043607" cy="26161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err="1">
                <a:solidFill>
                  <a:srgbClr val="FFFF00"/>
                </a:solidFill>
                <a:latin typeface="Arial Black" panose="020B0A04020102020204" pitchFamily="34" charset="0"/>
                <a:ea typeface="宋体" panose="02010600030101010101" pitchFamily="2" charset="-122"/>
              </a:rPr>
              <a:t>entityX</a:t>
            </a:r>
            <a:endParaRPr lang="zh-CN" altLang="en-US" sz="1100" b="1" dirty="0">
              <a:solidFill>
                <a:srgbClr val="FFFF00"/>
              </a:solidFill>
              <a:latin typeface="Arial Black" panose="020B0A04020102020204" pitchFamily="34" charset="0"/>
            </a:endParaRPr>
          </a:p>
        </p:txBody>
      </p:sp>
      <p:sp>
        <p:nvSpPr>
          <p:cNvPr id="24" name="文本框 23"/>
          <p:cNvSpPr txBox="1"/>
          <p:nvPr/>
        </p:nvSpPr>
        <p:spPr>
          <a:xfrm>
            <a:off x="1774861" y="2581466"/>
            <a:ext cx="2989921" cy="369332"/>
          </a:xfrm>
          <a:prstGeom prst="rect">
            <a:avLst/>
          </a:prstGeom>
          <a:noFill/>
        </p:spPr>
        <p:txBody>
          <a:bodyPr wrap="none" rtlCol="0">
            <a:spAutoFit/>
          </a:bodyPr>
          <a:lstStyle/>
          <a:p>
            <a:r>
              <a:rPr lang="zh-CN" altLang="en-US" dirty="0">
                <a:solidFill>
                  <a:srgbClr val="FF0000"/>
                </a:solidFill>
              </a:rPr>
              <a:t>只向</a:t>
            </a:r>
            <a:r>
              <a:rPr lang="en-US" altLang="zh-CN" dirty="0">
                <a:solidFill>
                  <a:srgbClr val="FF0000"/>
                </a:solidFill>
              </a:rPr>
              <a:t>A</a:t>
            </a:r>
            <a:r>
              <a:rPr lang="zh-CN" altLang="en-US" dirty="0">
                <a:solidFill>
                  <a:srgbClr val="FF0000"/>
                </a:solidFill>
              </a:rPr>
              <a:t>发送</a:t>
            </a:r>
            <a:r>
              <a:rPr lang="en-US" altLang="zh-CN" dirty="0">
                <a:solidFill>
                  <a:srgbClr val="FF0000"/>
                </a:solidFill>
              </a:rPr>
              <a:t>A</a:t>
            </a:r>
            <a:r>
              <a:rPr lang="zh-CN" altLang="en-US" dirty="0">
                <a:solidFill>
                  <a:srgbClr val="FF0000"/>
                </a:solidFill>
              </a:rPr>
              <a:t>自己的聊天信息</a:t>
            </a:r>
          </a:p>
        </p:txBody>
      </p:sp>
      <p:sp>
        <p:nvSpPr>
          <p:cNvPr id="25" name="文本框 24"/>
          <p:cNvSpPr txBox="1"/>
          <p:nvPr/>
        </p:nvSpPr>
        <p:spPr>
          <a:xfrm>
            <a:off x="1172735" y="4336197"/>
            <a:ext cx="3943837" cy="369332"/>
          </a:xfrm>
          <a:prstGeom prst="rect">
            <a:avLst/>
          </a:prstGeom>
          <a:noFill/>
        </p:spPr>
        <p:txBody>
          <a:bodyPr wrap="none" rtlCol="0">
            <a:spAutoFit/>
          </a:bodyPr>
          <a:lstStyle/>
          <a:p>
            <a:r>
              <a:rPr lang="zh-CN" altLang="en-US" dirty="0">
                <a:solidFill>
                  <a:srgbClr val="FF0000"/>
                </a:solidFill>
              </a:rPr>
              <a:t>向</a:t>
            </a:r>
            <a:r>
              <a:rPr lang="en-US" altLang="zh-CN" dirty="0">
                <a:solidFill>
                  <a:srgbClr val="FF0000"/>
                </a:solidFill>
              </a:rPr>
              <a:t>A</a:t>
            </a:r>
            <a:r>
              <a:rPr lang="zh-CN" altLang="en-US" dirty="0">
                <a:solidFill>
                  <a:srgbClr val="FF0000"/>
                </a:solidFill>
              </a:rPr>
              <a:t>和</a:t>
            </a:r>
            <a:r>
              <a:rPr lang="en-US" altLang="zh-CN" dirty="0">
                <a:solidFill>
                  <a:srgbClr val="FF0000"/>
                </a:solidFill>
              </a:rPr>
              <a:t>AOI</a:t>
            </a:r>
            <a:r>
              <a:rPr lang="zh-CN" altLang="en-US" dirty="0">
                <a:solidFill>
                  <a:srgbClr val="FF0000"/>
                </a:solidFill>
              </a:rPr>
              <a:t>下的其他</a:t>
            </a:r>
            <a:r>
              <a:rPr lang="en-US" altLang="zh-CN" dirty="0">
                <a:solidFill>
                  <a:srgbClr val="FF0000"/>
                </a:solidFill>
              </a:rPr>
              <a:t>client</a:t>
            </a:r>
            <a:r>
              <a:rPr lang="zh-CN" altLang="en-US" dirty="0">
                <a:solidFill>
                  <a:srgbClr val="FF0000"/>
                </a:solidFill>
              </a:rPr>
              <a:t>发送聊天信息</a:t>
            </a:r>
          </a:p>
        </p:txBody>
      </p:sp>
      <p:sp>
        <p:nvSpPr>
          <p:cNvPr id="26" name="文本框 25"/>
          <p:cNvSpPr txBox="1"/>
          <p:nvPr/>
        </p:nvSpPr>
        <p:spPr>
          <a:xfrm>
            <a:off x="727512" y="5203151"/>
            <a:ext cx="3810787" cy="369332"/>
          </a:xfrm>
          <a:prstGeom prst="rect">
            <a:avLst/>
          </a:prstGeom>
          <a:noFill/>
        </p:spPr>
        <p:txBody>
          <a:bodyPr wrap="none" rtlCol="0">
            <a:spAutoFit/>
          </a:bodyPr>
          <a:lstStyle/>
          <a:p>
            <a:r>
              <a:rPr lang="zh-CN" altLang="en-US" dirty="0">
                <a:solidFill>
                  <a:srgbClr val="FF0000"/>
                </a:solidFill>
              </a:rPr>
              <a:t>只向</a:t>
            </a:r>
            <a:r>
              <a:rPr lang="en-US" altLang="zh-CN" dirty="0">
                <a:solidFill>
                  <a:srgbClr val="FF0000"/>
                </a:solidFill>
              </a:rPr>
              <a:t>AOI</a:t>
            </a:r>
            <a:r>
              <a:rPr lang="zh-CN" altLang="en-US" dirty="0">
                <a:solidFill>
                  <a:srgbClr val="FF0000"/>
                </a:solidFill>
              </a:rPr>
              <a:t>下的其他</a:t>
            </a:r>
            <a:r>
              <a:rPr lang="en-US" altLang="zh-CN" dirty="0">
                <a:solidFill>
                  <a:srgbClr val="FF0000"/>
                </a:solidFill>
              </a:rPr>
              <a:t>client</a:t>
            </a:r>
            <a:r>
              <a:rPr lang="zh-CN" altLang="en-US" dirty="0">
                <a:solidFill>
                  <a:srgbClr val="FF0000"/>
                </a:solidFill>
              </a:rPr>
              <a:t>发送聊天信息</a:t>
            </a:r>
          </a:p>
        </p:txBody>
      </p:sp>
      <p:sp>
        <p:nvSpPr>
          <p:cNvPr id="27" name="文本框 26"/>
          <p:cNvSpPr txBox="1"/>
          <p:nvPr/>
        </p:nvSpPr>
        <p:spPr>
          <a:xfrm>
            <a:off x="838749" y="5775034"/>
            <a:ext cx="2515432" cy="369332"/>
          </a:xfrm>
          <a:prstGeom prst="rect">
            <a:avLst/>
          </a:prstGeom>
          <a:noFill/>
        </p:spPr>
        <p:txBody>
          <a:bodyPr wrap="none" rtlCol="0">
            <a:spAutoFit/>
          </a:bodyPr>
          <a:lstStyle/>
          <a:p>
            <a:r>
              <a:rPr lang="zh-CN" altLang="en-US" dirty="0">
                <a:solidFill>
                  <a:srgbClr val="FF0000"/>
                </a:solidFill>
              </a:rPr>
              <a:t>只向</a:t>
            </a:r>
            <a:r>
              <a:rPr lang="en-US" altLang="zh-CN" dirty="0">
                <a:solidFill>
                  <a:srgbClr val="FF0000"/>
                </a:solidFill>
              </a:rPr>
              <a:t>A</a:t>
            </a:r>
            <a:r>
              <a:rPr lang="zh-CN" altLang="en-US" dirty="0">
                <a:solidFill>
                  <a:srgbClr val="FF0000"/>
                </a:solidFill>
              </a:rPr>
              <a:t>发送</a:t>
            </a:r>
            <a:r>
              <a:rPr lang="en-US" altLang="zh-CN" dirty="0">
                <a:solidFill>
                  <a:srgbClr val="FF0000"/>
                </a:solidFill>
              </a:rPr>
              <a:t>X</a:t>
            </a:r>
            <a:r>
              <a:rPr lang="zh-CN" altLang="en-US" dirty="0">
                <a:solidFill>
                  <a:srgbClr val="FF0000"/>
                </a:solidFill>
              </a:rPr>
              <a:t>的聊天信息</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89124" y="2060848"/>
            <a:ext cx="9019380" cy="1008112"/>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rPr>
              <a:t>Entity.ownClient</a:t>
            </a:r>
            <a:r>
              <a:rPr lang="en-US" altLang="zh-CN" sz="4900" b="1" dirty="0">
                <a:solidFill>
                  <a:schemeClr val="accent1"/>
                </a:solidFill>
                <a:latin typeface="+mn-ea"/>
              </a:rPr>
              <a:t> </a:t>
            </a:r>
            <a:r>
              <a:rPr lang="zh-CN" altLang="en-US" sz="4900" b="1" dirty="0">
                <a:solidFill>
                  <a:schemeClr val="accent1"/>
                </a:solidFill>
                <a:latin typeface="+mn-ea"/>
              </a:rPr>
              <a:t>方法调用示例</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err="1"/>
              <a:t>self.ownClient.chat</a:t>
            </a:r>
            <a:r>
              <a:rPr lang="en-GB" altLang="zh-CN" sz="2000" dirty="0"/>
              <a:t>()</a:t>
            </a:r>
            <a:r>
              <a:rPr lang="zh-CN" altLang="en-GB" sz="2000" dirty="0">
                <a:ea typeface="宋体" panose="02010600030101010101" pitchFamily="2" charset="-122"/>
              </a:rPr>
              <a:t> 实际上使得</a:t>
            </a:r>
            <a:r>
              <a:rPr lang="en-GB" altLang="zh-CN" sz="2000" dirty="0">
                <a:ea typeface="宋体" panose="02010600030101010101" pitchFamily="2" charset="-122"/>
              </a:rPr>
              <a:t>chat</a:t>
            </a:r>
            <a:r>
              <a:rPr lang="zh-CN" altLang="en-GB" sz="2000" dirty="0">
                <a:ea typeface="宋体" panose="02010600030101010101" pitchFamily="2" charset="-122"/>
              </a:rPr>
              <a:t>函数在</a:t>
            </a:r>
            <a:r>
              <a:rPr lang="en-GB" altLang="zh-CN" sz="2000" dirty="0">
                <a:ea typeface="宋体" panose="02010600030101010101" pitchFamily="2" charset="-122"/>
              </a:rPr>
              <a:t>A</a:t>
            </a:r>
            <a:r>
              <a:rPr lang="zh-CN" altLang="en-GB" sz="2000" dirty="0">
                <a:ea typeface="宋体" panose="02010600030101010101" pitchFamily="2" charset="-122"/>
              </a:rPr>
              <a:t>客户端的</a:t>
            </a:r>
            <a:r>
              <a:rPr lang="en-GB" altLang="zh-CN" sz="2000" dirty="0">
                <a:ea typeface="宋体" panose="02010600030101010101" pitchFamily="2" charset="-122"/>
              </a:rPr>
              <a:t>entity A</a:t>
            </a:r>
            <a:r>
              <a:rPr lang="zh-CN" altLang="en-GB" sz="2000" dirty="0">
                <a:ea typeface="宋体" panose="02010600030101010101" pitchFamily="2" charset="-122"/>
              </a:rPr>
              <a:t>上被调用。</a:t>
            </a:r>
            <a:endParaRPr lang="en-GB" altLang="zh-CN" sz="2000" dirty="0"/>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000" dirty="0">
                <a:ea typeface="宋体" panose="02010600030101010101" pitchFamily="2" charset="-122"/>
              </a:rPr>
              <a:t>其它的客户端不会意识到</a:t>
            </a:r>
            <a:r>
              <a:rPr lang="en-GB" altLang="zh-CN" sz="2000" dirty="0">
                <a:ea typeface="宋体" panose="02010600030101010101" pitchFamily="2" charset="-122"/>
              </a:rPr>
              <a:t>A</a:t>
            </a:r>
            <a:r>
              <a:rPr lang="zh-CN" altLang="en-GB" sz="2000" dirty="0">
                <a:ea typeface="宋体" panose="02010600030101010101" pitchFamily="2" charset="-122"/>
              </a:rPr>
              <a:t>客户端上有</a:t>
            </a:r>
            <a:r>
              <a:rPr lang="en-GB" altLang="zh-CN" sz="2000" dirty="0" err="1">
                <a:ea typeface="宋体" panose="02010600030101010101" pitchFamily="2" charset="-122"/>
              </a:rPr>
              <a:t>A.chat</a:t>
            </a:r>
            <a:r>
              <a:rPr lang="en-GB" altLang="zh-CN" sz="2000" dirty="0">
                <a:ea typeface="宋体" panose="02010600030101010101" pitchFamily="2" charset="-122"/>
              </a:rPr>
              <a:t>()</a:t>
            </a:r>
            <a:r>
              <a:rPr lang="zh-CN" altLang="en-GB" sz="2000" dirty="0">
                <a:ea typeface="宋体" panose="02010600030101010101" pitchFamily="2" charset="-122"/>
              </a:rPr>
              <a:t>被调用。</a:t>
            </a:r>
            <a:endParaRPr lang="en-GB" altLang="zh-CN" sz="2000" dirty="0"/>
          </a:p>
        </p:txBody>
      </p:sp>
      <p:grpSp>
        <p:nvGrpSpPr>
          <p:cNvPr id="5" name="Group 6"/>
          <p:cNvGrpSpPr/>
          <p:nvPr/>
        </p:nvGrpSpPr>
        <p:grpSpPr bwMode="auto">
          <a:xfrm>
            <a:off x="1440558" y="2442025"/>
            <a:ext cx="5268913" cy="274638"/>
            <a:chOff x="1240" y="1629"/>
            <a:chExt cx="3319" cy="173"/>
          </a:xfrm>
        </p:grpSpPr>
        <p:sp>
          <p:nvSpPr>
            <p:cNvPr id="18" name="Line 18"/>
            <p:cNvSpPr>
              <a:spLocks noChangeShapeType="1"/>
            </p:cNvSpPr>
            <p:nvPr/>
          </p:nvSpPr>
          <p:spPr bwMode="auto">
            <a:xfrm>
              <a:off x="1240" y="1788"/>
              <a:ext cx="3319"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9" name="Rectangle 19"/>
            <p:cNvSpPr>
              <a:spLocks noChangeArrowheads="1"/>
            </p:cNvSpPr>
            <p:nvPr/>
          </p:nvSpPr>
          <p:spPr bwMode="auto">
            <a:xfrm>
              <a:off x="1301" y="1629"/>
              <a:ext cx="18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self.ownClient.chat()</a:t>
              </a:r>
            </a:p>
          </p:txBody>
        </p:sp>
      </p:grpSp>
      <p:sp>
        <p:nvSpPr>
          <p:cNvPr id="3" name="矩形 2"/>
          <p:cNvSpPr/>
          <p:nvPr/>
        </p:nvSpPr>
        <p:spPr>
          <a:xfrm>
            <a:off x="251520" y="2442021"/>
            <a:ext cx="1189037" cy="48418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200" b="1" dirty="0" err="1">
                <a:latin typeface="Arial Black" panose="020B0A04020102020204" pitchFamily="34" charset="0"/>
              </a:rPr>
              <a:t>Cellapp</a:t>
            </a:r>
            <a:endParaRPr lang="en-US" altLang="zh-CN" sz="1200" b="1" dirty="0">
              <a:latin typeface="Arial Black" panose="020B0A04020102020204" pitchFamily="34" charset="0"/>
            </a:endParaRPr>
          </a:p>
          <a:p>
            <a:pPr algn="ctr"/>
            <a:r>
              <a:rPr lang="en-US" altLang="zh-CN" sz="1200" b="1" dirty="0">
                <a:latin typeface="Arial Black" panose="020B0A04020102020204" pitchFamily="34" charset="0"/>
              </a:rPr>
              <a:t>Player A</a:t>
            </a:r>
            <a:endParaRPr lang="zh-CN" altLang="en-US" sz="1200" b="1" dirty="0">
              <a:latin typeface="Arial Black" panose="020B0A04020102020204" pitchFamily="34" charset="0"/>
            </a:endParaRPr>
          </a:p>
        </p:txBody>
      </p:sp>
      <p:sp>
        <p:nvSpPr>
          <p:cNvPr id="32" name="矩形 31"/>
          <p:cNvSpPr/>
          <p:nvPr/>
        </p:nvSpPr>
        <p:spPr>
          <a:xfrm>
            <a:off x="6709470" y="2442021"/>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36" name="TextBox 35"/>
          <p:cNvSpPr txBox="1"/>
          <p:nvPr/>
        </p:nvSpPr>
        <p:spPr>
          <a:xfrm>
            <a:off x="7884368" y="2564904"/>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72" name="Text Box 36"/>
          <p:cNvSpPr txBox="1">
            <a:spLocks noChangeArrowheads="1"/>
          </p:cNvSpPr>
          <p:nvPr/>
        </p:nvSpPr>
        <p:spPr bwMode="auto">
          <a:xfrm>
            <a:off x="1508125" y="7850188"/>
            <a:ext cx="1674813" cy="2619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3000"/>
              </a:lnSpc>
              <a:spcBef>
                <a:spcPct val="0"/>
              </a:spcBef>
              <a:buClr>
                <a:srgbClr val="FFFFFF"/>
              </a:buClr>
              <a:buSzPct val="100000"/>
              <a:buFont typeface="Arial" panose="020B0604020202020204" pitchFamily="34" charset="0"/>
              <a:buNone/>
            </a:pPr>
            <a:r>
              <a:rPr lang="en-AU" sz="1200" b="0"/>
              <a:t>… </a:t>
            </a:r>
            <a:r>
              <a:rPr lang="zh-CN" altLang="en-AU" sz="1200" b="0">
                <a:ea typeface="宋体" panose="02010600030101010101" pitchFamily="2" charset="-122"/>
              </a:rPr>
              <a:t>导致</a:t>
            </a:r>
            <a:r>
              <a:rPr lang="en-AU" sz="1200" b="0"/>
              <a:t>A.chat()</a:t>
            </a:r>
            <a:r>
              <a:rPr lang="zh-CN" altLang="en-AU" sz="1200" b="0">
                <a:ea typeface="宋体" panose="02010600030101010101" pitchFamily="2" charset="-122"/>
              </a:rPr>
              <a:t>被调用</a:t>
            </a:r>
            <a:endParaRPr lang="en-AU" sz="1200" b="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Entity.ownClient</a:t>
            </a:r>
            <a:r>
              <a:rPr lang="en-US" altLang="zh-CN" sz="4900" b="1" dirty="0">
                <a:solidFill>
                  <a:schemeClr val="accent1"/>
                </a:solidFill>
                <a:latin typeface="+mn-ea"/>
                <a:ea typeface="+mn-ea"/>
              </a:rPr>
              <a:t> </a:t>
            </a:r>
            <a:r>
              <a:rPr lang="zh-CN" altLang="en-US" sz="4900" b="1" dirty="0">
                <a:solidFill>
                  <a:schemeClr val="accent1"/>
                </a:solidFill>
                <a:latin typeface="+mn-ea"/>
                <a:ea typeface="+mn-ea"/>
              </a:rPr>
              <a:t>方法调用示例</a:t>
            </a:r>
          </a:p>
        </p:txBody>
      </p:sp>
      <p:cxnSp>
        <p:nvCxnSpPr>
          <p:cNvPr id="37" name="直接连接符 36"/>
          <p:cNvCxnSpPr/>
          <p:nvPr/>
        </p:nvCxnSpPr>
        <p:spPr>
          <a:xfrm>
            <a:off x="96288" y="4702261"/>
            <a:ext cx="6491936" cy="1"/>
          </a:xfrm>
          <a:prstGeom prst="line">
            <a:avLst/>
          </a:prstGeom>
        </p:spPr>
        <p:style>
          <a:lnRef idx="3">
            <a:schemeClr val="dk1"/>
          </a:lnRef>
          <a:fillRef idx="0">
            <a:schemeClr val="dk1"/>
          </a:fillRef>
          <a:effectRef idx="2">
            <a:schemeClr val="dk1"/>
          </a:effectRef>
          <a:fontRef idx="minor">
            <a:schemeClr val="tx1"/>
          </a:fontRef>
        </p:style>
      </p:cxnSp>
      <p:sp>
        <p:nvSpPr>
          <p:cNvPr id="38" name="矩形 37"/>
          <p:cNvSpPr/>
          <p:nvPr/>
        </p:nvSpPr>
        <p:spPr>
          <a:xfrm>
            <a:off x="107504" y="967137"/>
            <a:ext cx="6480720" cy="367240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sp>
        <p:nvSpPr>
          <p:cNvPr id="39" name="矩形 38"/>
          <p:cNvSpPr/>
          <p:nvPr/>
        </p:nvSpPr>
        <p:spPr>
          <a:xfrm>
            <a:off x="467544" y="3231560"/>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dirty="0"/>
          </a:p>
        </p:txBody>
      </p:sp>
      <p:sp>
        <p:nvSpPr>
          <p:cNvPr id="41" name="矩形 40"/>
          <p:cNvSpPr/>
          <p:nvPr/>
        </p:nvSpPr>
        <p:spPr>
          <a:xfrm>
            <a:off x="467544" y="1863408"/>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42" name="Rectangle 5"/>
          <p:cNvSpPr>
            <a:spLocks noChangeArrowheads="1"/>
          </p:cNvSpPr>
          <p:nvPr/>
        </p:nvSpPr>
        <p:spPr bwMode="auto">
          <a:xfrm>
            <a:off x="6876256" y="980728"/>
            <a:ext cx="2102499" cy="1410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zh-CN" altLang="en-US"/>
          </a:p>
        </p:txBody>
      </p:sp>
      <p:sp>
        <p:nvSpPr>
          <p:cNvPr id="43" name="Rectangle 37"/>
          <p:cNvSpPr>
            <a:spLocks noChangeArrowheads="1"/>
          </p:cNvSpPr>
          <p:nvPr/>
        </p:nvSpPr>
        <p:spPr bwMode="auto">
          <a:xfrm>
            <a:off x="7001293" y="1223164"/>
            <a:ext cx="139253" cy="110421"/>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7" name="Rectangle 37"/>
          <p:cNvSpPr>
            <a:spLocks noChangeArrowheads="1"/>
          </p:cNvSpPr>
          <p:nvPr/>
        </p:nvSpPr>
        <p:spPr bwMode="auto">
          <a:xfrm>
            <a:off x="7001293" y="1439188"/>
            <a:ext cx="139253"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8" name="Rectangle 37"/>
          <p:cNvSpPr>
            <a:spLocks noChangeArrowheads="1"/>
          </p:cNvSpPr>
          <p:nvPr/>
        </p:nvSpPr>
        <p:spPr bwMode="auto">
          <a:xfrm>
            <a:off x="7001293" y="1621617"/>
            <a:ext cx="139253"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solidFill>
                <a:schemeClr val="accent3">
                  <a:lumMod val="60000"/>
                  <a:lumOff val="40000"/>
                </a:schemeClr>
              </a:solidFill>
            </a:endParaRPr>
          </a:p>
        </p:txBody>
      </p:sp>
      <p:sp>
        <p:nvSpPr>
          <p:cNvPr id="49" name="Rectangle 37"/>
          <p:cNvSpPr>
            <a:spLocks noChangeArrowheads="1"/>
          </p:cNvSpPr>
          <p:nvPr/>
        </p:nvSpPr>
        <p:spPr bwMode="auto">
          <a:xfrm>
            <a:off x="7001293" y="1837641"/>
            <a:ext cx="139253"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50" name="Rectangle 37"/>
          <p:cNvSpPr>
            <a:spLocks noChangeArrowheads="1"/>
          </p:cNvSpPr>
          <p:nvPr/>
        </p:nvSpPr>
        <p:spPr bwMode="auto">
          <a:xfrm>
            <a:off x="7001293" y="2053665"/>
            <a:ext cx="139253" cy="110421"/>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51" name="Text Box 49"/>
          <p:cNvSpPr txBox="1">
            <a:spLocks noChangeArrowheads="1"/>
          </p:cNvSpPr>
          <p:nvPr/>
        </p:nvSpPr>
        <p:spPr bwMode="auto">
          <a:xfrm>
            <a:off x="7140546" y="1100897"/>
            <a:ext cx="1829053" cy="116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400" b="0" dirty="0">
                <a:solidFill>
                  <a:schemeClr val="bg2"/>
                </a:solidFill>
                <a:ea typeface="宋体" panose="02010600030101010101" pitchFamily="2" charset="-122"/>
              </a:rPr>
              <a:t>Base Entity</a:t>
            </a:r>
          </a:p>
          <a:p>
            <a:pPr algn="l"/>
            <a:r>
              <a:rPr lang="en-US" altLang="zh-CN" sz="1400" b="0" dirty="0">
                <a:solidFill>
                  <a:schemeClr val="bg2"/>
                </a:solidFill>
                <a:ea typeface="宋体" panose="02010600030101010101" pitchFamily="2" charset="-122"/>
              </a:rPr>
              <a:t>Real Entity</a:t>
            </a:r>
          </a:p>
          <a:p>
            <a:pPr algn="l"/>
            <a:r>
              <a:rPr lang="en-US" altLang="zh-CN" sz="1400" dirty="0">
                <a:solidFill>
                  <a:schemeClr val="bg2"/>
                </a:solidFill>
                <a:ea typeface="宋体" panose="02010600030101010101" pitchFamily="2" charset="-122"/>
              </a:rPr>
              <a:t>Ghost</a:t>
            </a:r>
            <a:r>
              <a:rPr lang="en-US" altLang="zh-CN" sz="1400" b="0" dirty="0">
                <a:solidFill>
                  <a:schemeClr val="bg2"/>
                </a:solidFill>
                <a:ea typeface="宋体" panose="02010600030101010101" pitchFamily="2" charset="-122"/>
              </a:rPr>
              <a:t> Entity</a:t>
            </a:r>
            <a:endParaRPr lang="en-AU" altLang="zh-CN" sz="1400" b="0" dirty="0">
              <a:solidFill>
                <a:schemeClr val="bg2"/>
              </a:solidFill>
              <a:ea typeface="宋体" panose="02010600030101010101" pitchFamily="2" charset="-122"/>
            </a:endParaRPr>
          </a:p>
          <a:p>
            <a:pPr algn="l"/>
            <a:r>
              <a:rPr lang="en-US" altLang="zh-CN" sz="1400" dirty="0">
                <a:solidFill>
                  <a:schemeClr val="bg2"/>
                </a:solidFill>
                <a:ea typeface="宋体" panose="02010600030101010101" pitchFamily="2" charset="-122"/>
              </a:rPr>
              <a:t>Player Entity</a:t>
            </a:r>
          </a:p>
          <a:p>
            <a:pPr algn="l"/>
            <a:r>
              <a:rPr lang="en-US" altLang="zh-CN" sz="1400" b="0" dirty="0">
                <a:solidFill>
                  <a:schemeClr val="bg2"/>
                </a:solidFill>
                <a:ea typeface="宋体" panose="02010600030101010101" pitchFamily="2" charset="-122"/>
              </a:rPr>
              <a:t>Client Entity</a:t>
            </a:r>
            <a:endParaRPr lang="en-AU" altLang="zh-CN" sz="1400" b="0" dirty="0">
              <a:solidFill>
                <a:schemeClr val="bg2"/>
              </a:solidFill>
              <a:ea typeface="宋体" panose="02010600030101010101" pitchFamily="2" charset="-122"/>
            </a:endParaRPr>
          </a:p>
        </p:txBody>
      </p:sp>
      <p:sp>
        <p:nvSpPr>
          <p:cNvPr id="58" name="Rectangle 15"/>
          <p:cNvSpPr>
            <a:spLocks noChangeArrowheads="1"/>
          </p:cNvSpPr>
          <p:nvPr/>
        </p:nvSpPr>
        <p:spPr bwMode="auto">
          <a:xfrm>
            <a:off x="3419872" y="2348880"/>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Box 58"/>
          <p:cNvSpPr txBox="1"/>
          <p:nvPr/>
        </p:nvSpPr>
        <p:spPr>
          <a:xfrm>
            <a:off x="3779912" y="2699628"/>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60" name="Rectangle 29"/>
          <p:cNvSpPr>
            <a:spLocks noChangeArrowheads="1"/>
          </p:cNvSpPr>
          <p:nvPr/>
        </p:nvSpPr>
        <p:spPr bwMode="auto">
          <a:xfrm>
            <a:off x="4067944" y="2414057"/>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61" name="TextBox 60"/>
          <p:cNvSpPr txBox="1"/>
          <p:nvPr/>
        </p:nvSpPr>
        <p:spPr>
          <a:xfrm>
            <a:off x="4067944" y="2348880"/>
            <a:ext cx="99828" cy="369332"/>
          </a:xfrm>
          <a:prstGeom prst="rect">
            <a:avLst/>
          </a:prstGeom>
          <a:noFill/>
        </p:spPr>
        <p:txBody>
          <a:bodyPr wrap="square" rtlCol="0">
            <a:spAutoFit/>
          </a:bodyPr>
          <a:lstStyle/>
          <a:p>
            <a:r>
              <a:rPr lang="en-US" altLang="zh-CN" dirty="0"/>
              <a:t>C</a:t>
            </a:r>
            <a:endParaRPr lang="zh-CN" altLang="en-US" dirty="0"/>
          </a:p>
        </p:txBody>
      </p:sp>
      <p:sp>
        <p:nvSpPr>
          <p:cNvPr id="62" name="Rectangle 15"/>
          <p:cNvSpPr>
            <a:spLocks noChangeArrowheads="1"/>
          </p:cNvSpPr>
          <p:nvPr/>
        </p:nvSpPr>
        <p:spPr bwMode="auto">
          <a:xfrm>
            <a:off x="467544" y="1062028"/>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3" name="TextBox 62"/>
          <p:cNvSpPr txBox="1"/>
          <p:nvPr/>
        </p:nvSpPr>
        <p:spPr>
          <a:xfrm>
            <a:off x="827584"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4" name="Rectangle 29"/>
          <p:cNvSpPr>
            <a:spLocks noChangeArrowheads="1"/>
          </p:cNvSpPr>
          <p:nvPr/>
        </p:nvSpPr>
        <p:spPr bwMode="auto">
          <a:xfrm>
            <a:off x="1087796" y="1127205"/>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5" name="TextBox 64"/>
          <p:cNvSpPr txBox="1"/>
          <p:nvPr/>
        </p:nvSpPr>
        <p:spPr>
          <a:xfrm>
            <a:off x="1087796" y="1062028"/>
            <a:ext cx="99828" cy="369332"/>
          </a:xfrm>
          <a:prstGeom prst="rect">
            <a:avLst/>
          </a:prstGeom>
          <a:noFill/>
        </p:spPr>
        <p:txBody>
          <a:bodyPr wrap="square" rtlCol="0">
            <a:spAutoFit/>
          </a:bodyPr>
          <a:lstStyle/>
          <a:p>
            <a:r>
              <a:rPr lang="en-US" altLang="zh-CN" dirty="0"/>
              <a:t>A</a:t>
            </a:r>
            <a:endParaRPr lang="zh-CN" altLang="en-US" dirty="0"/>
          </a:p>
        </p:txBody>
      </p:sp>
      <p:sp>
        <p:nvSpPr>
          <p:cNvPr id="66" name="Rectangle 15"/>
          <p:cNvSpPr>
            <a:spLocks noChangeArrowheads="1"/>
          </p:cNvSpPr>
          <p:nvPr/>
        </p:nvSpPr>
        <p:spPr bwMode="auto">
          <a:xfrm>
            <a:off x="2483768" y="107132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7" name="TextBox 66"/>
          <p:cNvSpPr txBox="1"/>
          <p:nvPr/>
        </p:nvSpPr>
        <p:spPr>
          <a:xfrm>
            <a:off x="2843808" y="1422068"/>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8" name="Rectangle 29"/>
          <p:cNvSpPr>
            <a:spLocks noChangeArrowheads="1"/>
          </p:cNvSpPr>
          <p:nvPr/>
        </p:nvSpPr>
        <p:spPr bwMode="auto">
          <a:xfrm>
            <a:off x="3131840" y="1136497"/>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9" name="TextBox 68"/>
          <p:cNvSpPr txBox="1"/>
          <p:nvPr/>
        </p:nvSpPr>
        <p:spPr>
          <a:xfrm>
            <a:off x="3131840" y="1071320"/>
            <a:ext cx="99828" cy="369332"/>
          </a:xfrm>
          <a:prstGeom prst="rect">
            <a:avLst/>
          </a:prstGeom>
          <a:noFill/>
        </p:spPr>
        <p:txBody>
          <a:bodyPr wrap="square" rtlCol="0">
            <a:spAutoFit/>
          </a:bodyPr>
          <a:lstStyle/>
          <a:p>
            <a:r>
              <a:rPr lang="en-US" altLang="zh-CN" dirty="0"/>
              <a:t>B</a:t>
            </a:r>
            <a:endParaRPr lang="zh-CN" altLang="en-US" dirty="0"/>
          </a:p>
        </p:txBody>
      </p:sp>
      <p:sp>
        <p:nvSpPr>
          <p:cNvPr id="70" name="Rectangle 15"/>
          <p:cNvSpPr>
            <a:spLocks noChangeArrowheads="1"/>
          </p:cNvSpPr>
          <p:nvPr/>
        </p:nvSpPr>
        <p:spPr bwMode="auto">
          <a:xfrm>
            <a:off x="4499992" y="1062028"/>
            <a:ext cx="1656184" cy="657115"/>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1" name="TextBox 70"/>
          <p:cNvSpPr txBox="1"/>
          <p:nvPr/>
        </p:nvSpPr>
        <p:spPr>
          <a:xfrm>
            <a:off x="4860032"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72" name="Rectangle 29"/>
          <p:cNvSpPr>
            <a:spLocks noChangeArrowheads="1"/>
          </p:cNvSpPr>
          <p:nvPr/>
        </p:nvSpPr>
        <p:spPr bwMode="auto">
          <a:xfrm>
            <a:off x="5148064" y="1189921"/>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3" name="TextBox 72"/>
          <p:cNvSpPr txBox="1"/>
          <p:nvPr/>
        </p:nvSpPr>
        <p:spPr>
          <a:xfrm>
            <a:off x="5148064" y="1124744"/>
            <a:ext cx="99828" cy="369332"/>
          </a:xfrm>
          <a:prstGeom prst="rect">
            <a:avLst/>
          </a:prstGeom>
          <a:noFill/>
        </p:spPr>
        <p:txBody>
          <a:bodyPr wrap="square" rtlCol="0">
            <a:spAutoFit/>
          </a:bodyPr>
          <a:lstStyle/>
          <a:p>
            <a:r>
              <a:rPr lang="en-US" altLang="zh-CN" dirty="0"/>
              <a:t>C</a:t>
            </a:r>
            <a:endParaRPr lang="zh-CN" altLang="en-US" dirty="0"/>
          </a:p>
        </p:txBody>
      </p:sp>
      <p:sp>
        <p:nvSpPr>
          <p:cNvPr id="74" name="Rectangle 15"/>
          <p:cNvSpPr>
            <a:spLocks noChangeArrowheads="1"/>
          </p:cNvSpPr>
          <p:nvPr/>
        </p:nvSpPr>
        <p:spPr bwMode="auto">
          <a:xfrm>
            <a:off x="539552" y="379833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 name="Rectangle 29"/>
          <p:cNvSpPr>
            <a:spLocks noChangeArrowheads="1"/>
          </p:cNvSpPr>
          <p:nvPr/>
        </p:nvSpPr>
        <p:spPr bwMode="auto">
          <a:xfrm>
            <a:off x="727756" y="385421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6" name="TextBox 75"/>
          <p:cNvSpPr txBox="1"/>
          <p:nvPr/>
        </p:nvSpPr>
        <p:spPr>
          <a:xfrm>
            <a:off x="539552" y="4149080"/>
            <a:ext cx="1584176" cy="369332"/>
          </a:xfrm>
          <a:prstGeom prst="rect">
            <a:avLst/>
          </a:prstGeom>
          <a:noFill/>
        </p:spPr>
        <p:txBody>
          <a:bodyPr wrap="square" rtlCol="0">
            <a:spAutoFit/>
          </a:bodyPr>
          <a:lstStyle/>
          <a:p>
            <a:r>
              <a:rPr lang="en-US" altLang="zh-CN" b="1" dirty="0"/>
              <a:t>Cellapp1-cell1</a:t>
            </a:r>
            <a:endParaRPr lang="zh-CN" altLang="en-US" b="1" dirty="0"/>
          </a:p>
        </p:txBody>
      </p:sp>
      <p:sp>
        <p:nvSpPr>
          <p:cNvPr id="77" name="TextBox 76"/>
          <p:cNvSpPr txBox="1"/>
          <p:nvPr/>
        </p:nvSpPr>
        <p:spPr>
          <a:xfrm>
            <a:off x="727756" y="3789040"/>
            <a:ext cx="99828" cy="369332"/>
          </a:xfrm>
          <a:prstGeom prst="rect">
            <a:avLst/>
          </a:prstGeom>
          <a:noFill/>
        </p:spPr>
        <p:txBody>
          <a:bodyPr wrap="square" rtlCol="0">
            <a:spAutoFit/>
          </a:bodyPr>
          <a:lstStyle/>
          <a:p>
            <a:r>
              <a:rPr lang="en-US" altLang="zh-CN" dirty="0"/>
              <a:t>A</a:t>
            </a:r>
            <a:endParaRPr lang="zh-CN" altLang="en-US" dirty="0"/>
          </a:p>
        </p:txBody>
      </p:sp>
      <p:sp>
        <p:nvSpPr>
          <p:cNvPr id="78" name="Rectangle 29"/>
          <p:cNvSpPr>
            <a:spLocks noChangeArrowheads="1"/>
          </p:cNvSpPr>
          <p:nvPr/>
        </p:nvSpPr>
        <p:spPr bwMode="auto">
          <a:xfrm>
            <a:off x="1259632" y="386350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TextBox 78"/>
          <p:cNvSpPr txBox="1"/>
          <p:nvPr/>
        </p:nvSpPr>
        <p:spPr>
          <a:xfrm>
            <a:off x="1259632" y="3798332"/>
            <a:ext cx="99828" cy="369332"/>
          </a:xfrm>
          <a:prstGeom prst="rect">
            <a:avLst/>
          </a:prstGeom>
          <a:noFill/>
        </p:spPr>
        <p:txBody>
          <a:bodyPr wrap="square" rtlCol="0">
            <a:spAutoFit/>
          </a:bodyPr>
          <a:lstStyle/>
          <a:p>
            <a:r>
              <a:rPr lang="en-US" altLang="zh-CN" dirty="0"/>
              <a:t>B</a:t>
            </a:r>
            <a:endParaRPr lang="zh-CN" altLang="en-US" dirty="0"/>
          </a:p>
        </p:txBody>
      </p:sp>
      <p:sp>
        <p:nvSpPr>
          <p:cNvPr id="80" name="Rectangle 15"/>
          <p:cNvSpPr>
            <a:spLocks noChangeArrowheads="1"/>
          </p:cNvSpPr>
          <p:nvPr/>
        </p:nvSpPr>
        <p:spPr bwMode="auto">
          <a:xfrm>
            <a:off x="2555776"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1" name="TextBox 80"/>
          <p:cNvSpPr txBox="1"/>
          <p:nvPr/>
        </p:nvSpPr>
        <p:spPr>
          <a:xfrm>
            <a:off x="2583596" y="4158372"/>
            <a:ext cx="1556356" cy="369332"/>
          </a:xfrm>
          <a:prstGeom prst="rect">
            <a:avLst/>
          </a:prstGeom>
          <a:noFill/>
        </p:spPr>
        <p:txBody>
          <a:bodyPr wrap="square" rtlCol="0">
            <a:spAutoFit/>
          </a:bodyPr>
          <a:lstStyle/>
          <a:p>
            <a:r>
              <a:rPr lang="en-US" altLang="zh-CN" b="1" dirty="0"/>
              <a:t>Cellapp2-cell2</a:t>
            </a:r>
            <a:endParaRPr lang="zh-CN" altLang="en-US" b="1" dirty="0"/>
          </a:p>
        </p:txBody>
      </p:sp>
      <p:sp>
        <p:nvSpPr>
          <p:cNvPr id="82" name="Rectangle 29"/>
          <p:cNvSpPr>
            <a:spLocks noChangeArrowheads="1"/>
          </p:cNvSpPr>
          <p:nvPr/>
        </p:nvSpPr>
        <p:spPr bwMode="auto">
          <a:xfrm>
            <a:off x="1763688"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3" name="TextBox 82"/>
          <p:cNvSpPr txBox="1"/>
          <p:nvPr/>
        </p:nvSpPr>
        <p:spPr>
          <a:xfrm>
            <a:off x="1763688" y="3807624"/>
            <a:ext cx="99828" cy="369332"/>
          </a:xfrm>
          <a:prstGeom prst="rect">
            <a:avLst/>
          </a:prstGeom>
          <a:noFill/>
        </p:spPr>
        <p:txBody>
          <a:bodyPr wrap="square" rtlCol="0">
            <a:spAutoFit/>
          </a:bodyPr>
          <a:lstStyle/>
          <a:p>
            <a:r>
              <a:rPr lang="en-US" altLang="zh-CN" dirty="0"/>
              <a:t>C</a:t>
            </a:r>
            <a:endParaRPr lang="zh-CN" altLang="en-US" dirty="0"/>
          </a:p>
        </p:txBody>
      </p:sp>
      <p:sp>
        <p:nvSpPr>
          <p:cNvPr id="84" name="Rectangle 15"/>
          <p:cNvSpPr>
            <a:spLocks noChangeArrowheads="1"/>
          </p:cNvSpPr>
          <p:nvPr/>
        </p:nvSpPr>
        <p:spPr bwMode="auto">
          <a:xfrm>
            <a:off x="4644008"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5" name="TextBox 84"/>
          <p:cNvSpPr txBox="1"/>
          <p:nvPr/>
        </p:nvSpPr>
        <p:spPr>
          <a:xfrm>
            <a:off x="4710290" y="4139788"/>
            <a:ext cx="1517894" cy="369332"/>
          </a:xfrm>
          <a:prstGeom prst="rect">
            <a:avLst/>
          </a:prstGeom>
          <a:noFill/>
        </p:spPr>
        <p:txBody>
          <a:bodyPr wrap="square" rtlCol="0">
            <a:spAutoFit/>
          </a:bodyPr>
          <a:lstStyle/>
          <a:p>
            <a:r>
              <a:rPr lang="en-US" altLang="zh-CN" b="1" dirty="0"/>
              <a:t>Cellapp3-cell3</a:t>
            </a:r>
            <a:endParaRPr lang="zh-CN" altLang="en-US" b="1" dirty="0"/>
          </a:p>
        </p:txBody>
      </p:sp>
      <p:sp>
        <p:nvSpPr>
          <p:cNvPr id="86" name="Rectangle 29"/>
          <p:cNvSpPr>
            <a:spLocks noChangeArrowheads="1"/>
          </p:cNvSpPr>
          <p:nvPr/>
        </p:nvSpPr>
        <p:spPr bwMode="auto">
          <a:xfrm>
            <a:off x="27718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7" name="TextBox 86"/>
          <p:cNvSpPr txBox="1"/>
          <p:nvPr/>
        </p:nvSpPr>
        <p:spPr>
          <a:xfrm>
            <a:off x="2771800" y="3789040"/>
            <a:ext cx="99828" cy="369332"/>
          </a:xfrm>
          <a:prstGeom prst="rect">
            <a:avLst/>
          </a:prstGeom>
          <a:noFill/>
        </p:spPr>
        <p:txBody>
          <a:bodyPr wrap="square" rtlCol="0">
            <a:spAutoFit/>
          </a:bodyPr>
          <a:lstStyle/>
          <a:p>
            <a:r>
              <a:rPr lang="en-US" altLang="zh-CN" dirty="0"/>
              <a:t>A</a:t>
            </a:r>
            <a:endParaRPr lang="zh-CN" altLang="en-US" dirty="0"/>
          </a:p>
        </p:txBody>
      </p:sp>
      <p:sp>
        <p:nvSpPr>
          <p:cNvPr id="88" name="Rectangle 29"/>
          <p:cNvSpPr>
            <a:spLocks noChangeArrowheads="1"/>
          </p:cNvSpPr>
          <p:nvPr/>
        </p:nvSpPr>
        <p:spPr bwMode="auto">
          <a:xfrm>
            <a:off x="33036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9" name="TextBox 88"/>
          <p:cNvSpPr txBox="1"/>
          <p:nvPr/>
        </p:nvSpPr>
        <p:spPr>
          <a:xfrm>
            <a:off x="3303676" y="3798332"/>
            <a:ext cx="99828" cy="369332"/>
          </a:xfrm>
          <a:prstGeom prst="rect">
            <a:avLst/>
          </a:prstGeom>
          <a:noFill/>
        </p:spPr>
        <p:txBody>
          <a:bodyPr wrap="square" rtlCol="0">
            <a:spAutoFit/>
          </a:bodyPr>
          <a:lstStyle/>
          <a:p>
            <a:r>
              <a:rPr lang="en-US" altLang="zh-CN" dirty="0"/>
              <a:t>B</a:t>
            </a:r>
            <a:endParaRPr lang="zh-CN" altLang="en-US" dirty="0"/>
          </a:p>
        </p:txBody>
      </p:sp>
      <p:sp>
        <p:nvSpPr>
          <p:cNvPr id="90" name="Rectangle 29"/>
          <p:cNvSpPr>
            <a:spLocks noChangeArrowheads="1"/>
          </p:cNvSpPr>
          <p:nvPr/>
        </p:nvSpPr>
        <p:spPr bwMode="auto">
          <a:xfrm>
            <a:off x="3807732" y="387280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1" name="TextBox 90"/>
          <p:cNvSpPr txBox="1"/>
          <p:nvPr/>
        </p:nvSpPr>
        <p:spPr>
          <a:xfrm>
            <a:off x="3807732" y="3807624"/>
            <a:ext cx="99828" cy="369332"/>
          </a:xfrm>
          <a:prstGeom prst="rect">
            <a:avLst/>
          </a:prstGeom>
          <a:noFill/>
        </p:spPr>
        <p:txBody>
          <a:bodyPr wrap="square" rtlCol="0">
            <a:spAutoFit/>
          </a:bodyPr>
          <a:lstStyle/>
          <a:p>
            <a:r>
              <a:rPr lang="en-US" altLang="zh-CN" dirty="0"/>
              <a:t>C</a:t>
            </a:r>
            <a:endParaRPr lang="zh-CN" altLang="en-US" dirty="0"/>
          </a:p>
        </p:txBody>
      </p:sp>
      <p:sp>
        <p:nvSpPr>
          <p:cNvPr id="92" name="Rectangle 29"/>
          <p:cNvSpPr>
            <a:spLocks noChangeArrowheads="1"/>
          </p:cNvSpPr>
          <p:nvPr/>
        </p:nvSpPr>
        <p:spPr bwMode="auto">
          <a:xfrm>
            <a:off x="48764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3" name="TextBox 92"/>
          <p:cNvSpPr txBox="1"/>
          <p:nvPr/>
        </p:nvSpPr>
        <p:spPr>
          <a:xfrm>
            <a:off x="4876400" y="3789040"/>
            <a:ext cx="99828" cy="369332"/>
          </a:xfrm>
          <a:prstGeom prst="rect">
            <a:avLst/>
          </a:prstGeom>
          <a:noFill/>
        </p:spPr>
        <p:txBody>
          <a:bodyPr wrap="square" rtlCol="0">
            <a:spAutoFit/>
          </a:bodyPr>
          <a:lstStyle/>
          <a:p>
            <a:r>
              <a:rPr lang="en-US" altLang="zh-CN" dirty="0"/>
              <a:t>A</a:t>
            </a:r>
            <a:endParaRPr lang="zh-CN" altLang="en-US" dirty="0"/>
          </a:p>
        </p:txBody>
      </p:sp>
      <p:sp>
        <p:nvSpPr>
          <p:cNvPr id="94" name="Rectangle 29"/>
          <p:cNvSpPr>
            <a:spLocks noChangeArrowheads="1"/>
          </p:cNvSpPr>
          <p:nvPr/>
        </p:nvSpPr>
        <p:spPr bwMode="auto">
          <a:xfrm>
            <a:off x="54082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5" name="TextBox 94"/>
          <p:cNvSpPr txBox="1"/>
          <p:nvPr/>
        </p:nvSpPr>
        <p:spPr>
          <a:xfrm>
            <a:off x="5408276" y="3798332"/>
            <a:ext cx="99828" cy="369332"/>
          </a:xfrm>
          <a:prstGeom prst="rect">
            <a:avLst/>
          </a:prstGeom>
          <a:noFill/>
        </p:spPr>
        <p:txBody>
          <a:bodyPr wrap="square" rtlCol="0">
            <a:spAutoFit/>
          </a:bodyPr>
          <a:lstStyle/>
          <a:p>
            <a:r>
              <a:rPr lang="en-US" altLang="zh-CN" dirty="0"/>
              <a:t>B</a:t>
            </a:r>
            <a:endParaRPr lang="zh-CN" altLang="en-US" dirty="0"/>
          </a:p>
        </p:txBody>
      </p:sp>
      <p:sp>
        <p:nvSpPr>
          <p:cNvPr id="96" name="Rectangle 29"/>
          <p:cNvSpPr>
            <a:spLocks noChangeArrowheads="1"/>
          </p:cNvSpPr>
          <p:nvPr/>
        </p:nvSpPr>
        <p:spPr bwMode="auto">
          <a:xfrm>
            <a:off x="5912332"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7" name="TextBox 96"/>
          <p:cNvSpPr txBox="1"/>
          <p:nvPr/>
        </p:nvSpPr>
        <p:spPr>
          <a:xfrm>
            <a:off x="5912332" y="3807624"/>
            <a:ext cx="99828" cy="369332"/>
          </a:xfrm>
          <a:prstGeom prst="rect">
            <a:avLst/>
          </a:prstGeom>
          <a:noFill/>
        </p:spPr>
        <p:txBody>
          <a:bodyPr wrap="square" rtlCol="0">
            <a:spAutoFit/>
          </a:bodyPr>
          <a:lstStyle/>
          <a:p>
            <a:r>
              <a:rPr lang="en-US" altLang="zh-CN" dirty="0"/>
              <a:t>C</a:t>
            </a:r>
            <a:endParaRPr lang="zh-CN" altLang="en-US" dirty="0"/>
          </a:p>
        </p:txBody>
      </p:sp>
      <p:sp>
        <p:nvSpPr>
          <p:cNvPr id="104" name="矩形 103"/>
          <p:cNvSpPr/>
          <p:nvPr/>
        </p:nvSpPr>
        <p:spPr>
          <a:xfrm>
            <a:off x="96288" y="4751386"/>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105" name="矩形 104"/>
          <p:cNvSpPr/>
          <p:nvPr/>
        </p:nvSpPr>
        <p:spPr>
          <a:xfrm>
            <a:off x="3375684" y="4751386"/>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106" name="矩形 105"/>
          <p:cNvSpPr/>
          <p:nvPr/>
        </p:nvSpPr>
        <p:spPr>
          <a:xfrm>
            <a:off x="96288" y="5733256"/>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107" name="Rectangle 29"/>
          <p:cNvSpPr>
            <a:spLocks noChangeArrowheads="1"/>
          </p:cNvSpPr>
          <p:nvPr/>
        </p:nvSpPr>
        <p:spPr bwMode="auto">
          <a:xfrm>
            <a:off x="1043608" y="48623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08" name="TextBox 107"/>
          <p:cNvSpPr txBox="1"/>
          <p:nvPr/>
        </p:nvSpPr>
        <p:spPr>
          <a:xfrm>
            <a:off x="1043608" y="4797152"/>
            <a:ext cx="99828" cy="369332"/>
          </a:xfrm>
          <a:prstGeom prst="rect">
            <a:avLst/>
          </a:prstGeom>
          <a:noFill/>
        </p:spPr>
        <p:txBody>
          <a:bodyPr wrap="square" rtlCol="0">
            <a:spAutoFit/>
          </a:bodyPr>
          <a:lstStyle/>
          <a:p>
            <a:r>
              <a:rPr lang="en-US" altLang="zh-CN" dirty="0"/>
              <a:t>A</a:t>
            </a:r>
            <a:endParaRPr lang="zh-CN" altLang="en-US" dirty="0"/>
          </a:p>
        </p:txBody>
      </p:sp>
      <p:sp>
        <p:nvSpPr>
          <p:cNvPr id="109" name="Rectangle 29"/>
          <p:cNvSpPr>
            <a:spLocks noChangeArrowheads="1"/>
          </p:cNvSpPr>
          <p:nvPr/>
        </p:nvSpPr>
        <p:spPr bwMode="auto">
          <a:xfrm>
            <a:off x="2167916" y="487162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0" name="TextBox 109"/>
          <p:cNvSpPr txBox="1"/>
          <p:nvPr/>
        </p:nvSpPr>
        <p:spPr>
          <a:xfrm>
            <a:off x="2167916" y="4806444"/>
            <a:ext cx="99828" cy="369332"/>
          </a:xfrm>
          <a:prstGeom prst="rect">
            <a:avLst/>
          </a:prstGeom>
          <a:noFill/>
        </p:spPr>
        <p:txBody>
          <a:bodyPr wrap="square" rtlCol="0">
            <a:spAutoFit/>
          </a:bodyPr>
          <a:lstStyle/>
          <a:p>
            <a:r>
              <a:rPr lang="en-US" altLang="zh-CN" dirty="0"/>
              <a:t>B</a:t>
            </a:r>
            <a:endParaRPr lang="zh-CN" altLang="en-US" dirty="0"/>
          </a:p>
        </p:txBody>
      </p:sp>
      <p:sp>
        <p:nvSpPr>
          <p:cNvPr id="111" name="Rectangle 29"/>
          <p:cNvSpPr>
            <a:spLocks noChangeArrowheads="1"/>
          </p:cNvSpPr>
          <p:nvPr/>
        </p:nvSpPr>
        <p:spPr bwMode="auto">
          <a:xfrm>
            <a:off x="4887852" y="48530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2" name="TextBox 111"/>
          <p:cNvSpPr txBox="1"/>
          <p:nvPr/>
        </p:nvSpPr>
        <p:spPr>
          <a:xfrm>
            <a:off x="4904220" y="4787860"/>
            <a:ext cx="99828" cy="369332"/>
          </a:xfrm>
          <a:prstGeom prst="rect">
            <a:avLst/>
          </a:prstGeom>
          <a:noFill/>
        </p:spPr>
        <p:txBody>
          <a:bodyPr wrap="square" rtlCol="0">
            <a:spAutoFit/>
          </a:bodyPr>
          <a:lstStyle/>
          <a:p>
            <a:r>
              <a:rPr lang="en-US" altLang="zh-CN" dirty="0"/>
              <a:t>C</a:t>
            </a:r>
            <a:endParaRPr lang="zh-CN" altLang="en-US" dirty="0"/>
          </a:p>
        </p:txBody>
      </p:sp>
      <p:sp>
        <p:nvSpPr>
          <p:cNvPr id="113" name="Rectangle 29"/>
          <p:cNvSpPr>
            <a:spLocks noChangeArrowheads="1"/>
          </p:cNvSpPr>
          <p:nvPr/>
        </p:nvSpPr>
        <p:spPr bwMode="auto">
          <a:xfrm>
            <a:off x="4644008" y="5347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4" name="TextBox 113"/>
          <p:cNvSpPr txBox="1"/>
          <p:nvPr/>
        </p:nvSpPr>
        <p:spPr>
          <a:xfrm>
            <a:off x="4660376" y="5282624"/>
            <a:ext cx="99828" cy="369332"/>
          </a:xfrm>
          <a:prstGeom prst="rect">
            <a:avLst/>
          </a:prstGeom>
          <a:noFill/>
        </p:spPr>
        <p:txBody>
          <a:bodyPr wrap="square" rtlCol="0">
            <a:spAutoFit/>
          </a:bodyPr>
          <a:lstStyle/>
          <a:p>
            <a:r>
              <a:rPr lang="en-US" altLang="zh-CN" dirty="0"/>
              <a:t>A</a:t>
            </a:r>
            <a:endParaRPr lang="zh-CN" altLang="en-US" dirty="0"/>
          </a:p>
        </p:txBody>
      </p:sp>
      <p:sp>
        <p:nvSpPr>
          <p:cNvPr id="115" name="Rectangle 29"/>
          <p:cNvSpPr>
            <a:spLocks noChangeArrowheads="1"/>
          </p:cNvSpPr>
          <p:nvPr/>
        </p:nvSpPr>
        <p:spPr bwMode="auto">
          <a:xfrm>
            <a:off x="5192252" y="535709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6" name="TextBox 115"/>
          <p:cNvSpPr txBox="1"/>
          <p:nvPr/>
        </p:nvSpPr>
        <p:spPr>
          <a:xfrm>
            <a:off x="5175884" y="5291916"/>
            <a:ext cx="99828" cy="369332"/>
          </a:xfrm>
          <a:prstGeom prst="rect">
            <a:avLst/>
          </a:prstGeom>
          <a:noFill/>
        </p:spPr>
        <p:txBody>
          <a:bodyPr wrap="square" rtlCol="0">
            <a:spAutoFit/>
          </a:bodyPr>
          <a:lstStyle/>
          <a:p>
            <a:r>
              <a:rPr lang="en-US" altLang="zh-CN" dirty="0"/>
              <a:t>B</a:t>
            </a:r>
            <a:endParaRPr lang="zh-CN" altLang="en-US" dirty="0"/>
          </a:p>
        </p:txBody>
      </p:sp>
      <p:sp>
        <p:nvSpPr>
          <p:cNvPr id="120" name="Rectangle 29"/>
          <p:cNvSpPr>
            <a:spLocks noChangeArrowheads="1"/>
          </p:cNvSpPr>
          <p:nvPr/>
        </p:nvSpPr>
        <p:spPr bwMode="auto">
          <a:xfrm>
            <a:off x="1735868"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1" name="TextBox 120"/>
          <p:cNvSpPr txBox="1"/>
          <p:nvPr/>
        </p:nvSpPr>
        <p:spPr>
          <a:xfrm>
            <a:off x="1735868" y="1052736"/>
            <a:ext cx="99828" cy="369332"/>
          </a:xfrm>
          <a:prstGeom prst="rect">
            <a:avLst/>
          </a:prstGeom>
          <a:noFill/>
        </p:spPr>
        <p:txBody>
          <a:bodyPr wrap="square" rtlCol="0">
            <a:spAutoFit/>
          </a:bodyPr>
          <a:lstStyle/>
          <a:p>
            <a:r>
              <a:rPr lang="en-US" altLang="zh-CN" dirty="0"/>
              <a:t>B</a:t>
            </a:r>
            <a:endParaRPr lang="zh-CN" altLang="en-US" dirty="0"/>
          </a:p>
        </p:txBody>
      </p:sp>
      <p:sp>
        <p:nvSpPr>
          <p:cNvPr id="122" name="Rectangle 29"/>
          <p:cNvSpPr>
            <a:spLocks noChangeArrowheads="1"/>
          </p:cNvSpPr>
          <p:nvPr/>
        </p:nvSpPr>
        <p:spPr bwMode="auto">
          <a:xfrm>
            <a:off x="1735868"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3" name="TextBox 122"/>
          <p:cNvSpPr txBox="1"/>
          <p:nvPr/>
        </p:nvSpPr>
        <p:spPr>
          <a:xfrm>
            <a:off x="1735868" y="1331476"/>
            <a:ext cx="99828" cy="369332"/>
          </a:xfrm>
          <a:prstGeom prst="rect">
            <a:avLst/>
          </a:prstGeom>
          <a:noFill/>
        </p:spPr>
        <p:txBody>
          <a:bodyPr wrap="square" rtlCol="0">
            <a:spAutoFit/>
          </a:bodyPr>
          <a:lstStyle/>
          <a:p>
            <a:r>
              <a:rPr lang="en-US" altLang="zh-CN" dirty="0"/>
              <a:t>C</a:t>
            </a:r>
            <a:endParaRPr lang="zh-CN" altLang="en-US" dirty="0"/>
          </a:p>
        </p:txBody>
      </p:sp>
      <p:sp>
        <p:nvSpPr>
          <p:cNvPr id="124" name="Rectangle 29"/>
          <p:cNvSpPr>
            <a:spLocks noChangeArrowheads="1"/>
          </p:cNvSpPr>
          <p:nvPr/>
        </p:nvSpPr>
        <p:spPr bwMode="auto">
          <a:xfrm>
            <a:off x="3779912"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5" name="TextBox 124"/>
          <p:cNvSpPr txBox="1"/>
          <p:nvPr/>
        </p:nvSpPr>
        <p:spPr>
          <a:xfrm>
            <a:off x="3779912" y="1052736"/>
            <a:ext cx="99828" cy="369332"/>
          </a:xfrm>
          <a:prstGeom prst="rect">
            <a:avLst/>
          </a:prstGeom>
          <a:noFill/>
        </p:spPr>
        <p:txBody>
          <a:bodyPr wrap="square" rtlCol="0">
            <a:spAutoFit/>
          </a:bodyPr>
          <a:lstStyle/>
          <a:p>
            <a:r>
              <a:rPr lang="en-US" altLang="zh-CN" dirty="0"/>
              <a:t>A</a:t>
            </a:r>
            <a:endParaRPr lang="zh-CN" altLang="en-US" dirty="0"/>
          </a:p>
        </p:txBody>
      </p:sp>
      <p:sp>
        <p:nvSpPr>
          <p:cNvPr id="126" name="Rectangle 29"/>
          <p:cNvSpPr>
            <a:spLocks noChangeArrowheads="1"/>
          </p:cNvSpPr>
          <p:nvPr/>
        </p:nvSpPr>
        <p:spPr bwMode="auto">
          <a:xfrm>
            <a:off x="3779912"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7" name="TextBox 126"/>
          <p:cNvSpPr txBox="1"/>
          <p:nvPr/>
        </p:nvSpPr>
        <p:spPr>
          <a:xfrm>
            <a:off x="3779912" y="1331476"/>
            <a:ext cx="99828" cy="369332"/>
          </a:xfrm>
          <a:prstGeom prst="rect">
            <a:avLst/>
          </a:prstGeom>
          <a:noFill/>
        </p:spPr>
        <p:txBody>
          <a:bodyPr wrap="square" rtlCol="0">
            <a:spAutoFit/>
          </a:bodyPr>
          <a:lstStyle/>
          <a:p>
            <a:r>
              <a:rPr lang="en-US" altLang="zh-CN" dirty="0"/>
              <a:t>C</a:t>
            </a:r>
            <a:endParaRPr lang="zh-CN" altLang="en-US" dirty="0"/>
          </a:p>
        </p:txBody>
      </p:sp>
      <p:sp>
        <p:nvSpPr>
          <p:cNvPr id="128" name="Rectangle 29"/>
          <p:cNvSpPr>
            <a:spLocks noChangeArrowheads="1"/>
          </p:cNvSpPr>
          <p:nvPr/>
        </p:nvSpPr>
        <p:spPr bwMode="auto">
          <a:xfrm>
            <a:off x="5768316"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9" name="TextBox 128"/>
          <p:cNvSpPr txBox="1"/>
          <p:nvPr/>
        </p:nvSpPr>
        <p:spPr>
          <a:xfrm>
            <a:off x="5768316" y="1052736"/>
            <a:ext cx="99828" cy="369332"/>
          </a:xfrm>
          <a:prstGeom prst="rect">
            <a:avLst/>
          </a:prstGeom>
          <a:noFill/>
        </p:spPr>
        <p:txBody>
          <a:bodyPr wrap="square" rtlCol="0">
            <a:spAutoFit/>
          </a:bodyPr>
          <a:lstStyle/>
          <a:p>
            <a:r>
              <a:rPr lang="en-US" altLang="zh-CN" dirty="0"/>
              <a:t>A</a:t>
            </a:r>
            <a:endParaRPr lang="zh-CN" altLang="en-US" dirty="0"/>
          </a:p>
        </p:txBody>
      </p:sp>
      <p:sp>
        <p:nvSpPr>
          <p:cNvPr id="130" name="Rectangle 29"/>
          <p:cNvSpPr>
            <a:spLocks noChangeArrowheads="1"/>
          </p:cNvSpPr>
          <p:nvPr/>
        </p:nvSpPr>
        <p:spPr bwMode="auto">
          <a:xfrm>
            <a:off x="5768316"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31" name="TextBox 130"/>
          <p:cNvSpPr txBox="1"/>
          <p:nvPr/>
        </p:nvSpPr>
        <p:spPr>
          <a:xfrm>
            <a:off x="5768316" y="1331476"/>
            <a:ext cx="99828" cy="369332"/>
          </a:xfrm>
          <a:prstGeom prst="rect">
            <a:avLst/>
          </a:prstGeom>
          <a:noFill/>
        </p:spPr>
        <p:txBody>
          <a:bodyPr wrap="square" rtlCol="0">
            <a:spAutoFit/>
          </a:bodyPr>
          <a:lstStyle/>
          <a:p>
            <a:r>
              <a:rPr lang="en-US" altLang="zh-CN" dirty="0"/>
              <a:t>B</a:t>
            </a:r>
            <a:endParaRPr lang="zh-CN" altLang="en-US" dirty="0"/>
          </a:p>
        </p:txBody>
      </p:sp>
      <p:sp>
        <p:nvSpPr>
          <p:cNvPr id="132" name="右大括号 131"/>
          <p:cNvSpPr/>
          <p:nvPr/>
        </p:nvSpPr>
        <p:spPr>
          <a:xfrm>
            <a:off x="6660232" y="4748407"/>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TextBox 132"/>
          <p:cNvSpPr txBox="1"/>
          <p:nvPr/>
        </p:nvSpPr>
        <p:spPr>
          <a:xfrm>
            <a:off x="6943352" y="5538718"/>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175" name="任意多边形 174"/>
          <p:cNvSpPr/>
          <p:nvPr/>
        </p:nvSpPr>
        <p:spPr>
          <a:xfrm>
            <a:off x="1310054" y="1380392"/>
            <a:ext cx="29051" cy="131885"/>
          </a:xfrm>
          <a:custGeom>
            <a:avLst/>
            <a:gdLst>
              <a:gd name="connsiteX0" fmla="*/ 0 w 29051"/>
              <a:gd name="connsiteY0" fmla="*/ 0 h 131885"/>
              <a:gd name="connsiteX1" fmla="*/ 26377 w 29051"/>
              <a:gd name="connsiteY1" fmla="*/ 131885 h 131885"/>
            </a:gdLst>
            <a:ahLst/>
            <a:cxnLst>
              <a:cxn ang="0">
                <a:pos x="connsiteX0" y="connsiteY0"/>
              </a:cxn>
              <a:cxn ang="0">
                <a:pos x="connsiteX1" y="connsiteY1"/>
              </a:cxn>
            </a:cxnLst>
            <a:rect l="l" t="t" r="r" b="b"/>
            <a:pathLst>
              <a:path w="29051" h="131885">
                <a:moveTo>
                  <a:pt x="0" y="0"/>
                </a:moveTo>
                <a:cubicBezTo>
                  <a:pt x="41456" y="69093"/>
                  <a:pt x="26377" y="26873"/>
                  <a:pt x="26377" y="131885"/>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7" name="直接箭头连接符 176"/>
          <p:cNvCxnSpPr/>
          <p:nvPr/>
        </p:nvCxnSpPr>
        <p:spPr>
          <a:xfrm flipH="1" flipV="1">
            <a:off x="1287452" y="1380392"/>
            <a:ext cx="163247" cy="101043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2" name="Rectangle 15"/>
          <p:cNvSpPr>
            <a:spLocks noChangeArrowheads="1"/>
          </p:cNvSpPr>
          <p:nvPr/>
        </p:nvSpPr>
        <p:spPr bwMode="auto">
          <a:xfrm>
            <a:off x="1403648" y="2339588"/>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Rectangle 29"/>
          <p:cNvSpPr>
            <a:spLocks noChangeArrowheads="1"/>
          </p:cNvSpPr>
          <p:nvPr/>
        </p:nvSpPr>
        <p:spPr bwMode="auto">
          <a:xfrm>
            <a:off x="1591852" y="2395473"/>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4" name="TextBox 53"/>
          <p:cNvSpPr txBox="1"/>
          <p:nvPr/>
        </p:nvSpPr>
        <p:spPr>
          <a:xfrm>
            <a:off x="1763688" y="2690336"/>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55" name="TextBox 54"/>
          <p:cNvSpPr txBox="1"/>
          <p:nvPr/>
        </p:nvSpPr>
        <p:spPr>
          <a:xfrm>
            <a:off x="1591852" y="2330296"/>
            <a:ext cx="99828" cy="369332"/>
          </a:xfrm>
          <a:prstGeom prst="rect">
            <a:avLst/>
          </a:prstGeom>
          <a:noFill/>
        </p:spPr>
        <p:txBody>
          <a:bodyPr wrap="square" rtlCol="0">
            <a:spAutoFit/>
          </a:bodyPr>
          <a:lstStyle/>
          <a:p>
            <a:r>
              <a:rPr lang="en-US" altLang="zh-CN" dirty="0"/>
              <a:t>A</a:t>
            </a:r>
            <a:endParaRPr lang="zh-CN" altLang="en-US" dirty="0"/>
          </a:p>
        </p:txBody>
      </p:sp>
      <p:sp>
        <p:nvSpPr>
          <p:cNvPr id="56" name="Rectangle 29"/>
          <p:cNvSpPr>
            <a:spLocks noChangeArrowheads="1"/>
          </p:cNvSpPr>
          <p:nvPr/>
        </p:nvSpPr>
        <p:spPr bwMode="auto">
          <a:xfrm>
            <a:off x="2339752" y="2404765"/>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7" name="TextBox 56"/>
          <p:cNvSpPr txBox="1"/>
          <p:nvPr/>
        </p:nvSpPr>
        <p:spPr>
          <a:xfrm>
            <a:off x="2339752" y="2339588"/>
            <a:ext cx="99828" cy="369332"/>
          </a:xfrm>
          <a:prstGeom prst="rect">
            <a:avLst/>
          </a:prstGeom>
          <a:noFill/>
        </p:spPr>
        <p:txBody>
          <a:bodyPr wrap="square" rtlCol="0">
            <a:spAutoFit/>
          </a:bodyPr>
          <a:lstStyle/>
          <a:p>
            <a:r>
              <a:rPr lang="en-US" altLang="zh-CN" dirty="0"/>
              <a:t>B</a:t>
            </a:r>
            <a:endParaRPr lang="zh-CN" altLang="en-US" dirty="0"/>
          </a:p>
        </p:txBody>
      </p:sp>
      <p:sp>
        <p:nvSpPr>
          <p:cNvPr id="178" name="圆角矩形标注 177"/>
          <p:cNvSpPr/>
          <p:nvPr/>
        </p:nvSpPr>
        <p:spPr>
          <a:xfrm>
            <a:off x="6847385" y="4038509"/>
            <a:ext cx="2160240" cy="1117849"/>
          </a:xfrm>
          <a:prstGeom prst="wedgeRoundRectCallout">
            <a:avLst>
              <a:gd name="adj1" fmla="val -325885"/>
              <a:gd name="adj2" fmla="val -52855"/>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gn="r">
              <a:lnSpc>
                <a:spcPct val="93000"/>
              </a:lnSpc>
              <a:spcBef>
                <a:spcPct val="0"/>
              </a:spcBef>
              <a:buClr>
                <a:srgbClr val="FFFFFF"/>
              </a:buClr>
              <a:buSzPct val="100000"/>
              <a:buFont typeface="Arial" panose="020B0604020202020204" pitchFamily="34" charset="0"/>
              <a:buNone/>
            </a:pPr>
            <a:r>
              <a:rPr lang="zh-CN" altLang="en-AU" b="1" dirty="0">
                <a:solidFill>
                  <a:srgbClr val="C00000"/>
                </a:solidFill>
                <a:ea typeface="宋体" panose="02010600030101010101" pitchFamily="2" charset="-122"/>
              </a:rPr>
              <a:t>在</a:t>
            </a:r>
            <a:r>
              <a:rPr lang="en-AU" altLang="zh-CN" b="1" dirty="0">
                <a:solidFill>
                  <a:srgbClr val="C00000"/>
                </a:solidFill>
                <a:ea typeface="宋体" panose="02010600030101010101" pitchFamily="2" charset="-122"/>
              </a:rPr>
              <a:t>cell</a:t>
            </a:r>
            <a:r>
              <a:rPr lang="zh-CN" altLang="en-AU" b="1" dirty="0">
                <a:solidFill>
                  <a:srgbClr val="C00000"/>
                </a:solidFill>
                <a:ea typeface="宋体" panose="02010600030101010101" pitchFamily="2" charset="-122"/>
              </a:rPr>
              <a:t>上调用 </a:t>
            </a:r>
            <a:r>
              <a:rPr lang="en-AU" altLang="zh-CN" b="1" dirty="0" err="1">
                <a:solidFill>
                  <a:srgbClr val="C00000"/>
                </a:solidFill>
              </a:rPr>
              <a:t>A.ownClient.chat</a:t>
            </a:r>
            <a:r>
              <a:rPr lang="en-AU" altLang="zh-CN" b="1" dirty="0">
                <a:solidFill>
                  <a:srgbClr val="C00000"/>
                </a:solidFill>
              </a:rPr>
              <a:t>() </a:t>
            </a:r>
          </a:p>
        </p:txBody>
      </p:sp>
      <p:sp>
        <p:nvSpPr>
          <p:cNvPr id="180" name="圆角矩形标注 179"/>
          <p:cNvSpPr/>
          <p:nvPr/>
        </p:nvSpPr>
        <p:spPr>
          <a:xfrm>
            <a:off x="6782271" y="2758862"/>
            <a:ext cx="2225353" cy="945396"/>
          </a:xfrm>
          <a:prstGeom prst="wedgeRoundRectCallout">
            <a:avLst>
              <a:gd name="adj1" fmla="val -297006"/>
              <a:gd name="adj2" fmla="val -205344"/>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nSpc>
                <a:spcPct val="93000"/>
              </a:lnSpc>
              <a:spcBef>
                <a:spcPct val="0"/>
              </a:spcBef>
              <a:buClr>
                <a:srgbClr val="FFFFFF"/>
              </a:buClr>
              <a:buSzPct val="100000"/>
            </a:pPr>
            <a:r>
              <a:rPr lang="zh-CN" altLang="en-AU" dirty="0">
                <a:solidFill>
                  <a:srgbClr val="C00000"/>
                </a:solidFill>
                <a:ea typeface="宋体" panose="02010600030101010101" pitchFamily="2" charset="-122"/>
              </a:rPr>
              <a:t>导致</a:t>
            </a:r>
            <a:r>
              <a:rPr lang="en-AU" altLang="zh-CN" dirty="0" err="1">
                <a:solidFill>
                  <a:srgbClr val="C00000"/>
                </a:solidFill>
              </a:rPr>
              <a:t>A.chat</a:t>
            </a:r>
            <a:r>
              <a:rPr lang="en-AU" altLang="zh-CN" dirty="0">
                <a:solidFill>
                  <a:srgbClr val="C00000"/>
                </a:solidFill>
              </a:rPr>
              <a:t>()</a:t>
            </a:r>
            <a:r>
              <a:rPr lang="zh-CN" altLang="en-AU" dirty="0">
                <a:solidFill>
                  <a:srgbClr val="C00000"/>
                </a:solidFill>
                <a:ea typeface="宋体" panose="02010600030101010101" pitchFamily="2" charset="-122"/>
              </a:rPr>
              <a:t>被调用</a:t>
            </a:r>
            <a:endParaRPr lang="en-AU" altLang="zh-CN" dirty="0">
              <a:solidFill>
                <a:srgbClr val="C00000"/>
              </a:solidFill>
            </a:endParaRPr>
          </a:p>
        </p:txBody>
      </p:sp>
      <p:cxnSp>
        <p:nvCxnSpPr>
          <p:cNvPr id="182" name="直接箭头连接符 181"/>
          <p:cNvCxnSpPr/>
          <p:nvPr/>
        </p:nvCxnSpPr>
        <p:spPr>
          <a:xfrm flipV="1">
            <a:off x="849678" y="2987411"/>
            <a:ext cx="601021" cy="82021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98" name="Rectangle 29"/>
          <p:cNvSpPr>
            <a:spLocks noChangeArrowheads="1"/>
          </p:cNvSpPr>
          <p:nvPr/>
        </p:nvSpPr>
        <p:spPr bwMode="auto">
          <a:xfrm>
            <a:off x="1636040" y="5366385"/>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9" name="TextBox 98"/>
          <p:cNvSpPr txBox="1"/>
          <p:nvPr/>
        </p:nvSpPr>
        <p:spPr>
          <a:xfrm>
            <a:off x="1619672" y="5301208"/>
            <a:ext cx="99828" cy="369332"/>
          </a:xfrm>
          <a:prstGeom prst="rect">
            <a:avLst/>
          </a:prstGeom>
          <a:noFill/>
        </p:spPr>
        <p:txBody>
          <a:bodyPr wrap="square" rtlCol="0">
            <a:spAutoFit/>
          </a:bodyPr>
          <a:lstStyle/>
          <a:p>
            <a:r>
              <a:rPr lang="en-US" altLang="zh-CN" dirty="0"/>
              <a:t>C</a:t>
            </a:r>
            <a:endParaRPr lang="zh-CN" altLang="en-US" dirty="0"/>
          </a:p>
        </p:txBody>
      </p:sp>
      <p:sp>
        <p:nvSpPr>
          <p:cNvPr id="3" name="文本框 2"/>
          <p:cNvSpPr txBox="1"/>
          <p:nvPr/>
        </p:nvSpPr>
        <p:spPr>
          <a:xfrm>
            <a:off x="5652120" y="2388184"/>
            <a:ext cx="3516027" cy="369332"/>
          </a:xfrm>
          <a:prstGeom prst="rect">
            <a:avLst/>
          </a:prstGeom>
          <a:noFill/>
        </p:spPr>
        <p:txBody>
          <a:bodyPr wrap="none" rtlCol="0">
            <a:spAutoFit/>
          </a:bodyPr>
          <a:lstStyle/>
          <a:p>
            <a:r>
              <a:rPr lang="zh-CN" altLang="en-US" dirty="0">
                <a:solidFill>
                  <a:srgbClr val="FF0000"/>
                </a:solidFill>
              </a:rPr>
              <a:t>其他</a:t>
            </a:r>
            <a:r>
              <a:rPr lang="en-US" altLang="zh-CN" dirty="0">
                <a:solidFill>
                  <a:srgbClr val="FF0000"/>
                </a:solidFill>
              </a:rPr>
              <a:t>client</a:t>
            </a:r>
            <a:r>
              <a:rPr lang="zh-CN" altLang="en-US" dirty="0">
                <a:solidFill>
                  <a:srgbClr val="FF0000"/>
                </a:solidFill>
              </a:rPr>
              <a:t>上的</a:t>
            </a:r>
            <a:r>
              <a:rPr lang="en-US" altLang="zh-CN" dirty="0" err="1">
                <a:solidFill>
                  <a:srgbClr val="FF0000"/>
                </a:solidFill>
              </a:rPr>
              <a:t>A.chat</a:t>
            </a:r>
            <a:r>
              <a:rPr lang="en-US" altLang="zh-CN" dirty="0">
                <a:solidFill>
                  <a:srgbClr val="FF0000"/>
                </a:solidFill>
              </a:rPr>
              <a:t>()</a:t>
            </a:r>
            <a:r>
              <a:rPr lang="zh-CN" altLang="en-US" dirty="0">
                <a:solidFill>
                  <a:srgbClr val="FF0000"/>
                </a:solidFill>
              </a:rPr>
              <a:t>不会被调用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rPr>
              <a:t>Entity.allClients</a:t>
            </a:r>
            <a:r>
              <a:rPr lang="en-US" altLang="zh-CN" sz="4900" b="1" dirty="0">
                <a:solidFill>
                  <a:schemeClr val="accent1"/>
                </a:solidFill>
                <a:latin typeface="+mn-ea"/>
              </a:rPr>
              <a:t> </a:t>
            </a:r>
            <a:r>
              <a:rPr lang="zh-CN" altLang="en-US" sz="4900" b="1" dirty="0">
                <a:solidFill>
                  <a:schemeClr val="accent1"/>
                </a:solidFill>
                <a:latin typeface="+mn-ea"/>
              </a:rPr>
              <a:t>方法调用示例</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err="1"/>
              <a:t>self.allClients.chat</a:t>
            </a:r>
            <a:r>
              <a:rPr lang="en-GB" altLang="zh-CN" sz="2000" dirty="0"/>
              <a:t>() </a:t>
            </a:r>
            <a:r>
              <a:rPr lang="zh-CN" altLang="en-GB" sz="2000" dirty="0">
                <a:ea typeface="宋体" panose="02010600030101010101" pitchFamily="2" charset="-122"/>
              </a:rPr>
              <a:t>使得所有</a:t>
            </a:r>
            <a:r>
              <a:rPr lang="zh-CN" altLang="en-GB" sz="2000" dirty="0">
                <a:solidFill>
                  <a:srgbClr val="00B0F0"/>
                </a:solidFill>
                <a:ea typeface="宋体" panose="02010600030101010101" pitchFamily="2" charset="-122"/>
              </a:rPr>
              <a:t>可以看到</a:t>
            </a:r>
            <a:r>
              <a:rPr lang="en-GB" altLang="zh-CN" sz="2000" dirty="0">
                <a:solidFill>
                  <a:srgbClr val="00B0F0"/>
                </a:solidFill>
                <a:ea typeface="宋体" panose="02010600030101010101" pitchFamily="2" charset="-122"/>
              </a:rPr>
              <a:t>A</a:t>
            </a:r>
            <a:r>
              <a:rPr lang="zh-CN" altLang="en-GB" sz="2000" dirty="0">
                <a:solidFill>
                  <a:srgbClr val="00B0F0"/>
                </a:solidFill>
                <a:ea typeface="宋体" panose="02010600030101010101" pitchFamily="2" charset="-122"/>
              </a:rPr>
              <a:t>的玩家</a:t>
            </a:r>
            <a:r>
              <a:rPr lang="zh-CN" altLang="en-GB" sz="2000" dirty="0">
                <a:ea typeface="宋体" panose="02010600030101010101" pitchFamily="2" charset="-122"/>
              </a:rPr>
              <a:t>客户端上的</a:t>
            </a:r>
            <a:r>
              <a:rPr lang="en-GB" altLang="zh-CN" sz="2000" dirty="0">
                <a:ea typeface="宋体" panose="02010600030101010101" pitchFamily="2" charset="-122"/>
              </a:rPr>
              <a:t>entity A</a:t>
            </a:r>
            <a:r>
              <a:rPr lang="zh-CN" altLang="en-GB" sz="2000" dirty="0">
                <a:ea typeface="宋体" panose="02010600030101010101" pitchFamily="2" charset="-122"/>
              </a:rPr>
              <a:t>的</a:t>
            </a:r>
            <a:r>
              <a:rPr lang="en-GB" altLang="zh-CN" sz="2000" dirty="0">
                <a:ea typeface="宋体" panose="02010600030101010101" pitchFamily="2" charset="-122"/>
              </a:rPr>
              <a:t>chat()</a:t>
            </a:r>
            <a:r>
              <a:rPr lang="zh-CN" altLang="en-GB" sz="2000" dirty="0">
                <a:ea typeface="宋体" panose="02010600030101010101" pitchFamily="2" charset="-122"/>
              </a:rPr>
              <a:t>函数被调用。</a:t>
            </a:r>
            <a:endParaRPr lang="en-GB" altLang="zh-CN" sz="2000" dirty="0"/>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000" dirty="0">
                <a:ea typeface="宋体" panose="02010600030101010101" pitchFamily="2" charset="-122"/>
              </a:rPr>
              <a:t>如果一个玩家在</a:t>
            </a:r>
            <a:r>
              <a:rPr lang="en-GB" altLang="zh-CN" sz="2000" dirty="0">
                <a:ea typeface="宋体" panose="02010600030101010101" pitchFamily="2" charset="-122"/>
              </a:rPr>
              <a:t>A</a:t>
            </a:r>
            <a:r>
              <a:rPr lang="zh-CN" altLang="en-GB" sz="2000" dirty="0">
                <a:ea typeface="宋体" panose="02010600030101010101" pitchFamily="2" charset="-122"/>
              </a:rPr>
              <a:t>所在的同一个</a:t>
            </a:r>
            <a:r>
              <a:rPr lang="en-GB" altLang="zh-CN" sz="2000" dirty="0">
                <a:ea typeface="宋体" panose="02010600030101010101" pitchFamily="2" charset="-122"/>
              </a:rPr>
              <a:t>space</a:t>
            </a:r>
            <a:r>
              <a:rPr lang="zh-CN" altLang="en-GB" sz="2000" dirty="0">
                <a:ea typeface="宋体" panose="02010600030101010101" pitchFamily="2" charset="-122"/>
              </a:rPr>
              <a:t>，并且</a:t>
            </a:r>
            <a:r>
              <a:rPr lang="en-GB" altLang="zh-CN" sz="2000" dirty="0">
                <a:ea typeface="宋体" panose="02010600030101010101" pitchFamily="2" charset="-122"/>
              </a:rPr>
              <a:t>A</a:t>
            </a:r>
            <a:r>
              <a:rPr lang="zh-CN" altLang="en-GB" sz="2000" dirty="0">
                <a:ea typeface="宋体" panose="02010600030101010101" pitchFamily="2" charset="-122"/>
              </a:rPr>
              <a:t>处于其</a:t>
            </a:r>
            <a:r>
              <a:rPr lang="en-GB" altLang="zh-CN" sz="2000" dirty="0" err="1">
                <a:ea typeface="宋体" panose="02010600030101010101" pitchFamily="2" charset="-122"/>
              </a:rPr>
              <a:t>AoI</a:t>
            </a:r>
            <a:r>
              <a:rPr lang="zh-CN" altLang="en-GB" sz="2000" dirty="0">
                <a:ea typeface="宋体" panose="02010600030101010101" pitchFamily="2" charset="-122"/>
              </a:rPr>
              <a:t>范围内，那么这个玩家的客户端就能看到</a:t>
            </a:r>
            <a:r>
              <a:rPr lang="en-GB" altLang="zh-CN" sz="2000" dirty="0">
                <a:ea typeface="宋体" panose="02010600030101010101" pitchFamily="2" charset="-122"/>
              </a:rPr>
              <a:t>A</a:t>
            </a:r>
            <a:r>
              <a:rPr lang="zh-CN" altLang="en-GB" sz="2000" dirty="0">
                <a:ea typeface="宋体" panose="02010600030101010101" pitchFamily="2" charset="-122"/>
              </a:rPr>
              <a:t>。</a:t>
            </a:r>
            <a:endParaRPr lang="en-GB" altLang="zh-CN" sz="2000" dirty="0"/>
          </a:p>
        </p:txBody>
      </p:sp>
      <p:sp>
        <p:nvSpPr>
          <p:cNvPr id="72" name="Text Box 36"/>
          <p:cNvSpPr txBox="1">
            <a:spLocks noChangeArrowheads="1"/>
          </p:cNvSpPr>
          <p:nvPr/>
        </p:nvSpPr>
        <p:spPr bwMode="auto">
          <a:xfrm>
            <a:off x="1508125" y="7850188"/>
            <a:ext cx="1674813" cy="2619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3000"/>
              </a:lnSpc>
              <a:spcBef>
                <a:spcPct val="0"/>
              </a:spcBef>
              <a:buClr>
                <a:srgbClr val="FFFFFF"/>
              </a:buClr>
              <a:buSzPct val="100000"/>
              <a:buFont typeface="Arial" panose="020B0604020202020204" pitchFamily="34" charset="0"/>
              <a:buNone/>
            </a:pPr>
            <a:r>
              <a:rPr lang="en-AU" sz="1200" b="0"/>
              <a:t>… </a:t>
            </a:r>
            <a:r>
              <a:rPr lang="zh-CN" altLang="en-AU" sz="1200" b="0">
                <a:ea typeface="宋体" panose="02010600030101010101" pitchFamily="2" charset="-122"/>
              </a:rPr>
              <a:t>导致</a:t>
            </a:r>
            <a:r>
              <a:rPr lang="en-AU" sz="1200" b="0"/>
              <a:t>A.chat()</a:t>
            </a:r>
            <a:r>
              <a:rPr lang="zh-CN" altLang="en-AU" sz="1200" b="0">
                <a:ea typeface="宋体" panose="02010600030101010101" pitchFamily="2" charset="-122"/>
              </a:rPr>
              <a:t>被调用</a:t>
            </a:r>
            <a:endParaRPr lang="en-AU" sz="1200" b="0"/>
          </a:p>
        </p:txBody>
      </p:sp>
      <p:sp>
        <p:nvSpPr>
          <p:cNvPr id="13" name="矩形 12"/>
          <p:cNvSpPr/>
          <p:nvPr/>
        </p:nvSpPr>
        <p:spPr>
          <a:xfrm>
            <a:off x="89124" y="2492896"/>
            <a:ext cx="9019380" cy="4248472"/>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p>
        </p:txBody>
      </p:sp>
      <p:grpSp>
        <p:nvGrpSpPr>
          <p:cNvPr id="14" name="Group 6"/>
          <p:cNvGrpSpPr/>
          <p:nvPr/>
        </p:nvGrpSpPr>
        <p:grpSpPr bwMode="auto">
          <a:xfrm>
            <a:off x="1019871" y="3243956"/>
            <a:ext cx="5689600" cy="1901825"/>
            <a:chOff x="975" y="1862"/>
            <a:chExt cx="3584" cy="1198"/>
          </a:xfrm>
        </p:grpSpPr>
        <p:sp>
          <p:nvSpPr>
            <p:cNvPr id="16" name="Line 8"/>
            <p:cNvSpPr>
              <a:spLocks noChangeShapeType="1"/>
            </p:cNvSpPr>
            <p:nvPr/>
          </p:nvSpPr>
          <p:spPr bwMode="auto">
            <a:xfrm flipV="1">
              <a:off x="3061" y="1862"/>
              <a:ext cx="1498" cy="1198"/>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dirty="0"/>
            </a:p>
          </p:txBody>
        </p:sp>
        <p:sp>
          <p:nvSpPr>
            <p:cNvPr id="20" name="Line 9"/>
            <p:cNvSpPr>
              <a:spLocks noChangeShapeType="1"/>
            </p:cNvSpPr>
            <p:nvPr/>
          </p:nvSpPr>
          <p:spPr bwMode="auto">
            <a:xfrm flipV="1">
              <a:off x="3061" y="2396"/>
              <a:ext cx="1498" cy="664"/>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1" name="Line 10"/>
            <p:cNvSpPr>
              <a:spLocks noChangeShapeType="1"/>
            </p:cNvSpPr>
            <p:nvPr/>
          </p:nvSpPr>
          <p:spPr bwMode="auto">
            <a:xfrm flipV="1">
              <a:off x="3061" y="3060"/>
              <a:ext cx="1481"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7" name="Line 16"/>
            <p:cNvSpPr>
              <a:spLocks noChangeShapeType="1"/>
            </p:cNvSpPr>
            <p:nvPr/>
          </p:nvSpPr>
          <p:spPr bwMode="auto">
            <a:xfrm>
              <a:off x="975" y="3060"/>
              <a:ext cx="2086"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28" name="Line 17"/>
            <p:cNvSpPr>
              <a:spLocks noChangeShapeType="1"/>
            </p:cNvSpPr>
            <p:nvPr/>
          </p:nvSpPr>
          <p:spPr bwMode="auto">
            <a:xfrm>
              <a:off x="975" y="1969"/>
              <a:ext cx="0" cy="1083"/>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33" name="Rectangle 21"/>
            <p:cNvSpPr>
              <a:spLocks noChangeArrowheads="1"/>
            </p:cNvSpPr>
            <p:nvPr/>
          </p:nvSpPr>
          <p:spPr bwMode="auto">
            <a:xfrm>
              <a:off x="1067" y="2887"/>
              <a:ext cx="18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self.allClients.chat()</a:t>
              </a:r>
            </a:p>
          </p:txBody>
        </p:sp>
      </p:grpSp>
      <p:sp>
        <p:nvSpPr>
          <p:cNvPr id="35" name="矩形 34"/>
          <p:cNvSpPr/>
          <p:nvPr/>
        </p:nvSpPr>
        <p:spPr>
          <a:xfrm>
            <a:off x="251520" y="2874069"/>
            <a:ext cx="1189037" cy="48418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200" b="1" dirty="0" err="1">
                <a:latin typeface="Arial Black" panose="020B0A04020102020204" pitchFamily="34" charset="0"/>
              </a:rPr>
              <a:t>Cellapp</a:t>
            </a:r>
            <a:endParaRPr lang="en-US" altLang="zh-CN" sz="1200" b="1" dirty="0">
              <a:latin typeface="Arial Black" panose="020B0A04020102020204" pitchFamily="34" charset="0"/>
            </a:endParaRPr>
          </a:p>
          <a:p>
            <a:pPr algn="ctr"/>
            <a:r>
              <a:rPr lang="en-US" altLang="zh-CN" sz="1200" b="1" dirty="0">
                <a:latin typeface="Arial Black" panose="020B0A04020102020204" pitchFamily="34" charset="0"/>
              </a:rPr>
              <a:t>Player A</a:t>
            </a:r>
            <a:endParaRPr lang="zh-CN" altLang="en-US" sz="1200" b="1" dirty="0">
              <a:latin typeface="Arial Black" panose="020B0A04020102020204" pitchFamily="34" charset="0"/>
            </a:endParaRPr>
          </a:p>
        </p:txBody>
      </p:sp>
      <p:sp>
        <p:nvSpPr>
          <p:cNvPr id="37" name="矩形 36"/>
          <p:cNvSpPr/>
          <p:nvPr/>
        </p:nvSpPr>
        <p:spPr>
          <a:xfrm>
            <a:off x="6709470" y="2874069"/>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38" name="矩形 37"/>
          <p:cNvSpPr/>
          <p:nvPr/>
        </p:nvSpPr>
        <p:spPr>
          <a:xfrm>
            <a:off x="6708354" y="3880916"/>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B</a:t>
            </a:r>
            <a:endParaRPr lang="zh-CN" altLang="en-US" dirty="0"/>
          </a:p>
        </p:txBody>
      </p:sp>
      <p:sp>
        <p:nvSpPr>
          <p:cNvPr id="42" name="TextBox 41"/>
          <p:cNvSpPr txBox="1"/>
          <p:nvPr/>
        </p:nvSpPr>
        <p:spPr>
          <a:xfrm>
            <a:off x="7884368" y="2996952"/>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43" name="TextBox 42"/>
          <p:cNvSpPr txBox="1"/>
          <p:nvPr/>
        </p:nvSpPr>
        <p:spPr>
          <a:xfrm>
            <a:off x="7884368" y="4031486"/>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46" name="矩形 45"/>
          <p:cNvSpPr/>
          <p:nvPr/>
        </p:nvSpPr>
        <p:spPr>
          <a:xfrm>
            <a:off x="6709471" y="4961036"/>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C</a:t>
            </a:r>
            <a:endParaRPr lang="zh-CN" altLang="en-US" dirty="0"/>
          </a:p>
        </p:txBody>
      </p:sp>
      <p:sp>
        <p:nvSpPr>
          <p:cNvPr id="47" name="TextBox 46"/>
          <p:cNvSpPr txBox="1"/>
          <p:nvPr/>
        </p:nvSpPr>
        <p:spPr>
          <a:xfrm>
            <a:off x="7920881" y="5111606"/>
            <a:ext cx="1043607"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Entity.allClients</a:t>
            </a:r>
            <a:r>
              <a:rPr lang="en-US" altLang="zh-CN" sz="4900" b="1" dirty="0">
                <a:solidFill>
                  <a:schemeClr val="accent1"/>
                </a:solidFill>
                <a:latin typeface="+mn-ea"/>
                <a:ea typeface="+mn-ea"/>
              </a:rPr>
              <a:t> </a:t>
            </a:r>
            <a:r>
              <a:rPr lang="zh-CN" altLang="en-US" sz="4900" b="1" dirty="0">
                <a:solidFill>
                  <a:schemeClr val="accent1"/>
                </a:solidFill>
                <a:latin typeface="+mn-ea"/>
                <a:ea typeface="+mn-ea"/>
              </a:rPr>
              <a:t>方法调用示例</a:t>
            </a:r>
          </a:p>
        </p:txBody>
      </p:sp>
      <p:cxnSp>
        <p:nvCxnSpPr>
          <p:cNvPr id="37" name="直接连接符 36"/>
          <p:cNvCxnSpPr/>
          <p:nvPr/>
        </p:nvCxnSpPr>
        <p:spPr>
          <a:xfrm>
            <a:off x="96288" y="4702261"/>
            <a:ext cx="6491936" cy="1"/>
          </a:xfrm>
          <a:prstGeom prst="line">
            <a:avLst/>
          </a:prstGeom>
        </p:spPr>
        <p:style>
          <a:lnRef idx="3">
            <a:schemeClr val="dk1"/>
          </a:lnRef>
          <a:fillRef idx="0">
            <a:schemeClr val="dk1"/>
          </a:fillRef>
          <a:effectRef idx="2">
            <a:schemeClr val="dk1"/>
          </a:effectRef>
          <a:fontRef idx="minor">
            <a:schemeClr val="tx1"/>
          </a:fontRef>
        </p:style>
      </p:cxnSp>
      <p:sp>
        <p:nvSpPr>
          <p:cNvPr id="38" name="矩形 37"/>
          <p:cNvSpPr/>
          <p:nvPr/>
        </p:nvSpPr>
        <p:spPr>
          <a:xfrm>
            <a:off x="107504" y="967137"/>
            <a:ext cx="6480720" cy="367240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sp>
        <p:nvSpPr>
          <p:cNvPr id="39" name="矩形 38"/>
          <p:cNvSpPr/>
          <p:nvPr/>
        </p:nvSpPr>
        <p:spPr>
          <a:xfrm>
            <a:off x="467544" y="3231560"/>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41" name="矩形 40"/>
          <p:cNvSpPr/>
          <p:nvPr/>
        </p:nvSpPr>
        <p:spPr>
          <a:xfrm>
            <a:off x="467544" y="1863408"/>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42" name="Rectangle 5"/>
          <p:cNvSpPr>
            <a:spLocks noChangeArrowheads="1"/>
          </p:cNvSpPr>
          <p:nvPr/>
        </p:nvSpPr>
        <p:spPr bwMode="auto">
          <a:xfrm>
            <a:off x="6876256" y="980728"/>
            <a:ext cx="2102499" cy="1410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zh-CN" altLang="en-US"/>
          </a:p>
        </p:txBody>
      </p:sp>
      <p:sp>
        <p:nvSpPr>
          <p:cNvPr id="43" name="Rectangle 37"/>
          <p:cNvSpPr>
            <a:spLocks noChangeArrowheads="1"/>
          </p:cNvSpPr>
          <p:nvPr/>
        </p:nvSpPr>
        <p:spPr bwMode="auto">
          <a:xfrm>
            <a:off x="7001293" y="1223164"/>
            <a:ext cx="139253" cy="110421"/>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7" name="Rectangle 37"/>
          <p:cNvSpPr>
            <a:spLocks noChangeArrowheads="1"/>
          </p:cNvSpPr>
          <p:nvPr/>
        </p:nvSpPr>
        <p:spPr bwMode="auto">
          <a:xfrm>
            <a:off x="7001293" y="1439188"/>
            <a:ext cx="139253"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8" name="Rectangle 37"/>
          <p:cNvSpPr>
            <a:spLocks noChangeArrowheads="1"/>
          </p:cNvSpPr>
          <p:nvPr/>
        </p:nvSpPr>
        <p:spPr bwMode="auto">
          <a:xfrm>
            <a:off x="7001293" y="1621617"/>
            <a:ext cx="139253"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solidFill>
                <a:schemeClr val="accent3">
                  <a:lumMod val="60000"/>
                  <a:lumOff val="40000"/>
                </a:schemeClr>
              </a:solidFill>
            </a:endParaRPr>
          </a:p>
        </p:txBody>
      </p:sp>
      <p:sp>
        <p:nvSpPr>
          <p:cNvPr id="49" name="Rectangle 37"/>
          <p:cNvSpPr>
            <a:spLocks noChangeArrowheads="1"/>
          </p:cNvSpPr>
          <p:nvPr/>
        </p:nvSpPr>
        <p:spPr bwMode="auto">
          <a:xfrm>
            <a:off x="7001293" y="1837641"/>
            <a:ext cx="139253"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50" name="Rectangle 37"/>
          <p:cNvSpPr>
            <a:spLocks noChangeArrowheads="1"/>
          </p:cNvSpPr>
          <p:nvPr/>
        </p:nvSpPr>
        <p:spPr bwMode="auto">
          <a:xfrm>
            <a:off x="7001293" y="2053665"/>
            <a:ext cx="139253" cy="110421"/>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51" name="Text Box 49"/>
          <p:cNvSpPr txBox="1">
            <a:spLocks noChangeArrowheads="1"/>
          </p:cNvSpPr>
          <p:nvPr/>
        </p:nvSpPr>
        <p:spPr bwMode="auto">
          <a:xfrm>
            <a:off x="7140546" y="1100897"/>
            <a:ext cx="1829053" cy="116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400" b="0" dirty="0">
                <a:solidFill>
                  <a:schemeClr val="bg2"/>
                </a:solidFill>
                <a:ea typeface="宋体" panose="02010600030101010101" pitchFamily="2" charset="-122"/>
              </a:rPr>
              <a:t>Base Entity</a:t>
            </a:r>
          </a:p>
          <a:p>
            <a:pPr algn="l"/>
            <a:r>
              <a:rPr lang="en-US" altLang="zh-CN" sz="1400" b="0" dirty="0">
                <a:solidFill>
                  <a:schemeClr val="bg2"/>
                </a:solidFill>
                <a:ea typeface="宋体" panose="02010600030101010101" pitchFamily="2" charset="-122"/>
              </a:rPr>
              <a:t>Real Entity</a:t>
            </a:r>
          </a:p>
          <a:p>
            <a:pPr algn="l"/>
            <a:r>
              <a:rPr lang="en-US" altLang="zh-CN" sz="1400" dirty="0">
                <a:solidFill>
                  <a:schemeClr val="bg2"/>
                </a:solidFill>
                <a:ea typeface="宋体" panose="02010600030101010101" pitchFamily="2" charset="-122"/>
              </a:rPr>
              <a:t>Ghost</a:t>
            </a:r>
            <a:r>
              <a:rPr lang="en-US" altLang="zh-CN" sz="1400" b="0" dirty="0">
                <a:solidFill>
                  <a:schemeClr val="bg2"/>
                </a:solidFill>
                <a:ea typeface="宋体" panose="02010600030101010101" pitchFamily="2" charset="-122"/>
              </a:rPr>
              <a:t> Entity</a:t>
            </a:r>
            <a:endParaRPr lang="en-AU" altLang="zh-CN" sz="1400" b="0" dirty="0">
              <a:solidFill>
                <a:schemeClr val="bg2"/>
              </a:solidFill>
              <a:ea typeface="宋体" panose="02010600030101010101" pitchFamily="2" charset="-122"/>
            </a:endParaRPr>
          </a:p>
          <a:p>
            <a:pPr algn="l"/>
            <a:r>
              <a:rPr lang="en-US" altLang="zh-CN" sz="1400" dirty="0">
                <a:solidFill>
                  <a:schemeClr val="bg2"/>
                </a:solidFill>
                <a:ea typeface="宋体" panose="02010600030101010101" pitchFamily="2" charset="-122"/>
              </a:rPr>
              <a:t>Player Entity</a:t>
            </a:r>
          </a:p>
          <a:p>
            <a:pPr algn="l"/>
            <a:r>
              <a:rPr lang="en-US" altLang="zh-CN" sz="1400" b="0" dirty="0">
                <a:solidFill>
                  <a:schemeClr val="bg2"/>
                </a:solidFill>
                <a:ea typeface="宋体" panose="02010600030101010101" pitchFamily="2" charset="-122"/>
              </a:rPr>
              <a:t>Client Entity</a:t>
            </a:r>
            <a:endParaRPr lang="en-AU" altLang="zh-CN" sz="1400" b="0" dirty="0">
              <a:solidFill>
                <a:schemeClr val="bg2"/>
              </a:solidFill>
              <a:ea typeface="宋体" panose="02010600030101010101" pitchFamily="2" charset="-122"/>
            </a:endParaRPr>
          </a:p>
        </p:txBody>
      </p:sp>
      <p:sp>
        <p:nvSpPr>
          <p:cNvPr id="58" name="Rectangle 15"/>
          <p:cNvSpPr>
            <a:spLocks noChangeArrowheads="1"/>
          </p:cNvSpPr>
          <p:nvPr/>
        </p:nvSpPr>
        <p:spPr bwMode="auto">
          <a:xfrm>
            <a:off x="3419872" y="2348880"/>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Box 58"/>
          <p:cNvSpPr txBox="1"/>
          <p:nvPr/>
        </p:nvSpPr>
        <p:spPr>
          <a:xfrm>
            <a:off x="3779912" y="2699628"/>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60" name="Rectangle 29"/>
          <p:cNvSpPr>
            <a:spLocks noChangeArrowheads="1"/>
          </p:cNvSpPr>
          <p:nvPr/>
        </p:nvSpPr>
        <p:spPr bwMode="auto">
          <a:xfrm>
            <a:off x="4067944" y="2414057"/>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61" name="TextBox 60"/>
          <p:cNvSpPr txBox="1"/>
          <p:nvPr/>
        </p:nvSpPr>
        <p:spPr>
          <a:xfrm>
            <a:off x="4067944" y="2348880"/>
            <a:ext cx="99828" cy="369332"/>
          </a:xfrm>
          <a:prstGeom prst="rect">
            <a:avLst/>
          </a:prstGeom>
          <a:noFill/>
        </p:spPr>
        <p:txBody>
          <a:bodyPr wrap="square" rtlCol="0">
            <a:spAutoFit/>
          </a:bodyPr>
          <a:lstStyle/>
          <a:p>
            <a:r>
              <a:rPr lang="en-US" altLang="zh-CN" dirty="0"/>
              <a:t>C</a:t>
            </a:r>
            <a:endParaRPr lang="zh-CN" altLang="en-US" dirty="0"/>
          </a:p>
        </p:txBody>
      </p:sp>
      <p:sp>
        <p:nvSpPr>
          <p:cNvPr id="62" name="Rectangle 15"/>
          <p:cNvSpPr>
            <a:spLocks noChangeArrowheads="1"/>
          </p:cNvSpPr>
          <p:nvPr/>
        </p:nvSpPr>
        <p:spPr bwMode="auto">
          <a:xfrm>
            <a:off x="467544" y="1062028"/>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3" name="TextBox 62"/>
          <p:cNvSpPr txBox="1"/>
          <p:nvPr/>
        </p:nvSpPr>
        <p:spPr>
          <a:xfrm>
            <a:off x="827584"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4" name="Rectangle 29"/>
          <p:cNvSpPr>
            <a:spLocks noChangeArrowheads="1"/>
          </p:cNvSpPr>
          <p:nvPr/>
        </p:nvSpPr>
        <p:spPr bwMode="auto">
          <a:xfrm>
            <a:off x="1087796" y="1127205"/>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5" name="TextBox 64"/>
          <p:cNvSpPr txBox="1"/>
          <p:nvPr/>
        </p:nvSpPr>
        <p:spPr>
          <a:xfrm>
            <a:off x="1087796" y="1062028"/>
            <a:ext cx="99828" cy="369332"/>
          </a:xfrm>
          <a:prstGeom prst="rect">
            <a:avLst/>
          </a:prstGeom>
          <a:noFill/>
        </p:spPr>
        <p:txBody>
          <a:bodyPr wrap="square" rtlCol="0">
            <a:spAutoFit/>
          </a:bodyPr>
          <a:lstStyle/>
          <a:p>
            <a:r>
              <a:rPr lang="en-US" altLang="zh-CN" dirty="0"/>
              <a:t>A</a:t>
            </a:r>
            <a:endParaRPr lang="zh-CN" altLang="en-US" dirty="0"/>
          </a:p>
        </p:txBody>
      </p:sp>
      <p:sp>
        <p:nvSpPr>
          <p:cNvPr id="66" name="Rectangle 15"/>
          <p:cNvSpPr>
            <a:spLocks noChangeArrowheads="1"/>
          </p:cNvSpPr>
          <p:nvPr/>
        </p:nvSpPr>
        <p:spPr bwMode="auto">
          <a:xfrm>
            <a:off x="2483768" y="107132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7" name="TextBox 66"/>
          <p:cNvSpPr txBox="1"/>
          <p:nvPr/>
        </p:nvSpPr>
        <p:spPr>
          <a:xfrm>
            <a:off x="2843808" y="1422068"/>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8" name="Rectangle 29"/>
          <p:cNvSpPr>
            <a:spLocks noChangeArrowheads="1"/>
          </p:cNvSpPr>
          <p:nvPr/>
        </p:nvSpPr>
        <p:spPr bwMode="auto">
          <a:xfrm>
            <a:off x="3131840" y="1136497"/>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9" name="TextBox 68"/>
          <p:cNvSpPr txBox="1"/>
          <p:nvPr/>
        </p:nvSpPr>
        <p:spPr>
          <a:xfrm>
            <a:off x="3131840" y="1071320"/>
            <a:ext cx="99828" cy="369332"/>
          </a:xfrm>
          <a:prstGeom prst="rect">
            <a:avLst/>
          </a:prstGeom>
          <a:noFill/>
        </p:spPr>
        <p:txBody>
          <a:bodyPr wrap="square" rtlCol="0">
            <a:spAutoFit/>
          </a:bodyPr>
          <a:lstStyle/>
          <a:p>
            <a:r>
              <a:rPr lang="en-US" altLang="zh-CN" dirty="0"/>
              <a:t>B</a:t>
            </a:r>
            <a:endParaRPr lang="zh-CN" altLang="en-US" dirty="0"/>
          </a:p>
        </p:txBody>
      </p:sp>
      <p:sp>
        <p:nvSpPr>
          <p:cNvPr id="70" name="Rectangle 15"/>
          <p:cNvSpPr>
            <a:spLocks noChangeArrowheads="1"/>
          </p:cNvSpPr>
          <p:nvPr/>
        </p:nvSpPr>
        <p:spPr bwMode="auto">
          <a:xfrm>
            <a:off x="4499992" y="1062028"/>
            <a:ext cx="1656184" cy="657115"/>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1" name="TextBox 70"/>
          <p:cNvSpPr txBox="1"/>
          <p:nvPr/>
        </p:nvSpPr>
        <p:spPr>
          <a:xfrm>
            <a:off x="4860032"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72" name="Rectangle 29"/>
          <p:cNvSpPr>
            <a:spLocks noChangeArrowheads="1"/>
          </p:cNvSpPr>
          <p:nvPr/>
        </p:nvSpPr>
        <p:spPr bwMode="auto">
          <a:xfrm>
            <a:off x="5148064" y="1189921"/>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3" name="TextBox 72"/>
          <p:cNvSpPr txBox="1"/>
          <p:nvPr/>
        </p:nvSpPr>
        <p:spPr>
          <a:xfrm>
            <a:off x="5148064" y="1124744"/>
            <a:ext cx="99828" cy="369332"/>
          </a:xfrm>
          <a:prstGeom prst="rect">
            <a:avLst/>
          </a:prstGeom>
          <a:noFill/>
        </p:spPr>
        <p:txBody>
          <a:bodyPr wrap="square" rtlCol="0">
            <a:spAutoFit/>
          </a:bodyPr>
          <a:lstStyle/>
          <a:p>
            <a:r>
              <a:rPr lang="en-US" altLang="zh-CN" dirty="0"/>
              <a:t>C</a:t>
            </a:r>
            <a:endParaRPr lang="zh-CN" altLang="en-US" dirty="0"/>
          </a:p>
        </p:txBody>
      </p:sp>
      <p:sp>
        <p:nvSpPr>
          <p:cNvPr id="74" name="Rectangle 15"/>
          <p:cNvSpPr>
            <a:spLocks noChangeArrowheads="1"/>
          </p:cNvSpPr>
          <p:nvPr/>
        </p:nvSpPr>
        <p:spPr bwMode="auto">
          <a:xfrm>
            <a:off x="539552" y="379833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 name="Rectangle 29"/>
          <p:cNvSpPr>
            <a:spLocks noChangeArrowheads="1"/>
          </p:cNvSpPr>
          <p:nvPr/>
        </p:nvSpPr>
        <p:spPr bwMode="auto">
          <a:xfrm>
            <a:off x="727756" y="385421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6" name="TextBox 75"/>
          <p:cNvSpPr txBox="1"/>
          <p:nvPr/>
        </p:nvSpPr>
        <p:spPr>
          <a:xfrm>
            <a:off x="539552" y="4149080"/>
            <a:ext cx="1584176" cy="369332"/>
          </a:xfrm>
          <a:prstGeom prst="rect">
            <a:avLst/>
          </a:prstGeom>
          <a:noFill/>
        </p:spPr>
        <p:txBody>
          <a:bodyPr wrap="square" rtlCol="0">
            <a:spAutoFit/>
          </a:bodyPr>
          <a:lstStyle/>
          <a:p>
            <a:r>
              <a:rPr lang="en-US" altLang="zh-CN" b="1" dirty="0"/>
              <a:t>Cellapp1-cell1</a:t>
            </a:r>
            <a:endParaRPr lang="zh-CN" altLang="en-US" b="1" dirty="0"/>
          </a:p>
        </p:txBody>
      </p:sp>
      <p:sp>
        <p:nvSpPr>
          <p:cNvPr id="77" name="TextBox 76"/>
          <p:cNvSpPr txBox="1"/>
          <p:nvPr/>
        </p:nvSpPr>
        <p:spPr>
          <a:xfrm>
            <a:off x="727756" y="3789040"/>
            <a:ext cx="99828" cy="369332"/>
          </a:xfrm>
          <a:prstGeom prst="rect">
            <a:avLst/>
          </a:prstGeom>
          <a:noFill/>
        </p:spPr>
        <p:txBody>
          <a:bodyPr wrap="square" rtlCol="0">
            <a:spAutoFit/>
          </a:bodyPr>
          <a:lstStyle/>
          <a:p>
            <a:r>
              <a:rPr lang="en-US" altLang="zh-CN" dirty="0"/>
              <a:t>A</a:t>
            </a:r>
            <a:endParaRPr lang="zh-CN" altLang="en-US" dirty="0"/>
          </a:p>
        </p:txBody>
      </p:sp>
      <p:sp>
        <p:nvSpPr>
          <p:cNvPr id="78" name="Rectangle 29"/>
          <p:cNvSpPr>
            <a:spLocks noChangeArrowheads="1"/>
          </p:cNvSpPr>
          <p:nvPr/>
        </p:nvSpPr>
        <p:spPr bwMode="auto">
          <a:xfrm>
            <a:off x="1259632" y="386350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TextBox 78"/>
          <p:cNvSpPr txBox="1"/>
          <p:nvPr/>
        </p:nvSpPr>
        <p:spPr>
          <a:xfrm>
            <a:off x="1259632" y="3798332"/>
            <a:ext cx="99828" cy="369332"/>
          </a:xfrm>
          <a:prstGeom prst="rect">
            <a:avLst/>
          </a:prstGeom>
          <a:noFill/>
        </p:spPr>
        <p:txBody>
          <a:bodyPr wrap="square" rtlCol="0">
            <a:spAutoFit/>
          </a:bodyPr>
          <a:lstStyle/>
          <a:p>
            <a:r>
              <a:rPr lang="en-US" altLang="zh-CN" dirty="0"/>
              <a:t>B</a:t>
            </a:r>
            <a:endParaRPr lang="zh-CN" altLang="en-US" dirty="0"/>
          </a:p>
        </p:txBody>
      </p:sp>
      <p:sp>
        <p:nvSpPr>
          <p:cNvPr id="80" name="Rectangle 15"/>
          <p:cNvSpPr>
            <a:spLocks noChangeArrowheads="1"/>
          </p:cNvSpPr>
          <p:nvPr/>
        </p:nvSpPr>
        <p:spPr bwMode="auto">
          <a:xfrm>
            <a:off x="2555776"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1" name="TextBox 80"/>
          <p:cNvSpPr txBox="1"/>
          <p:nvPr/>
        </p:nvSpPr>
        <p:spPr>
          <a:xfrm>
            <a:off x="2583596" y="4158372"/>
            <a:ext cx="1556356" cy="369332"/>
          </a:xfrm>
          <a:prstGeom prst="rect">
            <a:avLst/>
          </a:prstGeom>
          <a:noFill/>
        </p:spPr>
        <p:txBody>
          <a:bodyPr wrap="square" rtlCol="0">
            <a:spAutoFit/>
          </a:bodyPr>
          <a:lstStyle/>
          <a:p>
            <a:r>
              <a:rPr lang="en-US" altLang="zh-CN" b="1" dirty="0"/>
              <a:t>Cellapp2-cell2</a:t>
            </a:r>
            <a:endParaRPr lang="zh-CN" altLang="en-US" b="1" dirty="0"/>
          </a:p>
        </p:txBody>
      </p:sp>
      <p:sp>
        <p:nvSpPr>
          <p:cNvPr id="82" name="Rectangle 29"/>
          <p:cNvSpPr>
            <a:spLocks noChangeArrowheads="1"/>
          </p:cNvSpPr>
          <p:nvPr/>
        </p:nvSpPr>
        <p:spPr bwMode="auto">
          <a:xfrm>
            <a:off x="1763688"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3" name="TextBox 82"/>
          <p:cNvSpPr txBox="1"/>
          <p:nvPr/>
        </p:nvSpPr>
        <p:spPr>
          <a:xfrm>
            <a:off x="1763688" y="3807624"/>
            <a:ext cx="99828" cy="369332"/>
          </a:xfrm>
          <a:prstGeom prst="rect">
            <a:avLst/>
          </a:prstGeom>
          <a:noFill/>
        </p:spPr>
        <p:txBody>
          <a:bodyPr wrap="square" rtlCol="0">
            <a:spAutoFit/>
          </a:bodyPr>
          <a:lstStyle/>
          <a:p>
            <a:r>
              <a:rPr lang="en-US" altLang="zh-CN" dirty="0"/>
              <a:t>C</a:t>
            </a:r>
            <a:endParaRPr lang="zh-CN" altLang="en-US" dirty="0"/>
          </a:p>
        </p:txBody>
      </p:sp>
      <p:sp>
        <p:nvSpPr>
          <p:cNvPr id="84" name="Rectangle 15"/>
          <p:cNvSpPr>
            <a:spLocks noChangeArrowheads="1"/>
          </p:cNvSpPr>
          <p:nvPr/>
        </p:nvSpPr>
        <p:spPr bwMode="auto">
          <a:xfrm>
            <a:off x="4644008"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5" name="TextBox 84"/>
          <p:cNvSpPr txBox="1"/>
          <p:nvPr/>
        </p:nvSpPr>
        <p:spPr>
          <a:xfrm>
            <a:off x="4710290" y="4139788"/>
            <a:ext cx="1517894" cy="369332"/>
          </a:xfrm>
          <a:prstGeom prst="rect">
            <a:avLst/>
          </a:prstGeom>
          <a:noFill/>
        </p:spPr>
        <p:txBody>
          <a:bodyPr wrap="square" rtlCol="0">
            <a:spAutoFit/>
          </a:bodyPr>
          <a:lstStyle/>
          <a:p>
            <a:r>
              <a:rPr lang="en-US" altLang="zh-CN" b="1" dirty="0"/>
              <a:t>Cellapp3-cell3</a:t>
            </a:r>
            <a:endParaRPr lang="zh-CN" altLang="en-US" b="1" dirty="0"/>
          </a:p>
        </p:txBody>
      </p:sp>
      <p:sp>
        <p:nvSpPr>
          <p:cNvPr id="86" name="Rectangle 29"/>
          <p:cNvSpPr>
            <a:spLocks noChangeArrowheads="1"/>
          </p:cNvSpPr>
          <p:nvPr/>
        </p:nvSpPr>
        <p:spPr bwMode="auto">
          <a:xfrm>
            <a:off x="27718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7" name="TextBox 86"/>
          <p:cNvSpPr txBox="1"/>
          <p:nvPr/>
        </p:nvSpPr>
        <p:spPr>
          <a:xfrm>
            <a:off x="2771800" y="3789040"/>
            <a:ext cx="99828" cy="369332"/>
          </a:xfrm>
          <a:prstGeom prst="rect">
            <a:avLst/>
          </a:prstGeom>
          <a:noFill/>
        </p:spPr>
        <p:txBody>
          <a:bodyPr wrap="square" rtlCol="0">
            <a:spAutoFit/>
          </a:bodyPr>
          <a:lstStyle/>
          <a:p>
            <a:r>
              <a:rPr lang="en-US" altLang="zh-CN" dirty="0"/>
              <a:t>A</a:t>
            </a:r>
            <a:endParaRPr lang="zh-CN" altLang="en-US" dirty="0"/>
          </a:p>
        </p:txBody>
      </p:sp>
      <p:sp>
        <p:nvSpPr>
          <p:cNvPr id="88" name="Rectangle 29"/>
          <p:cNvSpPr>
            <a:spLocks noChangeArrowheads="1"/>
          </p:cNvSpPr>
          <p:nvPr/>
        </p:nvSpPr>
        <p:spPr bwMode="auto">
          <a:xfrm>
            <a:off x="33036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9" name="TextBox 88"/>
          <p:cNvSpPr txBox="1"/>
          <p:nvPr/>
        </p:nvSpPr>
        <p:spPr>
          <a:xfrm>
            <a:off x="3303676" y="3798332"/>
            <a:ext cx="99828" cy="369332"/>
          </a:xfrm>
          <a:prstGeom prst="rect">
            <a:avLst/>
          </a:prstGeom>
          <a:noFill/>
        </p:spPr>
        <p:txBody>
          <a:bodyPr wrap="square" rtlCol="0">
            <a:spAutoFit/>
          </a:bodyPr>
          <a:lstStyle/>
          <a:p>
            <a:r>
              <a:rPr lang="en-US" altLang="zh-CN" dirty="0"/>
              <a:t>B</a:t>
            </a:r>
            <a:endParaRPr lang="zh-CN" altLang="en-US" dirty="0"/>
          </a:p>
        </p:txBody>
      </p:sp>
      <p:sp>
        <p:nvSpPr>
          <p:cNvPr id="90" name="Rectangle 29"/>
          <p:cNvSpPr>
            <a:spLocks noChangeArrowheads="1"/>
          </p:cNvSpPr>
          <p:nvPr/>
        </p:nvSpPr>
        <p:spPr bwMode="auto">
          <a:xfrm>
            <a:off x="3807732" y="387280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1" name="TextBox 90"/>
          <p:cNvSpPr txBox="1"/>
          <p:nvPr/>
        </p:nvSpPr>
        <p:spPr>
          <a:xfrm>
            <a:off x="3807732" y="3807624"/>
            <a:ext cx="99828" cy="369332"/>
          </a:xfrm>
          <a:prstGeom prst="rect">
            <a:avLst/>
          </a:prstGeom>
          <a:noFill/>
        </p:spPr>
        <p:txBody>
          <a:bodyPr wrap="square" rtlCol="0">
            <a:spAutoFit/>
          </a:bodyPr>
          <a:lstStyle/>
          <a:p>
            <a:r>
              <a:rPr lang="en-US" altLang="zh-CN" dirty="0"/>
              <a:t>C</a:t>
            </a:r>
            <a:endParaRPr lang="zh-CN" altLang="en-US" dirty="0"/>
          </a:p>
        </p:txBody>
      </p:sp>
      <p:sp>
        <p:nvSpPr>
          <p:cNvPr id="92" name="Rectangle 29"/>
          <p:cNvSpPr>
            <a:spLocks noChangeArrowheads="1"/>
          </p:cNvSpPr>
          <p:nvPr/>
        </p:nvSpPr>
        <p:spPr bwMode="auto">
          <a:xfrm>
            <a:off x="48764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3" name="TextBox 92"/>
          <p:cNvSpPr txBox="1"/>
          <p:nvPr/>
        </p:nvSpPr>
        <p:spPr>
          <a:xfrm>
            <a:off x="4876400" y="3789040"/>
            <a:ext cx="99828" cy="369332"/>
          </a:xfrm>
          <a:prstGeom prst="rect">
            <a:avLst/>
          </a:prstGeom>
          <a:noFill/>
        </p:spPr>
        <p:txBody>
          <a:bodyPr wrap="square" rtlCol="0">
            <a:spAutoFit/>
          </a:bodyPr>
          <a:lstStyle/>
          <a:p>
            <a:r>
              <a:rPr lang="en-US" altLang="zh-CN" dirty="0"/>
              <a:t>A</a:t>
            </a:r>
            <a:endParaRPr lang="zh-CN" altLang="en-US" dirty="0"/>
          </a:p>
        </p:txBody>
      </p:sp>
      <p:sp>
        <p:nvSpPr>
          <p:cNvPr id="94" name="Rectangle 29"/>
          <p:cNvSpPr>
            <a:spLocks noChangeArrowheads="1"/>
          </p:cNvSpPr>
          <p:nvPr/>
        </p:nvSpPr>
        <p:spPr bwMode="auto">
          <a:xfrm>
            <a:off x="54082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5" name="TextBox 94"/>
          <p:cNvSpPr txBox="1"/>
          <p:nvPr/>
        </p:nvSpPr>
        <p:spPr>
          <a:xfrm>
            <a:off x="5408276" y="3798332"/>
            <a:ext cx="99828" cy="369332"/>
          </a:xfrm>
          <a:prstGeom prst="rect">
            <a:avLst/>
          </a:prstGeom>
          <a:noFill/>
        </p:spPr>
        <p:txBody>
          <a:bodyPr wrap="square" rtlCol="0">
            <a:spAutoFit/>
          </a:bodyPr>
          <a:lstStyle/>
          <a:p>
            <a:r>
              <a:rPr lang="en-US" altLang="zh-CN" dirty="0"/>
              <a:t>B</a:t>
            </a:r>
            <a:endParaRPr lang="zh-CN" altLang="en-US" dirty="0"/>
          </a:p>
        </p:txBody>
      </p:sp>
      <p:sp>
        <p:nvSpPr>
          <p:cNvPr id="96" name="Rectangle 29"/>
          <p:cNvSpPr>
            <a:spLocks noChangeArrowheads="1"/>
          </p:cNvSpPr>
          <p:nvPr/>
        </p:nvSpPr>
        <p:spPr bwMode="auto">
          <a:xfrm>
            <a:off x="5912332"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7" name="TextBox 96"/>
          <p:cNvSpPr txBox="1"/>
          <p:nvPr/>
        </p:nvSpPr>
        <p:spPr>
          <a:xfrm>
            <a:off x="5912332" y="3807624"/>
            <a:ext cx="99828" cy="369332"/>
          </a:xfrm>
          <a:prstGeom prst="rect">
            <a:avLst/>
          </a:prstGeom>
          <a:noFill/>
        </p:spPr>
        <p:txBody>
          <a:bodyPr wrap="square" rtlCol="0">
            <a:spAutoFit/>
          </a:bodyPr>
          <a:lstStyle/>
          <a:p>
            <a:r>
              <a:rPr lang="en-US" altLang="zh-CN" dirty="0"/>
              <a:t>C</a:t>
            </a:r>
            <a:endParaRPr lang="zh-CN" altLang="en-US" dirty="0"/>
          </a:p>
        </p:txBody>
      </p:sp>
      <p:sp>
        <p:nvSpPr>
          <p:cNvPr id="104" name="矩形 103"/>
          <p:cNvSpPr/>
          <p:nvPr/>
        </p:nvSpPr>
        <p:spPr>
          <a:xfrm>
            <a:off x="96288" y="4751386"/>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105" name="矩形 104"/>
          <p:cNvSpPr/>
          <p:nvPr/>
        </p:nvSpPr>
        <p:spPr>
          <a:xfrm>
            <a:off x="3375684" y="4751386"/>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106" name="矩形 105"/>
          <p:cNvSpPr/>
          <p:nvPr/>
        </p:nvSpPr>
        <p:spPr>
          <a:xfrm>
            <a:off x="96288" y="5733256"/>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107" name="Rectangle 29"/>
          <p:cNvSpPr>
            <a:spLocks noChangeArrowheads="1"/>
          </p:cNvSpPr>
          <p:nvPr/>
        </p:nvSpPr>
        <p:spPr bwMode="auto">
          <a:xfrm>
            <a:off x="1043608" y="48623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08" name="TextBox 107"/>
          <p:cNvSpPr txBox="1"/>
          <p:nvPr/>
        </p:nvSpPr>
        <p:spPr>
          <a:xfrm>
            <a:off x="1043608" y="4797152"/>
            <a:ext cx="99828" cy="369332"/>
          </a:xfrm>
          <a:prstGeom prst="rect">
            <a:avLst/>
          </a:prstGeom>
          <a:noFill/>
        </p:spPr>
        <p:txBody>
          <a:bodyPr wrap="square" rtlCol="0">
            <a:spAutoFit/>
          </a:bodyPr>
          <a:lstStyle/>
          <a:p>
            <a:r>
              <a:rPr lang="en-US" altLang="zh-CN" dirty="0"/>
              <a:t>A</a:t>
            </a:r>
            <a:endParaRPr lang="zh-CN" altLang="en-US" dirty="0"/>
          </a:p>
        </p:txBody>
      </p:sp>
      <p:sp>
        <p:nvSpPr>
          <p:cNvPr id="109" name="Rectangle 29"/>
          <p:cNvSpPr>
            <a:spLocks noChangeArrowheads="1"/>
          </p:cNvSpPr>
          <p:nvPr/>
        </p:nvSpPr>
        <p:spPr bwMode="auto">
          <a:xfrm>
            <a:off x="2167916" y="487162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0" name="TextBox 109"/>
          <p:cNvSpPr txBox="1"/>
          <p:nvPr/>
        </p:nvSpPr>
        <p:spPr>
          <a:xfrm>
            <a:off x="2167916" y="4806444"/>
            <a:ext cx="99828" cy="369332"/>
          </a:xfrm>
          <a:prstGeom prst="rect">
            <a:avLst/>
          </a:prstGeom>
          <a:noFill/>
        </p:spPr>
        <p:txBody>
          <a:bodyPr wrap="square" rtlCol="0">
            <a:spAutoFit/>
          </a:bodyPr>
          <a:lstStyle/>
          <a:p>
            <a:r>
              <a:rPr lang="en-US" altLang="zh-CN" dirty="0"/>
              <a:t>B</a:t>
            </a:r>
            <a:endParaRPr lang="zh-CN" altLang="en-US" dirty="0"/>
          </a:p>
        </p:txBody>
      </p:sp>
      <p:sp>
        <p:nvSpPr>
          <p:cNvPr id="111" name="Rectangle 29"/>
          <p:cNvSpPr>
            <a:spLocks noChangeArrowheads="1"/>
          </p:cNvSpPr>
          <p:nvPr/>
        </p:nvSpPr>
        <p:spPr bwMode="auto">
          <a:xfrm>
            <a:off x="4887852" y="48530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2" name="TextBox 111"/>
          <p:cNvSpPr txBox="1"/>
          <p:nvPr/>
        </p:nvSpPr>
        <p:spPr>
          <a:xfrm>
            <a:off x="4904220" y="4787860"/>
            <a:ext cx="99828" cy="369332"/>
          </a:xfrm>
          <a:prstGeom prst="rect">
            <a:avLst/>
          </a:prstGeom>
          <a:noFill/>
        </p:spPr>
        <p:txBody>
          <a:bodyPr wrap="square" rtlCol="0">
            <a:spAutoFit/>
          </a:bodyPr>
          <a:lstStyle/>
          <a:p>
            <a:r>
              <a:rPr lang="en-US" altLang="zh-CN" dirty="0"/>
              <a:t>C</a:t>
            </a:r>
            <a:endParaRPr lang="zh-CN" altLang="en-US" dirty="0"/>
          </a:p>
        </p:txBody>
      </p:sp>
      <p:sp>
        <p:nvSpPr>
          <p:cNvPr id="113" name="Rectangle 29"/>
          <p:cNvSpPr>
            <a:spLocks noChangeArrowheads="1"/>
          </p:cNvSpPr>
          <p:nvPr/>
        </p:nvSpPr>
        <p:spPr bwMode="auto">
          <a:xfrm>
            <a:off x="4644008" y="5347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4" name="TextBox 113"/>
          <p:cNvSpPr txBox="1"/>
          <p:nvPr/>
        </p:nvSpPr>
        <p:spPr>
          <a:xfrm>
            <a:off x="4660376" y="5282624"/>
            <a:ext cx="99828" cy="369332"/>
          </a:xfrm>
          <a:prstGeom prst="rect">
            <a:avLst/>
          </a:prstGeom>
          <a:noFill/>
        </p:spPr>
        <p:txBody>
          <a:bodyPr wrap="square" rtlCol="0">
            <a:spAutoFit/>
          </a:bodyPr>
          <a:lstStyle/>
          <a:p>
            <a:r>
              <a:rPr lang="en-US" altLang="zh-CN" dirty="0"/>
              <a:t>A</a:t>
            </a:r>
            <a:endParaRPr lang="zh-CN" altLang="en-US" dirty="0"/>
          </a:p>
        </p:txBody>
      </p:sp>
      <p:sp>
        <p:nvSpPr>
          <p:cNvPr id="115" name="Rectangle 29"/>
          <p:cNvSpPr>
            <a:spLocks noChangeArrowheads="1"/>
          </p:cNvSpPr>
          <p:nvPr/>
        </p:nvSpPr>
        <p:spPr bwMode="auto">
          <a:xfrm>
            <a:off x="5192252" y="535709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6" name="TextBox 115"/>
          <p:cNvSpPr txBox="1"/>
          <p:nvPr/>
        </p:nvSpPr>
        <p:spPr>
          <a:xfrm>
            <a:off x="5175884" y="5291916"/>
            <a:ext cx="99828" cy="369332"/>
          </a:xfrm>
          <a:prstGeom prst="rect">
            <a:avLst/>
          </a:prstGeom>
          <a:noFill/>
        </p:spPr>
        <p:txBody>
          <a:bodyPr wrap="square" rtlCol="0">
            <a:spAutoFit/>
          </a:bodyPr>
          <a:lstStyle/>
          <a:p>
            <a:r>
              <a:rPr lang="en-US" altLang="zh-CN" dirty="0"/>
              <a:t>B</a:t>
            </a:r>
            <a:endParaRPr lang="zh-CN" altLang="en-US" dirty="0"/>
          </a:p>
        </p:txBody>
      </p:sp>
      <p:sp>
        <p:nvSpPr>
          <p:cNvPr id="120" name="Rectangle 29"/>
          <p:cNvSpPr>
            <a:spLocks noChangeArrowheads="1"/>
          </p:cNvSpPr>
          <p:nvPr/>
        </p:nvSpPr>
        <p:spPr bwMode="auto">
          <a:xfrm>
            <a:off x="1735868"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1" name="TextBox 120"/>
          <p:cNvSpPr txBox="1"/>
          <p:nvPr/>
        </p:nvSpPr>
        <p:spPr>
          <a:xfrm>
            <a:off x="1735868" y="1052736"/>
            <a:ext cx="99828" cy="369332"/>
          </a:xfrm>
          <a:prstGeom prst="rect">
            <a:avLst/>
          </a:prstGeom>
          <a:noFill/>
        </p:spPr>
        <p:txBody>
          <a:bodyPr wrap="square" rtlCol="0">
            <a:spAutoFit/>
          </a:bodyPr>
          <a:lstStyle/>
          <a:p>
            <a:r>
              <a:rPr lang="en-US" altLang="zh-CN" dirty="0"/>
              <a:t>B</a:t>
            </a:r>
            <a:endParaRPr lang="zh-CN" altLang="en-US" dirty="0"/>
          </a:p>
        </p:txBody>
      </p:sp>
      <p:sp>
        <p:nvSpPr>
          <p:cNvPr id="122" name="Rectangle 29"/>
          <p:cNvSpPr>
            <a:spLocks noChangeArrowheads="1"/>
          </p:cNvSpPr>
          <p:nvPr/>
        </p:nvSpPr>
        <p:spPr bwMode="auto">
          <a:xfrm>
            <a:off x="1735868"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3" name="TextBox 122"/>
          <p:cNvSpPr txBox="1"/>
          <p:nvPr/>
        </p:nvSpPr>
        <p:spPr>
          <a:xfrm>
            <a:off x="1735868" y="1331476"/>
            <a:ext cx="99828" cy="369332"/>
          </a:xfrm>
          <a:prstGeom prst="rect">
            <a:avLst/>
          </a:prstGeom>
          <a:noFill/>
        </p:spPr>
        <p:txBody>
          <a:bodyPr wrap="square" rtlCol="0">
            <a:spAutoFit/>
          </a:bodyPr>
          <a:lstStyle/>
          <a:p>
            <a:r>
              <a:rPr lang="en-US" altLang="zh-CN" dirty="0"/>
              <a:t>C</a:t>
            </a:r>
            <a:endParaRPr lang="zh-CN" altLang="en-US" dirty="0"/>
          </a:p>
        </p:txBody>
      </p:sp>
      <p:sp>
        <p:nvSpPr>
          <p:cNvPr id="124" name="Rectangle 29"/>
          <p:cNvSpPr>
            <a:spLocks noChangeArrowheads="1"/>
          </p:cNvSpPr>
          <p:nvPr/>
        </p:nvSpPr>
        <p:spPr bwMode="auto">
          <a:xfrm>
            <a:off x="3779912"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5" name="TextBox 124"/>
          <p:cNvSpPr txBox="1"/>
          <p:nvPr/>
        </p:nvSpPr>
        <p:spPr>
          <a:xfrm>
            <a:off x="3779912" y="1052736"/>
            <a:ext cx="99828" cy="369332"/>
          </a:xfrm>
          <a:prstGeom prst="rect">
            <a:avLst/>
          </a:prstGeom>
          <a:noFill/>
        </p:spPr>
        <p:txBody>
          <a:bodyPr wrap="square" rtlCol="0">
            <a:spAutoFit/>
          </a:bodyPr>
          <a:lstStyle/>
          <a:p>
            <a:r>
              <a:rPr lang="en-US" altLang="zh-CN" dirty="0"/>
              <a:t>A</a:t>
            </a:r>
            <a:endParaRPr lang="zh-CN" altLang="en-US" dirty="0"/>
          </a:p>
        </p:txBody>
      </p:sp>
      <p:sp>
        <p:nvSpPr>
          <p:cNvPr id="126" name="Rectangle 29"/>
          <p:cNvSpPr>
            <a:spLocks noChangeArrowheads="1"/>
          </p:cNvSpPr>
          <p:nvPr/>
        </p:nvSpPr>
        <p:spPr bwMode="auto">
          <a:xfrm>
            <a:off x="3779912"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7" name="TextBox 126"/>
          <p:cNvSpPr txBox="1"/>
          <p:nvPr/>
        </p:nvSpPr>
        <p:spPr>
          <a:xfrm>
            <a:off x="3779912" y="1331476"/>
            <a:ext cx="99828" cy="369332"/>
          </a:xfrm>
          <a:prstGeom prst="rect">
            <a:avLst/>
          </a:prstGeom>
          <a:noFill/>
        </p:spPr>
        <p:txBody>
          <a:bodyPr wrap="square" rtlCol="0">
            <a:spAutoFit/>
          </a:bodyPr>
          <a:lstStyle/>
          <a:p>
            <a:r>
              <a:rPr lang="en-US" altLang="zh-CN" dirty="0"/>
              <a:t>C</a:t>
            </a:r>
            <a:endParaRPr lang="zh-CN" altLang="en-US" dirty="0"/>
          </a:p>
        </p:txBody>
      </p:sp>
      <p:sp>
        <p:nvSpPr>
          <p:cNvPr id="128" name="Rectangle 29"/>
          <p:cNvSpPr>
            <a:spLocks noChangeArrowheads="1"/>
          </p:cNvSpPr>
          <p:nvPr/>
        </p:nvSpPr>
        <p:spPr bwMode="auto">
          <a:xfrm>
            <a:off x="5768316"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9" name="TextBox 128"/>
          <p:cNvSpPr txBox="1"/>
          <p:nvPr/>
        </p:nvSpPr>
        <p:spPr>
          <a:xfrm>
            <a:off x="5768316" y="1052736"/>
            <a:ext cx="99828" cy="369332"/>
          </a:xfrm>
          <a:prstGeom prst="rect">
            <a:avLst/>
          </a:prstGeom>
          <a:noFill/>
        </p:spPr>
        <p:txBody>
          <a:bodyPr wrap="square" rtlCol="0">
            <a:spAutoFit/>
          </a:bodyPr>
          <a:lstStyle/>
          <a:p>
            <a:r>
              <a:rPr lang="en-US" altLang="zh-CN" dirty="0"/>
              <a:t>A</a:t>
            </a:r>
            <a:endParaRPr lang="zh-CN" altLang="en-US" dirty="0"/>
          </a:p>
        </p:txBody>
      </p:sp>
      <p:sp>
        <p:nvSpPr>
          <p:cNvPr id="130" name="Rectangle 29"/>
          <p:cNvSpPr>
            <a:spLocks noChangeArrowheads="1"/>
          </p:cNvSpPr>
          <p:nvPr/>
        </p:nvSpPr>
        <p:spPr bwMode="auto">
          <a:xfrm>
            <a:off x="5768316"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31" name="TextBox 130"/>
          <p:cNvSpPr txBox="1"/>
          <p:nvPr/>
        </p:nvSpPr>
        <p:spPr>
          <a:xfrm>
            <a:off x="5768316" y="1331476"/>
            <a:ext cx="99828" cy="369332"/>
          </a:xfrm>
          <a:prstGeom prst="rect">
            <a:avLst/>
          </a:prstGeom>
          <a:noFill/>
        </p:spPr>
        <p:txBody>
          <a:bodyPr wrap="square" rtlCol="0">
            <a:spAutoFit/>
          </a:bodyPr>
          <a:lstStyle/>
          <a:p>
            <a:r>
              <a:rPr lang="en-US" altLang="zh-CN" dirty="0"/>
              <a:t>B</a:t>
            </a:r>
            <a:endParaRPr lang="zh-CN" altLang="en-US" dirty="0"/>
          </a:p>
        </p:txBody>
      </p:sp>
      <p:sp>
        <p:nvSpPr>
          <p:cNvPr id="132" name="右大括号 131"/>
          <p:cNvSpPr/>
          <p:nvPr/>
        </p:nvSpPr>
        <p:spPr>
          <a:xfrm>
            <a:off x="6660232" y="4748407"/>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TextBox 132"/>
          <p:cNvSpPr txBox="1"/>
          <p:nvPr/>
        </p:nvSpPr>
        <p:spPr>
          <a:xfrm>
            <a:off x="6943352" y="5538718"/>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175" name="任意多边形 174"/>
          <p:cNvSpPr/>
          <p:nvPr/>
        </p:nvSpPr>
        <p:spPr>
          <a:xfrm>
            <a:off x="1310054" y="1380392"/>
            <a:ext cx="29051" cy="131885"/>
          </a:xfrm>
          <a:custGeom>
            <a:avLst/>
            <a:gdLst>
              <a:gd name="connsiteX0" fmla="*/ 0 w 29051"/>
              <a:gd name="connsiteY0" fmla="*/ 0 h 131885"/>
              <a:gd name="connsiteX1" fmla="*/ 26377 w 29051"/>
              <a:gd name="connsiteY1" fmla="*/ 131885 h 131885"/>
            </a:gdLst>
            <a:ahLst/>
            <a:cxnLst>
              <a:cxn ang="0">
                <a:pos x="connsiteX0" y="connsiteY0"/>
              </a:cxn>
              <a:cxn ang="0">
                <a:pos x="connsiteX1" y="connsiteY1"/>
              </a:cxn>
            </a:cxnLst>
            <a:rect l="l" t="t" r="r" b="b"/>
            <a:pathLst>
              <a:path w="29051" h="131885">
                <a:moveTo>
                  <a:pt x="0" y="0"/>
                </a:moveTo>
                <a:cubicBezTo>
                  <a:pt x="41456" y="69093"/>
                  <a:pt x="26377" y="26873"/>
                  <a:pt x="26377" y="131885"/>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7" name="直接箭头连接符 176"/>
          <p:cNvCxnSpPr/>
          <p:nvPr/>
        </p:nvCxnSpPr>
        <p:spPr>
          <a:xfrm flipH="1" flipV="1">
            <a:off x="1287452" y="1380392"/>
            <a:ext cx="163247" cy="101043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2" name="Rectangle 15"/>
          <p:cNvSpPr>
            <a:spLocks noChangeArrowheads="1"/>
          </p:cNvSpPr>
          <p:nvPr/>
        </p:nvSpPr>
        <p:spPr bwMode="auto">
          <a:xfrm>
            <a:off x="1403648" y="2339588"/>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Rectangle 29"/>
          <p:cNvSpPr>
            <a:spLocks noChangeArrowheads="1"/>
          </p:cNvSpPr>
          <p:nvPr/>
        </p:nvSpPr>
        <p:spPr bwMode="auto">
          <a:xfrm>
            <a:off x="1591852" y="2395473"/>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4" name="TextBox 53"/>
          <p:cNvSpPr txBox="1"/>
          <p:nvPr/>
        </p:nvSpPr>
        <p:spPr>
          <a:xfrm>
            <a:off x="1763688" y="2690336"/>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55" name="TextBox 54"/>
          <p:cNvSpPr txBox="1"/>
          <p:nvPr/>
        </p:nvSpPr>
        <p:spPr>
          <a:xfrm>
            <a:off x="1591852" y="2330296"/>
            <a:ext cx="99828" cy="369332"/>
          </a:xfrm>
          <a:prstGeom prst="rect">
            <a:avLst/>
          </a:prstGeom>
          <a:noFill/>
        </p:spPr>
        <p:txBody>
          <a:bodyPr wrap="square" rtlCol="0">
            <a:spAutoFit/>
          </a:bodyPr>
          <a:lstStyle/>
          <a:p>
            <a:r>
              <a:rPr lang="en-US" altLang="zh-CN" dirty="0"/>
              <a:t>A</a:t>
            </a:r>
            <a:endParaRPr lang="zh-CN" altLang="en-US" dirty="0"/>
          </a:p>
        </p:txBody>
      </p:sp>
      <p:sp>
        <p:nvSpPr>
          <p:cNvPr id="56" name="Rectangle 29"/>
          <p:cNvSpPr>
            <a:spLocks noChangeArrowheads="1"/>
          </p:cNvSpPr>
          <p:nvPr/>
        </p:nvSpPr>
        <p:spPr bwMode="auto">
          <a:xfrm>
            <a:off x="2339752" y="2404765"/>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7" name="TextBox 56"/>
          <p:cNvSpPr txBox="1"/>
          <p:nvPr/>
        </p:nvSpPr>
        <p:spPr>
          <a:xfrm>
            <a:off x="2339752" y="2339588"/>
            <a:ext cx="99828" cy="369332"/>
          </a:xfrm>
          <a:prstGeom prst="rect">
            <a:avLst/>
          </a:prstGeom>
          <a:noFill/>
        </p:spPr>
        <p:txBody>
          <a:bodyPr wrap="square" rtlCol="0">
            <a:spAutoFit/>
          </a:bodyPr>
          <a:lstStyle/>
          <a:p>
            <a:r>
              <a:rPr lang="en-US" altLang="zh-CN" dirty="0"/>
              <a:t>B</a:t>
            </a:r>
            <a:endParaRPr lang="zh-CN" altLang="en-US" dirty="0"/>
          </a:p>
        </p:txBody>
      </p:sp>
      <p:sp>
        <p:nvSpPr>
          <p:cNvPr id="178" name="圆角矩形标注 177"/>
          <p:cNvSpPr/>
          <p:nvPr/>
        </p:nvSpPr>
        <p:spPr>
          <a:xfrm>
            <a:off x="6847385" y="4038509"/>
            <a:ext cx="2160240" cy="1117849"/>
          </a:xfrm>
          <a:prstGeom prst="wedgeRoundRectCallout">
            <a:avLst>
              <a:gd name="adj1" fmla="val -325885"/>
              <a:gd name="adj2" fmla="val -52855"/>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gn="r">
              <a:lnSpc>
                <a:spcPct val="93000"/>
              </a:lnSpc>
              <a:spcBef>
                <a:spcPct val="0"/>
              </a:spcBef>
              <a:buClr>
                <a:srgbClr val="FFFFFF"/>
              </a:buClr>
              <a:buSzPct val="100000"/>
              <a:buFont typeface="Arial" panose="020B0604020202020204" pitchFamily="34" charset="0"/>
              <a:buNone/>
            </a:pPr>
            <a:r>
              <a:rPr lang="zh-CN" altLang="en-AU" b="1" dirty="0">
                <a:solidFill>
                  <a:srgbClr val="C00000"/>
                </a:solidFill>
                <a:ea typeface="宋体" panose="02010600030101010101" pitchFamily="2" charset="-122"/>
              </a:rPr>
              <a:t>在</a:t>
            </a:r>
            <a:r>
              <a:rPr lang="en-AU" altLang="zh-CN" b="1" dirty="0">
                <a:solidFill>
                  <a:srgbClr val="C00000"/>
                </a:solidFill>
                <a:ea typeface="宋体" panose="02010600030101010101" pitchFamily="2" charset="-122"/>
              </a:rPr>
              <a:t>cell</a:t>
            </a:r>
            <a:r>
              <a:rPr lang="zh-CN" altLang="en-AU" b="1" dirty="0">
                <a:solidFill>
                  <a:srgbClr val="C00000"/>
                </a:solidFill>
                <a:ea typeface="宋体" panose="02010600030101010101" pitchFamily="2" charset="-122"/>
              </a:rPr>
              <a:t>上调用 </a:t>
            </a:r>
            <a:r>
              <a:rPr lang="en-AU" altLang="zh-CN" b="1" dirty="0" err="1">
                <a:solidFill>
                  <a:srgbClr val="C00000"/>
                </a:solidFill>
              </a:rPr>
              <a:t>A.allClients.chat</a:t>
            </a:r>
            <a:r>
              <a:rPr lang="en-AU" altLang="zh-CN" b="1" dirty="0">
                <a:solidFill>
                  <a:srgbClr val="C00000"/>
                </a:solidFill>
              </a:rPr>
              <a:t>() </a:t>
            </a:r>
          </a:p>
        </p:txBody>
      </p:sp>
      <p:sp>
        <p:nvSpPr>
          <p:cNvPr id="180" name="圆角矩形标注 179"/>
          <p:cNvSpPr/>
          <p:nvPr/>
        </p:nvSpPr>
        <p:spPr>
          <a:xfrm>
            <a:off x="6782271" y="2758862"/>
            <a:ext cx="2225353" cy="945396"/>
          </a:xfrm>
          <a:prstGeom prst="wedgeRoundRectCallout">
            <a:avLst>
              <a:gd name="adj1" fmla="val -206529"/>
              <a:gd name="adj2" fmla="val -132803"/>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nSpc>
                <a:spcPct val="93000"/>
              </a:lnSpc>
              <a:spcBef>
                <a:spcPct val="0"/>
              </a:spcBef>
              <a:buClr>
                <a:srgbClr val="FFFFFF"/>
              </a:buClr>
              <a:buSzPct val="100000"/>
            </a:pPr>
            <a:r>
              <a:rPr lang="zh-CN" altLang="en-AU" b="1" dirty="0">
                <a:solidFill>
                  <a:srgbClr val="C00000"/>
                </a:solidFill>
                <a:ea typeface="宋体" panose="02010600030101010101" pitchFamily="2" charset="-122"/>
              </a:rPr>
              <a:t>使得客户端</a:t>
            </a:r>
            <a:r>
              <a:rPr lang="en-AU" altLang="zh-CN" b="1" dirty="0">
                <a:solidFill>
                  <a:srgbClr val="C00000"/>
                </a:solidFill>
                <a:ea typeface="宋体" panose="02010600030101010101" pitchFamily="2" charset="-122"/>
              </a:rPr>
              <a:t>A,B</a:t>
            </a:r>
            <a:r>
              <a:rPr lang="zh-CN" altLang="en-AU" b="1" dirty="0">
                <a:solidFill>
                  <a:srgbClr val="C00000"/>
                </a:solidFill>
                <a:ea typeface="宋体" panose="02010600030101010101" pitchFamily="2" charset="-122"/>
              </a:rPr>
              <a:t>和</a:t>
            </a:r>
            <a:r>
              <a:rPr lang="en-AU" altLang="zh-CN" b="1" dirty="0">
                <a:solidFill>
                  <a:srgbClr val="C00000"/>
                </a:solidFill>
                <a:ea typeface="宋体" panose="02010600030101010101" pitchFamily="2" charset="-122"/>
              </a:rPr>
              <a:t>C</a:t>
            </a:r>
            <a:r>
              <a:rPr lang="zh-CN" altLang="en-AU" b="1" dirty="0">
                <a:solidFill>
                  <a:srgbClr val="C00000"/>
                </a:solidFill>
                <a:ea typeface="宋体" panose="02010600030101010101" pitchFamily="2" charset="-122"/>
              </a:rPr>
              <a:t>上的</a:t>
            </a:r>
            <a:r>
              <a:rPr lang="en-AU" altLang="zh-CN" b="1" dirty="0" err="1">
                <a:solidFill>
                  <a:srgbClr val="C00000"/>
                </a:solidFill>
                <a:ea typeface="宋体" panose="02010600030101010101" pitchFamily="2" charset="-122"/>
              </a:rPr>
              <a:t>A</a:t>
            </a:r>
            <a:r>
              <a:rPr lang="en-AU" altLang="zh-CN" b="1" dirty="0" err="1">
                <a:solidFill>
                  <a:srgbClr val="C00000"/>
                </a:solidFill>
              </a:rPr>
              <a:t>.chat</a:t>
            </a:r>
            <a:r>
              <a:rPr lang="en-AU" altLang="zh-CN" b="1" dirty="0">
                <a:solidFill>
                  <a:srgbClr val="C00000"/>
                </a:solidFill>
              </a:rPr>
              <a:t>() </a:t>
            </a:r>
            <a:r>
              <a:rPr lang="zh-CN" altLang="en-AU" b="1" dirty="0">
                <a:solidFill>
                  <a:srgbClr val="C00000"/>
                </a:solidFill>
                <a:ea typeface="宋体" panose="02010600030101010101" pitchFamily="2" charset="-122"/>
              </a:rPr>
              <a:t>都被调用</a:t>
            </a:r>
          </a:p>
        </p:txBody>
      </p:sp>
      <p:cxnSp>
        <p:nvCxnSpPr>
          <p:cNvPr id="182" name="直接箭头连接符 181"/>
          <p:cNvCxnSpPr>
            <a:stCxn id="74" idx="0"/>
          </p:cNvCxnSpPr>
          <p:nvPr/>
        </p:nvCxnSpPr>
        <p:spPr>
          <a:xfrm flipV="1">
            <a:off x="1367644" y="2987411"/>
            <a:ext cx="83055" cy="81092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5" name="直接箭头连接符 4"/>
          <p:cNvCxnSpPr>
            <a:endCxn id="125" idx="1"/>
          </p:cNvCxnSpPr>
          <p:nvPr/>
        </p:nvCxnSpPr>
        <p:spPr>
          <a:xfrm flipV="1">
            <a:off x="3059832" y="1237402"/>
            <a:ext cx="720080" cy="110218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a:stCxn id="74" idx="0"/>
            <a:endCxn id="54" idx="2"/>
          </p:cNvCxnSpPr>
          <p:nvPr/>
        </p:nvCxnSpPr>
        <p:spPr>
          <a:xfrm flipV="1">
            <a:off x="1367644" y="3059668"/>
            <a:ext cx="1008112" cy="73866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5" name="直接箭头连接符 14"/>
          <p:cNvCxnSpPr>
            <a:stCxn id="79" idx="0"/>
          </p:cNvCxnSpPr>
          <p:nvPr/>
        </p:nvCxnSpPr>
        <p:spPr>
          <a:xfrm flipV="1">
            <a:off x="1309546" y="2987412"/>
            <a:ext cx="2938418" cy="8109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7" name="直接箭头连接符 16"/>
          <p:cNvCxnSpPr/>
          <p:nvPr/>
        </p:nvCxnSpPr>
        <p:spPr>
          <a:xfrm flipV="1">
            <a:off x="4860032" y="1246694"/>
            <a:ext cx="908284" cy="11441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9698" y="131948"/>
            <a:ext cx="9217024" cy="650503"/>
          </a:xfrm>
        </p:spPr>
        <p:txBody>
          <a:bodyPr>
            <a:normAutofit fontScale="90000"/>
          </a:bodyPr>
          <a:lstStyle/>
          <a:p>
            <a:pPr algn="l"/>
            <a:r>
              <a:rPr lang="en-US" altLang="zh-CN" sz="4900" b="1" dirty="0" err="1">
                <a:solidFill>
                  <a:schemeClr val="accent1"/>
                </a:solidFill>
                <a:latin typeface="+mn-ea"/>
              </a:rPr>
              <a:t>Entity.otherClients</a:t>
            </a:r>
            <a:r>
              <a:rPr lang="en-US" altLang="zh-CN" sz="4900" b="1" dirty="0">
                <a:solidFill>
                  <a:schemeClr val="accent1"/>
                </a:solidFill>
                <a:latin typeface="+mn-ea"/>
              </a:rPr>
              <a:t> </a:t>
            </a:r>
            <a:r>
              <a:rPr lang="zh-CN" altLang="en-US" sz="4900" b="1" dirty="0">
                <a:solidFill>
                  <a:schemeClr val="accent1"/>
                </a:solidFill>
                <a:latin typeface="+mn-ea"/>
              </a:rPr>
              <a:t>方法调用示例</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1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zh-CN" sz="2000" dirty="0" err="1"/>
              <a:t>self.otherClients.chat</a:t>
            </a:r>
            <a:r>
              <a:rPr lang="en-GB" altLang="zh-CN" sz="2000" dirty="0"/>
              <a:t>()</a:t>
            </a:r>
            <a:r>
              <a:rPr lang="zh-CN" altLang="en-GB" sz="2000" dirty="0">
                <a:ea typeface="宋体" panose="02010600030101010101" pitchFamily="2" charset="-122"/>
              </a:rPr>
              <a:t>使得所有可以看到</a:t>
            </a:r>
            <a:r>
              <a:rPr lang="en-GB" altLang="zh-CN" sz="2000" dirty="0">
                <a:ea typeface="宋体" panose="02010600030101010101" pitchFamily="2" charset="-122"/>
              </a:rPr>
              <a:t>A</a:t>
            </a:r>
            <a:r>
              <a:rPr lang="zh-CN" altLang="en-GB" sz="2000" dirty="0">
                <a:ea typeface="宋体" panose="02010600030101010101" pitchFamily="2" charset="-122"/>
              </a:rPr>
              <a:t>的玩家客户端上的</a:t>
            </a:r>
            <a:r>
              <a:rPr lang="en-GB" altLang="zh-CN" sz="2000" dirty="0">
                <a:ea typeface="宋体" panose="02010600030101010101" pitchFamily="2" charset="-122"/>
              </a:rPr>
              <a:t>Entity A</a:t>
            </a:r>
            <a:r>
              <a:rPr lang="zh-CN" altLang="en-GB" sz="2000" dirty="0">
                <a:ea typeface="宋体" panose="02010600030101010101" pitchFamily="2" charset="-122"/>
              </a:rPr>
              <a:t>的</a:t>
            </a:r>
            <a:r>
              <a:rPr lang="en-GB" altLang="zh-CN" sz="2000" dirty="0">
                <a:ea typeface="宋体" panose="02010600030101010101" pitchFamily="2" charset="-122"/>
              </a:rPr>
              <a:t>chat()</a:t>
            </a:r>
            <a:r>
              <a:rPr lang="zh-CN" altLang="en-GB" sz="2000" dirty="0">
                <a:ea typeface="宋体" panose="02010600030101010101" pitchFamily="2" charset="-122"/>
              </a:rPr>
              <a:t>函数被调用，</a:t>
            </a:r>
            <a:r>
              <a:rPr lang="en-GB" altLang="zh-CN" sz="2000" dirty="0">
                <a:solidFill>
                  <a:srgbClr val="00B0F0"/>
                </a:solidFill>
                <a:ea typeface="宋体" panose="02010600030101010101" pitchFamily="2" charset="-122"/>
              </a:rPr>
              <a:t>A</a:t>
            </a:r>
            <a:r>
              <a:rPr lang="zh-CN" altLang="en-GB" sz="2000" dirty="0">
                <a:solidFill>
                  <a:srgbClr val="00B0F0"/>
                </a:solidFill>
                <a:ea typeface="宋体" panose="02010600030101010101" pitchFamily="2" charset="-122"/>
              </a:rPr>
              <a:t>客户端本身除外</a:t>
            </a:r>
            <a:r>
              <a:rPr lang="zh-CN" altLang="en-GB" sz="2000" dirty="0">
                <a:ea typeface="宋体" panose="02010600030101010101" pitchFamily="2" charset="-122"/>
              </a:rPr>
              <a:t>。</a:t>
            </a:r>
            <a:endParaRPr lang="en-GB" altLang="zh-CN" sz="2000" dirty="0"/>
          </a:p>
          <a:p>
            <a:pPr>
              <a:lnSpc>
                <a:spcPct val="91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000" dirty="0">
                <a:ea typeface="宋体" panose="02010600030101010101" pitchFamily="2" charset="-122"/>
              </a:rPr>
              <a:t>如果一个玩家在</a:t>
            </a:r>
            <a:r>
              <a:rPr lang="en-GB" altLang="zh-CN" sz="2000" dirty="0">
                <a:ea typeface="宋体" panose="02010600030101010101" pitchFamily="2" charset="-122"/>
              </a:rPr>
              <a:t>A</a:t>
            </a:r>
            <a:r>
              <a:rPr lang="zh-CN" altLang="en-GB" sz="2000" dirty="0">
                <a:ea typeface="宋体" panose="02010600030101010101" pitchFamily="2" charset="-122"/>
              </a:rPr>
              <a:t>所在的同一个</a:t>
            </a:r>
            <a:r>
              <a:rPr lang="en-GB" altLang="zh-CN" sz="2000" dirty="0">
                <a:ea typeface="宋体" panose="02010600030101010101" pitchFamily="2" charset="-122"/>
              </a:rPr>
              <a:t>Space</a:t>
            </a:r>
            <a:r>
              <a:rPr lang="zh-CN" altLang="en-GB" sz="2000" dirty="0">
                <a:ea typeface="宋体" panose="02010600030101010101" pitchFamily="2" charset="-122"/>
              </a:rPr>
              <a:t>，并且</a:t>
            </a:r>
            <a:r>
              <a:rPr lang="en-GB" altLang="zh-CN" sz="2000" dirty="0">
                <a:ea typeface="宋体" panose="02010600030101010101" pitchFamily="2" charset="-122"/>
              </a:rPr>
              <a:t>A</a:t>
            </a:r>
            <a:r>
              <a:rPr lang="zh-CN" altLang="en-GB" sz="2000" dirty="0">
                <a:ea typeface="宋体" panose="02010600030101010101" pitchFamily="2" charset="-122"/>
              </a:rPr>
              <a:t>处于其</a:t>
            </a:r>
            <a:r>
              <a:rPr lang="en-GB" altLang="zh-CN" sz="2000" dirty="0">
                <a:ea typeface="宋体" panose="02010600030101010101" pitchFamily="2" charset="-122"/>
              </a:rPr>
              <a:t>AOI</a:t>
            </a:r>
            <a:r>
              <a:rPr lang="zh-CN" altLang="en-GB" sz="2000" dirty="0">
                <a:ea typeface="宋体" panose="02010600030101010101" pitchFamily="2" charset="-122"/>
              </a:rPr>
              <a:t>范围内，那么这个玩家的客户端就能看到</a:t>
            </a:r>
            <a:r>
              <a:rPr lang="en-GB" altLang="zh-CN" sz="2000" dirty="0">
                <a:ea typeface="宋体" panose="02010600030101010101" pitchFamily="2" charset="-122"/>
              </a:rPr>
              <a:t>A</a:t>
            </a:r>
            <a:r>
              <a:rPr lang="zh-CN" altLang="en-GB" sz="2000" dirty="0">
                <a:ea typeface="宋体" panose="02010600030101010101" pitchFamily="2" charset="-122"/>
              </a:rPr>
              <a:t>。</a:t>
            </a:r>
            <a:endParaRPr lang="en-GB" altLang="zh-CN" sz="2000" dirty="0"/>
          </a:p>
          <a:p>
            <a:pPr>
              <a:lnSpc>
                <a:spcPct val="91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000" dirty="0">
                <a:ea typeface="宋体" panose="02010600030101010101" pitchFamily="2" charset="-122"/>
              </a:rPr>
              <a:t>通常用于在该玩家客户端立即见到效果的初始动作，它用</a:t>
            </a:r>
            <a:r>
              <a:rPr lang="en-GB" altLang="zh-CN" sz="2000" dirty="0" err="1">
                <a:ea typeface="宋体" panose="02010600030101010101" pitchFamily="2" charset="-122"/>
              </a:rPr>
              <a:t>otherClients</a:t>
            </a:r>
            <a:r>
              <a:rPr lang="zh-CN" altLang="en-GB" sz="2000" dirty="0">
                <a:ea typeface="宋体" panose="02010600030101010101" pitchFamily="2" charset="-122"/>
              </a:rPr>
              <a:t>的方式把该动作广播到其它玩家客户端。例如：跳跃。</a:t>
            </a:r>
            <a:r>
              <a:rPr lang="en-GB" altLang="zh-CN" sz="2000" dirty="0"/>
              <a:t> </a:t>
            </a:r>
          </a:p>
        </p:txBody>
      </p:sp>
      <p:sp>
        <p:nvSpPr>
          <p:cNvPr id="72" name="Text Box 36"/>
          <p:cNvSpPr txBox="1">
            <a:spLocks noChangeArrowheads="1"/>
          </p:cNvSpPr>
          <p:nvPr/>
        </p:nvSpPr>
        <p:spPr bwMode="auto">
          <a:xfrm>
            <a:off x="1508125" y="7850188"/>
            <a:ext cx="1674813" cy="2619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3000"/>
              </a:lnSpc>
              <a:spcBef>
                <a:spcPct val="0"/>
              </a:spcBef>
              <a:buClr>
                <a:srgbClr val="FFFFFF"/>
              </a:buClr>
              <a:buSzPct val="100000"/>
              <a:buFont typeface="Arial" panose="020B0604020202020204" pitchFamily="34" charset="0"/>
              <a:buNone/>
            </a:pPr>
            <a:r>
              <a:rPr lang="en-AU" sz="1200" b="0"/>
              <a:t>… </a:t>
            </a:r>
            <a:r>
              <a:rPr lang="zh-CN" altLang="en-AU" sz="1200" b="0">
                <a:ea typeface="宋体" panose="02010600030101010101" pitchFamily="2" charset="-122"/>
              </a:rPr>
              <a:t>导致</a:t>
            </a:r>
            <a:r>
              <a:rPr lang="en-AU" sz="1200" b="0"/>
              <a:t>A.chat()</a:t>
            </a:r>
            <a:r>
              <a:rPr lang="zh-CN" altLang="en-AU" sz="1200" b="0">
                <a:ea typeface="宋体" panose="02010600030101010101" pitchFamily="2" charset="-122"/>
              </a:rPr>
              <a:t>被调用</a:t>
            </a:r>
            <a:endParaRPr lang="en-AU" sz="1200" b="0"/>
          </a:p>
        </p:txBody>
      </p:sp>
      <p:sp>
        <p:nvSpPr>
          <p:cNvPr id="3" name="矩形 2"/>
          <p:cNvSpPr/>
          <p:nvPr/>
        </p:nvSpPr>
        <p:spPr>
          <a:xfrm>
            <a:off x="143508" y="3068960"/>
            <a:ext cx="8856984" cy="302433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dirty="0"/>
          </a:p>
        </p:txBody>
      </p:sp>
      <p:grpSp>
        <p:nvGrpSpPr>
          <p:cNvPr id="5" name="Group 6"/>
          <p:cNvGrpSpPr/>
          <p:nvPr/>
        </p:nvGrpSpPr>
        <p:grpSpPr bwMode="auto">
          <a:xfrm>
            <a:off x="1019871" y="3763084"/>
            <a:ext cx="5689600" cy="1731963"/>
            <a:chOff x="975" y="1969"/>
            <a:chExt cx="3584" cy="1091"/>
          </a:xfrm>
        </p:grpSpPr>
        <p:sp>
          <p:nvSpPr>
            <p:cNvPr id="6" name="Line 8"/>
            <p:cNvSpPr>
              <a:spLocks noChangeShapeType="1"/>
            </p:cNvSpPr>
            <p:nvPr/>
          </p:nvSpPr>
          <p:spPr bwMode="auto">
            <a:xfrm flipV="1">
              <a:off x="2895" y="2523"/>
              <a:ext cx="0"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dirty="0"/>
            </a:p>
          </p:txBody>
        </p:sp>
        <p:sp>
          <p:nvSpPr>
            <p:cNvPr id="7" name="Line 9"/>
            <p:cNvSpPr>
              <a:spLocks noChangeShapeType="1"/>
            </p:cNvSpPr>
            <p:nvPr/>
          </p:nvSpPr>
          <p:spPr bwMode="auto">
            <a:xfrm flipV="1">
              <a:off x="3061" y="2396"/>
              <a:ext cx="1498" cy="664"/>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8" name="Line 10"/>
            <p:cNvSpPr>
              <a:spLocks noChangeShapeType="1"/>
            </p:cNvSpPr>
            <p:nvPr/>
          </p:nvSpPr>
          <p:spPr bwMode="auto">
            <a:xfrm flipV="1">
              <a:off x="3061" y="3060"/>
              <a:ext cx="1481"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9" name="Line 16"/>
            <p:cNvSpPr>
              <a:spLocks noChangeShapeType="1"/>
            </p:cNvSpPr>
            <p:nvPr/>
          </p:nvSpPr>
          <p:spPr bwMode="auto">
            <a:xfrm>
              <a:off x="975" y="3060"/>
              <a:ext cx="2086" cy="0"/>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0" name="Line 17"/>
            <p:cNvSpPr>
              <a:spLocks noChangeShapeType="1"/>
            </p:cNvSpPr>
            <p:nvPr/>
          </p:nvSpPr>
          <p:spPr bwMode="auto">
            <a:xfrm>
              <a:off x="975" y="1969"/>
              <a:ext cx="0" cy="1083"/>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1" name="Rectangle 21"/>
            <p:cNvSpPr>
              <a:spLocks noChangeArrowheads="1"/>
            </p:cNvSpPr>
            <p:nvPr/>
          </p:nvSpPr>
          <p:spPr bwMode="auto">
            <a:xfrm>
              <a:off x="1067" y="2887"/>
              <a:ext cx="18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a:solidFill>
                    <a:srgbClr val="00007D"/>
                  </a:solidFill>
                  <a:latin typeface="Courier New" panose="02070309020205020404" pitchFamily="49" charset="0"/>
                  <a:ea typeface="宋体" panose="02010600030101010101" pitchFamily="2" charset="-122"/>
                </a:rPr>
                <a:t>self.allClients.chat()</a:t>
              </a:r>
            </a:p>
          </p:txBody>
        </p:sp>
      </p:grpSp>
      <p:sp>
        <p:nvSpPr>
          <p:cNvPr id="12" name="矩形 11"/>
          <p:cNvSpPr/>
          <p:nvPr/>
        </p:nvSpPr>
        <p:spPr>
          <a:xfrm>
            <a:off x="251520" y="3223334"/>
            <a:ext cx="1189037" cy="48418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200" b="1" dirty="0" err="1">
                <a:latin typeface="Arial Black" panose="020B0A04020102020204" pitchFamily="34" charset="0"/>
              </a:rPr>
              <a:t>Cellapp</a:t>
            </a:r>
            <a:endParaRPr lang="en-US" altLang="zh-CN" sz="1200" b="1" dirty="0">
              <a:latin typeface="Arial Black" panose="020B0A04020102020204" pitchFamily="34" charset="0"/>
            </a:endParaRPr>
          </a:p>
          <a:p>
            <a:pPr algn="ctr"/>
            <a:r>
              <a:rPr lang="en-US" altLang="zh-CN" sz="1200" b="1" dirty="0">
                <a:latin typeface="Arial Black" panose="020B0A04020102020204" pitchFamily="34" charset="0"/>
              </a:rPr>
              <a:t>Player A</a:t>
            </a:r>
            <a:endParaRPr lang="zh-CN" altLang="en-US" sz="1200" b="1" dirty="0">
              <a:latin typeface="Arial Black" panose="020B0A04020102020204" pitchFamily="34" charset="0"/>
            </a:endParaRPr>
          </a:p>
        </p:txBody>
      </p:sp>
      <p:sp>
        <p:nvSpPr>
          <p:cNvPr id="13" name="矩形 12"/>
          <p:cNvSpPr/>
          <p:nvPr/>
        </p:nvSpPr>
        <p:spPr>
          <a:xfrm>
            <a:off x="6709470" y="3223334"/>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14" name="矩形 13"/>
          <p:cNvSpPr/>
          <p:nvPr/>
        </p:nvSpPr>
        <p:spPr>
          <a:xfrm>
            <a:off x="6708354" y="4230181"/>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B</a:t>
            </a:r>
            <a:endParaRPr lang="zh-CN" altLang="en-US" dirty="0"/>
          </a:p>
        </p:txBody>
      </p:sp>
      <p:sp>
        <p:nvSpPr>
          <p:cNvPr id="15" name="TextBox 41"/>
          <p:cNvSpPr txBox="1"/>
          <p:nvPr/>
        </p:nvSpPr>
        <p:spPr>
          <a:xfrm>
            <a:off x="7884368" y="3346217"/>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16" name="TextBox 42"/>
          <p:cNvSpPr txBox="1"/>
          <p:nvPr/>
        </p:nvSpPr>
        <p:spPr>
          <a:xfrm>
            <a:off x="7884368" y="4380751"/>
            <a:ext cx="1080120"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
        <p:nvSpPr>
          <p:cNvPr id="18" name="矩形 17"/>
          <p:cNvSpPr/>
          <p:nvPr/>
        </p:nvSpPr>
        <p:spPr>
          <a:xfrm>
            <a:off x="6709471" y="5310301"/>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C</a:t>
            </a:r>
            <a:endParaRPr lang="zh-CN" altLang="en-US" dirty="0"/>
          </a:p>
        </p:txBody>
      </p:sp>
      <p:sp>
        <p:nvSpPr>
          <p:cNvPr id="19" name="TextBox 46"/>
          <p:cNvSpPr txBox="1"/>
          <p:nvPr/>
        </p:nvSpPr>
        <p:spPr>
          <a:xfrm>
            <a:off x="7920881" y="5460871"/>
            <a:ext cx="1043607" cy="261610"/>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a:solidFill>
                  <a:srgbClr val="FFFF00"/>
                </a:solidFill>
                <a:latin typeface="Arial Black" panose="020B0A04020102020204" pitchFamily="34" charset="0"/>
              </a:rPr>
              <a:t>Player A</a:t>
            </a:r>
            <a:endParaRPr lang="zh-CN" altLang="en-US" sz="1100" b="1" dirty="0">
              <a:solidFill>
                <a:srgbClr val="FFFF00"/>
              </a:solidFill>
              <a:latin typeface="Arial Black" panose="020B0A040201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0" y="131948"/>
            <a:ext cx="9972600" cy="650503"/>
          </a:xfrm>
        </p:spPr>
        <p:txBody>
          <a:bodyPr>
            <a:normAutofit fontScale="90000"/>
          </a:bodyPr>
          <a:lstStyle/>
          <a:p>
            <a:pPr algn="l"/>
            <a:r>
              <a:rPr lang="en-US" altLang="zh-CN" sz="4900" b="1" dirty="0" err="1">
                <a:solidFill>
                  <a:schemeClr val="accent1"/>
                </a:solidFill>
                <a:latin typeface="+mn-ea"/>
                <a:ea typeface="+mn-ea"/>
              </a:rPr>
              <a:t>Entity.</a:t>
            </a:r>
            <a:r>
              <a:rPr lang="en-US" altLang="zh-CN" sz="4900" b="1" dirty="0" err="1">
                <a:solidFill>
                  <a:schemeClr val="accent1"/>
                </a:solidFill>
                <a:latin typeface="+mn-ea"/>
              </a:rPr>
              <a:t>otherClients</a:t>
            </a:r>
            <a:r>
              <a:rPr lang="en-US" altLang="zh-CN" sz="4900" b="1" dirty="0">
                <a:solidFill>
                  <a:schemeClr val="accent1"/>
                </a:solidFill>
                <a:latin typeface="+mn-ea"/>
                <a:ea typeface="+mn-ea"/>
              </a:rPr>
              <a:t> </a:t>
            </a:r>
            <a:r>
              <a:rPr lang="zh-CN" altLang="en-US" sz="4900" b="1" dirty="0">
                <a:solidFill>
                  <a:schemeClr val="accent1"/>
                </a:solidFill>
                <a:latin typeface="+mn-ea"/>
                <a:ea typeface="+mn-ea"/>
              </a:rPr>
              <a:t>方法调用示例</a:t>
            </a:r>
          </a:p>
        </p:txBody>
      </p:sp>
      <p:cxnSp>
        <p:nvCxnSpPr>
          <p:cNvPr id="37" name="直接连接符 36"/>
          <p:cNvCxnSpPr/>
          <p:nvPr/>
        </p:nvCxnSpPr>
        <p:spPr>
          <a:xfrm>
            <a:off x="96288" y="4702261"/>
            <a:ext cx="6491936" cy="1"/>
          </a:xfrm>
          <a:prstGeom prst="line">
            <a:avLst/>
          </a:prstGeom>
        </p:spPr>
        <p:style>
          <a:lnRef idx="3">
            <a:schemeClr val="dk1"/>
          </a:lnRef>
          <a:fillRef idx="0">
            <a:schemeClr val="dk1"/>
          </a:fillRef>
          <a:effectRef idx="2">
            <a:schemeClr val="dk1"/>
          </a:effectRef>
          <a:fontRef idx="minor">
            <a:schemeClr val="tx1"/>
          </a:fontRef>
        </p:style>
      </p:cxnSp>
      <p:sp>
        <p:nvSpPr>
          <p:cNvPr id="38" name="矩形 37"/>
          <p:cNvSpPr/>
          <p:nvPr/>
        </p:nvSpPr>
        <p:spPr>
          <a:xfrm>
            <a:off x="107504" y="967137"/>
            <a:ext cx="6480720" cy="367240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a:p>
        </p:txBody>
      </p:sp>
      <p:sp>
        <p:nvSpPr>
          <p:cNvPr id="39" name="矩形 38"/>
          <p:cNvSpPr/>
          <p:nvPr/>
        </p:nvSpPr>
        <p:spPr>
          <a:xfrm>
            <a:off x="467544" y="3231560"/>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41" name="矩形 40"/>
          <p:cNvSpPr/>
          <p:nvPr/>
        </p:nvSpPr>
        <p:spPr>
          <a:xfrm>
            <a:off x="467544" y="1863408"/>
            <a:ext cx="5688632" cy="341456"/>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42" name="Rectangle 5"/>
          <p:cNvSpPr>
            <a:spLocks noChangeArrowheads="1"/>
          </p:cNvSpPr>
          <p:nvPr/>
        </p:nvSpPr>
        <p:spPr bwMode="auto">
          <a:xfrm>
            <a:off x="6876256" y="980728"/>
            <a:ext cx="2102499" cy="14100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zh-CN" altLang="en-US"/>
          </a:p>
        </p:txBody>
      </p:sp>
      <p:sp>
        <p:nvSpPr>
          <p:cNvPr id="43" name="Rectangle 37"/>
          <p:cNvSpPr>
            <a:spLocks noChangeArrowheads="1"/>
          </p:cNvSpPr>
          <p:nvPr/>
        </p:nvSpPr>
        <p:spPr bwMode="auto">
          <a:xfrm>
            <a:off x="7001293" y="1223164"/>
            <a:ext cx="139253" cy="110421"/>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47" name="Rectangle 37"/>
          <p:cNvSpPr>
            <a:spLocks noChangeArrowheads="1"/>
          </p:cNvSpPr>
          <p:nvPr/>
        </p:nvSpPr>
        <p:spPr bwMode="auto">
          <a:xfrm>
            <a:off x="7001293" y="1439188"/>
            <a:ext cx="139253" cy="110421"/>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48" name="Rectangle 37"/>
          <p:cNvSpPr>
            <a:spLocks noChangeArrowheads="1"/>
          </p:cNvSpPr>
          <p:nvPr/>
        </p:nvSpPr>
        <p:spPr bwMode="auto">
          <a:xfrm>
            <a:off x="7001293" y="1621617"/>
            <a:ext cx="139253" cy="110421"/>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solidFill>
                <a:schemeClr val="accent3">
                  <a:lumMod val="60000"/>
                  <a:lumOff val="40000"/>
                </a:schemeClr>
              </a:solidFill>
            </a:endParaRPr>
          </a:p>
        </p:txBody>
      </p:sp>
      <p:sp>
        <p:nvSpPr>
          <p:cNvPr id="49" name="Rectangle 37"/>
          <p:cNvSpPr>
            <a:spLocks noChangeArrowheads="1"/>
          </p:cNvSpPr>
          <p:nvPr/>
        </p:nvSpPr>
        <p:spPr bwMode="auto">
          <a:xfrm>
            <a:off x="7001293" y="1837641"/>
            <a:ext cx="139253" cy="110421"/>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50" name="Rectangle 37"/>
          <p:cNvSpPr>
            <a:spLocks noChangeArrowheads="1"/>
          </p:cNvSpPr>
          <p:nvPr/>
        </p:nvSpPr>
        <p:spPr bwMode="auto">
          <a:xfrm>
            <a:off x="7001293" y="2053665"/>
            <a:ext cx="139253" cy="110421"/>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51" name="Text Box 49"/>
          <p:cNvSpPr txBox="1">
            <a:spLocks noChangeArrowheads="1"/>
          </p:cNvSpPr>
          <p:nvPr/>
        </p:nvSpPr>
        <p:spPr bwMode="auto">
          <a:xfrm>
            <a:off x="7140546" y="1100897"/>
            <a:ext cx="1829053" cy="116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1400" b="0" dirty="0">
                <a:solidFill>
                  <a:schemeClr val="bg2"/>
                </a:solidFill>
                <a:ea typeface="宋体" panose="02010600030101010101" pitchFamily="2" charset="-122"/>
              </a:rPr>
              <a:t>Base Entity</a:t>
            </a:r>
          </a:p>
          <a:p>
            <a:pPr algn="l"/>
            <a:r>
              <a:rPr lang="en-US" altLang="zh-CN" sz="1400" b="0" dirty="0">
                <a:solidFill>
                  <a:schemeClr val="bg2"/>
                </a:solidFill>
                <a:ea typeface="宋体" panose="02010600030101010101" pitchFamily="2" charset="-122"/>
              </a:rPr>
              <a:t>Real Entity</a:t>
            </a:r>
          </a:p>
          <a:p>
            <a:pPr algn="l"/>
            <a:r>
              <a:rPr lang="en-US" altLang="zh-CN" sz="1400" dirty="0">
                <a:solidFill>
                  <a:schemeClr val="bg2"/>
                </a:solidFill>
                <a:ea typeface="宋体" panose="02010600030101010101" pitchFamily="2" charset="-122"/>
              </a:rPr>
              <a:t>Ghost</a:t>
            </a:r>
            <a:r>
              <a:rPr lang="en-US" altLang="zh-CN" sz="1400" b="0" dirty="0">
                <a:solidFill>
                  <a:schemeClr val="bg2"/>
                </a:solidFill>
                <a:ea typeface="宋体" panose="02010600030101010101" pitchFamily="2" charset="-122"/>
              </a:rPr>
              <a:t> Entity</a:t>
            </a:r>
            <a:endParaRPr lang="en-AU" altLang="zh-CN" sz="1400" b="0" dirty="0">
              <a:solidFill>
                <a:schemeClr val="bg2"/>
              </a:solidFill>
              <a:ea typeface="宋体" panose="02010600030101010101" pitchFamily="2" charset="-122"/>
            </a:endParaRPr>
          </a:p>
          <a:p>
            <a:pPr algn="l"/>
            <a:r>
              <a:rPr lang="en-US" altLang="zh-CN" sz="1400" dirty="0">
                <a:solidFill>
                  <a:schemeClr val="bg2"/>
                </a:solidFill>
                <a:ea typeface="宋体" panose="02010600030101010101" pitchFamily="2" charset="-122"/>
              </a:rPr>
              <a:t>Player Entity</a:t>
            </a:r>
          </a:p>
          <a:p>
            <a:pPr algn="l"/>
            <a:r>
              <a:rPr lang="en-US" altLang="zh-CN" sz="1400" b="0" dirty="0">
                <a:solidFill>
                  <a:schemeClr val="bg2"/>
                </a:solidFill>
                <a:ea typeface="宋体" panose="02010600030101010101" pitchFamily="2" charset="-122"/>
              </a:rPr>
              <a:t>Client Entity</a:t>
            </a:r>
            <a:endParaRPr lang="en-AU" altLang="zh-CN" sz="1400" b="0" dirty="0">
              <a:solidFill>
                <a:schemeClr val="bg2"/>
              </a:solidFill>
              <a:ea typeface="宋体" panose="02010600030101010101" pitchFamily="2" charset="-122"/>
            </a:endParaRPr>
          </a:p>
        </p:txBody>
      </p:sp>
      <p:sp>
        <p:nvSpPr>
          <p:cNvPr id="58" name="Rectangle 15"/>
          <p:cNvSpPr>
            <a:spLocks noChangeArrowheads="1"/>
          </p:cNvSpPr>
          <p:nvPr/>
        </p:nvSpPr>
        <p:spPr bwMode="auto">
          <a:xfrm>
            <a:off x="3419872" y="2348880"/>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TextBox 58"/>
          <p:cNvSpPr txBox="1"/>
          <p:nvPr/>
        </p:nvSpPr>
        <p:spPr>
          <a:xfrm>
            <a:off x="3779912" y="2699628"/>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60" name="Rectangle 29"/>
          <p:cNvSpPr>
            <a:spLocks noChangeArrowheads="1"/>
          </p:cNvSpPr>
          <p:nvPr/>
        </p:nvSpPr>
        <p:spPr bwMode="auto">
          <a:xfrm>
            <a:off x="4067944" y="2414057"/>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61" name="TextBox 60"/>
          <p:cNvSpPr txBox="1"/>
          <p:nvPr/>
        </p:nvSpPr>
        <p:spPr>
          <a:xfrm>
            <a:off x="4067944" y="2348880"/>
            <a:ext cx="99828" cy="369332"/>
          </a:xfrm>
          <a:prstGeom prst="rect">
            <a:avLst/>
          </a:prstGeom>
          <a:noFill/>
        </p:spPr>
        <p:txBody>
          <a:bodyPr wrap="square" rtlCol="0">
            <a:spAutoFit/>
          </a:bodyPr>
          <a:lstStyle/>
          <a:p>
            <a:r>
              <a:rPr lang="en-US" altLang="zh-CN" dirty="0"/>
              <a:t>C</a:t>
            </a:r>
            <a:endParaRPr lang="zh-CN" altLang="en-US" dirty="0"/>
          </a:p>
        </p:txBody>
      </p:sp>
      <p:sp>
        <p:nvSpPr>
          <p:cNvPr id="62" name="Rectangle 15"/>
          <p:cNvSpPr>
            <a:spLocks noChangeArrowheads="1"/>
          </p:cNvSpPr>
          <p:nvPr/>
        </p:nvSpPr>
        <p:spPr bwMode="auto">
          <a:xfrm>
            <a:off x="467544" y="1062028"/>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3" name="TextBox 62"/>
          <p:cNvSpPr txBox="1"/>
          <p:nvPr/>
        </p:nvSpPr>
        <p:spPr>
          <a:xfrm>
            <a:off x="827584"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4" name="Rectangle 29"/>
          <p:cNvSpPr>
            <a:spLocks noChangeArrowheads="1"/>
          </p:cNvSpPr>
          <p:nvPr/>
        </p:nvSpPr>
        <p:spPr bwMode="auto">
          <a:xfrm>
            <a:off x="1087796" y="1127205"/>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5" name="TextBox 64"/>
          <p:cNvSpPr txBox="1"/>
          <p:nvPr/>
        </p:nvSpPr>
        <p:spPr>
          <a:xfrm>
            <a:off x="1087796" y="1062028"/>
            <a:ext cx="99828" cy="369332"/>
          </a:xfrm>
          <a:prstGeom prst="rect">
            <a:avLst/>
          </a:prstGeom>
          <a:noFill/>
        </p:spPr>
        <p:txBody>
          <a:bodyPr wrap="square" rtlCol="0">
            <a:spAutoFit/>
          </a:bodyPr>
          <a:lstStyle/>
          <a:p>
            <a:r>
              <a:rPr lang="en-US" altLang="zh-CN" dirty="0"/>
              <a:t>A</a:t>
            </a:r>
            <a:endParaRPr lang="zh-CN" altLang="en-US" dirty="0"/>
          </a:p>
        </p:txBody>
      </p:sp>
      <p:sp>
        <p:nvSpPr>
          <p:cNvPr id="66" name="Rectangle 15"/>
          <p:cNvSpPr>
            <a:spLocks noChangeArrowheads="1"/>
          </p:cNvSpPr>
          <p:nvPr/>
        </p:nvSpPr>
        <p:spPr bwMode="auto">
          <a:xfrm>
            <a:off x="2483768" y="1071320"/>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67" name="TextBox 66"/>
          <p:cNvSpPr txBox="1"/>
          <p:nvPr/>
        </p:nvSpPr>
        <p:spPr>
          <a:xfrm>
            <a:off x="2843808" y="1422068"/>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68" name="Rectangle 29"/>
          <p:cNvSpPr>
            <a:spLocks noChangeArrowheads="1"/>
          </p:cNvSpPr>
          <p:nvPr/>
        </p:nvSpPr>
        <p:spPr bwMode="auto">
          <a:xfrm>
            <a:off x="3131840" y="1136497"/>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69" name="TextBox 68"/>
          <p:cNvSpPr txBox="1"/>
          <p:nvPr/>
        </p:nvSpPr>
        <p:spPr>
          <a:xfrm>
            <a:off x="3131840" y="1071320"/>
            <a:ext cx="99828" cy="369332"/>
          </a:xfrm>
          <a:prstGeom prst="rect">
            <a:avLst/>
          </a:prstGeom>
          <a:noFill/>
        </p:spPr>
        <p:txBody>
          <a:bodyPr wrap="square" rtlCol="0">
            <a:spAutoFit/>
          </a:bodyPr>
          <a:lstStyle/>
          <a:p>
            <a:r>
              <a:rPr lang="en-US" altLang="zh-CN" dirty="0"/>
              <a:t>B</a:t>
            </a:r>
            <a:endParaRPr lang="zh-CN" altLang="en-US" dirty="0"/>
          </a:p>
        </p:txBody>
      </p:sp>
      <p:sp>
        <p:nvSpPr>
          <p:cNvPr id="70" name="Rectangle 15"/>
          <p:cNvSpPr>
            <a:spLocks noChangeArrowheads="1"/>
          </p:cNvSpPr>
          <p:nvPr/>
        </p:nvSpPr>
        <p:spPr bwMode="auto">
          <a:xfrm>
            <a:off x="4499992" y="1062028"/>
            <a:ext cx="1656184" cy="657115"/>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1" name="TextBox 70"/>
          <p:cNvSpPr txBox="1"/>
          <p:nvPr/>
        </p:nvSpPr>
        <p:spPr>
          <a:xfrm>
            <a:off x="4860032" y="1412776"/>
            <a:ext cx="1224136" cy="369332"/>
          </a:xfrm>
          <a:prstGeom prst="rect">
            <a:avLst/>
          </a:prstGeom>
          <a:noFill/>
        </p:spPr>
        <p:txBody>
          <a:bodyPr wrap="square" rtlCol="0">
            <a:spAutoFit/>
          </a:bodyPr>
          <a:lstStyle/>
          <a:p>
            <a:r>
              <a:rPr lang="en-US" altLang="zh-CN" b="1" dirty="0"/>
              <a:t>Client</a:t>
            </a:r>
            <a:endParaRPr lang="zh-CN" altLang="en-US" b="1" dirty="0"/>
          </a:p>
        </p:txBody>
      </p:sp>
      <p:sp>
        <p:nvSpPr>
          <p:cNvPr id="72" name="Rectangle 29"/>
          <p:cNvSpPr>
            <a:spLocks noChangeArrowheads="1"/>
          </p:cNvSpPr>
          <p:nvPr/>
        </p:nvSpPr>
        <p:spPr bwMode="auto">
          <a:xfrm>
            <a:off x="5148064" y="1189921"/>
            <a:ext cx="243844" cy="232147"/>
          </a:xfrm>
          <a:prstGeom prst="rect">
            <a:avLst/>
          </a:prstGeom>
        </p:spPr>
        <p:style>
          <a:lnRef idx="0">
            <a:schemeClr val="accent2"/>
          </a:lnRef>
          <a:fillRef idx="3">
            <a:schemeClr val="accent2"/>
          </a:fillRef>
          <a:effectRef idx="3">
            <a:schemeClr val="accent2"/>
          </a:effectRef>
          <a:fontRef idx="minor">
            <a:schemeClr val="lt1"/>
          </a:fontRef>
        </p:style>
        <p:txBody>
          <a:bodyPr wrap="none" anchor="ctr"/>
          <a:lstStyle/>
          <a:p>
            <a:endParaRPr lang="zh-CN" altLang="en-US"/>
          </a:p>
        </p:txBody>
      </p:sp>
      <p:sp>
        <p:nvSpPr>
          <p:cNvPr id="73" name="TextBox 72"/>
          <p:cNvSpPr txBox="1"/>
          <p:nvPr/>
        </p:nvSpPr>
        <p:spPr>
          <a:xfrm>
            <a:off x="5148064" y="1124744"/>
            <a:ext cx="99828" cy="369332"/>
          </a:xfrm>
          <a:prstGeom prst="rect">
            <a:avLst/>
          </a:prstGeom>
          <a:noFill/>
        </p:spPr>
        <p:txBody>
          <a:bodyPr wrap="square" rtlCol="0">
            <a:spAutoFit/>
          </a:bodyPr>
          <a:lstStyle/>
          <a:p>
            <a:r>
              <a:rPr lang="en-US" altLang="zh-CN" dirty="0"/>
              <a:t>C</a:t>
            </a:r>
            <a:endParaRPr lang="zh-CN" altLang="en-US" dirty="0"/>
          </a:p>
        </p:txBody>
      </p:sp>
      <p:sp>
        <p:nvSpPr>
          <p:cNvPr id="74" name="Rectangle 15"/>
          <p:cNvSpPr>
            <a:spLocks noChangeArrowheads="1"/>
          </p:cNvSpPr>
          <p:nvPr/>
        </p:nvSpPr>
        <p:spPr bwMode="auto">
          <a:xfrm>
            <a:off x="539552" y="3798332"/>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75" name="Rectangle 29"/>
          <p:cNvSpPr>
            <a:spLocks noChangeArrowheads="1"/>
          </p:cNvSpPr>
          <p:nvPr/>
        </p:nvSpPr>
        <p:spPr bwMode="auto">
          <a:xfrm>
            <a:off x="727756" y="385421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6" name="TextBox 75"/>
          <p:cNvSpPr txBox="1"/>
          <p:nvPr/>
        </p:nvSpPr>
        <p:spPr>
          <a:xfrm>
            <a:off x="539552" y="4149080"/>
            <a:ext cx="1584176" cy="369332"/>
          </a:xfrm>
          <a:prstGeom prst="rect">
            <a:avLst/>
          </a:prstGeom>
          <a:noFill/>
        </p:spPr>
        <p:txBody>
          <a:bodyPr wrap="square" rtlCol="0">
            <a:spAutoFit/>
          </a:bodyPr>
          <a:lstStyle/>
          <a:p>
            <a:r>
              <a:rPr lang="en-US" altLang="zh-CN" b="1" dirty="0"/>
              <a:t>Cellapp1-cell1</a:t>
            </a:r>
            <a:endParaRPr lang="zh-CN" altLang="en-US" b="1" dirty="0"/>
          </a:p>
        </p:txBody>
      </p:sp>
      <p:sp>
        <p:nvSpPr>
          <p:cNvPr id="77" name="TextBox 76"/>
          <p:cNvSpPr txBox="1"/>
          <p:nvPr/>
        </p:nvSpPr>
        <p:spPr>
          <a:xfrm>
            <a:off x="727756" y="3789040"/>
            <a:ext cx="99828" cy="369332"/>
          </a:xfrm>
          <a:prstGeom prst="rect">
            <a:avLst/>
          </a:prstGeom>
          <a:noFill/>
        </p:spPr>
        <p:txBody>
          <a:bodyPr wrap="square" rtlCol="0">
            <a:spAutoFit/>
          </a:bodyPr>
          <a:lstStyle/>
          <a:p>
            <a:r>
              <a:rPr lang="en-US" altLang="zh-CN" dirty="0"/>
              <a:t>A</a:t>
            </a:r>
            <a:endParaRPr lang="zh-CN" altLang="en-US" dirty="0"/>
          </a:p>
        </p:txBody>
      </p:sp>
      <p:sp>
        <p:nvSpPr>
          <p:cNvPr id="78" name="Rectangle 29"/>
          <p:cNvSpPr>
            <a:spLocks noChangeArrowheads="1"/>
          </p:cNvSpPr>
          <p:nvPr/>
        </p:nvSpPr>
        <p:spPr bwMode="auto">
          <a:xfrm>
            <a:off x="1259632" y="386350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79" name="TextBox 78"/>
          <p:cNvSpPr txBox="1"/>
          <p:nvPr/>
        </p:nvSpPr>
        <p:spPr>
          <a:xfrm>
            <a:off x="1259632" y="3798332"/>
            <a:ext cx="99828" cy="369332"/>
          </a:xfrm>
          <a:prstGeom prst="rect">
            <a:avLst/>
          </a:prstGeom>
          <a:noFill/>
        </p:spPr>
        <p:txBody>
          <a:bodyPr wrap="square" rtlCol="0">
            <a:spAutoFit/>
          </a:bodyPr>
          <a:lstStyle/>
          <a:p>
            <a:r>
              <a:rPr lang="en-US" altLang="zh-CN" dirty="0"/>
              <a:t>B</a:t>
            </a:r>
            <a:endParaRPr lang="zh-CN" altLang="en-US" dirty="0"/>
          </a:p>
        </p:txBody>
      </p:sp>
      <p:sp>
        <p:nvSpPr>
          <p:cNvPr id="80" name="Rectangle 15"/>
          <p:cNvSpPr>
            <a:spLocks noChangeArrowheads="1"/>
          </p:cNvSpPr>
          <p:nvPr/>
        </p:nvSpPr>
        <p:spPr bwMode="auto">
          <a:xfrm>
            <a:off x="2555776"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1" name="TextBox 80"/>
          <p:cNvSpPr txBox="1"/>
          <p:nvPr/>
        </p:nvSpPr>
        <p:spPr>
          <a:xfrm>
            <a:off x="2583596" y="4158372"/>
            <a:ext cx="1556356" cy="369332"/>
          </a:xfrm>
          <a:prstGeom prst="rect">
            <a:avLst/>
          </a:prstGeom>
          <a:noFill/>
        </p:spPr>
        <p:txBody>
          <a:bodyPr wrap="square" rtlCol="0">
            <a:spAutoFit/>
          </a:bodyPr>
          <a:lstStyle/>
          <a:p>
            <a:r>
              <a:rPr lang="en-US" altLang="zh-CN" b="1" dirty="0"/>
              <a:t>Cellapp2-cell2</a:t>
            </a:r>
            <a:endParaRPr lang="zh-CN" altLang="en-US" b="1" dirty="0"/>
          </a:p>
        </p:txBody>
      </p:sp>
      <p:sp>
        <p:nvSpPr>
          <p:cNvPr id="82" name="Rectangle 29"/>
          <p:cNvSpPr>
            <a:spLocks noChangeArrowheads="1"/>
          </p:cNvSpPr>
          <p:nvPr/>
        </p:nvSpPr>
        <p:spPr bwMode="auto">
          <a:xfrm>
            <a:off x="1763688"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3" name="TextBox 82"/>
          <p:cNvSpPr txBox="1"/>
          <p:nvPr/>
        </p:nvSpPr>
        <p:spPr>
          <a:xfrm>
            <a:off x="1763688" y="3807624"/>
            <a:ext cx="99828" cy="369332"/>
          </a:xfrm>
          <a:prstGeom prst="rect">
            <a:avLst/>
          </a:prstGeom>
          <a:noFill/>
        </p:spPr>
        <p:txBody>
          <a:bodyPr wrap="square" rtlCol="0">
            <a:spAutoFit/>
          </a:bodyPr>
          <a:lstStyle/>
          <a:p>
            <a:r>
              <a:rPr lang="en-US" altLang="zh-CN" dirty="0"/>
              <a:t>C</a:t>
            </a:r>
            <a:endParaRPr lang="zh-CN" altLang="en-US" dirty="0"/>
          </a:p>
        </p:txBody>
      </p:sp>
      <p:sp>
        <p:nvSpPr>
          <p:cNvPr id="84" name="Rectangle 15"/>
          <p:cNvSpPr>
            <a:spLocks noChangeArrowheads="1"/>
          </p:cNvSpPr>
          <p:nvPr/>
        </p:nvSpPr>
        <p:spPr bwMode="auto">
          <a:xfrm>
            <a:off x="4644008" y="3807624"/>
            <a:ext cx="1656184" cy="647823"/>
          </a:xfrm>
          <a:prstGeom prst="rect">
            <a:avLst/>
          </a:prstGeom>
        </p:spPr>
        <p:style>
          <a:lnRef idx="3">
            <a:schemeClr val="lt1"/>
          </a:lnRef>
          <a:fillRef idx="1">
            <a:schemeClr val="accent1"/>
          </a:fillRef>
          <a:effectRef idx="1">
            <a:schemeClr val="accent1"/>
          </a:effectRef>
          <a:fontRef idx="minor">
            <a:schemeClr val="lt1"/>
          </a:fontRef>
        </p:style>
        <p:txBody>
          <a:bodyPr wrap="none" anchor="ctr"/>
          <a:lstStyle/>
          <a:p>
            <a:endParaRPr lang="zh-CN" altLang="en-US"/>
          </a:p>
        </p:txBody>
      </p:sp>
      <p:sp>
        <p:nvSpPr>
          <p:cNvPr id="85" name="TextBox 84"/>
          <p:cNvSpPr txBox="1"/>
          <p:nvPr/>
        </p:nvSpPr>
        <p:spPr>
          <a:xfrm>
            <a:off x="4710290" y="4139788"/>
            <a:ext cx="1517894" cy="369332"/>
          </a:xfrm>
          <a:prstGeom prst="rect">
            <a:avLst/>
          </a:prstGeom>
          <a:noFill/>
        </p:spPr>
        <p:txBody>
          <a:bodyPr wrap="square" rtlCol="0">
            <a:spAutoFit/>
          </a:bodyPr>
          <a:lstStyle/>
          <a:p>
            <a:r>
              <a:rPr lang="en-US" altLang="zh-CN" b="1" dirty="0"/>
              <a:t>Cellapp3-cell3</a:t>
            </a:r>
            <a:endParaRPr lang="zh-CN" altLang="en-US" b="1" dirty="0"/>
          </a:p>
        </p:txBody>
      </p:sp>
      <p:sp>
        <p:nvSpPr>
          <p:cNvPr id="86" name="Rectangle 29"/>
          <p:cNvSpPr>
            <a:spLocks noChangeArrowheads="1"/>
          </p:cNvSpPr>
          <p:nvPr/>
        </p:nvSpPr>
        <p:spPr bwMode="auto">
          <a:xfrm>
            <a:off x="27718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7" name="TextBox 86"/>
          <p:cNvSpPr txBox="1"/>
          <p:nvPr/>
        </p:nvSpPr>
        <p:spPr>
          <a:xfrm>
            <a:off x="2771800" y="3789040"/>
            <a:ext cx="99828" cy="369332"/>
          </a:xfrm>
          <a:prstGeom prst="rect">
            <a:avLst/>
          </a:prstGeom>
          <a:noFill/>
        </p:spPr>
        <p:txBody>
          <a:bodyPr wrap="square" rtlCol="0">
            <a:spAutoFit/>
          </a:bodyPr>
          <a:lstStyle/>
          <a:p>
            <a:r>
              <a:rPr lang="en-US" altLang="zh-CN" dirty="0"/>
              <a:t>A</a:t>
            </a:r>
            <a:endParaRPr lang="zh-CN" altLang="en-US" dirty="0"/>
          </a:p>
        </p:txBody>
      </p:sp>
      <p:sp>
        <p:nvSpPr>
          <p:cNvPr id="88" name="Rectangle 29"/>
          <p:cNvSpPr>
            <a:spLocks noChangeArrowheads="1"/>
          </p:cNvSpPr>
          <p:nvPr/>
        </p:nvSpPr>
        <p:spPr bwMode="auto">
          <a:xfrm>
            <a:off x="33036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89" name="TextBox 88"/>
          <p:cNvSpPr txBox="1"/>
          <p:nvPr/>
        </p:nvSpPr>
        <p:spPr>
          <a:xfrm>
            <a:off x="3303676" y="3798332"/>
            <a:ext cx="99828" cy="369332"/>
          </a:xfrm>
          <a:prstGeom prst="rect">
            <a:avLst/>
          </a:prstGeom>
          <a:noFill/>
        </p:spPr>
        <p:txBody>
          <a:bodyPr wrap="square" rtlCol="0">
            <a:spAutoFit/>
          </a:bodyPr>
          <a:lstStyle/>
          <a:p>
            <a:r>
              <a:rPr lang="en-US" altLang="zh-CN" dirty="0"/>
              <a:t>B</a:t>
            </a:r>
            <a:endParaRPr lang="zh-CN" altLang="en-US" dirty="0"/>
          </a:p>
        </p:txBody>
      </p:sp>
      <p:sp>
        <p:nvSpPr>
          <p:cNvPr id="90" name="Rectangle 29"/>
          <p:cNvSpPr>
            <a:spLocks noChangeArrowheads="1"/>
          </p:cNvSpPr>
          <p:nvPr/>
        </p:nvSpPr>
        <p:spPr bwMode="auto">
          <a:xfrm>
            <a:off x="3807732" y="387280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91" name="TextBox 90"/>
          <p:cNvSpPr txBox="1"/>
          <p:nvPr/>
        </p:nvSpPr>
        <p:spPr>
          <a:xfrm>
            <a:off x="3807732" y="3807624"/>
            <a:ext cx="99828" cy="369332"/>
          </a:xfrm>
          <a:prstGeom prst="rect">
            <a:avLst/>
          </a:prstGeom>
          <a:noFill/>
        </p:spPr>
        <p:txBody>
          <a:bodyPr wrap="square" rtlCol="0">
            <a:spAutoFit/>
          </a:bodyPr>
          <a:lstStyle/>
          <a:p>
            <a:r>
              <a:rPr lang="en-US" altLang="zh-CN" dirty="0"/>
              <a:t>C</a:t>
            </a:r>
            <a:endParaRPr lang="zh-CN" altLang="en-US" dirty="0"/>
          </a:p>
        </p:txBody>
      </p:sp>
      <p:sp>
        <p:nvSpPr>
          <p:cNvPr id="92" name="Rectangle 29"/>
          <p:cNvSpPr>
            <a:spLocks noChangeArrowheads="1"/>
          </p:cNvSpPr>
          <p:nvPr/>
        </p:nvSpPr>
        <p:spPr bwMode="auto">
          <a:xfrm>
            <a:off x="4876400" y="3854217"/>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3" name="TextBox 92"/>
          <p:cNvSpPr txBox="1"/>
          <p:nvPr/>
        </p:nvSpPr>
        <p:spPr>
          <a:xfrm>
            <a:off x="4876400" y="3789040"/>
            <a:ext cx="99828" cy="369332"/>
          </a:xfrm>
          <a:prstGeom prst="rect">
            <a:avLst/>
          </a:prstGeom>
          <a:noFill/>
        </p:spPr>
        <p:txBody>
          <a:bodyPr wrap="square" rtlCol="0">
            <a:spAutoFit/>
          </a:bodyPr>
          <a:lstStyle/>
          <a:p>
            <a:r>
              <a:rPr lang="en-US" altLang="zh-CN" dirty="0"/>
              <a:t>A</a:t>
            </a:r>
            <a:endParaRPr lang="zh-CN" altLang="en-US" dirty="0"/>
          </a:p>
        </p:txBody>
      </p:sp>
      <p:sp>
        <p:nvSpPr>
          <p:cNvPr id="94" name="Rectangle 29"/>
          <p:cNvSpPr>
            <a:spLocks noChangeArrowheads="1"/>
          </p:cNvSpPr>
          <p:nvPr/>
        </p:nvSpPr>
        <p:spPr bwMode="auto">
          <a:xfrm>
            <a:off x="5408276" y="3863509"/>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5" name="TextBox 94"/>
          <p:cNvSpPr txBox="1"/>
          <p:nvPr/>
        </p:nvSpPr>
        <p:spPr>
          <a:xfrm>
            <a:off x="5408276" y="3798332"/>
            <a:ext cx="99828" cy="369332"/>
          </a:xfrm>
          <a:prstGeom prst="rect">
            <a:avLst/>
          </a:prstGeom>
          <a:noFill/>
        </p:spPr>
        <p:txBody>
          <a:bodyPr wrap="square" rtlCol="0">
            <a:spAutoFit/>
          </a:bodyPr>
          <a:lstStyle/>
          <a:p>
            <a:r>
              <a:rPr lang="en-US" altLang="zh-CN" dirty="0"/>
              <a:t>B</a:t>
            </a:r>
            <a:endParaRPr lang="zh-CN" altLang="en-US" dirty="0"/>
          </a:p>
        </p:txBody>
      </p:sp>
      <p:sp>
        <p:nvSpPr>
          <p:cNvPr id="96" name="Rectangle 29"/>
          <p:cNvSpPr>
            <a:spLocks noChangeArrowheads="1"/>
          </p:cNvSpPr>
          <p:nvPr/>
        </p:nvSpPr>
        <p:spPr bwMode="auto">
          <a:xfrm>
            <a:off x="5912332" y="3872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7" name="TextBox 96"/>
          <p:cNvSpPr txBox="1"/>
          <p:nvPr/>
        </p:nvSpPr>
        <p:spPr>
          <a:xfrm>
            <a:off x="5912332" y="3807624"/>
            <a:ext cx="99828" cy="369332"/>
          </a:xfrm>
          <a:prstGeom prst="rect">
            <a:avLst/>
          </a:prstGeom>
          <a:noFill/>
        </p:spPr>
        <p:txBody>
          <a:bodyPr wrap="square" rtlCol="0">
            <a:spAutoFit/>
          </a:bodyPr>
          <a:lstStyle/>
          <a:p>
            <a:r>
              <a:rPr lang="en-US" altLang="zh-CN" dirty="0"/>
              <a:t>C</a:t>
            </a:r>
            <a:endParaRPr lang="zh-CN" altLang="en-US" dirty="0"/>
          </a:p>
        </p:txBody>
      </p:sp>
      <p:sp>
        <p:nvSpPr>
          <p:cNvPr id="104" name="矩形 103"/>
          <p:cNvSpPr/>
          <p:nvPr/>
        </p:nvSpPr>
        <p:spPr>
          <a:xfrm>
            <a:off x="96288" y="4751386"/>
            <a:ext cx="3257301" cy="958987"/>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b="1" dirty="0"/>
              <a:t>Space1 - Cell1</a:t>
            </a:r>
            <a:endParaRPr lang="zh-CN" altLang="en-US" b="1" dirty="0"/>
          </a:p>
        </p:txBody>
      </p:sp>
      <p:sp>
        <p:nvSpPr>
          <p:cNvPr id="105" name="矩形 104"/>
          <p:cNvSpPr/>
          <p:nvPr/>
        </p:nvSpPr>
        <p:spPr>
          <a:xfrm>
            <a:off x="3375684" y="4751386"/>
            <a:ext cx="3212540" cy="958987"/>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CN" b="1" dirty="0"/>
              <a:t>Space1 - Cell2</a:t>
            </a:r>
            <a:endParaRPr lang="zh-CN" altLang="en-US" b="1" dirty="0"/>
          </a:p>
        </p:txBody>
      </p:sp>
      <p:sp>
        <p:nvSpPr>
          <p:cNvPr id="106" name="矩形 105"/>
          <p:cNvSpPr/>
          <p:nvPr/>
        </p:nvSpPr>
        <p:spPr>
          <a:xfrm>
            <a:off x="96288" y="5733256"/>
            <a:ext cx="6491935" cy="95898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b="1" dirty="0"/>
              <a:t>Space1 - Cell3</a:t>
            </a:r>
            <a:endParaRPr lang="zh-CN" altLang="en-US" b="1" dirty="0"/>
          </a:p>
        </p:txBody>
      </p:sp>
      <p:sp>
        <p:nvSpPr>
          <p:cNvPr id="107" name="Rectangle 29"/>
          <p:cNvSpPr>
            <a:spLocks noChangeArrowheads="1"/>
          </p:cNvSpPr>
          <p:nvPr/>
        </p:nvSpPr>
        <p:spPr bwMode="auto">
          <a:xfrm>
            <a:off x="1043608" y="4862329"/>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08" name="TextBox 107"/>
          <p:cNvSpPr txBox="1"/>
          <p:nvPr/>
        </p:nvSpPr>
        <p:spPr>
          <a:xfrm>
            <a:off x="1043608" y="4797152"/>
            <a:ext cx="99828" cy="369332"/>
          </a:xfrm>
          <a:prstGeom prst="rect">
            <a:avLst/>
          </a:prstGeom>
          <a:noFill/>
        </p:spPr>
        <p:txBody>
          <a:bodyPr wrap="square" rtlCol="0">
            <a:spAutoFit/>
          </a:bodyPr>
          <a:lstStyle/>
          <a:p>
            <a:r>
              <a:rPr lang="en-US" altLang="zh-CN" dirty="0"/>
              <a:t>A</a:t>
            </a:r>
            <a:endParaRPr lang="zh-CN" altLang="en-US" dirty="0"/>
          </a:p>
        </p:txBody>
      </p:sp>
      <p:sp>
        <p:nvSpPr>
          <p:cNvPr id="109" name="Rectangle 29"/>
          <p:cNvSpPr>
            <a:spLocks noChangeArrowheads="1"/>
          </p:cNvSpPr>
          <p:nvPr/>
        </p:nvSpPr>
        <p:spPr bwMode="auto">
          <a:xfrm>
            <a:off x="2167916" y="4871621"/>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0" name="TextBox 109"/>
          <p:cNvSpPr txBox="1"/>
          <p:nvPr/>
        </p:nvSpPr>
        <p:spPr>
          <a:xfrm>
            <a:off x="2167916" y="4806444"/>
            <a:ext cx="99828" cy="369332"/>
          </a:xfrm>
          <a:prstGeom prst="rect">
            <a:avLst/>
          </a:prstGeom>
          <a:noFill/>
        </p:spPr>
        <p:txBody>
          <a:bodyPr wrap="square" rtlCol="0">
            <a:spAutoFit/>
          </a:bodyPr>
          <a:lstStyle/>
          <a:p>
            <a:r>
              <a:rPr lang="en-US" altLang="zh-CN" dirty="0"/>
              <a:t>B</a:t>
            </a:r>
            <a:endParaRPr lang="zh-CN" altLang="en-US" dirty="0"/>
          </a:p>
        </p:txBody>
      </p:sp>
      <p:sp>
        <p:nvSpPr>
          <p:cNvPr id="111" name="Rectangle 29"/>
          <p:cNvSpPr>
            <a:spLocks noChangeArrowheads="1"/>
          </p:cNvSpPr>
          <p:nvPr/>
        </p:nvSpPr>
        <p:spPr bwMode="auto">
          <a:xfrm>
            <a:off x="4887852" y="4853037"/>
            <a:ext cx="243844" cy="232147"/>
          </a:xfrm>
          <a:prstGeom prst="rect">
            <a:avLst/>
          </a:prstGeom>
        </p:spPr>
        <p:style>
          <a:lnRef idx="0">
            <a:schemeClr val="accent3"/>
          </a:lnRef>
          <a:fillRef idx="3">
            <a:schemeClr val="accent3"/>
          </a:fillRef>
          <a:effectRef idx="3">
            <a:schemeClr val="accent3"/>
          </a:effectRef>
          <a:fontRef idx="minor">
            <a:schemeClr val="lt1"/>
          </a:fontRef>
        </p:style>
        <p:txBody>
          <a:bodyPr wrap="none" anchor="ctr"/>
          <a:lstStyle/>
          <a:p>
            <a:endParaRPr lang="zh-CN" altLang="en-US"/>
          </a:p>
        </p:txBody>
      </p:sp>
      <p:sp>
        <p:nvSpPr>
          <p:cNvPr id="112" name="TextBox 111"/>
          <p:cNvSpPr txBox="1"/>
          <p:nvPr/>
        </p:nvSpPr>
        <p:spPr>
          <a:xfrm>
            <a:off x="4904220" y="4787860"/>
            <a:ext cx="99828" cy="369332"/>
          </a:xfrm>
          <a:prstGeom prst="rect">
            <a:avLst/>
          </a:prstGeom>
          <a:noFill/>
        </p:spPr>
        <p:txBody>
          <a:bodyPr wrap="square" rtlCol="0">
            <a:spAutoFit/>
          </a:bodyPr>
          <a:lstStyle/>
          <a:p>
            <a:r>
              <a:rPr lang="en-US" altLang="zh-CN" dirty="0"/>
              <a:t>C</a:t>
            </a:r>
            <a:endParaRPr lang="zh-CN" altLang="en-US" dirty="0"/>
          </a:p>
        </p:txBody>
      </p:sp>
      <p:sp>
        <p:nvSpPr>
          <p:cNvPr id="113" name="Rectangle 29"/>
          <p:cNvSpPr>
            <a:spLocks noChangeArrowheads="1"/>
          </p:cNvSpPr>
          <p:nvPr/>
        </p:nvSpPr>
        <p:spPr bwMode="auto">
          <a:xfrm>
            <a:off x="4644008" y="5347801"/>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4" name="TextBox 113"/>
          <p:cNvSpPr txBox="1"/>
          <p:nvPr/>
        </p:nvSpPr>
        <p:spPr>
          <a:xfrm>
            <a:off x="4660376" y="5282624"/>
            <a:ext cx="99828" cy="369332"/>
          </a:xfrm>
          <a:prstGeom prst="rect">
            <a:avLst/>
          </a:prstGeom>
          <a:noFill/>
        </p:spPr>
        <p:txBody>
          <a:bodyPr wrap="square" rtlCol="0">
            <a:spAutoFit/>
          </a:bodyPr>
          <a:lstStyle/>
          <a:p>
            <a:r>
              <a:rPr lang="en-US" altLang="zh-CN" dirty="0"/>
              <a:t>A</a:t>
            </a:r>
            <a:endParaRPr lang="zh-CN" altLang="en-US" dirty="0"/>
          </a:p>
        </p:txBody>
      </p:sp>
      <p:sp>
        <p:nvSpPr>
          <p:cNvPr id="115" name="Rectangle 29"/>
          <p:cNvSpPr>
            <a:spLocks noChangeArrowheads="1"/>
          </p:cNvSpPr>
          <p:nvPr/>
        </p:nvSpPr>
        <p:spPr bwMode="auto">
          <a:xfrm>
            <a:off x="5192252" y="535709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116" name="TextBox 115"/>
          <p:cNvSpPr txBox="1"/>
          <p:nvPr/>
        </p:nvSpPr>
        <p:spPr>
          <a:xfrm>
            <a:off x="5175884" y="5291916"/>
            <a:ext cx="99828" cy="369332"/>
          </a:xfrm>
          <a:prstGeom prst="rect">
            <a:avLst/>
          </a:prstGeom>
          <a:noFill/>
        </p:spPr>
        <p:txBody>
          <a:bodyPr wrap="square" rtlCol="0">
            <a:spAutoFit/>
          </a:bodyPr>
          <a:lstStyle/>
          <a:p>
            <a:r>
              <a:rPr lang="en-US" altLang="zh-CN" dirty="0"/>
              <a:t>B</a:t>
            </a:r>
            <a:endParaRPr lang="zh-CN" altLang="en-US" dirty="0"/>
          </a:p>
        </p:txBody>
      </p:sp>
      <p:sp>
        <p:nvSpPr>
          <p:cNvPr id="120" name="Rectangle 29"/>
          <p:cNvSpPr>
            <a:spLocks noChangeArrowheads="1"/>
          </p:cNvSpPr>
          <p:nvPr/>
        </p:nvSpPr>
        <p:spPr bwMode="auto">
          <a:xfrm>
            <a:off x="1735868"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1" name="TextBox 120"/>
          <p:cNvSpPr txBox="1"/>
          <p:nvPr/>
        </p:nvSpPr>
        <p:spPr>
          <a:xfrm>
            <a:off x="1735868" y="1052736"/>
            <a:ext cx="99828" cy="369332"/>
          </a:xfrm>
          <a:prstGeom prst="rect">
            <a:avLst/>
          </a:prstGeom>
          <a:noFill/>
        </p:spPr>
        <p:txBody>
          <a:bodyPr wrap="square" rtlCol="0">
            <a:spAutoFit/>
          </a:bodyPr>
          <a:lstStyle/>
          <a:p>
            <a:r>
              <a:rPr lang="en-US" altLang="zh-CN" dirty="0"/>
              <a:t>B</a:t>
            </a:r>
            <a:endParaRPr lang="zh-CN" altLang="en-US" dirty="0"/>
          </a:p>
        </p:txBody>
      </p:sp>
      <p:sp>
        <p:nvSpPr>
          <p:cNvPr id="122" name="Rectangle 29"/>
          <p:cNvSpPr>
            <a:spLocks noChangeArrowheads="1"/>
          </p:cNvSpPr>
          <p:nvPr/>
        </p:nvSpPr>
        <p:spPr bwMode="auto">
          <a:xfrm>
            <a:off x="1735868"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3" name="TextBox 122"/>
          <p:cNvSpPr txBox="1"/>
          <p:nvPr/>
        </p:nvSpPr>
        <p:spPr>
          <a:xfrm>
            <a:off x="1735868" y="1331476"/>
            <a:ext cx="99828" cy="369332"/>
          </a:xfrm>
          <a:prstGeom prst="rect">
            <a:avLst/>
          </a:prstGeom>
          <a:noFill/>
        </p:spPr>
        <p:txBody>
          <a:bodyPr wrap="square" rtlCol="0">
            <a:spAutoFit/>
          </a:bodyPr>
          <a:lstStyle/>
          <a:p>
            <a:r>
              <a:rPr lang="en-US" altLang="zh-CN" dirty="0"/>
              <a:t>C</a:t>
            </a:r>
            <a:endParaRPr lang="zh-CN" altLang="en-US" dirty="0"/>
          </a:p>
        </p:txBody>
      </p:sp>
      <p:sp>
        <p:nvSpPr>
          <p:cNvPr id="124" name="Rectangle 29"/>
          <p:cNvSpPr>
            <a:spLocks noChangeArrowheads="1"/>
          </p:cNvSpPr>
          <p:nvPr/>
        </p:nvSpPr>
        <p:spPr bwMode="auto">
          <a:xfrm>
            <a:off x="3779912"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5" name="TextBox 124"/>
          <p:cNvSpPr txBox="1"/>
          <p:nvPr/>
        </p:nvSpPr>
        <p:spPr>
          <a:xfrm>
            <a:off x="3779912" y="1052736"/>
            <a:ext cx="99828" cy="369332"/>
          </a:xfrm>
          <a:prstGeom prst="rect">
            <a:avLst/>
          </a:prstGeom>
          <a:noFill/>
        </p:spPr>
        <p:txBody>
          <a:bodyPr wrap="square" rtlCol="0">
            <a:spAutoFit/>
          </a:bodyPr>
          <a:lstStyle/>
          <a:p>
            <a:r>
              <a:rPr lang="en-US" altLang="zh-CN" dirty="0"/>
              <a:t>A</a:t>
            </a:r>
            <a:endParaRPr lang="zh-CN" altLang="en-US" dirty="0"/>
          </a:p>
        </p:txBody>
      </p:sp>
      <p:sp>
        <p:nvSpPr>
          <p:cNvPr id="126" name="Rectangle 29"/>
          <p:cNvSpPr>
            <a:spLocks noChangeArrowheads="1"/>
          </p:cNvSpPr>
          <p:nvPr/>
        </p:nvSpPr>
        <p:spPr bwMode="auto">
          <a:xfrm>
            <a:off x="3779912"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7" name="TextBox 126"/>
          <p:cNvSpPr txBox="1"/>
          <p:nvPr/>
        </p:nvSpPr>
        <p:spPr>
          <a:xfrm>
            <a:off x="3779912" y="1331476"/>
            <a:ext cx="99828" cy="369332"/>
          </a:xfrm>
          <a:prstGeom prst="rect">
            <a:avLst/>
          </a:prstGeom>
          <a:noFill/>
        </p:spPr>
        <p:txBody>
          <a:bodyPr wrap="square" rtlCol="0">
            <a:spAutoFit/>
          </a:bodyPr>
          <a:lstStyle/>
          <a:p>
            <a:r>
              <a:rPr lang="en-US" altLang="zh-CN" dirty="0"/>
              <a:t>C</a:t>
            </a:r>
            <a:endParaRPr lang="zh-CN" altLang="en-US" dirty="0"/>
          </a:p>
        </p:txBody>
      </p:sp>
      <p:sp>
        <p:nvSpPr>
          <p:cNvPr id="128" name="Rectangle 29"/>
          <p:cNvSpPr>
            <a:spLocks noChangeArrowheads="1"/>
          </p:cNvSpPr>
          <p:nvPr/>
        </p:nvSpPr>
        <p:spPr bwMode="auto">
          <a:xfrm>
            <a:off x="5768316" y="111791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29" name="TextBox 128"/>
          <p:cNvSpPr txBox="1"/>
          <p:nvPr/>
        </p:nvSpPr>
        <p:spPr>
          <a:xfrm>
            <a:off x="5768316" y="1052736"/>
            <a:ext cx="99828" cy="369332"/>
          </a:xfrm>
          <a:prstGeom prst="rect">
            <a:avLst/>
          </a:prstGeom>
          <a:noFill/>
        </p:spPr>
        <p:txBody>
          <a:bodyPr wrap="square" rtlCol="0">
            <a:spAutoFit/>
          </a:bodyPr>
          <a:lstStyle/>
          <a:p>
            <a:r>
              <a:rPr lang="en-US" altLang="zh-CN" dirty="0"/>
              <a:t>A</a:t>
            </a:r>
            <a:endParaRPr lang="zh-CN" altLang="en-US" dirty="0"/>
          </a:p>
        </p:txBody>
      </p:sp>
      <p:sp>
        <p:nvSpPr>
          <p:cNvPr id="130" name="Rectangle 29"/>
          <p:cNvSpPr>
            <a:spLocks noChangeArrowheads="1"/>
          </p:cNvSpPr>
          <p:nvPr/>
        </p:nvSpPr>
        <p:spPr bwMode="auto">
          <a:xfrm>
            <a:off x="5768316" y="1396653"/>
            <a:ext cx="243844" cy="232147"/>
          </a:xfrm>
          <a:prstGeom prst="rect">
            <a:avLst/>
          </a:prstGeom>
        </p:spPr>
        <p:style>
          <a:lnRef idx="0">
            <a:schemeClr val="accent5"/>
          </a:lnRef>
          <a:fillRef idx="3">
            <a:schemeClr val="accent5"/>
          </a:fillRef>
          <a:effectRef idx="3">
            <a:schemeClr val="accent5"/>
          </a:effectRef>
          <a:fontRef idx="minor">
            <a:schemeClr val="lt1"/>
          </a:fontRef>
        </p:style>
        <p:txBody>
          <a:bodyPr wrap="none" anchor="ctr"/>
          <a:lstStyle/>
          <a:p>
            <a:endParaRPr lang="zh-CN" altLang="en-US"/>
          </a:p>
        </p:txBody>
      </p:sp>
      <p:sp>
        <p:nvSpPr>
          <p:cNvPr id="131" name="TextBox 130"/>
          <p:cNvSpPr txBox="1"/>
          <p:nvPr/>
        </p:nvSpPr>
        <p:spPr>
          <a:xfrm>
            <a:off x="5768316" y="1331476"/>
            <a:ext cx="99828" cy="369332"/>
          </a:xfrm>
          <a:prstGeom prst="rect">
            <a:avLst/>
          </a:prstGeom>
          <a:noFill/>
        </p:spPr>
        <p:txBody>
          <a:bodyPr wrap="square" rtlCol="0">
            <a:spAutoFit/>
          </a:bodyPr>
          <a:lstStyle/>
          <a:p>
            <a:r>
              <a:rPr lang="en-US" altLang="zh-CN" dirty="0"/>
              <a:t>B</a:t>
            </a:r>
            <a:endParaRPr lang="zh-CN" altLang="en-US" dirty="0"/>
          </a:p>
        </p:txBody>
      </p:sp>
      <p:sp>
        <p:nvSpPr>
          <p:cNvPr id="132" name="右大括号 131"/>
          <p:cNvSpPr/>
          <p:nvPr/>
        </p:nvSpPr>
        <p:spPr>
          <a:xfrm>
            <a:off x="6660232" y="4748407"/>
            <a:ext cx="216024" cy="19438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3" name="TextBox 132"/>
          <p:cNvSpPr txBox="1"/>
          <p:nvPr/>
        </p:nvSpPr>
        <p:spPr>
          <a:xfrm>
            <a:off x="6943352" y="5538718"/>
            <a:ext cx="1968306" cy="338554"/>
          </a:xfrm>
          <a:prstGeom prst="rect">
            <a:avLst/>
          </a:prstGeom>
          <a:noFill/>
        </p:spPr>
        <p:txBody>
          <a:bodyPr wrap="square" rtlCol="0">
            <a:spAutoFit/>
          </a:bodyPr>
          <a:lstStyle/>
          <a:p>
            <a:r>
              <a:rPr lang="zh-CN" altLang="en-US" sz="1600" dirty="0">
                <a:solidFill>
                  <a:srgbClr val="FF0000"/>
                </a:solidFill>
              </a:rPr>
              <a:t>在一个</a:t>
            </a:r>
            <a:r>
              <a:rPr lang="en-US" altLang="zh-CN" sz="1600" dirty="0">
                <a:solidFill>
                  <a:srgbClr val="FF0000"/>
                </a:solidFill>
              </a:rPr>
              <a:t>space</a:t>
            </a:r>
            <a:r>
              <a:rPr lang="zh-CN" altLang="en-US" sz="1600" dirty="0">
                <a:solidFill>
                  <a:srgbClr val="FF0000"/>
                </a:solidFill>
              </a:rPr>
              <a:t>上</a:t>
            </a:r>
          </a:p>
        </p:txBody>
      </p:sp>
      <p:sp>
        <p:nvSpPr>
          <p:cNvPr id="175" name="任意多边形 174"/>
          <p:cNvSpPr/>
          <p:nvPr/>
        </p:nvSpPr>
        <p:spPr>
          <a:xfrm>
            <a:off x="1310054" y="1380392"/>
            <a:ext cx="29051" cy="131885"/>
          </a:xfrm>
          <a:custGeom>
            <a:avLst/>
            <a:gdLst>
              <a:gd name="connsiteX0" fmla="*/ 0 w 29051"/>
              <a:gd name="connsiteY0" fmla="*/ 0 h 131885"/>
              <a:gd name="connsiteX1" fmla="*/ 26377 w 29051"/>
              <a:gd name="connsiteY1" fmla="*/ 131885 h 131885"/>
            </a:gdLst>
            <a:ahLst/>
            <a:cxnLst>
              <a:cxn ang="0">
                <a:pos x="connsiteX0" y="connsiteY0"/>
              </a:cxn>
              <a:cxn ang="0">
                <a:pos x="connsiteX1" y="connsiteY1"/>
              </a:cxn>
            </a:cxnLst>
            <a:rect l="l" t="t" r="r" b="b"/>
            <a:pathLst>
              <a:path w="29051" h="131885">
                <a:moveTo>
                  <a:pt x="0" y="0"/>
                </a:moveTo>
                <a:cubicBezTo>
                  <a:pt x="41456" y="69093"/>
                  <a:pt x="26377" y="26873"/>
                  <a:pt x="26377" y="131885"/>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Rectangle 15"/>
          <p:cNvSpPr>
            <a:spLocks noChangeArrowheads="1"/>
          </p:cNvSpPr>
          <p:nvPr/>
        </p:nvSpPr>
        <p:spPr bwMode="auto">
          <a:xfrm>
            <a:off x="1403648" y="2339588"/>
            <a:ext cx="1656184" cy="647823"/>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Rectangle 29"/>
          <p:cNvSpPr>
            <a:spLocks noChangeArrowheads="1"/>
          </p:cNvSpPr>
          <p:nvPr/>
        </p:nvSpPr>
        <p:spPr bwMode="auto">
          <a:xfrm>
            <a:off x="1591852" y="2395473"/>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4" name="TextBox 53"/>
          <p:cNvSpPr txBox="1"/>
          <p:nvPr/>
        </p:nvSpPr>
        <p:spPr>
          <a:xfrm>
            <a:off x="1763688" y="2690336"/>
            <a:ext cx="1224136" cy="369332"/>
          </a:xfrm>
          <a:prstGeom prst="rect">
            <a:avLst/>
          </a:prstGeom>
          <a:noFill/>
        </p:spPr>
        <p:txBody>
          <a:bodyPr wrap="square" rtlCol="0">
            <a:spAutoFit/>
          </a:bodyPr>
          <a:lstStyle/>
          <a:p>
            <a:r>
              <a:rPr lang="en-US" altLang="zh-CN" b="1" dirty="0" err="1"/>
              <a:t>Baseapp</a:t>
            </a:r>
            <a:endParaRPr lang="zh-CN" altLang="en-US" b="1" dirty="0"/>
          </a:p>
        </p:txBody>
      </p:sp>
      <p:sp>
        <p:nvSpPr>
          <p:cNvPr id="55" name="TextBox 54"/>
          <p:cNvSpPr txBox="1"/>
          <p:nvPr/>
        </p:nvSpPr>
        <p:spPr>
          <a:xfrm>
            <a:off x="1591852" y="2330296"/>
            <a:ext cx="99828" cy="369332"/>
          </a:xfrm>
          <a:prstGeom prst="rect">
            <a:avLst/>
          </a:prstGeom>
          <a:noFill/>
        </p:spPr>
        <p:txBody>
          <a:bodyPr wrap="square" rtlCol="0">
            <a:spAutoFit/>
          </a:bodyPr>
          <a:lstStyle/>
          <a:p>
            <a:r>
              <a:rPr lang="en-US" altLang="zh-CN" dirty="0"/>
              <a:t>A</a:t>
            </a:r>
            <a:endParaRPr lang="zh-CN" altLang="en-US" dirty="0"/>
          </a:p>
        </p:txBody>
      </p:sp>
      <p:sp>
        <p:nvSpPr>
          <p:cNvPr id="56" name="Rectangle 29"/>
          <p:cNvSpPr>
            <a:spLocks noChangeArrowheads="1"/>
          </p:cNvSpPr>
          <p:nvPr/>
        </p:nvSpPr>
        <p:spPr bwMode="auto">
          <a:xfrm>
            <a:off x="2339752" y="2404765"/>
            <a:ext cx="243844" cy="232147"/>
          </a:xfrm>
          <a:prstGeom prst="rect">
            <a:avLst/>
          </a:prstGeom>
        </p:spPr>
        <p:style>
          <a:lnRef idx="0">
            <a:schemeClr val="accent1"/>
          </a:lnRef>
          <a:fillRef idx="3">
            <a:schemeClr val="accent1"/>
          </a:fillRef>
          <a:effectRef idx="3">
            <a:schemeClr val="accent1"/>
          </a:effectRef>
          <a:fontRef idx="minor">
            <a:schemeClr val="lt1"/>
          </a:fontRef>
        </p:style>
        <p:txBody>
          <a:bodyPr wrap="none" anchor="ctr"/>
          <a:lstStyle/>
          <a:p>
            <a:endParaRPr lang="zh-CN" altLang="en-US"/>
          </a:p>
        </p:txBody>
      </p:sp>
      <p:sp>
        <p:nvSpPr>
          <p:cNvPr id="57" name="TextBox 56"/>
          <p:cNvSpPr txBox="1"/>
          <p:nvPr/>
        </p:nvSpPr>
        <p:spPr>
          <a:xfrm>
            <a:off x="2339752" y="2339588"/>
            <a:ext cx="99828" cy="369332"/>
          </a:xfrm>
          <a:prstGeom prst="rect">
            <a:avLst/>
          </a:prstGeom>
          <a:noFill/>
        </p:spPr>
        <p:txBody>
          <a:bodyPr wrap="square" rtlCol="0">
            <a:spAutoFit/>
          </a:bodyPr>
          <a:lstStyle/>
          <a:p>
            <a:r>
              <a:rPr lang="en-US" altLang="zh-CN" dirty="0"/>
              <a:t>B</a:t>
            </a:r>
            <a:endParaRPr lang="zh-CN" altLang="en-US" dirty="0"/>
          </a:p>
        </p:txBody>
      </p:sp>
      <p:sp>
        <p:nvSpPr>
          <p:cNvPr id="178" name="圆角矩形标注 177"/>
          <p:cNvSpPr/>
          <p:nvPr/>
        </p:nvSpPr>
        <p:spPr>
          <a:xfrm>
            <a:off x="6847385" y="4038509"/>
            <a:ext cx="2160240" cy="1117849"/>
          </a:xfrm>
          <a:prstGeom prst="wedgeRoundRectCallout">
            <a:avLst>
              <a:gd name="adj1" fmla="val -325885"/>
              <a:gd name="adj2" fmla="val -52855"/>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gn="r">
              <a:lnSpc>
                <a:spcPct val="93000"/>
              </a:lnSpc>
              <a:spcBef>
                <a:spcPct val="0"/>
              </a:spcBef>
              <a:buClr>
                <a:srgbClr val="FFFFFF"/>
              </a:buClr>
              <a:buSzPct val="100000"/>
              <a:buFont typeface="Arial" panose="020B0604020202020204" pitchFamily="34" charset="0"/>
              <a:buNone/>
            </a:pPr>
            <a:r>
              <a:rPr lang="zh-CN" altLang="en-AU" b="1" dirty="0">
                <a:solidFill>
                  <a:srgbClr val="C00000"/>
                </a:solidFill>
                <a:ea typeface="宋体" panose="02010600030101010101" pitchFamily="2" charset="-122"/>
              </a:rPr>
              <a:t>在</a:t>
            </a:r>
            <a:r>
              <a:rPr lang="en-AU" altLang="zh-CN" b="1" dirty="0">
                <a:solidFill>
                  <a:srgbClr val="C00000"/>
                </a:solidFill>
                <a:ea typeface="宋体" panose="02010600030101010101" pitchFamily="2" charset="-122"/>
              </a:rPr>
              <a:t>cell</a:t>
            </a:r>
            <a:r>
              <a:rPr lang="zh-CN" altLang="en-AU" b="1" dirty="0">
                <a:solidFill>
                  <a:srgbClr val="C00000"/>
                </a:solidFill>
                <a:ea typeface="宋体" panose="02010600030101010101" pitchFamily="2" charset="-122"/>
              </a:rPr>
              <a:t>上调用 </a:t>
            </a:r>
            <a:r>
              <a:rPr lang="en-AU" altLang="zh-CN" b="1" dirty="0" err="1">
                <a:solidFill>
                  <a:srgbClr val="C00000"/>
                </a:solidFill>
              </a:rPr>
              <a:t>A.OtherClients.jump</a:t>
            </a:r>
            <a:r>
              <a:rPr lang="en-AU" altLang="zh-CN" b="1" dirty="0">
                <a:solidFill>
                  <a:srgbClr val="C00000"/>
                </a:solidFill>
              </a:rPr>
              <a:t>() </a:t>
            </a:r>
          </a:p>
        </p:txBody>
      </p:sp>
      <p:sp>
        <p:nvSpPr>
          <p:cNvPr id="180" name="圆角矩形标注 179"/>
          <p:cNvSpPr/>
          <p:nvPr/>
        </p:nvSpPr>
        <p:spPr>
          <a:xfrm>
            <a:off x="6782271" y="2758862"/>
            <a:ext cx="2225353" cy="945396"/>
          </a:xfrm>
          <a:prstGeom prst="wedgeRoundRectCallout">
            <a:avLst>
              <a:gd name="adj1" fmla="val -206529"/>
              <a:gd name="adj2" fmla="val -132803"/>
              <a:gd name="adj3" fmla="val 16667"/>
            </a:avLst>
          </a:prstGeom>
        </p:spPr>
        <p:style>
          <a:lnRef idx="1">
            <a:schemeClr val="accent5"/>
          </a:lnRef>
          <a:fillRef idx="3">
            <a:schemeClr val="accent5"/>
          </a:fillRef>
          <a:effectRef idx="2">
            <a:schemeClr val="accent5"/>
          </a:effectRef>
          <a:fontRef idx="minor">
            <a:schemeClr val="lt1"/>
          </a:fontRef>
        </p:style>
        <p:txBody>
          <a:bodyPr rtlCol="0" anchor="ctr"/>
          <a:lstStyle/>
          <a:p>
            <a:pPr>
              <a:lnSpc>
                <a:spcPct val="93000"/>
              </a:lnSpc>
              <a:spcBef>
                <a:spcPct val="0"/>
              </a:spcBef>
              <a:buClr>
                <a:srgbClr val="FFFFFF"/>
              </a:buClr>
              <a:buSzPct val="100000"/>
            </a:pPr>
            <a:r>
              <a:rPr lang="zh-CN" altLang="en-AU" b="1" dirty="0">
                <a:solidFill>
                  <a:srgbClr val="C00000"/>
                </a:solidFill>
                <a:ea typeface="宋体" panose="02010600030101010101" pitchFamily="2" charset="-122"/>
              </a:rPr>
              <a:t>使得客户端</a:t>
            </a:r>
            <a:r>
              <a:rPr lang="en-AU" altLang="zh-CN" b="1" dirty="0">
                <a:solidFill>
                  <a:srgbClr val="C00000"/>
                </a:solidFill>
                <a:ea typeface="宋体" panose="02010600030101010101" pitchFamily="2" charset="-122"/>
              </a:rPr>
              <a:t>B</a:t>
            </a:r>
            <a:r>
              <a:rPr lang="zh-CN" altLang="en-AU" b="1" dirty="0">
                <a:solidFill>
                  <a:srgbClr val="C00000"/>
                </a:solidFill>
                <a:ea typeface="宋体" panose="02010600030101010101" pitchFamily="2" charset="-122"/>
              </a:rPr>
              <a:t>和</a:t>
            </a:r>
            <a:r>
              <a:rPr lang="en-AU" altLang="zh-CN" b="1" dirty="0">
                <a:solidFill>
                  <a:srgbClr val="C00000"/>
                </a:solidFill>
                <a:ea typeface="宋体" panose="02010600030101010101" pitchFamily="2" charset="-122"/>
              </a:rPr>
              <a:t>C</a:t>
            </a:r>
            <a:r>
              <a:rPr lang="zh-CN" altLang="en-AU" b="1" dirty="0">
                <a:solidFill>
                  <a:srgbClr val="C00000"/>
                </a:solidFill>
                <a:ea typeface="宋体" panose="02010600030101010101" pitchFamily="2" charset="-122"/>
              </a:rPr>
              <a:t>上的</a:t>
            </a:r>
            <a:r>
              <a:rPr lang="en-AU" altLang="zh-CN" b="1" dirty="0" err="1">
                <a:solidFill>
                  <a:srgbClr val="C00000"/>
                </a:solidFill>
                <a:ea typeface="宋体" panose="02010600030101010101" pitchFamily="2" charset="-122"/>
              </a:rPr>
              <a:t>A</a:t>
            </a:r>
            <a:r>
              <a:rPr lang="en-AU" altLang="zh-CN" b="1" dirty="0" err="1">
                <a:solidFill>
                  <a:srgbClr val="C00000"/>
                </a:solidFill>
              </a:rPr>
              <a:t>.jump</a:t>
            </a:r>
            <a:r>
              <a:rPr lang="en-AU" altLang="zh-CN" b="1" dirty="0">
                <a:solidFill>
                  <a:srgbClr val="C00000"/>
                </a:solidFill>
              </a:rPr>
              <a:t> () </a:t>
            </a:r>
            <a:r>
              <a:rPr lang="zh-CN" altLang="en-AU" b="1" dirty="0">
                <a:solidFill>
                  <a:srgbClr val="C00000"/>
                </a:solidFill>
                <a:ea typeface="宋体" panose="02010600030101010101" pitchFamily="2" charset="-122"/>
              </a:rPr>
              <a:t>都被调用</a:t>
            </a:r>
          </a:p>
        </p:txBody>
      </p:sp>
      <p:cxnSp>
        <p:nvCxnSpPr>
          <p:cNvPr id="5" name="直接箭头连接符 4"/>
          <p:cNvCxnSpPr>
            <a:endCxn id="125" idx="1"/>
          </p:cNvCxnSpPr>
          <p:nvPr/>
        </p:nvCxnSpPr>
        <p:spPr>
          <a:xfrm flipV="1">
            <a:off x="3059832" y="1237402"/>
            <a:ext cx="720080" cy="110218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直接箭头连接符 6"/>
          <p:cNvCxnSpPr>
            <a:stCxn id="74" idx="0"/>
            <a:endCxn id="54" idx="2"/>
          </p:cNvCxnSpPr>
          <p:nvPr/>
        </p:nvCxnSpPr>
        <p:spPr>
          <a:xfrm flipV="1">
            <a:off x="1367644" y="3059668"/>
            <a:ext cx="1008112" cy="73866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5" name="直接箭头连接符 14"/>
          <p:cNvCxnSpPr>
            <a:stCxn id="79" idx="0"/>
          </p:cNvCxnSpPr>
          <p:nvPr/>
        </p:nvCxnSpPr>
        <p:spPr>
          <a:xfrm flipV="1">
            <a:off x="1309546" y="2987412"/>
            <a:ext cx="2938418" cy="8109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7" name="直接箭头连接符 16"/>
          <p:cNvCxnSpPr/>
          <p:nvPr/>
        </p:nvCxnSpPr>
        <p:spPr>
          <a:xfrm flipV="1">
            <a:off x="4860032" y="1246694"/>
            <a:ext cx="908284" cy="114412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98" name="Rectangle 29"/>
          <p:cNvSpPr>
            <a:spLocks noChangeArrowheads="1"/>
          </p:cNvSpPr>
          <p:nvPr/>
        </p:nvSpPr>
        <p:spPr bwMode="auto">
          <a:xfrm>
            <a:off x="1636040" y="5357093"/>
            <a:ext cx="243844" cy="232147"/>
          </a:xfrm>
          <a:prstGeom prst="rect">
            <a:avLst/>
          </a:prstGeom>
        </p:spPr>
        <p:style>
          <a:lnRef idx="1">
            <a:schemeClr val="dk1"/>
          </a:lnRef>
          <a:fillRef idx="2">
            <a:schemeClr val="dk1"/>
          </a:fillRef>
          <a:effectRef idx="1">
            <a:schemeClr val="dk1"/>
          </a:effectRef>
          <a:fontRef idx="minor">
            <a:schemeClr val="dk1"/>
          </a:fontRef>
        </p:style>
        <p:txBody>
          <a:bodyPr wrap="none" anchor="ctr"/>
          <a:lstStyle/>
          <a:p>
            <a:endParaRPr lang="zh-CN" altLang="en-US"/>
          </a:p>
        </p:txBody>
      </p:sp>
      <p:sp>
        <p:nvSpPr>
          <p:cNvPr id="99" name="TextBox 98"/>
          <p:cNvSpPr txBox="1"/>
          <p:nvPr/>
        </p:nvSpPr>
        <p:spPr>
          <a:xfrm>
            <a:off x="1619672" y="5291916"/>
            <a:ext cx="99828" cy="369332"/>
          </a:xfrm>
          <a:prstGeom prst="rect">
            <a:avLst/>
          </a:prstGeom>
          <a:noFill/>
        </p:spPr>
        <p:txBody>
          <a:bodyPr wrap="square" rtlCol="0">
            <a:spAutoFit/>
          </a:bodyPr>
          <a:lstStyle/>
          <a:p>
            <a:r>
              <a:rPr lang="en-US" altLang="zh-CN" dirty="0"/>
              <a:t>C</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9698" y="131948"/>
            <a:ext cx="9217024" cy="650503"/>
          </a:xfrm>
        </p:spPr>
        <p:txBody>
          <a:bodyPr>
            <a:normAutofit fontScale="90000"/>
          </a:bodyPr>
          <a:lstStyle/>
          <a:p>
            <a:pPr algn="l"/>
            <a:r>
              <a:rPr lang="en-US" altLang="zh-CN" sz="4900" b="1" dirty="0" err="1">
                <a:solidFill>
                  <a:schemeClr val="accent1"/>
                </a:solidFill>
                <a:latin typeface="+mn-ea"/>
              </a:rPr>
              <a:t>Entity.clientEntity</a:t>
            </a:r>
            <a:r>
              <a:rPr lang="en-US" altLang="zh-CN" sz="4900" b="1" dirty="0">
                <a:solidFill>
                  <a:schemeClr val="accent1"/>
                </a:solidFill>
                <a:latin typeface="+mn-ea"/>
              </a:rPr>
              <a:t> </a:t>
            </a:r>
            <a:r>
              <a:rPr lang="zh-CN" altLang="en-US" sz="4900" b="1" dirty="0">
                <a:solidFill>
                  <a:schemeClr val="accent1"/>
                </a:solidFill>
                <a:latin typeface="+mn-ea"/>
              </a:rPr>
              <a:t>方法调用示例</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118914" y="1515716"/>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marL="0" indent="0">
              <a:lnSpc>
                <a:spcPct val="91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zh-CN" sz="2000" dirty="0"/>
          </a:p>
        </p:txBody>
      </p:sp>
      <p:sp>
        <p:nvSpPr>
          <p:cNvPr id="72" name="Text Box 36"/>
          <p:cNvSpPr txBox="1">
            <a:spLocks noChangeArrowheads="1"/>
          </p:cNvSpPr>
          <p:nvPr/>
        </p:nvSpPr>
        <p:spPr bwMode="auto">
          <a:xfrm>
            <a:off x="1508125" y="7850188"/>
            <a:ext cx="1674813" cy="2619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3000"/>
              </a:lnSpc>
              <a:spcBef>
                <a:spcPct val="0"/>
              </a:spcBef>
              <a:buClr>
                <a:srgbClr val="FFFFFF"/>
              </a:buClr>
              <a:buSzPct val="100000"/>
              <a:buFont typeface="Arial" panose="020B0604020202020204" pitchFamily="34" charset="0"/>
              <a:buNone/>
            </a:pPr>
            <a:r>
              <a:rPr lang="en-AU" sz="1200" b="0"/>
              <a:t>… </a:t>
            </a:r>
            <a:r>
              <a:rPr lang="zh-CN" altLang="en-AU" sz="1200" b="0">
                <a:ea typeface="宋体" panose="02010600030101010101" pitchFamily="2" charset="-122"/>
              </a:rPr>
              <a:t>导致</a:t>
            </a:r>
            <a:r>
              <a:rPr lang="en-AU" sz="1200" b="0"/>
              <a:t>A.chat()</a:t>
            </a:r>
            <a:r>
              <a:rPr lang="zh-CN" altLang="en-AU" sz="1200" b="0">
                <a:ea typeface="宋体" panose="02010600030101010101" pitchFamily="2" charset="-122"/>
              </a:rPr>
              <a:t>被调用</a:t>
            </a:r>
            <a:endParaRPr lang="en-AU" sz="1200" b="0"/>
          </a:p>
        </p:txBody>
      </p:sp>
      <p:sp>
        <p:nvSpPr>
          <p:cNvPr id="22" name="矩形 21"/>
          <p:cNvSpPr/>
          <p:nvPr/>
        </p:nvSpPr>
        <p:spPr>
          <a:xfrm>
            <a:off x="89124" y="3284984"/>
            <a:ext cx="9019380" cy="345638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CN" altLang="en-US"/>
          </a:p>
        </p:txBody>
      </p:sp>
      <p:sp>
        <p:nvSpPr>
          <p:cNvPr id="50" name="矩形 49"/>
          <p:cNvSpPr/>
          <p:nvPr/>
        </p:nvSpPr>
        <p:spPr>
          <a:xfrm>
            <a:off x="251520" y="3501008"/>
            <a:ext cx="1189037" cy="48418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200" b="1" dirty="0" err="1">
                <a:latin typeface="Arial Black" panose="020B0A04020102020204" pitchFamily="34" charset="0"/>
              </a:rPr>
              <a:t>Cellapp</a:t>
            </a:r>
            <a:endParaRPr lang="en-US" altLang="zh-CN" sz="1200" b="1" dirty="0">
              <a:latin typeface="Arial Black" panose="020B0A04020102020204" pitchFamily="34" charset="0"/>
            </a:endParaRPr>
          </a:p>
          <a:p>
            <a:pPr algn="ctr"/>
            <a:r>
              <a:rPr lang="en-US" altLang="zh-CN" sz="1200" b="1" dirty="0">
                <a:latin typeface="Arial Black" panose="020B0A04020102020204" pitchFamily="34" charset="0"/>
              </a:rPr>
              <a:t>Player A</a:t>
            </a:r>
            <a:endParaRPr lang="zh-CN" altLang="en-US" sz="1200" b="1" dirty="0">
              <a:latin typeface="Arial Black" panose="020B0A04020102020204" pitchFamily="34" charset="0"/>
            </a:endParaRPr>
          </a:p>
        </p:txBody>
      </p:sp>
      <p:sp>
        <p:nvSpPr>
          <p:cNvPr id="59" name="Line 13"/>
          <p:cNvSpPr>
            <a:spLocks noChangeShapeType="1"/>
          </p:cNvSpPr>
          <p:nvPr/>
        </p:nvSpPr>
        <p:spPr bwMode="auto">
          <a:xfrm>
            <a:off x="329282" y="6416675"/>
            <a:ext cx="6330950" cy="0"/>
          </a:xfrm>
          <a:prstGeom prst="line">
            <a:avLst/>
          </a:prstGeom>
          <a:ln>
            <a:tailEnd type="stealth" w="lg" len="lg"/>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60" name="Line 14"/>
          <p:cNvSpPr>
            <a:spLocks noChangeShapeType="1"/>
          </p:cNvSpPr>
          <p:nvPr/>
        </p:nvSpPr>
        <p:spPr bwMode="auto">
          <a:xfrm>
            <a:off x="329282" y="3985194"/>
            <a:ext cx="0" cy="2431481"/>
          </a:xfrm>
          <a:prstGeom prst="line">
            <a:avLst/>
          </a:prstGeom>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61" name="Rectangle 22"/>
          <p:cNvSpPr>
            <a:spLocks noChangeArrowheads="1"/>
          </p:cNvSpPr>
          <p:nvPr/>
        </p:nvSpPr>
        <p:spPr bwMode="auto">
          <a:xfrm>
            <a:off x="1124620" y="6148388"/>
            <a:ext cx="4549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txBody>
          <a:bodyPr wrap="none" lIns="0" tIns="0" rIns="0" bIns="0">
            <a:spAutoFit/>
          </a:bodyPr>
          <a:lstStyle/>
          <a:p>
            <a:pPr algn="l">
              <a:spcBef>
                <a:spcPct val="0"/>
              </a:spcBef>
            </a:pPr>
            <a:r>
              <a:rPr lang="en-US" altLang="zh-CN" dirty="0" err="1">
                <a:solidFill>
                  <a:srgbClr val="00007D"/>
                </a:solidFill>
                <a:latin typeface="Courier New" panose="02070309020205020404" pitchFamily="49" charset="0"/>
                <a:ea typeface="宋体" panose="02010600030101010101" pitchFamily="2" charset="-122"/>
              </a:rPr>
              <a:t>self.clientEntity</a:t>
            </a:r>
            <a:r>
              <a:rPr lang="en-US" altLang="zh-CN" dirty="0">
                <a:solidFill>
                  <a:srgbClr val="00007D"/>
                </a:solidFill>
                <a:latin typeface="Courier New" panose="02070309020205020404" pitchFamily="49" charset="0"/>
                <a:ea typeface="宋体" panose="02010600030101010101" pitchFamily="2" charset="-122"/>
              </a:rPr>
              <a:t>(</a:t>
            </a:r>
            <a:r>
              <a:rPr lang="en-US" altLang="zh-CN" dirty="0" err="1">
                <a:solidFill>
                  <a:srgbClr val="00007D"/>
                </a:solidFill>
                <a:latin typeface="Courier New" panose="02070309020205020404" pitchFamily="49" charset="0"/>
                <a:ea typeface="宋体" panose="02010600030101010101" pitchFamily="2" charset="-122"/>
              </a:rPr>
              <a:t>entityX</a:t>
            </a:r>
            <a:r>
              <a:rPr lang="en-US" altLang="zh-CN" dirty="0">
                <a:solidFill>
                  <a:srgbClr val="00007D"/>
                </a:solidFill>
                <a:latin typeface="Courier New" panose="02070309020205020404" pitchFamily="49" charset="0"/>
                <a:ea typeface="宋体" panose="02010600030101010101" pitchFamily="2" charset="-122"/>
              </a:rPr>
              <a:t>).chat()</a:t>
            </a:r>
          </a:p>
        </p:txBody>
      </p:sp>
      <p:sp>
        <p:nvSpPr>
          <p:cNvPr id="62" name="矩形 61"/>
          <p:cNvSpPr/>
          <p:nvPr/>
        </p:nvSpPr>
        <p:spPr>
          <a:xfrm>
            <a:off x="6708354" y="6165304"/>
            <a:ext cx="1079003" cy="484188"/>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dirty="0"/>
              <a:t>Client A</a:t>
            </a:r>
            <a:endParaRPr lang="zh-CN" altLang="en-US" dirty="0"/>
          </a:p>
        </p:txBody>
      </p:sp>
      <p:sp>
        <p:nvSpPr>
          <p:cNvPr id="63" name="TextBox 62"/>
          <p:cNvSpPr txBox="1"/>
          <p:nvPr/>
        </p:nvSpPr>
        <p:spPr>
          <a:xfrm>
            <a:off x="7920881" y="6289452"/>
            <a:ext cx="1043607" cy="26161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sz="1100" dirty="0">
                <a:solidFill>
                  <a:srgbClr val="FFFF00"/>
                </a:solidFill>
                <a:sym typeface="Wingdings" panose="05000000000000000000" pitchFamily="2" charset="2"/>
              </a:rPr>
              <a:t></a:t>
            </a:r>
            <a:r>
              <a:rPr lang="en-US" altLang="zh-CN" sz="1100" b="1" dirty="0" err="1">
                <a:solidFill>
                  <a:srgbClr val="FFFF00"/>
                </a:solidFill>
                <a:latin typeface="Arial Black" panose="020B0A04020102020204" pitchFamily="34" charset="0"/>
                <a:ea typeface="宋体" panose="02010600030101010101" pitchFamily="2" charset="-122"/>
              </a:rPr>
              <a:t>entityX</a:t>
            </a:r>
            <a:endParaRPr lang="zh-CN" altLang="en-US" sz="1100" b="1" dirty="0">
              <a:solidFill>
                <a:srgbClr val="FFFF00"/>
              </a:solidFill>
              <a:latin typeface="Arial Black" panose="020B0A040201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第四章</a:t>
            </a:r>
          </a:p>
        </p:txBody>
      </p:sp>
      <p:sp>
        <p:nvSpPr>
          <p:cNvPr id="12" name="TextBox 11"/>
          <p:cNvSpPr txBox="1"/>
          <p:nvPr/>
        </p:nvSpPr>
        <p:spPr>
          <a:xfrm>
            <a:off x="1619672" y="2924944"/>
            <a:ext cx="633670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a:t>
            </a:r>
            <a:r>
              <a:rPr lang="zh-CN" altLang="en-US" sz="4000" b="1" kern="0" dirty="0">
                <a:solidFill>
                  <a:schemeClr val="tx2"/>
                </a:solidFill>
                <a:latin typeface="Verdana" panose="020B0604030504040204"/>
                <a:ea typeface="宋体" panose="02010600030101010101" pitchFamily="2" charset="-122"/>
              </a:rPr>
              <a:t>核心</a:t>
            </a:r>
            <a:r>
              <a:rPr lang="en-US" altLang="zh-CN" sz="4000" b="1" kern="0" dirty="0">
                <a:solidFill>
                  <a:schemeClr val="tx2"/>
                </a:solidFill>
                <a:latin typeface="Verdana" panose="020B0604030504040204"/>
                <a:ea typeface="宋体" panose="02010600030101010101" pitchFamily="2" charset="-122"/>
              </a:rPr>
              <a:t>Entity</a:t>
            </a:r>
            <a:r>
              <a:rPr lang="zh-CN" altLang="en-US" sz="4000" b="1" kern="0" dirty="0">
                <a:solidFill>
                  <a:schemeClr val="tx2"/>
                </a:solidFill>
                <a:latin typeface="Verdana" panose="020B0604030504040204"/>
                <a:ea typeface="宋体" panose="02010600030101010101" pitchFamily="2" charset="-122"/>
              </a:rPr>
              <a:t>部件</a:t>
            </a:r>
            <a:endParaRPr lang="zh-CN" altLang="en-US" sz="3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Baseapp</a:t>
            </a:r>
            <a:r>
              <a:rPr lang="zh-CN" altLang="en-US" sz="4900" b="1" dirty="0">
                <a:solidFill>
                  <a:schemeClr val="accent1"/>
                </a:solidFill>
                <a:latin typeface="+mn-ea"/>
                <a:ea typeface="+mn-ea"/>
              </a:rPr>
              <a:t>上的</a:t>
            </a:r>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类型</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US" altLang="zh-CN" u="sng" dirty="0">
                <a:ea typeface="宋体" panose="02010600030101010101" pitchFamily="2" charset="-122"/>
              </a:rPr>
              <a:t>Entity</a:t>
            </a:r>
            <a:r>
              <a:rPr lang="en-US" altLang="zh-CN" sz="1600" u="sng" dirty="0">
                <a:solidFill>
                  <a:srgbClr val="FF0000"/>
                </a:solidFill>
                <a:ea typeface="宋体" panose="02010600030101010101" pitchFamily="2" charset="-122"/>
              </a:rPr>
              <a:t>(</a:t>
            </a:r>
            <a:r>
              <a:rPr lang="zh-CN" altLang="en-US" sz="1600" u="sng" dirty="0">
                <a:solidFill>
                  <a:srgbClr val="FF0000"/>
                </a:solidFill>
                <a:ea typeface="宋体" panose="02010600030101010101" pitchFamily="2" charset="-122"/>
              </a:rPr>
              <a:t>游戏世界中的物体对象的抽象实体类</a:t>
            </a:r>
            <a:r>
              <a:rPr lang="en-US" altLang="zh-CN" sz="1600" u="sng" dirty="0">
                <a:solidFill>
                  <a:srgbClr val="FF0000"/>
                </a:solidFill>
                <a:ea typeface="宋体" panose="02010600030101010101" pitchFamily="2" charset="-122"/>
              </a:rPr>
              <a:t>)</a:t>
            </a:r>
          </a:p>
          <a:p>
            <a:pPr marL="342900" lvl="1" indent="-160655">
              <a:lnSpc>
                <a:spcPct val="90000"/>
              </a:lnSpc>
            </a:pPr>
            <a:r>
              <a:rPr lang="zh-CN" altLang="en-US" dirty="0">
                <a:ea typeface="宋体" panose="02010600030101010101" pitchFamily="2" charset="-122"/>
              </a:rPr>
              <a:t>在</a:t>
            </a:r>
            <a:r>
              <a:rPr lang="en-US" altLang="zh-CN" dirty="0">
                <a:ea typeface="宋体" panose="02010600030101010101" pitchFamily="2" charset="-122"/>
              </a:rPr>
              <a:t>Python</a:t>
            </a:r>
            <a:r>
              <a:rPr lang="zh-CN" altLang="en-US" dirty="0">
                <a:ea typeface="宋体" panose="02010600030101010101" pitchFamily="2" charset="-122"/>
              </a:rPr>
              <a:t>脚本中，继承于</a:t>
            </a:r>
            <a:r>
              <a:rPr lang="en-US" altLang="zh-CN" b="1" dirty="0" err="1">
                <a:solidFill>
                  <a:srgbClr val="00B0F0"/>
                </a:solidFill>
                <a:latin typeface="Courier New" panose="02070309020205020404" pitchFamily="49" charset="0"/>
                <a:ea typeface="宋体" panose="02010600030101010101" pitchFamily="2" charset="-122"/>
              </a:rPr>
              <a:t>KBEngine.Entity</a:t>
            </a:r>
            <a:endParaRPr lang="en-US" altLang="zh-CN" b="1" dirty="0">
              <a:solidFill>
                <a:srgbClr val="00B0F0"/>
              </a:solidFill>
              <a:latin typeface="Courier New" panose="02070309020205020404" pitchFamily="49" charset="0"/>
              <a:ea typeface="宋体" panose="02010600030101010101" pitchFamily="2" charset="-122"/>
            </a:endParaRPr>
          </a:p>
          <a:p>
            <a:pPr marL="342900" lvl="1" indent="-160655">
              <a:lnSpc>
                <a:spcPct val="90000"/>
              </a:lnSpc>
              <a:spcBef>
                <a:spcPts val="600"/>
              </a:spcBef>
              <a:buFont typeface="Wingdings" panose="05000000000000000000" pitchFamily="2" charset="2"/>
              <a:buChar char=""/>
            </a:pPr>
            <a:r>
              <a:rPr lang="zh-CN" altLang="en-US" dirty="0">
                <a:ea typeface="宋体" panose="02010600030101010101" pitchFamily="2" charset="-122"/>
              </a:rPr>
              <a:t>存放大量复杂的数据</a:t>
            </a:r>
            <a:r>
              <a:rPr lang="en-US" altLang="zh-CN" sz="1200" dirty="0">
                <a:solidFill>
                  <a:srgbClr val="FF0000"/>
                </a:solidFill>
                <a:ea typeface="宋体" panose="02010600030101010101" pitchFamily="2" charset="-122"/>
              </a:rPr>
              <a:t>(</a:t>
            </a:r>
            <a:r>
              <a:rPr lang="zh-CN" altLang="en-US" sz="1200" b="0" i="0" dirty="0">
                <a:solidFill>
                  <a:srgbClr val="FF0000"/>
                </a:solidFill>
                <a:effectLst/>
                <a:latin typeface="Inter"/>
              </a:rPr>
              <a:t>具有某种特征和功能的对象实例</a:t>
            </a:r>
            <a:r>
              <a:rPr lang="en-US" altLang="zh-CN" sz="1200" dirty="0">
                <a:solidFill>
                  <a:srgbClr val="FF0000"/>
                </a:solidFill>
                <a:ea typeface="宋体" panose="02010600030101010101" pitchFamily="2" charset="-122"/>
              </a:rPr>
              <a:t>)</a:t>
            </a:r>
            <a:endParaRPr lang="en-GB" altLang="zh-CN" sz="1200" dirty="0">
              <a:solidFill>
                <a:srgbClr val="FF0000"/>
              </a:solidFill>
            </a:endParaRPr>
          </a:p>
          <a:p>
            <a:pPr marL="1143000" lvl="2" indent="-228600">
              <a:lnSpc>
                <a:spcPct val="90000"/>
              </a:lnSpc>
              <a:spcBef>
                <a:spcPts val="500"/>
              </a:spcBef>
              <a:buFont typeface="Wingdings" panose="05000000000000000000" pitchFamily="2" charset="2"/>
              <a:buChar char=""/>
            </a:pPr>
            <a:r>
              <a:rPr lang="zh-CN" altLang="en-US" sz="2000" dirty="0">
                <a:ea typeface="宋体" panose="02010600030101010101" pitchFamily="2" charset="-122"/>
              </a:rPr>
              <a:t>减少当</a:t>
            </a:r>
            <a:r>
              <a:rPr lang="en-US" altLang="zh-CN" sz="2000" dirty="0">
                <a:ea typeface="宋体" panose="02010600030101010101" pitchFamily="2" charset="-122"/>
              </a:rPr>
              <a:t>Cell entity</a:t>
            </a:r>
            <a:r>
              <a:rPr lang="zh-CN" altLang="en-US" sz="2000" dirty="0">
                <a:ea typeface="宋体" panose="02010600030101010101" pitchFamily="2" charset="-122"/>
              </a:rPr>
              <a:t>跨越</a:t>
            </a:r>
            <a:r>
              <a:rPr lang="en-US" altLang="zh-CN" sz="2000" dirty="0">
                <a:ea typeface="宋体" panose="02010600030101010101" pitchFamily="2" charset="-122"/>
              </a:rPr>
              <a:t>Cell</a:t>
            </a:r>
            <a:r>
              <a:rPr lang="zh-CN" altLang="en-US" sz="2000" dirty="0">
                <a:ea typeface="宋体" panose="02010600030101010101" pitchFamily="2" charset="-122"/>
              </a:rPr>
              <a:t>边界的时候的系统的负担</a:t>
            </a:r>
            <a:endParaRPr lang="en-US" altLang="zh-CN" sz="2000" dirty="0">
              <a:latin typeface="Courier New" panose="02070309020205020404" pitchFamily="49" charset="0"/>
              <a:ea typeface="宋体" panose="02010600030101010101" pitchFamily="2" charset="-122"/>
            </a:endParaRPr>
          </a:p>
          <a:p>
            <a:pPr marL="342900" lvl="1" indent="-160655">
              <a:lnSpc>
                <a:spcPct val="90000"/>
              </a:lnSpc>
            </a:pPr>
            <a:r>
              <a:rPr lang="zh-CN" altLang="en-US" dirty="0">
                <a:ea typeface="宋体" panose="02010600030101010101" pitchFamily="2" charset="-122"/>
              </a:rPr>
              <a:t>是接收方法调用的固定的</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endParaRPr lang="zh-CN" altLang="en-US" dirty="0">
              <a:ea typeface="宋体" panose="02010600030101010101" pitchFamily="2" charset="-122"/>
            </a:endParaRPr>
          </a:p>
          <a:p>
            <a:pPr>
              <a:lnSpc>
                <a:spcPct val="90000"/>
              </a:lnSpc>
            </a:pPr>
            <a:r>
              <a:rPr lang="en-US" altLang="zh-CN" u="sng" dirty="0">
                <a:ea typeface="宋体" panose="02010600030101010101" pitchFamily="2" charset="-122"/>
              </a:rPr>
              <a:t>Proxy</a:t>
            </a:r>
            <a:r>
              <a:rPr lang="en-US" altLang="zh-CN" sz="1600" u="sng" dirty="0">
                <a:solidFill>
                  <a:srgbClr val="FF0000"/>
                </a:solidFill>
                <a:ea typeface="宋体" panose="02010600030101010101" pitchFamily="2" charset="-122"/>
              </a:rPr>
              <a:t>(socket</a:t>
            </a:r>
            <a:r>
              <a:rPr lang="zh-CN" altLang="en-US" sz="1600" u="sng" dirty="0">
                <a:solidFill>
                  <a:srgbClr val="FF0000"/>
                </a:solidFill>
                <a:ea typeface="宋体" panose="02010600030101010101" pitchFamily="2" charset="-122"/>
              </a:rPr>
              <a:t>对象</a:t>
            </a:r>
            <a:r>
              <a:rPr lang="en-US" altLang="zh-CN" sz="1600" u="sng" dirty="0">
                <a:solidFill>
                  <a:srgbClr val="FF0000"/>
                </a:solidFill>
                <a:ea typeface="宋体" panose="02010600030101010101" pitchFamily="2" charset="-122"/>
              </a:rPr>
              <a:t>)</a:t>
            </a:r>
          </a:p>
          <a:p>
            <a:pPr marL="342900" lvl="1" indent="-160655">
              <a:lnSpc>
                <a:spcPct val="90000"/>
              </a:lnSpc>
            </a:pPr>
            <a:r>
              <a:rPr lang="zh-CN" altLang="en-US" dirty="0">
                <a:ea typeface="宋体" panose="02010600030101010101" pitchFamily="2" charset="-122"/>
              </a:rPr>
              <a:t>在</a:t>
            </a:r>
            <a:r>
              <a:rPr lang="en-US" altLang="zh-CN" dirty="0">
                <a:ea typeface="宋体" panose="02010600030101010101" pitchFamily="2" charset="-122"/>
              </a:rPr>
              <a:t>Python</a:t>
            </a:r>
            <a:r>
              <a:rPr lang="zh-CN" altLang="en-US" dirty="0">
                <a:ea typeface="宋体" panose="02010600030101010101" pitchFamily="2" charset="-122"/>
              </a:rPr>
              <a:t>脚本中，继承于</a:t>
            </a:r>
            <a:r>
              <a:rPr lang="en-US" altLang="zh-CN" b="1" dirty="0" err="1">
                <a:solidFill>
                  <a:srgbClr val="00B0F0"/>
                </a:solidFill>
                <a:latin typeface="Courier New" panose="02070309020205020404" pitchFamily="49" charset="0"/>
                <a:ea typeface="宋体" panose="02010600030101010101" pitchFamily="2" charset="-122"/>
              </a:rPr>
              <a:t>KBEngine.Proxy</a:t>
            </a:r>
            <a:endParaRPr lang="zh-CN" altLang="en-US" dirty="0">
              <a:solidFill>
                <a:srgbClr val="00B0F0"/>
              </a:solidFill>
              <a:latin typeface="Courier New" panose="02070309020205020404" pitchFamily="49" charset="0"/>
              <a:ea typeface="宋体" panose="02010600030101010101" pitchFamily="2" charset="-122"/>
            </a:endParaRPr>
          </a:p>
          <a:p>
            <a:pPr marL="342900" lvl="1" indent="-160655">
              <a:lnSpc>
                <a:spcPct val="90000"/>
              </a:lnSpc>
            </a:pPr>
            <a:r>
              <a:rPr lang="en-US" altLang="zh-CN" dirty="0" err="1">
                <a:latin typeface="Courier New" panose="02070309020205020404" pitchFamily="49" charset="0"/>
                <a:ea typeface="宋体" panose="02010600030101010101" pitchFamily="2" charset="-122"/>
              </a:rPr>
              <a:t>KBEngine.Proxy</a:t>
            </a:r>
            <a:r>
              <a:rPr lang="zh-CN" altLang="en-US" dirty="0">
                <a:latin typeface="Courier New" panose="02070309020205020404" pitchFamily="49" charset="0"/>
                <a:ea typeface="宋体" panose="02010600030101010101" pitchFamily="2" charset="-122"/>
              </a:rPr>
              <a:t>内部地继承于</a:t>
            </a:r>
            <a:r>
              <a:rPr lang="en-US" altLang="zh-CN" dirty="0" err="1">
                <a:latin typeface="Courier New" panose="02070309020205020404" pitchFamily="49" charset="0"/>
                <a:ea typeface="宋体" panose="02010600030101010101" pitchFamily="2" charset="-122"/>
              </a:rPr>
              <a:t>KBEngine.Entity</a:t>
            </a:r>
            <a:endParaRPr lang="zh-CN" altLang="en-US" dirty="0">
              <a:ea typeface="宋体" panose="02010600030101010101" pitchFamily="2" charset="-122"/>
            </a:endParaRPr>
          </a:p>
          <a:p>
            <a:pPr marL="342900" lvl="1" indent="-160655">
              <a:lnSpc>
                <a:spcPct val="90000"/>
              </a:lnSpc>
            </a:pPr>
            <a:r>
              <a:rPr lang="zh-CN" altLang="en-US" dirty="0">
                <a:ea typeface="宋体" panose="02010600030101010101" pitchFamily="2" charset="-122"/>
              </a:rPr>
              <a:t>它是与</a:t>
            </a:r>
            <a:r>
              <a:rPr lang="en-US" altLang="zh-CN" dirty="0">
                <a:ea typeface="宋体" panose="02010600030101010101" pitchFamily="2" charset="-122"/>
              </a:rPr>
              <a:t>Client</a:t>
            </a:r>
            <a:r>
              <a:rPr lang="zh-CN" altLang="en-US" dirty="0">
                <a:ea typeface="宋体" panose="02010600030101010101" pitchFamily="2" charset="-122"/>
              </a:rPr>
              <a:t>通信的节点</a:t>
            </a:r>
            <a:r>
              <a:rPr lang="en-US" altLang="zh-CN" sz="1200" dirty="0">
                <a:solidFill>
                  <a:srgbClr val="FF0000"/>
                </a:solidFill>
                <a:latin typeface="Inter"/>
              </a:rPr>
              <a:t>(</a:t>
            </a:r>
            <a:r>
              <a:rPr lang="zh-CN" altLang="en-US" sz="1200" dirty="0">
                <a:solidFill>
                  <a:srgbClr val="FF0000"/>
                </a:solidFill>
                <a:latin typeface="Inter"/>
              </a:rPr>
              <a:t>用于通信</a:t>
            </a:r>
            <a:r>
              <a:rPr lang="en-US" altLang="zh-CN" sz="1200" dirty="0">
                <a:solidFill>
                  <a:srgbClr val="FF0000"/>
                </a:solidFill>
                <a:latin typeface="Inter"/>
              </a:rPr>
              <a:t>)</a:t>
            </a:r>
          </a:p>
          <a:p>
            <a:pPr marL="342900" lvl="1" indent="-160655">
              <a:lnSpc>
                <a:spcPct val="90000"/>
              </a:lnSpc>
            </a:pPr>
            <a:r>
              <a:rPr lang="en-US" altLang="zh-CN" dirty="0">
                <a:ea typeface="宋体" panose="02010600030101010101" pitchFamily="2" charset="-122"/>
              </a:rPr>
              <a:t>Client</a:t>
            </a:r>
            <a:r>
              <a:rPr lang="zh-CN" altLang="en-US" dirty="0">
                <a:ea typeface="宋体" panose="02010600030101010101" pitchFamily="2" charset="-122"/>
              </a:rPr>
              <a:t>可以根据需要附加或去除一个</a:t>
            </a:r>
            <a:r>
              <a:rPr lang="en-US" altLang="zh-CN" dirty="0">
                <a:ea typeface="宋体" panose="02010600030101010101" pitchFamily="2" charset="-122"/>
              </a:rPr>
              <a:t>Proxy</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Baseapp</a:t>
            </a:r>
            <a:r>
              <a:rPr lang="zh-CN" altLang="en-US" sz="4900" b="1" dirty="0">
                <a:solidFill>
                  <a:schemeClr val="accent1"/>
                </a:solidFill>
                <a:latin typeface="+mn-ea"/>
                <a:ea typeface="+mn-ea"/>
              </a:rPr>
              <a:t>上的</a:t>
            </a:r>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属性</a:t>
            </a:r>
          </a:p>
        </p:txBody>
      </p:sp>
      <p:sp>
        <p:nvSpPr>
          <p:cNvPr id="17" name="Rectangle 3"/>
          <p:cNvSpPr txBox="1">
            <a:spLocks noChangeArrowheads="1"/>
          </p:cNvSpPr>
          <p:nvPr/>
        </p:nvSpPr>
        <p:spPr bwMode="auto">
          <a:xfrm>
            <a:off x="89124" y="1196752"/>
            <a:ext cx="9054876"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AU" dirty="0">
                <a:ea typeface="宋体" panose="02010600030101010101" pitchFamily="2" charset="-122"/>
              </a:rPr>
              <a:t>从</a:t>
            </a:r>
            <a:r>
              <a:rPr lang="en-AU" altLang="zh-CN" dirty="0" err="1">
                <a:ea typeface="宋体" panose="02010600030101010101" pitchFamily="2" charset="-122"/>
              </a:rPr>
              <a:t>KBEngine.</a:t>
            </a:r>
            <a:r>
              <a:rPr lang="en-US" altLang="en-AU" dirty="0" err="1">
                <a:ea typeface="宋体" panose="02010600030101010101" pitchFamily="2" charset="-122"/>
              </a:rPr>
              <a:t>Entity</a:t>
            </a:r>
            <a:r>
              <a:rPr lang="zh-CN" altLang="en-AU" dirty="0">
                <a:ea typeface="宋体" panose="02010600030101010101" pitchFamily="2" charset="-122"/>
              </a:rPr>
              <a:t>继承的</a:t>
            </a:r>
            <a:r>
              <a:rPr lang="en-AU" altLang="zh-CN" dirty="0">
                <a:ea typeface="宋体" panose="02010600030101010101" pitchFamily="2" charset="-122"/>
              </a:rPr>
              <a:t>Entity</a:t>
            </a:r>
            <a:r>
              <a:rPr lang="zh-CN" altLang="en-AU" dirty="0">
                <a:ea typeface="宋体" panose="02010600030101010101" pitchFamily="2" charset="-122"/>
              </a:rPr>
              <a:t>的属性</a:t>
            </a:r>
            <a:endParaRPr lang="en-US" altLang="zh-CN" dirty="0">
              <a:latin typeface="Courier New" panose="02070309020205020404" pitchFamily="49" charset="0"/>
              <a:ea typeface="宋体" panose="02010600030101010101" pitchFamily="2" charset="-122"/>
            </a:endParaRPr>
          </a:p>
        </p:txBody>
      </p:sp>
      <p:sp>
        <p:nvSpPr>
          <p:cNvPr id="5" name="Text Box 4"/>
          <p:cNvSpPr txBox="1">
            <a:spLocks noChangeArrowheads="1"/>
          </p:cNvSpPr>
          <p:nvPr/>
        </p:nvSpPr>
        <p:spPr bwMode="auto">
          <a:xfrm>
            <a:off x="323528" y="2528888"/>
            <a:ext cx="1620837"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id</a:t>
            </a:r>
          </a:p>
        </p:txBody>
      </p:sp>
      <p:sp>
        <p:nvSpPr>
          <p:cNvPr id="6" name="Text Box 5"/>
          <p:cNvSpPr txBox="1">
            <a:spLocks noChangeArrowheads="1"/>
          </p:cNvSpPr>
          <p:nvPr/>
        </p:nvSpPr>
        <p:spPr bwMode="auto">
          <a:xfrm>
            <a:off x="1944365" y="2528888"/>
            <a:ext cx="6877496"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zh-CN" altLang="en-US" b="0" dirty="0">
                <a:solidFill>
                  <a:srgbClr val="00B0F0"/>
                </a:solidFill>
                <a:latin typeface="Verdana" panose="020B0604030504040204" pitchFamily="34" charset="0"/>
                <a:ea typeface="宋体" panose="02010600030101010101" pitchFamily="2" charset="-122"/>
              </a:rPr>
              <a:t>唯一的</a:t>
            </a:r>
            <a:r>
              <a:rPr lang="en-US" altLang="zh-CN" b="0" dirty="0">
                <a:solidFill>
                  <a:srgbClr val="00B0F0"/>
                </a:solidFill>
                <a:latin typeface="Verdana" panose="020B0604030504040204" pitchFamily="34" charset="0"/>
                <a:ea typeface="宋体" panose="02010600030101010101" pitchFamily="2" charset="-122"/>
              </a:rPr>
              <a:t>Entity ID</a:t>
            </a:r>
            <a:r>
              <a:rPr lang="zh-CN" altLang="en-US" b="0" dirty="0">
                <a:solidFill>
                  <a:srgbClr val="00B0F0"/>
                </a:solidFill>
                <a:latin typeface="Verdana" panose="020B0604030504040204" pitchFamily="34" charset="0"/>
                <a:ea typeface="宋体" panose="02010600030101010101" pitchFamily="2" charset="-122"/>
              </a:rPr>
              <a:t>，</a:t>
            </a:r>
            <a:r>
              <a:rPr lang="en-US" altLang="zh-CN" b="0" dirty="0" err="1">
                <a:solidFill>
                  <a:srgbClr val="00B0F0"/>
                </a:solidFill>
                <a:latin typeface="Verdana" panose="020B0604030504040204" pitchFamily="34" charset="0"/>
                <a:ea typeface="宋体" panose="02010600030101010101" pitchFamily="2" charset="-122"/>
              </a:rPr>
              <a:t>Cell,Base,Client</a:t>
            </a:r>
            <a:r>
              <a:rPr lang="zh-CN" altLang="en-US" b="0" dirty="0">
                <a:solidFill>
                  <a:srgbClr val="00B0F0"/>
                </a:solidFill>
                <a:latin typeface="Verdana" panose="020B0604030504040204" pitchFamily="34" charset="0"/>
                <a:ea typeface="宋体" panose="02010600030101010101" pitchFamily="2" charset="-122"/>
              </a:rPr>
              <a:t>共用一个</a:t>
            </a:r>
            <a:r>
              <a:rPr lang="en-US" altLang="zh-CN" b="0" dirty="0">
                <a:solidFill>
                  <a:srgbClr val="00B0F0"/>
                </a:solidFill>
                <a:latin typeface="Verdana" panose="020B0604030504040204" pitchFamily="34" charset="0"/>
                <a:ea typeface="宋体" panose="02010600030101010101" pitchFamily="2" charset="-122"/>
              </a:rPr>
              <a:t>id</a:t>
            </a:r>
            <a:endParaRPr lang="en-AU" sz="1400" b="0" dirty="0">
              <a:solidFill>
                <a:srgbClr val="00B0F0"/>
              </a:solidFill>
              <a:latin typeface="Verdana" panose="020B0604030504040204" pitchFamily="34" charset="0"/>
            </a:endParaRPr>
          </a:p>
        </p:txBody>
      </p:sp>
      <p:sp>
        <p:nvSpPr>
          <p:cNvPr id="7" name="Text Box 6"/>
          <p:cNvSpPr txBox="1">
            <a:spLocks noChangeArrowheads="1"/>
          </p:cNvSpPr>
          <p:nvPr/>
        </p:nvSpPr>
        <p:spPr bwMode="auto">
          <a:xfrm>
            <a:off x="323528" y="2835275"/>
            <a:ext cx="1620837" cy="30638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databaseID</a:t>
            </a:r>
          </a:p>
        </p:txBody>
      </p:sp>
      <p:sp>
        <p:nvSpPr>
          <p:cNvPr id="8" name="Text Box 7"/>
          <p:cNvSpPr txBox="1">
            <a:spLocks noChangeArrowheads="1"/>
          </p:cNvSpPr>
          <p:nvPr/>
        </p:nvSpPr>
        <p:spPr bwMode="auto">
          <a:xfrm>
            <a:off x="1944365" y="2835275"/>
            <a:ext cx="6877496" cy="30638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0" bIns="180000"/>
          <a:lstStyle/>
          <a:p>
            <a:pPr algn="l">
              <a:spcBef>
                <a:spcPct val="20000"/>
              </a:spcBef>
              <a:buClr>
                <a:srgbClr val="FF9933"/>
              </a:buClr>
              <a:buSzPct val="80000"/>
              <a:buFont typeface="Wingdings" panose="05000000000000000000" pitchFamily="2" charset="2"/>
              <a:buNone/>
            </a:pPr>
            <a:r>
              <a:rPr lang="en-US" altLang="zh-CN" b="0" dirty="0">
                <a:solidFill>
                  <a:srgbClr val="00007D"/>
                </a:solidFill>
                <a:latin typeface="Verdana" panose="020B0604030504040204" pitchFamily="34" charset="0"/>
                <a:ea typeface="宋体" panose="02010600030101010101" pitchFamily="2" charset="-122"/>
              </a:rPr>
              <a:t>Entity</a:t>
            </a:r>
            <a:r>
              <a:rPr lang="zh-CN" altLang="en-US" b="0" dirty="0">
                <a:solidFill>
                  <a:srgbClr val="00007D"/>
                </a:solidFill>
                <a:latin typeface="Verdana" panose="020B0604030504040204" pitchFamily="34" charset="0"/>
                <a:ea typeface="宋体" panose="02010600030101010101" pitchFamily="2" charset="-122"/>
              </a:rPr>
              <a:t>在</a:t>
            </a:r>
            <a:r>
              <a:rPr lang="zh-CN" altLang="en-US" b="0" dirty="0">
                <a:solidFill>
                  <a:srgbClr val="00B0F0"/>
                </a:solidFill>
                <a:latin typeface="Verdana" panose="020B0604030504040204" pitchFamily="34" charset="0"/>
                <a:ea typeface="宋体" panose="02010600030101010101" pitchFamily="2" charset="-122"/>
              </a:rPr>
              <a:t>数据库里的永久</a:t>
            </a:r>
            <a:r>
              <a:rPr lang="en-US" altLang="zh-CN" b="0" dirty="0">
                <a:solidFill>
                  <a:srgbClr val="00B0F0"/>
                </a:solidFill>
                <a:latin typeface="Verdana" panose="020B0604030504040204" pitchFamily="34" charset="0"/>
                <a:ea typeface="宋体" panose="02010600030101010101" pitchFamily="2" charset="-122"/>
              </a:rPr>
              <a:t>ID</a:t>
            </a:r>
            <a:r>
              <a:rPr lang="en-US" altLang="zh-CN" b="0" dirty="0">
                <a:solidFill>
                  <a:srgbClr val="FF0000"/>
                </a:solidFill>
                <a:latin typeface="Verdana" panose="020B0604030504040204" pitchFamily="34" charset="0"/>
                <a:ea typeface="宋体" panose="02010600030101010101" pitchFamily="2" charset="-122"/>
              </a:rPr>
              <a:t>(</a:t>
            </a:r>
            <a:r>
              <a:rPr lang="zh-CN" altLang="en-US" dirty="0">
                <a:solidFill>
                  <a:srgbClr val="FF0000"/>
                </a:solidFill>
                <a:latin typeface="Verdana" panose="020B0604030504040204" pitchFamily="34" charset="0"/>
                <a:ea typeface="宋体" panose="02010600030101010101" pitchFamily="2" charset="-122"/>
              </a:rPr>
              <a:t>比如</a:t>
            </a:r>
            <a:r>
              <a:rPr lang="zh-CN" altLang="en-US" b="0" dirty="0">
                <a:solidFill>
                  <a:srgbClr val="FF0000"/>
                </a:solidFill>
                <a:latin typeface="Verdana" panose="020B0604030504040204" pitchFamily="34" charset="0"/>
                <a:ea typeface="宋体" panose="02010600030101010101" pitchFamily="2" charset="-122"/>
              </a:rPr>
              <a:t>装备</a:t>
            </a:r>
            <a:r>
              <a:rPr lang="en-US" altLang="zh-CN" b="0" dirty="0">
                <a:solidFill>
                  <a:srgbClr val="FF0000"/>
                </a:solidFill>
                <a:latin typeface="Verdana" panose="020B0604030504040204" pitchFamily="34" charset="0"/>
                <a:ea typeface="宋体" panose="02010600030101010101" pitchFamily="2" charset="-122"/>
              </a:rPr>
              <a:t>id)</a:t>
            </a:r>
            <a:r>
              <a:rPr lang="zh-CN" altLang="en-US" b="0" dirty="0">
                <a:solidFill>
                  <a:srgbClr val="00007D"/>
                </a:solidFill>
                <a:latin typeface="Verdana" panose="020B0604030504040204" pitchFamily="34" charset="0"/>
                <a:ea typeface="宋体" panose="02010600030101010101" pitchFamily="2" charset="-122"/>
              </a:rPr>
              <a:t>。如果不是永久的则为零。</a:t>
            </a:r>
            <a:r>
              <a:rPr lang="en-US" altLang="zh-CN" b="0" dirty="0">
                <a:solidFill>
                  <a:srgbClr val="00007D"/>
                </a:solidFill>
                <a:latin typeface="Verdana" panose="020B0604030504040204" pitchFamily="34" charset="0"/>
                <a:ea typeface="宋体" panose="02010600030101010101" pitchFamily="2" charset="-122"/>
              </a:rPr>
              <a:t>64</a:t>
            </a:r>
            <a:r>
              <a:rPr lang="zh-CN" altLang="en-US" b="0" dirty="0">
                <a:solidFill>
                  <a:srgbClr val="00007D"/>
                </a:solidFill>
                <a:latin typeface="Verdana" panose="020B0604030504040204" pitchFamily="34" charset="0"/>
                <a:ea typeface="宋体" panose="02010600030101010101" pitchFamily="2" charset="-122"/>
              </a:rPr>
              <a:t>位</a:t>
            </a:r>
            <a:endParaRPr lang="en-AU" sz="1400" b="0" dirty="0">
              <a:solidFill>
                <a:srgbClr val="00007D"/>
              </a:solidFill>
              <a:latin typeface="Verdana" panose="020B0604030504040204" pitchFamily="34" charset="0"/>
            </a:endParaRPr>
          </a:p>
        </p:txBody>
      </p:sp>
      <p:sp>
        <p:nvSpPr>
          <p:cNvPr id="9" name="Text Box 8"/>
          <p:cNvSpPr txBox="1">
            <a:spLocks noChangeArrowheads="1"/>
          </p:cNvSpPr>
          <p:nvPr/>
        </p:nvSpPr>
        <p:spPr bwMode="auto">
          <a:xfrm>
            <a:off x="323528" y="3141663"/>
            <a:ext cx="1620837"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cell</a:t>
            </a:r>
          </a:p>
        </p:txBody>
      </p:sp>
      <p:sp>
        <p:nvSpPr>
          <p:cNvPr id="10" name="Text Box 9"/>
          <p:cNvSpPr txBox="1">
            <a:spLocks noChangeArrowheads="1"/>
          </p:cNvSpPr>
          <p:nvPr/>
        </p:nvSpPr>
        <p:spPr bwMode="auto">
          <a:xfrm>
            <a:off x="1944365" y="3141663"/>
            <a:ext cx="6877496"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zh-CN" altLang="en-US" b="0" dirty="0">
                <a:solidFill>
                  <a:srgbClr val="00007D"/>
                </a:solidFill>
                <a:latin typeface="Verdana" panose="020B0604030504040204" pitchFamily="34" charset="0"/>
                <a:ea typeface="宋体" panose="02010600030101010101" pitchFamily="2" charset="-122"/>
              </a:rPr>
              <a:t>如果有对应</a:t>
            </a:r>
            <a:r>
              <a:rPr lang="en-US" altLang="zh-CN" b="0" dirty="0">
                <a:solidFill>
                  <a:srgbClr val="00007D"/>
                </a:solidFill>
                <a:latin typeface="Verdana" panose="020B0604030504040204" pitchFamily="34" charset="0"/>
                <a:ea typeface="宋体" panose="02010600030101010101" pitchFamily="2" charset="-122"/>
              </a:rPr>
              <a:t>Cell entity</a:t>
            </a:r>
            <a:r>
              <a:rPr lang="zh-CN" altLang="en-US" b="0" dirty="0">
                <a:solidFill>
                  <a:srgbClr val="00007D"/>
                </a:solidFill>
                <a:latin typeface="Verdana" panose="020B0604030504040204" pitchFamily="34" charset="0"/>
                <a:ea typeface="宋体" panose="02010600030101010101" pitchFamily="2" charset="-122"/>
              </a:rPr>
              <a:t>存在，表示指向该</a:t>
            </a:r>
            <a:r>
              <a:rPr lang="en-US" altLang="zh-CN" b="0" dirty="0">
                <a:solidFill>
                  <a:srgbClr val="00007D"/>
                </a:solidFill>
                <a:latin typeface="Verdana" panose="020B0604030504040204" pitchFamily="34" charset="0"/>
                <a:ea typeface="宋体" panose="02010600030101010101" pitchFamily="2" charset="-122"/>
              </a:rPr>
              <a:t>Cell entity</a:t>
            </a:r>
            <a:r>
              <a:rPr lang="zh-CN" altLang="en-US" b="0" dirty="0">
                <a:solidFill>
                  <a:srgbClr val="00007D"/>
                </a:solidFill>
                <a:latin typeface="Verdana" panose="020B0604030504040204" pitchFamily="34" charset="0"/>
                <a:ea typeface="宋体" panose="02010600030101010101" pitchFamily="2" charset="-122"/>
              </a:rPr>
              <a:t>的</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endParaRPr lang="en-AU" b="0" dirty="0">
              <a:solidFill>
                <a:srgbClr val="00007D"/>
              </a:solidFill>
              <a:latin typeface="Verdana" panose="020B0604030504040204" pitchFamily="34" charset="0"/>
            </a:endParaRPr>
          </a:p>
        </p:txBody>
      </p:sp>
      <p:sp>
        <p:nvSpPr>
          <p:cNvPr id="11" name="Text Box 10"/>
          <p:cNvSpPr txBox="1">
            <a:spLocks noChangeArrowheads="1"/>
          </p:cNvSpPr>
          <p:nvPr/>
        </p:nvSpPr>
        <p:spPr bwMode="auto">
          <a:xfrm>
            <a:off x="323528" y="3448050"/>
            <a:ext cx="1620837" cy="55562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cellData</a:t>
            </a:r>
          </a:p>
        </p:txBody>
      </p:sp>
      <p:sp>
        <p:nvSpPr>
          <p:cNvPr id="12" name="Text Box 11"/>
          <p:cNvSpPr txBox="1">
            <a:spLocks noChangeArrowheads="1"/>
          </p:cNvSpPr>
          <p:nvPr/>
        </p:nvSpPr>
        <p:spPr bwMode="auto">
          <a:xfrm>
            <a:off x="1944365" y="3448050"/>
            <a:ext cx="6877496" cy="55562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zh-CN" altLang="en-US" b="0" dirty="0">
                <a:solidFill>
                  <a:srgbClr val="00007D"/>
                </a:solidFill>
                <a:latin typeface="Verdana" panose="020B0604030504040204" pitchFamily="34" charset="0"/>
                <a:ea typeface="宋体" panose="02010600030101010101" pitchFamily="2" charset="-122"/>
              </a:rPr>
              <a:t>如果</a:t>
            </a:r>
            <a:r>
              <a:rPr lang="en-US" altLang="zh-CN" b="0" dirty="0">
                <a:solidFill>
                  <a:srgbClr val="00007D"/>
                </a:solidFill>
                <a:latin typeface="Verdana" panose="020B0604030504040204" pitchFamily="34" charset="0"/>
                <a:ea typeface="宋体" panose="02010600030101010101" pitchFamily="2" charset="-122"/>
              </a:rPr>
              <a:t>Cell entity</a:t>
            </a:r>
            <a:r>
              <a:rPr lang="zh-CN" altLang="en-US" b="0" dirty="0">
                <a:solidFill>
                  <a:srgbClr val="00007D"/>
                </a:solidFill>
                <a:latin typeface="Verdana" panose="020B0604030504040204" pitchFamily="34" charset="0"/>
                <a:ea typeface="宋体" panose="02010600030101010101" pitchFamily="2" charset="-122"/>
              </a:rPr>
              <a:t>不存在，其以</a:t>
            </a:r>
            <a:r>
              <a:rPr lang="en-US" altLang="zh-CN" b="0" dirty="0">
                <a:solidFill>
                  <a:srgbClr val="00007D"/>
                </a:solidFill>
                <a:ea typeface="宋体" panose="02010600030101010101" pitchFamily="2" charset="-122"/>
              </a:rPr>
              <a:t>Dictionary</a:t>
            </a:r>
            <a:r>
              <a:rPr lang="zh-CN" altLang="en-US" b="0" dirty="0">
                <a:solidFill>
                  <a:srgbClr val="00007D"/>
                </a:solidFill>
                <a:ea typeface="宋体" panose="02010600030101010101" pitchFamily="2" charset="-122"/>
              </a:rPr>
              <a:t>结构</a:t>
            </a:r>
            <a:r>
              <a:rPr lang="zh-CN" altLang="en-US" b="0" dirty="0">
                <a:solidFill>
                  <a:srgbClr val="00007D"/>
                </a:solidFill>
                <a:latin typeface="Verdana" panose="020B0604030504040204" pitchFamily="34" charset="0"/>
                <a:ea typeface="宋体" panose="02010600030101010101" pitchFamily="2" charset="-122"/>
              </a:rPr>
              <a:t>保留</a:t>
            </a:r>
            <a:r>
              <a:rPr lang="en-US" altLang="zh-CN" dirty="0">
                <a:solidFill>
                  <a:srgbClr val="00007D"/>
                </a:solidFill>
                <a:latin typeface="Verdana" panose="020B0604030504040204" pitchFamily="34" charset="0"/>
                <a:ea typeface="宋体" panose="02010600030101010101" pitchFamily="2" charset="-122"/>
              </a:rPr>
              <a:t>E</a:t>
            </a:r>
            <a:r>
              <a:rPr lang="en-US" altLang="zh-CN" b="0" dirty="0">
                <a:solidFill>
                  <a:srgbClr val="00007D"/>
                </a:solidFill>
                <a:latin typeface="Verdana" panose="020B0604030504040204" pitchFamily="34" charset="0"/>
                <a:ea typeface="宋体" panose="02010600030101010101" pitchFamily="2" charset="-122"/>
              </a:rPr>
              <a:t>ntity</a:t>
            </a:r>
            <a:r>
              <a:rPr lang="zh-CN" altLang="en-US" b="0" dirty="0">
                <a:solidFill>
                  <a:srgbClr val="00007D"/>
                </a:solidFill>
                <a:latin typeface="Verdana" panose="020B0604030504040204" pitchFamily="34" charset="0"/>
                <a:ea typeface="宋体" panose="02010600030101010101" pitchFamily="2" charset="-122"/>
              </a:rPr>
              <a:t>的</a:t>
            </a:r>
            <a:r>
              <a:rPr lang="en-US" altLang="zh-CN" b="0" dirty="0">
                <a:solidFill>
                  <a:srgbClr val="00007D"/>
                </a:solidFill>
                <a:latin typeface="Verdana" panose="020B0604030504040204" pitchFamily="34" charset="0"/>
                <a:ea typeface="宋体" panose="02010600030101010101" pitchFamily="2" charset="-122"/>
              </a:rPr>
              <a:t>Cell</a:t>
            </a:r>
            <a:r>
              <a:rPr lang="zh-CN" altLang="en-US" b="0" dirty="0">
                <a:solidFill>
                  <a:srgbClr val="00007D"/>
                </a:solidFill>
                <a:latin typeface="Verdana" panose="020B0604030504040204" pitchFamily="34" charset="0"/>
                <a:ea typeface="宋体" panose="02010600030101010101" pitchFamily="2" charset="-122"/>
              </a:rPr>
              <a:t>部分的数据</a:t>
            </a:r>
            <a:endParaRPr lang="en-AU" b="0" dirty="0">
              <a:solidFill>
                <a:srgbClr val="00007D"/>
              </a:solidFill>
              <a:latin typeface="Verdana" panose="020B0604030504040204" pitchFamily="34" charset="0"/>
              <a:ea typeface="宋体" panose="02010600030101010101" pitchFamily="2" charset="-122"/>
            </a:endParaRPr>
          </a:p>
        </p:txBody>
      </p:sp>
      <p:sp>
        <p:nvSpPr>
          <p:cNvPr id="13" name="Text Box 12"/>
          <p:cNvSpPr txBox="1">
            <a:spLocks noChangeArrowheads="1"/>
          </p:cNvSpPr>
          <p:nvPr/>
        </p:nvSpPr>
        <p:spPr bwMode="auto">
          <a:xfrm>
            <a:off x="323528" y="2205038"/>
            <a:ext cx="1620837" cy="323850"/>
          </a:xfrm>
          <a:prstGeom prst="rect">
            <a:avLst/>
          </a:prstGeom>
        </p:spPr>
        <p:style>
          <a:lnRef idx="1">
            <a:schemeClr val="accent4"/>
          </a:lnRef>
          <a:fillRef idx="3">
            <a:schemeClr val="accent4"/>
          </a:fillRef>
          <a:effectRef idx="2">
            <a:schemeClr val="accent4"/>
          </a:effectRef>
          <a:fontRef idx="minor">
            <a:schemeClr val="lt1"/>
          </a:fontRef>
        </p:style>
        <p:txBody>
          <a:bodyPr lIns="54000" tIns="10800" rIns="0" bIns="10800"/>
          <a:lstStyle/>
          <a:p>
            <a:r>
              <a:rPr lang="zh-CN" altLang="en-US" sz="1900" b="0">
                <a:latin typeface="Verdana" panose="020B0604030504040204" pitchFamily="34" charset="0"/>
                <a:ea typeface="宋体" panose="02010600030101010101" pitchFamily="2" charset="-122"/>
              </a:rPr>
              <a:t>属性</a:t>
            </a:r>
          </a:p>
        </p:txBody>
      </p:sp>
      <p:sp>
        <p:nvSpPr>
          <p:cNvPr id="14" name="Text Box 13"/>
          <p:cNvSpPr txBox="1">
            <a:spLocks noChangeArrowheads="1"/>
          </p:cNvSpPr>
          <p:nvPr/>
        </p:nvSpPr>
        <p:spPr bwMode="auto">
          <a:xfrm>
            <a:off x="1944365" y="2205038"/>
            <a:ext cx="6877496" cy="323850"/>
          </a:xfrm>
          <a:prstGeom prst="rect">
            <a:avLst/>
          </a:prstGeom>
        </p:spPr>
        <p:style>
          <a:lnRef idx="1">
            <a:schemeClr val="accent4"/>
          </a:lnRef>
          <a:fillRef idx="3">
            <a:schemeClr val="accent4"/>
          </a:fillRef>
          <a:effectRef idx="2">
            <a:schemeClr val="accent4"/>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描述</a:t>
            </a:r>
            <a:endParaRPr lang="zh-CN" altLang="en-US" sz="1900" b="0">
              <a:latin typeface="Verdana" panose="020B0604030504040204" pitchFamily="34" charset="0"/>
              <a:ea typeface="宋体" panose="02010600030101010101" pitchFamily="2" charset="-122"/>
            </a:endParaRPr>
          </a:p>
        </p:txBody>
      </p:sp>
      <p:sp>
        <p:nvSpPr>
          <p:cNvPr id="15" name="Line 14"/>
          <p:cNvSpPr>
            <a:spLocks noChangeShapeType="1"/>
          </p:cNvSpPr>
          <p:nvPr/>
        </p:nvSpPr>
        <p:spPr bwMode="auto">
          <a:xfrm flipV="1">
            <a:off x="1944365" y="2205038"/>
            <a:ext cx="0" cy="334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Baseapp</a:t>
            </a:r>
            <a:r>
              <a:rPr lang="zh-CN" altLang="en-US" sz="4900" b="1" dirty="0">
                <a:solidFill>
                  <a:schemeClr val="accent1"/>
                </a:solidFill>
                <a:latin typeface="+mn-ea"/>
                <a:ea typeface="+mn-ea"/>
              </a:rPr>
              <a:t>上的</a:t>
            </a:r>
            <a:r>
              <a:rPr lang="en-US" altLang="zh-CN" sz="5300" dirty="0">
                <a:solidFill>
                  <a:schemeClr val="accent1"/>
                </a:solidFill>
                <a:ea typeface="宋体" panose="02010600030101010101" pitchFamily="2" charset="-122"/>
              </a:rPr>
              <a:t>Proxy</a:t>
            </a:r>
            <a:r>
              <a:rPr lang="zh-CN" altLang="en-US" sz="5300" dirty="0">
                <a:solidFill>
                  <a:schemeClr val="accent1"/>
                </a:solidFill>
                <a:ea typeface="宋体" panose="02010600030101010101" pitchFamily="2" charset="-122"/>
              </a:rPr>
              <a:t>属性</a:t>
            </a:r>
            <a:endParaRPr lang="zh-CN" altLang="en-US" sz="53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894737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en-US" altLang="zh-CN" b="1" dirty="0" err="1">
                <a:latin typeface="Courier New" panose="02070309020205020404" pitchFamily="49" charset="0"/>
                <a:ea typeface="宋体" panose="02010600030101010101" pitchFamily="2" charset="-122"/>
              </a:rPr>
              <a:t>KBEngine.Proxy</a:t>
            </a:r>
            <a:r>
              <a:rPr lang="zh-CN" altLang="en-US" b="1" dirty="0">
                <a:latin typeface="Courier New" panose="02070309020205020404" pitchFamily="49" charset="0"/>
                <a:ea typeface="宋体" panose="02010600030101010101" pitchFamily="2" charset="-122"/>
              </a:rPr>
              <a:t>继承自</a:t>
            </a:r>
            <a:r>
              <a:rPr lang="en-US" altLang="zh-CN" b="1" dirty="0" err="1">
                <a:latin typeface="Courier New" panose="02070309020205020404" pitchFamily="49" charset="0"/>
                <a:ea typeface="宋体" panose="02010600030101010101" pitchFamily="2" charset="-122"/>
              </a:rPr>
              <a:t>KBEngine.Entity</a:t>
            </a:r>
            <a:r>
              <a:rPr lang="zh-CN" altLang="en-US" dirty="0">
                <a:ea typeface="宋体" panose="02010600030101010101" pitchFamily="2" charset="-122"/>
              </a:rPr>
              <a:t>，它是所有有</a:t>
            </a:r>
            <a:r>
              <a:rPr lang="en-US" altLang="zh-CN" dirty="0">
                <a:ea typeface="宋体" panose="02010600030101010101" pitchFamily="2" charset="-122"/>
              </a:rPr>
              <a:t>Proxy</a:t>
            </a:r>
            <a:r>
              <a:rPr lang="zh-CN" altLang="en-US" dirty="0">
                <a:ea typeface="宋体" panose="02010600030101010101" pitchFamily="2" charset="-122"/>
              </a:rPr>
              <a:t>的</a:t>
            </a:r>
            <a:r>
              <a:rPr lang="en-US" altLang="zh-CN" dirty="0">
                <a:ea typeface="宋体" panose="02010600030101010101" pitchFamily="2" charset="-122"/>
              </a:rPr>
              <a:t>Base entity</a:t>
            </a:r>
            <a:r>
              <a:rPr lang="zh-CN" altLang="en-US" dirty="0">
                <a:ea typeface="宋体" panose="02010600030101010101" pitchFamily="2" charset="-122"/>
              </a:rPr>
              <a:t>的父类</a:t>
            </a:r>
          </a:p>
          <a:p>
            <a:pPr>
              <a:lnSpc>
                <a:spcPct val="80000"/>
              </a:lnSpc>
              <a:spcBef>
                <a:spcPct val="80000"/>
              </a:spcBef>
            </a:pPr>
            <a:r>
              <a:rPr lang="zh-CN" altLang="en-US" dirty="0">
                <a:ea typeface="宋体" panose="02010600030101010101" pitchFamily="2" charset="-122"/>
              </a:rPr>
              <a:t>附加属性：</a:t>
            </a:r>
            <a:endParaRPr lang="en-US" altLang="zh-CN" dirty="0">
              <a:ea typeface="宋体" panose="02010600030101010101" pitchFamily="2" charset="-122"/>
            </a:endParaRPr>
          </a:p>
        </p:txBody>
      </p:sp>
      <p:sp>
        <p:nvSpPr>
          <p:cNvPr id="5" name="Text Box 4"/>
          <p:cNvSpPr txBox="1">
            <a:spLocks noChangeArrowheads="1"/>
          </p:cNvSpPr>
          <p:nvPr/>
        </p:nvSpPr>
        <p:spPr bwMode="auto">
          <a:xfrm>
            <a:off x="89124" y="3824858"/>
            <a:ext cx="1855241"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spcBef>
                <a:spcPct val="20000"/>
              </a:spcBef>
              <a:buClr>
                <a:srgbClr val="FF9933"/>
              </a:buClr>
              <a:buSzPct val="80000"/>
            </a:pPr>
            <a:r>
              <a:rPr lang="en-AU" altLang="zh-CN" sz="1900" dirty="0">
                <a:solidFill>
                  <a:srgbClr val="00007D"/>
                </a:solidFill>
                <a:latin typeface="Courier New" panose="02070309020205020404" pitchFamily="49" charset="0"/>
              </a:rPr>
              <a:t>client</a:t>
            </a:r>
          </a:p>
        </p:txBody>
      </p:sp>
      <p:sp>
        <p:nvSpPr>
          <p:cNvPr id="6" name="Text Box 5"/>
          <p:cNvSpPr txBox="1">
            <a:spLocks noChangeArrowheads="1"/>
          </p:cNvSpPr>
          <p:nvPr/>
        </p:nvSpPr>
        <p:spPr bwMode="auto">
          <a:xfrm>
            <a:off x="1944365" y="3824858"/>
            <a:ext cx="6877496" cy="306387"/>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spcBef>
                <a:spcPct val="20000"/>
              </a:spcBef>
              <a:buClr>
                <a:srgbClr val="FF9933"/>
              </a:buClr>
              <a:buSzPct val="80000"/>
            </a:pPr>
            <a:r>
              <a:rPr lang="zh-CN" altLang="en-US" dirty="0">
                <a:solidFill>
                  <a:srgbClr val="00007D"/>
                </a:solidFill>
                <a:latin typeface="Verdana" panose="020B0604030504040204" pitchFamily="34" charset="0"/>
                <a:ea typeface="宋体" panose="02010600030101010101" pitchFamily="2" charset="-122"/>
              </a:rPr>
              <a:t>用于与对应的客户端的</a:t>
            </a:r>
            <a:r>
              <a:rPr lang="en-US" altLang="zh-CN" dirty="0">
                <a:solidFill>
                  <a:srgbClr val="00007D"/>
                </a:solidFill>
                <a:latin typeface="Verdana" panose="020B0604030504040204" pitchFamily="34" charset="0"/>
                <a:ea typeface="宋体" panose="02010600030101010101" pitchFamily="2" charset="-122"/>
              </a:rPr>
              <a:t>Entity</a:t>
            </a:r>
            <a:r>
              <a:rPr lang="zh-CN" altLang="en-US" dirty="0">
                <a:solidFill>
                  <a:srgbClr val="00007D"/>
                </a:solidFill>
                <a:latin typeface="Verdana" panose="020B0604030504040204" pitchFamily="34" charset="0"/>
                <a:ea typeface="宋体" panose="02010600030101010101" pitchFamily="2" charset="-122"/>
              </a:rPr>
              <a:t>的通信的</a:t>
            </a:r>
            <a:r>
              <a:rPr lang="en-US" altLang="en-AU" dirty="0">
                <a:ea typeface="宋体" panose="02010600030101010101" pitchFamily="2" charset="-122"/>
                <a:sym typeface="+mn-ea"/>
              </a:rPr>
              <a:t>E</a:t>
            </a:r>
            <a:r>
              <a:rPr lang="en-AU" altLang="zh-CN" dirty="0">
                <a:sym typeface="+mn-ea"/>
              </a:rPr>
              <a:t>ntity</a:t>
            </a:r>
            <a:r>
              <a:rPr lang="en-US" altLang="en-AU" dirty="0">
                <a:sym typeface="+mn-ea"/>
              </a:rPr>
              <a:t>Call</a:t>
            </a:r>
            <a:endParaRPr lang="en-AU" sz="1400" b="0" dirty="0">
              <a:solidFill>
                <a:srgbClr val="00007D"/>
              </a:solidFill>
              <a:latin typeface="Verdana" panose="020B0604030504040204" pitchFamily="34" charset="0"/>
            </a:endParaRPr>
          </a:p>
        </p:txBody>
      </p:sp>
      <p:sp>
        <p:nvSpPr>
          <p:cNvPr id="7" name="Text Box 6"/>
          <p:cNvSpPr txBox="1">
            <a:spLocks noChangeArrowheads="1"/>
          </p:cNvSpPr>
          <p:nvPr/>
        </p:nvSpPr>
        <p:spPr bwMode="auto">
          <a:xfrm>
            <a:off x="89124" y="4131245"/>
            <a:ext cx="1855241" cy="30638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spcBef>
                <a:spcPct val="20000"/>
              </a:spcBef>
              <a:buClr>
                <a:srgbClr val="FF9933"/>
              </a:buClr>
              <a:buSzPct val="80000"/>
            </a:pPr>
            <a:r>
              <a:rPr lang="en-AU" altLang="zh-CN" sz="1900" dirty="0" err="1">
                <a:solidFill>
                  <a:srgbClr val="00007D"/>
                </a:solidFill>
                <a:latin typeface="Courier New" panose="02070309020205020404" pitchFamily="49" charset="0"/>
              </a:rPr>
              <a:t>clientAddr</a:t>
            </a:r>
            <a:endParaRPr lang="en-AU" altLang="zh-CN" sz="1900" dirty="0">
              <a:solidFill>
                <a:srgbClr val="00007D"/>
              </a:solidFill>
              <a:latin typeface="Courier New" panose="02070309020205020404" pitchFamily="49" charset="0"/>
            </a:endParaRPr>
          </a:p>
        </p:txBody>
      </p:sp>
      <p:sp>
        <p:nvSpPr>
          <p:cNvPr id="8" name="Text Box 7"/>
          <p:cNvSpPr txBox="1">
            <a:spLocks noChangeArrowheads="1"/>
          </p:cNvSpPr>
          <p:nvPr/>
        </p:nvSpPr>
        <p:spPr bwMode="auto">
          <a:xfrm>
            <a:off x="1944365" y="4131245"/>
            <a:ext cx="6877496" cy="30638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0" bIns="180000"/>
          <a:lstStyle/>
          <a:p>
            <a:pPr>
              <a:spcBef>
                <a:spcPct val="20000"/>
              </a:spcBef>
              <a:buClr>
                <a:srgbClr val="FF9933"/>
              </a:buClr>
              <a:buSzPct val="80000"/>
            </a:pPr>
            <a:r>
              <a:rPr lang="zh-CN" altLang="en-US" dirty="0">
                <a:solidFill>
                  <a:srgbClr val="00007D"/>
                </a:solidFill>
                <a:latin typeface="Verdana" panose="020B0604030504040204" pitchFamily="34" charset="0"/>
                <a:ea typeface="宋体" panose="02010600030101010101" pitchFamily="2" charset="-122"/>
              </a:rPr>
              <a:t>对应客户端机器的地址和端口</a:t>
            </a:r>
            <a:endParaRPr lang="en-AU" altLang="zh-CN" dirty="0">
              <a:solidFill>
                <a:srgbClr val="00007D"/>
              </a:solidFill>
              <a:latin typeface="Verdana" panose="020B0604030504040204" pitchFamily="34" charset="0"/>
            </a:endParaRPr>
          </a:p>
        </p:txBody>
      </p:sp>
      <p:sp>
        <p:nvSpPr>
          <p:cNvPr id="9" name="Text Box 8"/>
          <p:cNvSpPr txBox="1">
            <a:spLocks noChangeArrowheads="1"/>
          </p:cNvSpPr>
          <p:nvPr/>
        </p:nvSpPr>
        <p:spPr bwMode="auto">
          <a:xfrm>
            <a:off x="89124" y="4437633"/>
            <a:ext cx="1855241" cy="57554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spcBef>
                <a:spcPct val="20000"/>
              </a:spcBef>
              <a:buClr>
                <a:srgbClr val="FF9933"/>
              </a:buClr>
              <a:buSzPct val="80000"/>
            </a:pPr>
            <a:r>
              <a:rPr lang="en-AU" altLang="zh-CN" sz="1900" dirty="0" err="1">
                <a:solidFill>
                  <a:srgbClr val="00007D"/>
                </a:solidFill>
                <a:latin typeface="Courier New" panose="02070309020205020404" pitchFamily="49" charset="0"/>
              </a:rPr>
              <a:t>bandwidthPerSecond</a:t>
            </a:r>
            <a:r>
              <a:rPr lang="en-AU" altLang="zh-CN" sz="1100" dirty="0">
                <a:solidFill>
                  <a:srgbClr val="FF0000"/>
                </a:solidFill>
                <a:latin typeface="Courier New" panose="02070309020205020404" pitchFamily="49" charset="0"/>
              </a:rPr>
              <a:t>(</a:t>
            </a:r>
            <a:r>
              <a:rPr lang="zh-CN" altLang="en-US" sz="1100" dirty="0">
                <a:solidFill>
                  <a:srgbClr val="FF0000"/>
                </a:solidFill>
                <a:latin typeface="Courier New" panose="02070309020205020404" pitchFamily="49" charset="0"/>
              </a:rPr>
              <a:t>每秒的带宽</a:t>
            </a:r>
            <a:r>
              <a:rPr lang="en-AU" altLang="zh-CN" sz="1100" dirty="0">
                <a:solidFill>
                  <a:srgbClr val="FF0000"/>
                </a:solidFill>
                <a:latin typeface="Courier New" panose="02070309020205020404" pitchFamily="49" charset="0"/>
              </a:rPr>
              <a:t>)</a:t>
            </a:r>
          </a:p>
        </p:txBody>
      </p:sp>
      <p:sp>
        <p:nvSpPr>
          <p:cNvPr id="10" name="Text Box 9"/>
          <p:cNvSpPr txBox="1">
            <a:spLocks noChangeArrowheads="1"/>
          </p:cNvSpPr>
          <p:nvPr/>
        </p:nvSpPr>
        <p:spPr bwMode="auto">
          <a:xfrm>
            <a:off x="1944365" y="4437633"/>
            <a:ext cx="6877496" cy="57554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spcBef>
                <a:spcPct val="20000"/>
              </a:spcBef>
              <a:buClr>
                <a:srgbClr val="FF9933"/>
              </a:buClr>
              <a:buSzPct val="80000"/>
            </a:pPr>
            <a:r>
              <a:rPr lang="zh-CN" altLang="en-US" dirty="0">
                <a:solidFill>
                  <a:srgbClr val="00007D"/>
                </a:solidFill>
                <a:latin typeface="Verdana" panose="020B0604030504040204" pitchFamily="34" charset="0"/>
                <a:ea typeface="宋体" panose="02010600030101010101" pitchFamily="2" charset="-122"/>
              </a:rPr>
              <a:t>每秒发送给客户端的信息长度</a:t>
            </a:r>
            <a:endParaRPr lang="en-AU" altLang="zh-CN" dirty="0">
              <a:solidFill>
                <a:srgbClr val="00007D"/>
              </a:solidFill>
              <a:latin typeface="Verdana" panose="020B0604030504040204" pitchFamily="34" charset="0"/>
            </a:endParaRPr>
          </a:p>
        </p:txBody>
      </p:sp>
      <p:sp>
        <p:nvSpPr>
          <p:cNvPr id="13" name="Text Box 12"/>
          <p:cNvSpPr txBox="1">
            <a:spLocks noChangeArrowheads="1"/>
          </p:cNvSpPr>
          <p:nvPr/>
        </p:nvSpPr>
        <p:spPr bwMode="auto">
          <a:xfrm>
            <a:off x="89124" y="3501008"/>
            <a:ext cx="1855241" cy="323850"/>
          </a:xfrm>
          <a:prstGeom prst="rect">
            <a:avLst/>
          </a:prstGeom>
        </p:spPr>
        <p:style>
          <a:lnRef idx="1">
            <a:schemeClr val="accent4"/>
          </a:lnRef>
          <a:fillRef idx="3">
            <a:schemeClr val="accent4"/>
          </a:fillRef>
          <a:effectRef idx="2">
            <a:schemeClr val="accent4"/>
          </a:effectRef>
          <a:fontRef idx="minor">
            <a:schemeClr val="lt1"/>
          </a:fontRef>
        </p:style>
        <p:txBody>
          <a:bodyPr lIns="54000" tIns="10800" rIns="0" bIns="10800"/>
          <a:lstStyle/>
          <a:p>
            <a:r>
              <a:rPr lang="zh-CN" altLang="en-US" sz="1900" b="0">
                <a:latin typeface="Verdana" panose="020B0604030504040204" pitchFamily="34" charset="0"/>
                <a:ea typeface="宋体" panose="02010600030101010101" pitchFamily="2" charset="-122"/>
              </a:rPr>
              <a:t>属性</a:t>
            </a:r>
          </a:p>
        </p:txBody>
      </p:sp>
      <p:sp>
        <p:nvSpPr>
          <p:cNvPr id="14" name="Text Box 13"/>
          <p:cNvSpPr txBox="1">
            <a:spLocks noChangeArrowheads="1"/>
          </p:cNvSpPr>
          <p:nvPr/>
        </p:nvSpPr>
        <p:spPr bwMode="auto">
          <a:xfrm>
            <a:off x="1944365" y="3501008"/>
            <a:ext cx="6877496" cy="323850"/>
          </a:xfrm>
          <a:prstGeom prst="rect">
            <a:avLst/>
          </a:prstGeom>
        </p:spPr>
        <p:style>
          <a:lnRef idx="1">
            <a:schemeClr val="accent4"/>
          </a:lnRef>
          <a:fillRef idx="3">
            <a:schemeClr val="accent4"/>
          </a:fillRef>
          <a:effectRef idx="2">
            <a:schemeClr val="accent4"/>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描述</a:t>
            </a:r>
            <a:endParaRPr lang="zh-CN" altLang="en-US" sz="1900" b="0">
              <a:latin typeface="Verdana" panose="020B0604030504040204" pitchFamily="34" charset="0"/>
              <a:ea typeface="宋体" panose="02010600030101010101" pitchFamily="2" charset="-122"/>
            </a:endParaRPr>
          </a:p>
        </p:txBody>
      </p:sp>
      <p:sp>
        <p:nvSpPr>
          <p:cNvPr id="15" name="Line 14"/>
          <p:cNvSpPr>
            <a:spLocks noChangeShapeType="1"/>
          </p:cNvSpPr>
          <p:nvPr/>
        </p:nvSpPr>
        <p:spPr bwMode="auto">
          <a:xfrm flipV="1">
            <a:off x="1944365" y="3501008"/>
            <a:ext cx="0" cy="334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Baseapp</a:t>
            </a:r>
            <a:r>
              <a:rPr lang="zh-CN" altLang="en-US" sz="4900" b="1" dirty="0">
                <a:solidFill>
                  <a:schemeClr val="accent1"/>
                </a:solidFill>
                <a:latin typeface="+mn-ea"/>
                <a:ea typeface="+mn-ea"/>
              </a:rPr>
              <a:t>上的</a:t>
            </a:r>
            <a:r>
              <a:rPr lang="en-US" altLang="zh-CN" sz="5300" dirty="0">
                <a:solidFill>
                  <a:schemeClr val="accent1"/>
                </a:solidFill>
                <a:ea typeface="宋体" panose="02010600030101010101" pitchFamily="2" charset="-122"/>
              </a:rPr>
              <a:t>Entity</a:t>
            </a:r>
            <a:r>
              <a:rPr lang="zh-CN" altLang="en-US" sz="5300" dirty="0">
                <a:solidFill>
                  <a:schemeClr val="accent1"/>
                </a:solidFill>
                <a:ea typeface="宋体" panose="02010600030101010101" pitchFamily="2" charset="-122"/>
              </a:rPr>
              <a:t>方法</a:t>
            </a:r>
            <a:endParaRPr lang="zh-CN" altLang="en-US" sz="5300" b="1" dirty="0">
              <a:solidFill>
                <a:schemeClr val="accent1"/>
              </a:solidFill>
              <a:latin typeface="+mn-ea"/>
              <a:ea typeface="+mn-ea"/>
            </a:endParaRPr>
          </a:p>
        </p:txBody>
      </p:sp>
      <p:sp>
        <p:nvSpPr>
          <p:cNvPr id="16" name="Text Box 3"/>
          <p:cNvSpPr txBox="1">
            <a:spLocks noChangeArrowheads="1"/>
          </p:cNvSpPr>
          <p:nvPr/>
        </p:nvSpPr>
        <p:spPr bwMode="auto">
          <a:xfrm>
            <a:off x="179388" y="1600200"/>
            <a:ext cx="2268537" cy="590550"/>
          </a:xfrm>
          <a:prstGeom prst="rect">
            <a:avLst/>
          </a:prstGeom>
        </p:spPr>
        <p:style>
          <a:lnRef idx="1">
            <a:schemeClr val="accent5"/>
          </a:lnRef>
          <a:fillRef idx="2">
            <a:schemeClr val="accent5"/>
          </a:fillRef>
          <a:effectRef idx="1">
            <a:schemeClr val="accent5"/>
          </a:effectRef>
          <a:fontRef idx="minor">
            <a:schemeClr val="dk1"/>
          </a:fontRef>
        </p:style>
        <p:txBody>
          <a:bodyPr lIns="18000" tIns="72000" rIns="0" bIns="72000"/>
          <a:lstStyle/>
          <a:p>
            <a:pPr algn="l">
              <a:lnSpc>
                <a:spcPct val="85000"/>
              </a:lnSpc>
              <a:spcBef>
                <a:spcPct val="20000"/>
              </a:spcBef>
              <a:buClr>
                <a:srgbClr val="FF9933"/>
              </a:buClr>
              <a:buSzPct val="80000"/>
              <a:buFont typeface="Wingdings" panose="05000000000000000000" pitchFamily="2" charset="2"/>
              <a:buNone/>
            </a:pPr>
            <a:r>
              <a:rPr lang="en-US" altLang="zh-CN" sz="1200">
                <a:solidFill>
                  <a:srgbClr val="00007D"/>
                </a:solidFill>
                <a:latin typeface="Courier New" panose="02070309020205020404" pitchFamily="49" charset="0"/>
                <a:ea typeface="宋体" panose="02010600030101010101" pitchFamily="2" charset="-122"/>
              </a:rPr>
              <a:t>addTimer(</a:t>
            </a:r>
            <a:r>
              <a:rPr lang="en-US" altLang="zh-CN" sz="1200" i="1">
                <a:solidFill>
                  <a:srgbClr val="00007D"/>
                </a:solidFill>
                <a:latin typeface="Courier New" panose="02070309020205020404" pitchFamily="49" charset="0"/>
                <a:ea typeface="宋体" panose="02010600030101010101" pitchFamily="2" charset="-122"/>
              </a:rPr>
              <a:t>initOffset</a:t>
            </a:r>
            <a:br>
              <a:rPr lang="en-US" altLang="zh-CN" sz="1200">
                <a:solidFill>
                  <a:srgbClr val="00007D"/>
                </a:solidFill>
                <a:latin typeface="Courier New" panose="02070309020205020404" pitchFamily="49" charset="0"/>
                <a:ea typeface="宋体" panose="02010600030101010101" pitchFamily="2" charset="-122"/>
              </a:rPr>
            </a:br>
            <a:r>
              <a:rPr lang="en-US" altLang="zh-CN" sz="1200">
                <a:solidFill>
                  <a:srgbClr val="00007D"/>
                </a:solidFill>
                <a:latin typeface="Courier New" panose="02070309020205020404" pitchFamily="49" charset="0"/>
                <a:ea typeface="宋体" panose="02010600030101010101" pitchFamily="2" charset="-122"/>
              </a:rPr>
              <a:t>       [,</a:t>
            </a:r>
            <a:r>
              <a:rPr lang="en-US" altLang="zh-CN" sz="1200" i="1">
                <a:solidFill>
                  <a:srgbClr val="00007D"/>
                </a:solidFill>
                <a:latin typeface="Courier New" panose="02070309020205020404" pitchFamily="49" charset="0"/>
                <a:ea typeface="宋体" panose="02010600030101010101" pitchFamily="2" charset="-122"/>
              </a:rPr>
              <a:t>repeatOffset</a:t>
            </a:r>
            <a:r>
              <a:rPr lang="en-US" altLang="zh-CN" sz="1200">
                <a:solidFill>
                  <a:srgbClr val="00007D"/>
                </a:solidFill>
                <a:latin typeface="Courier New" panose="02070309020205020404" pitchFamily="49" charset="0"/>
                <a:ea typeface="宋体" panose="02010600030101010101" pitchFamily="2" charset="-122"/>
              </a:rPr>
              <a:t>,</a:t>
            </a:r>
            <a:br>
              <a:rPr lang="en-US" altLang="zh-CN" sz="1200">
                <a:solidFill>
                  <a:srgbClr val="00007D"/>
                </a:solidFill>
                <a:latin typeface="Courier New" panose="02070309020205020404" pitchFamily="49" charset="0"/>
                <a:ea typeface="宋体" panose="02010600030101010101" pitchFamily="2" charset="-122"/>
              </a:rPr>
            </a:br>
            <a:r>
              <a:rPr lang="en-US" altLang="zh-CN" sz="1200">
                <a:solidFill>
                  <a:srgbClr val="00007D"/>
                </a:solidFill>
                <a:latin typeface="Courier New" panose="02070309020205020404" pitchFamily="49" charset="0"/>
                <a:ea typeface="宋体" panose="02010600030101010101" pitchFamily="2" charset="-122"/>
              </a:rPr>
              <a:t>         </a:t>
            </a:r>
            <a:r>
              <a:rPr lang="en-US" altLang="zh-CN" sz="1200" i="1">
                <a:solidFill>
                  <a:srgbClr val="00007D"/>
                </a:solidFill>
                <a:latin typeface="Courier New" panose="02070309020205020404" pitchFamily="49" charset="0"/>
                <a:ea typeface="宋体" panose="02010600030101010101" pitchFamily="2" charset="-122"/>
              </a:rPr>
              <a:t>userData</a:t>
            </a:r>
            <a:r>
              <a:rPr lang="en-US" altLang="zh-CN" sz="1200">
                <a:solidFill>
                  <a:srgbClr val="00007D"/>
                </a:solidFill>
                <a:latin typeface="Courier New" panose="02070309020205020404" pitchFamily="49" charset="0"/>
                <a:ea typeface="宋体" panose="02010600030101010101" pitchFamily="2" charset="-122"/>
              </a:rPr>
              <a:t>] )</a:t>
            </a:r>
            <a:endParaRPr lang="en-AU" sz="1200">
              <a:solidFill>
                <a:srgbClr val="00007D"/>
              </a:solidFill>
              <a:latin typeface="Courier New" panose="02070309020205020404" pitchFamily="49" charset="0"/>
            </a:endParaRPr>
          </a:p>
        </p:txBody>
      </p:sp>
      <p:sp>
        <p:nvSpPr>
          <p:cNvPr id="18" name="Text Box 4"/>
          <p:cNvSpPr txBox="1">
            <a:spLocks noChangeArrowheads="1"/>
          </p:cNvSpPr>
          <p:nvPr/>
        </p:nvSpPr>
        <p:spPr bwMode="auto">
          <a:xfrm>
            <a:off x="179388" y="2478088"/>
            <a:ext cx="2268537" cy="714375"/>
          </a:xfrm>
          <a:prstGeom prst="rect">
            <a:avLst/>
          </a:prstGeom>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createCellEntity(</a:t>
            </a:r>
            <a:br>
              <a:rPr lang="en-US" altLang="zh-CN" sz="1300">
                <a:solidFill>
                  <a:srgbClr val="00007D"/>
                </a:solidFill>
                <a:latin typeface="Courier New" panose="02070309020205020404" pitchFamily="49" charset="0"/>
                <a:ea typeface="宋体" panose="02010600030101010101" pitchFamily="2" charset="-122"/>
              </a:rPr>
            </a:br>
            <a:r>
              <a:rPr lang="en-US" altLang="zh-CN" sz="1300">
                <a:solidFill>
                  <a:srgbClr val="00007D"/>
                </a:solidFill>
                <a:latin typeface="Courier New" panose="02070309020205020404" pitchFamily="49" charset="0"/>
                <a:ea typeface="宋体" panose="02010600030101010101" pitchFamily="2" charset="-122"/>
              </a:rPr>
              <a:t>        [</a:t>
            </a:r>
            <a:r>
              <a:rPr lang="en-US" altLang="zh-CN" sz="1300" i="1">
                <a:solidFill>
                  <a:srgbClr val="00007D"/>
                </a:solidFill>
                <a:latin typeface="Courier New" panose="02070309020205020404" pitchFamily="49" charset="0"/>
                <a:ea typeface="宋体" panose="02010600030101010101" pitchFamily="2" charset="-122"/>
              </a:rPr>
              <a:t>cellEntityCall</a:t>
            </a:r>
            <a:r>
              <a:rPr lang="en-US" altLang="zh-CN" sz="1300">
                <a:solidFill>
                  <a:srgbClr val="00007D"/>
                </a:solidFill>
                <a:latin typeface="Courier New" panose="02070309020205020404" pitchFamily="49" charset="0"/>
                <a:ea typeface="宋体" panose="02010600030101010101" pitchFamily="2" charset="-122"/>
              </a:rPr>
              <a:t>])</a:t>
            </a:r>
            <a:endParaRPr lang="en-AU" sz="1300">
              <a:solidFill>
                <a:srgbClr val="00007D"/>
              </a:solidFill>
              <a:latin typeface="Courier New" panose="02070309020205020404" pitchFamily="49" charset="0"/>
            </a:endParaRPr>
          </a:p>
        </p:txBody>
      </p:sp>
      <p:sp>
        <p:nvSpPr>
          <p:cNvPr id="19" name="Text Box 5"/>
          <p:cNvSpPr txBox="1">
            <a:spLocks noChangeArrowheads="1"/>
          </p:cNvSpPr>
          <p:nvPr/>
        </p:nvSpPr>
        <p:spPr bwMode="auto">
          <a:xfrm>
            <a:off x="179388" y="1276350"/>
            <a:ext cx="2268537" cy="323850"/>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方法</a:t>
            </a:r>
            <a:endParaRPr lang="zh-CN" altLang="en-US" sz="1900" b="0">
              <a:latin typeface="Verdana" panose="020B0604030504040204" pitchFamily="34" charset="0"/>
              <a:ea typeface="宋体" panose="02010600030101010101" pitchFamily="2" charset="-122"/>
            </a:endParaRPr>
          </a:p>
        </p:txBody>
      </p:sp>
      <p:sp>
        <p:nvSpPr>
          <p:cNvPr id="20" name="Text Box 6"/>
          <p:cNvSpPr txBox="1">
            <a:spLocks noChangeArrowheads="1"/>
          </p:cNvSpPr>
          <p:nvPr/>
        </p:nvSpPr>
        <p:spPr bwMode="auto">
          <a:xfrm>
            <a:off x="2447925" y="1276350"/>
            <a:ext cx="6480175" cy="323850"/>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描述</a:t>
            </a:r>
            <a:endParaRPr lang="zh-CN" altLang="en-US" sz="1900" b="0">
              <a:latin typeface="Verdana" panose="020B0604030504040204" pitchFamily="34" charset="0"/>
              <a:ea typeface="宋体" panose="02010600030101010101" pitchFamily="2" charset="-122"/>
            </a:endParaRPr>
          </a:p>
        </p:txBody>
      </p:sp>
      <p:sp>
        <p:nvSpPr>
          <p:cNvPr id="21" name="Line 7"/>
          <p:cNvSpPr>
            <a:spLocks noChangeShapeType="1"/>
          </p:cNvSpPr>
          <p:nvPr/>
        </p:nvSpPr>
        <p:spPr bwMode="auto">
          <a:xfrm flipV="1">
            <a:off x="2447925" y="1265238"/>
            <a:ext cx="3175" cy="334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8"/>
          <p:cNvSpPr txBox="1">
            <a:spLocks noChangeArrowheads="1"/>
          </p:cNvSpPr>
          <p:nvPr/>
        </p:nvSpPr>
        <p:spPr bwMode="auto">
          <a:xfrm>
            <a:off x="2447925" y="1600200"/>
            <a:ext cx="6480175" cy="590550"/>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a:solidFill>
                  <a:srgbClr val="00007D"/>
                </a:solidFill>
                <a:latin typeface="Verdana" panose="020B0604030504040204" pitchFamily="34" charset="0"/>
                <a:ea typeface="宋体" panose="02010600030101010101" pitchFamily="2" charset="-122"/>
              </a:rPr>
              <a:t>增加一个时钟（ </a:t>
            </a:r>
            <a:r>
              <a:rPr lang="en-US" altLang="zh-CN" sz="1600" b="0">
                <a:solidFill>
                  <a:srgbClr val="00007D"/>
                </a:solidFill>
                <a:ea typeface="宋体" panose="02010600030101010101" pitchFamily="2" charset="-122"/>
              </a:rPr>
              <a:t>offsets</a:t>
            </a:r>
            <a:r>
              <a:rPr lang="zh-CN" altLang="en-US" sz="1600" b="0">
                <a:solidFill>
                  <a:srgbClr val="00007D"/>
                </a:solidFill>
                <a:ea typeface="宋体" panose="02010600030101010101" pitchFamily="2" charset="-122"/>
              </a:rPr>
              <a:t>为秒数</a:t>
            </a:r>
            <a:r>
              <a:rPr lang="en-US" altLang="zh-CN">
                <a:ea typeface="宋体" panose="02010600030101010101" pitchFamily="2" charset="-122"/>
              </a:rPr>
              <a:t> </a:t>
            </a:r>
            <a:r>
              <a:rPr lang="zh-CN" altLang="en-US" sz="1400" b="0">
                <a:solidFill>
                  <a:srgbClr val="00007D"/>
                </a:solidFill>
                <a:latin typeface="Verdana" panose="020B0604030504040204" pitchFamily="34" charset="0"/>
                <a:ea typeface="宋体" panose="02010600030101010101" pitchFamily="2" charset="-122"/>
              </a:rPr>
              <a:t>），返回它的</a:t>
            </a:r>
            <a:r>
              <a:rPr lang="en-US" altLang="zh-CN" sz="1400" b="0">
                <a:solidFill>
                  <a:srgbClr val="00007D"/>
                </a:solidFill>
                <a:latin typeface="Verdana" panose="020B0604030504040204" pitchFamily="34" charset="0"/>
                <a:ea typeface="宋体" panose="02010600030101010101" pitchFamily="2" charset="-122"/>
              </a:rPr>
              <a:t>ID</a:t>
            </a:r>
          </a:p>
          <a:p>
            <a:pPr>
              <a:spcBef>
                <a:spcPct val="5000"/>
              </a:spcBef>
              <a:buClr>
                <a:srgbClr val="FF9933"/>
              </a:buClr>
              <a:buSzPct val="80000"/>
              <a:buFont typeface="Wingdings" panose="05000000000000000000" pitchFamily="2" charset="2"/>
              <a:buChar char="§"/>
            </a:pPr>
            <a:r>
              <a:rPr lang="en-US" altLang="zh-CN" sz="1400" b="0">
                <a:solidFill>
                  <a:srgbClr val="00007D"/>
                </a:solidFill>
                <a:latin typeface="Verdana" panose="020B0604030504040204" pitchFamily="34" charset="0"/>
                <a:ea typeface="宋体" panose="02010600030101010101" pitchFamily="2" charset="-122"/>
              </a:rPr>
              <a:t>Entity</a:t>
            </a:r>
            <a:r>
              <a:rPr lang="zh-CN" altLang="en-US" sz="1400" b="0">
                <a:solidFill>
                  <a:srgbClr val="00007D"/>
                </a:solidFill>
                <a:latin typeface="Verdana" panose="020B0604030504040204" pitchFamily="34" charset="0"/>
                <a:ea typeface="宋体" panose="02010600030101010101" pitchFamily="2" charset="-122"/>
              </a:rPr>
              <a:t>必须实现方法</a:t>
            </a:r>
            <a:r>
              <a:rPr lang="en-US" altLang="zh-CN" sz="1400">
                <a:solidFill>
                  <a:srgbClr val="00007D"/>
                </a:solidFill>
                <a:latin typeface="Courier New" panose="02070309020205020404" pitchFamily="49" charset="0"/>
                <a:ea typeface="宋体" panose="02010600030101010101" pitchFamily="2" charset="-122"/>
              </a:rPr>
              <a:t>onTimer(</a:t>
            </a:r>
            <a:r>
              <a:rPr lang="en-US" altLang="zh-CN" sz="1400" i="1">
                <a:solidFill>
                  <a:srgbClr val="00007D"/>
                </a:solidFill>
                <a:latin typeface="Courier New" panose="02070309020205020404" pitchFamily="49" charset="0"/>
                <a:ea typeface="宋体" panose="02010600030101010101" pitchFamily="2" charset="-122"/>
              </a:rPr>
              <a:t>self</a:t>
            </a:r>
            <a:r>
              <a:rPr lang="en-US" altLang="zh-CN" sz="1400">
                <a:solidFill>
                  <a:srgbClr val="00007D"/>
                </a:solidFill>
                <a:latin typeface="Courier New" panose="02070309020205020404" pitchFamily="49" charset="0"/>
                <a:ea typeface="宋体" panose="02010600030101010101" pitchFamily="2" charset="-122"/>
              </a:rPr>
              <a:t>, </a:t>
            </a:r>
            <a:r>
              <a:rPr lang="en-US" altLang="zh-CN" sz="1400" i="1">
                <a:solidFill>
                  <a:srgbClr val="00007D"/>
                </a:solidFill>
                <a:latin typeface="Courier New" panose="02070309020205020404" pitchFamily="49" charset="0"/>
                <a:ea typeface="宋体" panose="02010600030101010101" pitchFamily="2" charset="-122"/>
              </a:rPr>
              <a:t>timerID</a:t>
            </a:r>
            <a:r>
              <a:rPr lang="en-US" altLang="zh-CN" sz="1400">
                <a:solidFill>
                  <a:srgbClr val="00007D"/>
                </a:solidFill>
                <a:latin typeface="Courier New" panose="02070309020205020404" pitchFamily="49" charset="0"/>
                <a:ea typeface="宋体" panose="02010600030101010101" pitchFamily="2" charset="-122"/>
              </a:rPr>
              <a:t>, </a:t>
            </a:r>
            <a:r>
              <a:rPr lang="en-US" altLang="zh-CN" sz="1400" i="1">
                <a:solidFill>
                  <a:srgbClr val="00007D"/>
                </a:solidFill>
                <a:latin typeface="Courier New" panose="02070309020205020404" pitchFamily="49" charset="0"/>
                <a:ea typeface="宋体" panose="02010600030101010101" pitchFamily="2" charset="-122"/>
              </a:rPr>
              <a:t>userData</a:t>
            </a:r>
            <a:r>
              <a:rPr lang="en-US" altLang="zh-CN" sz="1400">
                <a:solidFill>
                  <a:srgbClr val="00007D"/>
                </a:solidFill>
                <a:latin typeface="Courier New" panose="02070309020205020404" pitchFamily="49" charset="0"/>
                <a:ea typeface="宋体" panose="02010600030101010101" pitchFamily="2" charset="-122"/>
              </a:rPr>
              <a:t>)</a:t>
            </a:r>
            <a:endParaRPr lang="en-AU" sz="1400">
              <a:solidFill>
                <a:srgbClr val="00007D"/>
              </a:solidFill>
              <a:latin typeface="Courier New" panose="02070309020205020404" pitchFamily="49" charset="0"/>
              <a:ea typeface="宋体" panose="02010600030101010101" pitchFamily="2" charset="-122"/>
            </a:endParaRPr>
          </a:p>
        </p:txBody>
      </p:sp>
      <p:sp>
        <p:nvSpPr>
          <p:cNvPr id="23" name="Text Box 9"/>
          <p:cNvSpPr txBox="1">
            <a:spLocks noChangeArrowheads="1"/>
          </p:cNvSpPr>
          <p:nvPr/>
        </p:nvSpPr>
        <p:spPr bwMode="auto">
          <a:xfrm>
            <a:off x="2447925" y="2478088"/>
            <a:ext cx="6480175" cy="714375"/>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在</a:t>
            </a:r>
            <a:r>
              <a:rPr lang="en-US" altLang="zh-CN" b="0" dirty="0">
                <a:solidFill>
                  <a:srgbClr val="00007D"/>
                </a:solidFill>
                <a:ea typeface="宋体" panose="02010600030101010101" pitchFamily="2" charset="-122"/>
              </a:rPr>
              <a:t>EntityCall</a:t>
            </a:r>
            <a:r>
              <a:rPr lang="zh-CN" altLang="en-US" b="0" dirty="0">
                <a:solidFill>
                  <a:srgbClr val="00007D"/>
                </a:solidFill>
                <a:ea typeface="宋体" panose="02010600030101010101" pitchFamily="2" charset="-122"/>
              </a:rPr>
              <a:t>指向的</a:t>
            </a:r>
            <a:r>
              <a:rPr lang="en-US" altLang="zh-CN" sz="1400" b="0" dirty="0">
                <a:solidFill>
                  <a:srgbClr val="00007D"/>
                </a:solidFill>
                <a:latin typeface="Verdana" panose="020B0604030504040204" pitchFamily="34" charset="0"/>
                <a:ea typeface="宋体" panose="02010600030101010101" pitchFamily="2" charset="-122"/>
              </a:rPr>
              <a:t>Cell</a:t>
            </a:r>
            <a:r>
              <a:rPr lang="zh-CN" altLang="en-US" sz="1400" b="0" dirty="0">
                <a:solidFill>
                  <a:srgbClr val="00007D"/>
                </a:solidFill>
                <a:latin typeface="Verdana" panose="020B0604030504040204" pitchFamily="34" charset="0"/>
                <a:ea typeface="宋体" panose="02010600030101010101" pitchFamily="2" charset="-122"/>
              </a:rPr>
              <a:t>上创建</a:t>
            </a:r>
            <a:r>
              <a:rPr lang="en-US" altLang="zh-CN" sz="1400" b="0" dirty="0">
                <a:solidFill>
                  <a:srgbClr val="00007D"/>
                </a:solidFill>
                <a:latin typeface="Verdana" panose="020B0604030504040204" pitchFamily="34" charset="0"/>
                <a:ea typeface="宋体" panose="02010600030101010101" pitchFamily="2" charset="-122"/>
              </a:rPr>
              <a:t>entity</a:t>
            </a:r>
          </a:p>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可以用于当在</a:t>
            </a:r>
            <a:r>
              <a:rPr lang="en-US" altLang="zh-CN" sz="1400" b="0" dirty="0">
                <a:solidFill>
                  <a:srgbClr val="00007D"/>
                </a:solidFill>
                <a:latin typeface="Verdana" panose="020B0604030504040204" pitchFamily="34" charset="0"/>
                <a:ea typeface="宋体" panose="02010600030101010101" pitchFamily="2" charset="-122"/>
              </a:rPr>
              <a:t>Base</a:t>
            </a:r>
            <a:r>
              <a:rPr lang="zh-CN" altLang="en-US" sz="1400" b="0" dirty="0">
                <a:solidFill>
                  <a:srgbClr val="00007D"/>
                </a:solidFill>
                <a:latin typeface="Verdana" panose="020B0604030504040204" pitchFamily="34" charset="0"/>
                <a:ea typeface="宋体" panose="02010600030101010101" pitchFamily="2" charset="-122"/>
              </a:rPr>
              <a:t>上创建</a:t>
            </a:r>
            <a:r>
              <a:rPr lang="en-US" altLang="zh-CN" sz="1400" b="0" dirty="0">
                <a:solidFill>
                  <a:srgbClr val="00007D"/>
                </a:solidFill>
                <a:latin typeface="Verdana" panose="020B0604030504040204" pitchFamily="34" charset="0"/>
                <a:ea typeface="宋体" panose="02010600030101010101" pitchFamily="2" charset="-122"/>
              </a:rPr>
              <a:t>Entity</a:t>
            </a:r>
            <a:r>
              <a:rPr lang="zh-CN" altLang="en-US" sz="1400" b="0" dirty="0">
                <a:solidFill>
                  <a:srgbClr val="00007D"/>
                </a:solidFill>
                <a:latin typeface="Verdana" panose="020B0604030504040204" pitchFamily="34" charset="0"/>
                <a:ea typeface="宋体" panose="02010600030101010101" pitchFamily="2" charset="-122"/>
              </a:rPr>
              <a:t>时在</a:t>
            </a:r>
            <a:r>
              <a:rPr lang="en-US" altLang="zh-CN" sz="1400" b="0" dirty="0">
                <a:solidFill>
                  <a:srgbClr val="00007D"/>
                </a:solidFill>
                <a:latin typeface="Verdana" panose="020B0604030504040204" pitchFamily="34" charset="0"/>
                <a:ea typeface="宋体" panose="02010600030101010101" pitchFamily="2" charset="-122"/>
              </a:rPr>
              <a:t>Cell</a:t>
            </a:r>
            <a:r>
              <a:rPr lang="zh-CN" altLang="en-US" sz="1400" b="0" dirty="0">
                <a:solidFill>
                  <a:srgbClr val="00007D"/>
                </a:solidFill>
                <a:latin typeface="Verdana" panose="020B0604030504040204" pitchFamily="34" charset="0"/>
                <a:ea typeface="宋体" panose="02010600030101010101" pitchFamily="2" charset="-122"/>
              </a:rPr>
              <a:t>上初始化一个</a:t>
            </a:r>
            <a:r>
              <a:rPr lang="en-US" altLang="zh-CN" sz="1400" b="0" dirty="0">
                <a:solidFill>
                  <a:srgbClr val="00007D"/>
                </a:solidFill>
                <a:latin typeface="Verdana" panose="020B0604030504040204" pitchFamily="34" charset="0"/>
                <a:ea typeface="宋体" panose="02010600030101010101" pitchFamily="2" charset="-122"/>
              </a:rPr>
              <a:t>Cell entity</a:t>
            </a:r>
          </a:p>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如果不传递</a:t>
            </a:r>
            <a:r>
              <a:rPr lang="en-US" altLang="zh-CN" sz="1400" b="0" dirty="0" err="1">
                <a:solidFill>
                  <a:srgbClr val="00007D"/>
                </a:solidFill>
                <a:latin typeface="Courier New" panose="02070309020205020404" pitchFamily="49" charset="0"/>
                <a:ea typeface="宋体" panose="02010600030101010101" pitchFamily="2" charset="-122"/>
              </a:rPr>
              <a:t>CellEntityCall</a:t>
            </a:r>
            <a:r>
              <a:rPr lang="zh-CN" altLang="en-US" sz="1400" b="0" dirty="0">
                <a:solidFill>
                  <a:srgbClr val="00007D"/>
                </a:solidFill>
                <a:latin typeface="Courier New" panose="02070309020205020404" pitchFamily="49" charset="0"/>
                <a:ea typeface="宋体" panose="02010600030101010101" pitchFamily="2" charset="-122"/>
              </a:rPr>
              <a:t>，那么</a:t>
            </a:r>
            <a:r>
              <a:rPr lang="en-US" altLang="zh-CN" sz="1400" b="0" dirty="0" err="1">
                <a:solidFill>
                  <a:srgbClr val="00007D"/>
                </a:solidFill>
                <a:latin typeface="Courier New" panose="02070309020205020404" pitchFamily="49" charset="0"/>
                <a:ea typeface="宋体" panose="02010600030101010101" pitchFamily="2" charset="-122"/>
              </a:rPr>
              <a:t>Base.cellData</a:t>
            </a:r>
            <a:r>
              <a:rPr lang="en-US" altLang="zh-CN" sz="1400" b="0" dirty="0">
                <a:solidFill>
                  <a:srgbClr val="00007D"/>
                </a:solidFill>
                <a:latin typeface="Courier New" panose="02070309020205020404" pitchFamily="49" charset="0"/>
                <a:ea typeface="宋体" panose="02010600030101010101" pitchFamily="2" charset="-122"/>
              </a:rPr>
              <a:t>[</a:t>
            </a:r>
            <a:r>
              <a:rPr lang="en-US" altLang="zh-CN" sz="1400" b="0" i="1" dirty="0" err="1">
                <a:solidFill>
                  <a:srgbClr val="00007D"/>
                </a:solidFill>
                <a:latin typeface="Courier New" panose="02070309020205020404" pitchFamily="49" charset="0"/>
                <a:ea typeface="宋体" panose="02010600030101010101" pitchFamily="2" charset="-122"/>
              </a:rPr>
              <a:t>spaceID</a:t>
            </a:r>
            <a:r>
              <a:rPr lang="en-US" altLang="zh-CN" sz="1400" b="0" dirty="0">
                <a:solidFill>
                  <a:srgbClr val="00007D"/>
                </a:solidFill>
                <a:latin typeface="Courier New" panose="02070309020205020404" pitchFamily="49" charset="0"/>
                <a:ea typeface="宋体" panose="02010600030101010101" pitchFamily="2" charset="-122"/>
              </a:rPr>
              <a:t>]</a:t>
            </a:r>
            <a:r>
              <a:rPr lang="zh-CN" altLang="en-US" sz="1400" b="0" dirty="0">
                <a:solidFill>
                  <a:srgbClr val="00007D"/>
                </a:solidFill>
                <a:latin typeface="Verdana" panose="020B0604030504040204" pitchFamily="34" charset="0"/>
                <a:ea typeface="宋体" panose="02010600030101010101" pitchFamily="2" charset="-122"/>
              </a:rPr>
              <a:t>会被用到</a:t>
            </a:r>
            <a:endParaRPr lang="zh-CN" altLang="en-AU" sz="1400" b="0" dirty="0">
              <a:solidFill>
                <a:srgbClr val="00007D"/>
              </a:solidFill>
              <a:latin typeface="Verdana" panose="020B0604030504040204" pitchFamily="34" charset="0"/>
              <a:ea typeface="宋体" panose="02010600030101010101" pitchFamily="2" charset="-122"/>
            </a:endParaRPr>
          </a:p>
        </p:txBody>
      </p:sp>
      <p:sp>
        <p:nvSpPr>
          <p:cNvPr id="24" name="Text Box 10"/>
          <p:cNvSpPr txBox="1">
            <a:spLocks noChangeArrowheads="1"/>
          </p:cNvSpPr>
          <p:nvPr/>
        </p:nvSpPr>
        <p:spPr bwMode="auto">
          <a:xfrm>
            <a:off x="179388" y="2190750"/>
            <a:ext cx="2268537" cy="28733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delTimer( </a:t>
            </a:r>
            <a:r>
              <a:rPr lang="en-US" altLang="zh-CN" sz="1300" i="1">
                <a:solidFill>
                  <a:srgbClr val="00007D"/>
                </a:solidFill>
                <a:latin typeface="Courier New" panose="02070309020205020404" pitchFamily="49" charset="0"/>
                <a:ea typeface="宋体" panose="02010600030101010101" pitchFamily="2" charset="-122"/>
              </a:rPr>
              <a:t>timerID</a:t>
            </a:r>
            <a:r>
              <a:rPr lang="en-US" altLang="zh-CN" sz="1300">
                <a:solidFill>
                  <a:srgbClr val="00007D"/>
                </a:solidFill>
                <a:latin typeface="Courier New" panose="02070309020205020404" pitchFamily="49" charset="0"/>
                <a:ea typeface="宋体" panose="02010600030101010101" pitchFamily="2" charset="-122"/>
              </a:rPr>
              <a:t> )</a:t>
            </a:r>
            <a:endParaRPr lang="en-AU" sz="1300">
              <a:solidFill>
                <a:srgbClr val="00007D"/>
              </a:solidFill>
              <a:latin typeface="Courier New" panose="02070309020205020404" pitchFamily="49" charset="0"/>
            </a:endParaRPr>
          </a:p>
        </p:txBody>
      </p:sp>
      <p:sp>
        <p:nvSpPr>
          <p:cNvPr id="25" name="Text Box 11"/>
          <p:cNvSpPr txBox="1">
            <a:spLocks noChangeArrowheads="1"/>
          </p:cNvSpPr>
          <p:nvPr/>
        </p:nvSpPr>
        <p:spPr bwMode="auto">
          <a:xfrm>
            <a:off x="2447925" y="2190750"/>
            <a:ext cx="6480175" cy="287338"/>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rgbClr val="FF9933"/>
              </a:buClr>
              <a:buSzPct val="80000"/>
              <a:buFont typeface="Wingdings" panose="05000000000000000000" pitchFamily="2" charset="2"/>
              <a:buChar char="§"/>
            </a:pPr>
            <a:r>
              <a:rPr lang="zh-CN" altLang="en-US" sz="1400" b="0">
                <a:solidFill>
                  <a:srgbClr val="00007D"/>
                </a:solidFill>
                <a:latin typeface="Verdana" panose="020B0604030504040204" pitchFamily="34" charset="0"/>
                <a:ea typeface="宋体" panose="02010600030101010101" pitchFamily="2" charset="-122"/>
              </a:rPr>
              <a:t>删除指定时钟</a:t>
            </a:r>
            <a:endParaRPr lang="en-AU" sz="1400" b="0">
              <a:solidFill>
                <a:srgbClr val="00007D"/>
              </a:solidFill>
              <a:latin typeface="Verdana" panose="020B0604030504040204" pitchFamily="34" charset="0"/>
            </a:endParaRPr>
          </a:p>
        </p:txBody>
      </p:sp>
      <p:sp>
        <p:nvSpPr>
          <p:cNvPr id="28" name="Text Box 14"/>
          <p:cNvSpPr txBox="1">
            <a:spLocks noChangeArrowheads="1"/>
          </p:cNvSpPr>
          <p:nvPr/>
        </p:nvSpPr>
        <p:spPr bwMode="auto">
          <a:xfrm>
            <a:off x="179388" y="3212976"/>
            <a:ext cx="2268537" cy="708025"/>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createInNewSpace()</a:t>
            </a:r>
            <a:endParaRPr lang="en-AU" sz="1300">
              <a:solidFill>
                <a:srgbClr val="00007D"/>
              </a:solidFill>
              <a:latin typeface="Courier New" panose="02070309020205020404" pitchFamily="49" charset="0"/>
            </a:endParaRPr>
          </a:p>
        </p:txBody>
      </p:sp>
      <p:sp>
        <p:nvSpPr>
          <p:cNvPr id="29" name="Text Box 15"/>
          <p:cNvSpPr txBox="1">
            <a:spLocks noChangeArrowheads="1"/>
          </p:cNvSpPr>
          <p:nvPr/>
        </p:nvSpPr>
        <p:spPr bwMode="auto">
          <a:xfrm>
            <a:off x="2447925" y="3212976"/>
            <a:ext cx="6480175" cy="709613"/>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a:solidFill>
                  <a:srgbClr val="00007D"/>
                </a:solidFill>
                <a:latin typeface="Verdana" panose="020B0604030504040204" pitchFamily="34" charset="0"/>
                <a:ea typeface="宋体" panose="02010600030101010101" pitchFamily="2" charset="-122"/>
              </a:rPr>
              <a:t>在一个新的</a:t>
            </a:r>
            <a:r>
              <a:rPr lang="en-US" altLang="zh-CN" sz="1400" b="0">
                <a:solidFill>
                  <a:srgbClr val="00007D"/>
                </a:solidFill>
                <a:latin typeface="Verdana" panose="020B0604030504040204" pitchFamily="34" charset="0"/>
                <a:ea typeface="宋体" panose="02010600030101010101" pitchFamily="2" charset="-122"/>
              </a:rPr>
              <a:t>space</a:t>
            </a:r>
            <a:r>
              <a:rPr lang="zh-CN" altLang="en-US" sz="1400" b="0">
                <a:solidFill>
                  <a:srgbClr val="00007D"/>
                </a:solidFill>
                <a:latin typeface="Verdana" panose="020B0604030504040204" pitchFamily="34" charset="0"/>
                <a:ea typeface="宋体" panose="02010600030101010101" pitchFamily="2" charset="-122"/>
              </a:rPr>
              <a:t>创建一个</a:t>
            </a:r>
            <a:r>
              <a:rPr lang="en-US" altLang="zh-CN" sz="1400" b="0">
                <a:solidFill>
                  <a:srgbClr val="00007D"/>
                </a:solidFill>
                <a:latin typeface="Verdana" panose="020B0604030504040204" pitchFamily="34" charset="0"/>
                <a:ea typeface="宋体" panose="02010600030101010101" pitchFamily="2" charset="-122"/>
              </a:rPr>
              <a:t>entity</a:t>
            </a:r>
            <a:r>
              <a:rPr lang="zh-CN" altLang="en-US" sz="1400" b="0">
                <a:solidFill>
                  <a:srgbClr val="00007D"/>
                </a:solidFill>
                <a:latin typeface="Verdana" panose="020B0604030504040204" pitchFamily="34" charset="0"/>
                <a:ea typeface="宋体" panose="02010600030101010101" pitchFamily="2" charset="-122"/>
              </a:rPr>
              <a:t>的</a:t>
            </a:r>
            <a:r>
              <a:rPr lang="en-US" altLang="zh-CN" sz="1400" b="0">
                <a:solidFill>
                  <a:srgbClr val="00007D"/>
                </a:solidFill>
                <a:latin typeface="Verdana" panose="020B0604030504040204" pitchFamily="34" charset="0"/>
                <a:ea typeface="宋体" panose="02010600030101010101" pitchFamily="2" charset="-122"/>
              </a:rPr>
              <a:t>cell</a:t>
            </a:r>
            <a:r>
              <a:rPr lang="zh-CN" altLang="en-US" sz="1400" b="0">
                <a:solidFill>
                  <a:srgbClr val="00007D"/>
                </a:solidFill>
                <a:latin typeface="Verdana" panose="020B0604030504040204" pitchFamily="34" charset="0"/>
                <a:ea typeface="宋体" panose="02010600030101010101" pitchFamily="2" charset="-122"/>
              </a:rPr>
              <a:t>部分（包括一个新的</a:t>
            </a:r>
            <a:r>
              <a:rPr lang="en-US" altLang="zh-CN" sz="1400" b="0">
                <a:solidFill>
                  <a:srgbClr val="00007D"/>
                </a:solidFill>
                <a:latin typeface="Verdana" panose="020B0604030504040204" pitchFamily="34" charset="0"/>
                <a:ea typeface="宋体" panose="02010600030101010101" pitchFamily="2" charset="-122"/>
              </a:rPr>
              <a:t>cell</a:t>
            </a:r>
            <a:r>
              <a:rPr lang="zh-CN" altLang="en-US" sz="1400" b="0">
                <a:solidFill>
                  <a:srgbClr val="00007D"/>
                </a:solidFill>
                <a:latin typeface="Verdana" panose="020B0604030504040204" pitchFamily="34" charset="0"/>
                <a:ea typeface="宋体" panose="02010600030101010101" pitchFamily="2" charset="-122"/>
              </a:rPr>
              <a:t>来管理它）</a:t>
            </a:r>
            <a:endParaRPr lang="en-US" altLang="zh-CN" sz="1400" b="0">
              <a:solidFill>
                <a:srgbClr val="00007D"/>
              </a:solidFill>
              <a:latin typeface="Verdana" panose="020B0604030504040204" pitchFamily="34" charset="0"/>
              <a:ea typeface="宋体" panose="02010600030101010101" pitchFamily="2" charset="-122"/>
            </a:endParaRPr>
          </a:p>
          <a:p>
            <a:pPr>
              <a:spcBef>
                <a:spcPct val="5000"/>
              </a:spcBef>
              <a:buClr>
                <a:srgbClr val="FF9933"/>
              </a:buClr>
              <a:buSzPct val="80000"/>
              <a:buFont typeface="Wingdings" panose="05000000000000000000" pitchFamily="2" charset="2"/>
              <a:buChar char="§"/>
            </a:pPr>
            <a:r>
              <a:rPr lang="zh-CN" altLang="en-US" sz="1400" b="0">
                <a:solidFill>
                  <a:srgbClr val="00007D"/>
                </a:solidFill>
                <a:latin typeface="Verdana" panose="020B0604030504040204" pitchFamily="34" charset="0"/>
                <a:ea typeface="宋体" panose="02010600030101010101" pitchFamily="2" charset="-122"/>
              </a:rPr>
              <a:t>可以用于创建一个</a:t>
            </a:r>
            <a:r>
              <a:rPr lang="en-US" altLang="zh-CN" sz="1400" b="0">
                <a:solidFill>
                  <a:srgbClr val="00007D"/>
                </a:solidFill>
                <a:latin typeface="Verdana" panose="020B0604030504040204" pitchFamily="34" charset="0"/>
                <a:ea typeface="宋体" panose="02010600030101010101" pitchFamily="2" charset="-122"/>
              </a:rPr>
              <a:t>entity</a:t>
            </a:r>
            <a:r>
              <a:rPr lang="zh-CN" altLang="en-US" sz="1400" b="0">
                <a:solidFill>
                  <a:srgbClr val="00007D"/>
                </a:solidFill>
                <a:latin typeface="Verdana" panose="020B0604030504040204" pitchFamily="34" charset="0"/>
                <a:ea typeface="宋体" panose="02010600030101010101" pitchFamily="2" charset="-122"/>
              </a:rPr>
              <a:t>来控制一个新的</a:t>
            </a:r>
            <a:r>
              <a:rPr lang="en-US" altLang="zh-CN" sz="1400" b="0">
                <a:solidFill>
                  <a:srgbClr val="00007D"/>
                </a:solidFill>
                <a:latin typeface="Verdana" panose="020B0604030504040204" pitchFamily="34" charset="0"/>
                <a:ea typeface="宋体" panose="02010600030101010101" pitchFamily="2" charset="-122"/>
              </a:rPr>
              <a:t>space</a:t>
            </a:r>
            <a:r>
              <a:rPr lang="zh-CN" altLang="en-US" sz="1400" b="0">
                <a:solidFill>
                  <a:srgbClr val="00007D"/>
                </a:solidFill>
                <a:latin typeface="Verdana" panose="020B0604030504040204" pitchFamily="34" charset="0"/>
                <a:ea typeface="宋体" panose="02010600030101010101" pitchFamily="2" charset="-122"/>
              </a:rPr>
              <a:t> </a:t>
            </a:r>
            <a:r>
              <a:rPr lang="en-US" altLang="zh-CN" sz="900">
                <a:solidFill>
                  <a:srgbClr val="00007D"/>
                </a:solidFill>
                <a:latin typeface="Verdana" panose="020B0604030504040204" pitchFamily="34" charset="0"/>
                <a:ea typeface="宋体" panose="02010600030101010101" pitchFamily="2" charset="-122"/>
              </a:rPr>
              <a:t>(</a:t>
            </a:r>
            <a:r>
              <a:rPr lang="zh-CN" altLang="en-US" sz="1200" b="0" i="1">
                <a:solidFill>
                  <a:srgbClr val="00007D"/>
                </a:solidFill>
                <a:latin typeface="Verdana" panose="020B0604030504040204" pitchFamily="34" charset="0"/>
                <a:ea typeface="宋体" panose="02010600030101010101" pitchFamily="2" charset="-122"/>
              </a:rPr>
              <a:t>如</a:t>
            </a:r>
            <a:r>
              <a:rPr lang="en-US" altLang="zh-CN" sz="1200" b="0" i="1">
                <a:solidFill>
                  <a:srgbClr val="00007D"/>
                </a:solidFill>
                <a:latin typeface="Verdana" panose="020B0604030504040204" pitchFamily="34" charset="0"/>
                <a:ea typeface="宋体" panose="02010600030101010101" pitchFamily="2" charset="-122"/>
              </a:rPr>
              <a:t>.</a:t>
            </a:r>
            <a:r>
              <a:rPr lang="en-US" altLang="zh-CN" sz="1200" b="0">
                <a:solidFill>
                  <a:srgbClr val="00007D"/>
                </a:solidFill>
                <a:latin typeface="Verdana" panose="020B0604030504040204" pitchFamily="34" charset="0"/>
                <a:ea typeface="宋体" panose="02010600030101010101" pitchFamily="2" charset="-122"/>
              </a:rPr>
              <a:t>, </a:t>
            </a:r>
            <a:r>
              <a:rPr lang="zh-CN" altLang="en-US" sz="1200" b="0">
                <a:solidFill>
                  <a:srgbClr val="00007D"/>
                </a:solidFill>
                <a:latin typeface="Verdana" panose="020B0604030504040204" pitchFamily="34" charset="0"/>
                <a:ea typeface="宋体" panose="02010600030101010101" pitchFamily="2" charset="-122"/>
              </a:rPr>
              <a:t>任务管理器</a:t>
            </a:r>
            <a:r>
              <a:rPr lang="en-US" altLang="zh-CN" sz="900">
                <a:solidFill>
                  <a:srgbClr val="00007D"/>
                </a:solidFill>
                <a:latin typeface="Verdana" panose="020B0604030504040204" pitchFamily="34" charset="0"/>
                <a:ea typeface="宋体" panose="02010600030101010101" pitchFamily="2" charset="-122"/>
              </a:rPr>
              <a:t>)</a:t>
            </a:r>
          </a:p>
        </p:txBody>
      </p:sp>
      <p:sp>
        <p:nvSpPr>
          <p:cNvPr id="30" name="Text Box 16"/>
          <p:cNvSpPr txBox="1">
            <a:spLocks noChangeArrowheads="1"/>
          </p:cNvSpPr>
          <p:nvPr/>
        </p:nvSpPr>
        <p:spPr bwMode="auto">
          <a:xfrm>
            <a:off x="179388" y="3921001"/>
            <a:ext cx="2268537" cy="1081088"/>
          </a:xfrm>
          <a:prstGeom prst="rect">
            <a:avLst/>
          </a:prstGeom>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destroyCellEntity()</a:t>
            </a:r>
            <a:endParaRPr lang="en-AU" sz="1300">
              <a:solidFill>
                <a:srgbClr val="00007D"/>
              </a:solidFill>
              <a:latin typeface="Courier New" panose="02070309020205020404" pitchFamily="49" charset="0"/>
            </a:endParaRPr>
          </a:p>
        </p:txBody>
      </p:sp>
      <p:sp>
        <p:nvSpPr>
          <p:cNvPr id="31" name="Text Box 17"/>
          <p:cNvSpPr txBox="1">
            <a:spLocks noChangeArrowheads="1"/>
          </p:cNvSpPr>
          <p:nvPr/>
        </p:nvSpPr>
        <p:spPr bwMode="auto">
          <a:xfrm>
            <a:off x="179388" y="5002089"/>
            <a:ext cx="2268537" cy="933450"/>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destroy()</a:t>
            </a:r>
            <a:endParaRPr lang="en-AU" sz="1300">
              <a:solidFill>
                <a:srgbClr val="00007D"/>
              </a:solidFill>
              <a:latin typeface="Courier New" panose="02070309020205020404" pitchFamily="49" charset="0"/>
            </a:endParaRPr>
          </a:p>
        </p:txBody>
      </p:sp>
      <p:sp>
        <p:nvSpPr>
          <p:cNvPr id="32" name="Text Box 18"/>
          <p:cNvSpPr txBox="1">
            <a:spLocks noChangeArrowheads="1"/>
          </p:cNvSpPr>
          <p:nvPr/>
        </p:nvSpPr>
        <p:spPr bwMode="auto">
          <a:xfrm>
            <a:off x="2447925" y="3921001"/>
            <a:ext cx="6480175" cy="1081088"/>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nSpc>
                <a:spcPct val="90000"/>
              </a:lnSpc>
              <a:spcBef>
                <a:spcPct val="1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删除</a:t>
            </a:r>
            <a:r>
              <a:rPr lang="en-US" altLang="zh-CN" sz="1400" b="0" dirty="0">
                <a:solidFill>
                  <a:srgbClr val="00007D"/>
                </a:solidFill>
                <a:ea typeface="宋体" panose="02010600030101010101" pitchFamily="2" charset="-122"/>
              </a:rPr>
              <a:t>Cell entity</a:t>
            </a:r>
            <a:r>
              <a:rPr lang="zh-CN" altLang="en-US" sz="1400" b="0" dirty="0">
                <a:solidFill>
                  <a:srgbClr val="00007D"/>
                </a:solidFill>
                <a:ea typeface="宋体" panose="02010600030101010101" pitchFamily="2" charset="-122"/>
              </a:rPr>
              <a:t>，保留</a:t>
            </a:r>
            <a:r>
              <a:rPr lang="en-US" altLang="zh-CN" sz="1400" b="0" dirty="0">
                <a:solidFill>
                  <a:srgbClr val="00007D"/>
                </a:solidFill>
                <a:ea typeface="宋体" panose="02010600030101010101" pitchFamily="2" charset="-122"/>
              </a:rPr>
              <a:t>Base</a:t>
            </a:r>
            <a:r>
              <a:rPr lang="zh-CN" altLang="en-US" sz="1400" b="0" dirty="0">
                <a:solidFill>
                  <a:srgbClr val="00007D"/>
                </a:solidFill>
                <a:ea typeface="宋体" panose="02010600030101010101" pitchFamily="2" charset="-122"/>
              </a:rPr>
              <a:t>部分</a:t>
            </a:r>
            <a:endParaRPr lang="en-US" altLang="zh-CN" sz="1400" b="0" dirty="0">
              <a:solidFill>
                <a:srgbClr val="00007D"/>
              </a:solidFill>
              <a:latin typeface="Verdana" panose="020B0604030504040204" pitchFamily="34" charset="0"/>
              <a:ea typeface="宋体" panose="02010600030101010101" pitchFamily="2" charset="-122"/>
            </a:endParaRPr>
          </a:p>
          <a:p>
            <a:pPr>
              <a:lnSpc>
                <a:spcPct val="90000"/>
              </a:lnSpc>
              <a:spcBef>
                <a:spcPct val="1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如果是在</a:t>
            </a:r>
            <a:r>
              <a:rPr lang="en-US" altLang="zh-CN" sz="1400" b="0" dirty="0">
                <a:solidFill>
                  <a:srgbClr val="00007D"/>
                </a:solidFill>
                <a:ea typeface="宋体" panose="02010600030101010101" pitchFamily="2" charset="-122"/>
              </a:rPr>
              <a:t>Space</a:t>
            </a:r>
            <a:r>
              <a:rPr lang="zh-CN" altLang="en-US" sz="1400" b="0" dirty="0">
                <a:solidFill>
                  <a:srgbClr val="00007D"/>
                </a:solidFill>
                <a:ea typeface="宋体" panose="02010600030101010101" pitchFamily="2" charset="-122"/>
              </a:rPr>
              <a:t>间转移，建议在</a:t>
            </a:r>
            <a:r>
              <a:rPr lang="en-US" altLang="zh-CN" sz="1400" b="0" dirty="0" err="1">
                <a:solidFill>
                  <a:srgbClr val="00007D"/>
                </a:solidFill>
                <a:ea typeface="宋体" panose="02010600030101010101" pitchFamily="2" charset="-122"/>
              </a:rPr>
              <a:t>CellApp</a:t>
            </a:r>
            <a:r>
              <a:rPr lang="zh-CN" altLang="en-US" sz="1400" b="0" dirty="0">
                <a:solidFill>
                  <a:srgbClr val="00007D"/>
                </a:solidFill>
                <a:ea typeface="宋体" panose="02010600030101010101" pitchFamily="2" charset="-122"/>
              </a:rPr>
              <a:t>上用</a:t>
            </a:r>
            <a:r>
              <a:rPr lang="en-US" altLang="zh-CN" sz="1400" b="0" dirty="0">
                <a:solidFill>
                  <a:srgbClr val="00007D"/>
                </a:solidFill>
                <a:ea typeface="宋体" panose="02010600030101010101" pitchFamily="2" charset="-122"/>
              </a:rPr>
              <a:t>‘teleport’</a:t>
            </a:r>
            <a:r>
              <a:rPr lang="zh-CN" altLang="en-US" sz="1400" b="0" dirty="0">
                <a:solidFill>
                  <a:srgbClr val="00007D"/>
                </a:solidFill>
                <a:ea typeface="宋体" panose="02010600030101010101" pitchFamily="2" charset="-122"/>
              </a:rPr>
              <a:t> ，避免频繁销毁，创建</a:t>
            </a:r>
            <a:r>
              <a:rPr lang="en-US" altLang="zh-CN" sz="1400" b="0" dirty="0">
                <a:solidFill>
                  <a:srgbClr val="00007D"/>
                </a:solidFill>
                <a:ea typeface="宋体" panose="02010600030101010101" pitchFamily="2" charset="-122"/>
              </a:rPr>
              <a:t>Cell entity</a:t>
            </a:r>
            <a:endParaRPr lang="en-US" altLang="zh-CN" sz="1400" b="0" dirty="0">
              <a:solidFill>
                <a:srgbClr val="00007D"/>
              </a:solidFill>
              <a:latin typeface="Verdana" panose="020B0604030504040204" pitchFamily="34" charset="0"/>
              <a:ea typeface="宋体" panose="02010600030101010101" pitchFamily="2" charset="-122"/>
            </a:endParaRPr>
          </a:p>
          <a:p>
            <a:pPr>
              <a:lnSpc>
                <a:spcPct val="90000"/>
              </a:lnSpc>
              <a:spcBef>
                <a:spcPct val="1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此时</a:t>
            </a:r>
            <a:r>
              <a:rPr lang="en-US" altLang="zh-CN" sz="1400" b="0" dirty="0">
                <a:solidFill>
                  <a:srgbClr val="00007D"/>
                </a:solidFill>
                <a:ea typeface="宋体" panose="02010600030101010101" pitchFamily="2" charset="-122"/>
              </a:rPr>
              <a:t>Base</a:t>
            </a:r>
            <a:r>
              <a:rPr lang="zh-CN" altLang="en-US" sz="1400" b="0" dirty="0">
                <a:solidFill>
                  <a:srgbClr val="00007D"/>
                </a:solidFill>
                <a:ea typeface="宋体" panose="02010600030101010101" pitchFamily="2" charset="-122"/>
              </a:rPr>
              <a:t>上</a:t>
            </a:r>
            <a:r>
              <a:rPr lang="en-US" altLang="zh-CN" sz="1400" dirty="0" err="1">
                <a:solidFill>
                  <a:srgbClr val="00007D"/>
                </a:solidFill>
                <a:latin typeface="Courier New" panose="02070309020205020404" pitchFamily="49" charset="0"/>
                <a:ea typeface="宋体" panose="02010600030101010101" pitchFamily="2" charset="-122"/>
              </a:rPr>
              <a:t>onLoseCell</a:t>
            </a:r>
            <a:r>
              <a:rPr lang="zh-CN" altLang="en-US" sz="1400" b="0" dirty="0">
                <a:solidFill>
                  <a:srgbClr val="00007D"/>
                </a:solidFill>
                <a:latin typeface="Courier New" panose="02070309020205020404" pitchFamily="49" charset="0"/>
                <a:ea typeface="宋体" panose="02010600030101010101" pitchFamily="2" charset="-122"/>
              </a:rPr>
              <a:t>会被回调</a:t>
            </a:r>
            <a:r>
              <a:rPr lang="zh-CN" altLang="en-US" sz="1400" dirty="0">
                <a:solidFill>
                  <a:srgbClr val="00007D"/>
                </a:solidFill>
                <a:latin typeface="Courier New" panose="02070309020205020404" pitchFamily="49" charset="0"/>
                <a:ea typeface="宋体" panose="02010600030101010101" pitchFamily="2" charset="-122"/>
              </a:rPr>
              <a:t>，</a:t>
            </a:r>
            <a:r>
              <a:rPr lang="en-US" altLang="zh-CN" sz="1400" dirty="0" err="1">
                <a:solidFill>
                  <a:srgbClr val="00007D"/>
                </a:solidFill>
                <a:latin typeface="Courier New" panose="02070309020205020404" pitchFamily="49" charset="0"/>
                <a:ea typeface="宋体" panose="02010600030101010101" pitchFamily="2" charset="-122"/>
              </a:rPr>
              <a:t>Base.cellData</a:t>
            </a:r>
            <a:r>
              <a:rPr lang="zh-CN" altLang="en-US" sz="1400" b="0" dirty="0">
                <a:solidFill>
                  <a:srgbClr val="00007D"/>
                </a:solidFill>
                <a:latin typeface="Courier New" panose="02070309020205020404" pitchFamily="49" charset="0"/>
                <a:ea typeface="宋体" panose="02010600030101010101" pitchFamily="2" charset="-122"/>
              </a:rPr>
              <a:t>属性会被赋以</a:t>
            </a:r>
            <a:r>
              <a:rPr lang="en-US" altLang="zh-CN" sz="1400" b="0" dirty="0">
                <a:solidFill>
                  <a:srgbClr val="00007D"/>
                </a:solidFill>
                <a:latin typeface="Courier New" panose="02070309020205020404" pitchFamily="49" charset="0"/>
                <a:ea typeface="宋体" panose="02010600030101010101" pitchFamily="2" charset="-122"/>
              </a:rPr>
              <a:t>Cell Entity</a:t>
            </a:r>
            <a:r>
              <a:rPr lang="zh-CN" altLang="en-US" sz="1400" b="0" dirty="0">
                <a:solidFill>
                  <a:srgbClr val="00007D"/>
                </a:solidFill>
                <a:latin typeface="Courier New" panose="02070309020205020404" pitchFamily="49" charset="0"/>
                <a:ea typeface="宋体" panose="02010600030101010101" pitchFamily="2" charset="-122"/>
              </a:rPr>
              <a:t>的属性</a:t>
            </a:r>
            <a:endParaRPr lang="en-AU" sz="1400" b="0" dirty="0">
              <a:solidFill>
                <a:srgbClr val="00007D"/>
              </a:solidFill>
            </a:endParaRPr>
          </a:p>
        </p:txBody>
      </p:sp>
      <p:sp>
        <p:nvSpPr>
          <p:cNvPr id="33" name="Text Box 19"/>
          <p:cNvSpPr txBox="1">
            <a:spLocks noChangeArrowheads="1"/>
          </p:cNvSpPr>
          <p:nvPr/>
        </p:nvSpPr>
        <p:spPr bwMode="auto">
          <a:xfrm>
            <a:off x="2447925" y="5002089"/>
            <a:ext cx="6480175" cy="933450"/>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销毁</a:t>
            </a:r>
            <a:r>
              <a:rPr lang="en-US" altLang="zh-CN" sz="1400" b="0" dirty="0">
                <a:solidFill>
                  <a:srgbClr val="00007D"/>
                </a:solidFill>
                <a:ea typeface="宋体" panose="02010600030101010101" pitchFamily="2" charset="-122"/>
              </a:rPr>
              <a:t>Entity</a:t>
            </a:r>
            <a:r>
              <a:rPr lang="zh-CN" altLang="en-US" sz="1400" b="0" dirty="0">
                <a:solidFill>
                  <a:srgbClr val="00007D"/>
                </a:solidFill>
                <a:ea typeface="宋体" panose="02010600030101010101" pitchFamily="2" charset="-122"/>
              </a:rPr>
              <a:t>的</a:t>
            </a:r>
            <a:r>
              <a:rPr lang="en-US" altLang="zh-CN" sz="1400" b="0" dirty="0">
                <a:solidFill>
                  <a:srgbClr val="00007D"/>
                </a:solidFill>
                <a:ea typeface="宋体" panose="02010600030101010101" pitchFamily="2" charset="-122"/>
              </a:rPr>
              <a:t>Base</a:t>
            </a:r>
            <a:r>
              <a:rPr lang="zh-CN" altLang="en-US" sz="1400" b="0" dirty="0">
                <a:solidFill>
                  <a:srgbClr val="00007D"/>
                </a:solidFill>
                <a:ea typeface="宋体" panose="02010600030101010101" pitchFamily="2" charset="-122"/>
              </a:rPr>
              <a:t>部分</a:t>
            </a:r>
            <a:endParaRPr lang="en-US" altLang="zh-CN" sz="1400" b="0" dirty="0">
              <a:solidFill>
                <a:srgbClr val="00007D"/>
              </a:solidFill>
              <a:latin typeface="Verdana" panose="020B0604030504040204" pitchFamily="34" charset="0"/>
              <a:ea typeface="宋体" panose="02010600030101010101" pitchFamily="2" charset="-122"/>
            </a:endParaRPr>
          </a:p>
          <a:p>
            <a:pPr>
              <a:spcBef>
                <a:spcPct val="5000"/>
              </a:spcBef>
              <a:buClr>
                <a:srgbClr val="FF9933"/>
              </a:buClr>
              <a:buSzPct val="80000"/>
              <a:buFont typeface="Wingdings" panose="05000000000000000000" pitchFamily="2" charset="2"/>
              <a:buChar char="§"/>
            </a:pPr>
            <a:r>
              <a:rPr lang="en-US" altLang="zh-CN" sz="1400" b="0" dirty="0">
                <a:solidFill>
                  <a:srgbClr val="00007D"/>
                </a:solidFill>
                <a:ea typeface="宋体" panose="02010600030101010101" pitchFamily="2" charset="-122"/>
              </a:rPr>
              <a:t>Cell Entity</a:t>
            </a:r>
            <a:r>
              <a:rPr lang="zh-CN" altLang="en-US" sz="1400" b="0" dirty="0">
                <a:solidFill>
                  <a:srgbClr val="00007D"/>
                </a:solidFill>
                <a:ea typeface="宋体" panose="02010600030101010101" pitchFamily="2" charset="-122"/>
              </a:rPr>
              <a:t>必须已经先被销毁掉</a:t>
            </a:r>
            <a:endParaRPr lang="en-US" altLang="zh-CN" sz="1400" b="0" dirty="0">
              <a:solidFill>
                <a:srgbClr val="00007D"/>
              </a:solidFill>
              <a:latin typeface="Verdana" panose="020B0604030504040204" pitchFamily="34" charset="0"/>
              <a:ea typeface="宋体" panose="02010600030101010101" pitchFamily="2" charset="-122"/>
            </a:endParaRPr>
          </a:p>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适用于把</a:t>
            </a:r>
            <a:r>
              <a:rPr lang="en-US" altLang="zh-CN" sz="1400" b="0" dirty="0">
                <a:solidFill>
                  <a:srgbClr val="00007D"/>
                </a:solidFill>
                <a:ea typeface="宋体" panose="02010600030101010101" pitchFamily="2" charset="-122"/>
              </a:rPr>
              <a:t>Entity</a:t>
            </a:r>
            <a:r>
              <a:rPr lang="zh-CN" altLang="en-US" sz="1400" b="0" dirty="0">
                <a:solidFill>
                  <a:srgbClr val="00007D"/>
                </a:solidFill>
                <a:ea typeface="宋体" panose="02010600030101010101" pitchFamily="2" charset="-122"/>
              </a:rPr>
              <a:t>从游戏中去除</a:t>
            </a:r>
          </a:p>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常常被用在</a:t>
            </a:r>
            <a:r>
              <a:rPr lang="en-US" altLang="zh-CN" sz="1400" b="0" dirty="0" err="1">
                <a:solidFill>
                  <a:srgbClr val="00007D"/>
                </a:solidFill>
                <a:ea typeface="宋体" panose="02010600030101010101" pitchFamily="2" charset="-122"/>
              </a:rPr>
              <a:t>onLoseCell</a:t>
            </a:r>
            <a:r>
              <a:rPr lang="zh-CN" altLang="en-US" sz="1400" b="0" dirty="0">
                <a:solidFill>
                  <a:srgbClr val="00007D"/>
                </a:solidFill>
                <a:ea typeface="宋体" panose="02010600030101010101" pitchFamily="2" charset="-122"/>
              </a:rPr>
              <a:t>回调函数里</a:t>
            </a:r>
            <a:endParaRPr lang="en-AU" altLang="zh-CN" sz="1400" b="0" dirty="0">
              <a:solidFill>
                <a:srgbClr val="00007D"/>
              </a:solidFill>
              <a:ea typeface="宋体" panose="02010600030101010101" pitchFamily="2" charset="-122"/>
            </a:endParaRPr>
          </a:p>
        </p:txBody>
      </p:sp>
      <p:sp>
        <p:nvSpPr>
          <p:cNvPr id="34" name="Text Box 20"/>
          <p:cNvSpPr txBox="1">
            <a:spLocks noChangeArrowheads="1"/>
          </p:cNvSpPr>
          <p:nvPr/>
        </p:nvSpPr>
        <p:spPr bwMode="auto">
          <a:xfrm>
            <a:off x="179388" y="6310313"/>
            <a:ext cx="7200900" cy="287337"/>
          </a:xfrm>
          <a:prstGeom prst="rect">
            <a:avLst/>
          </a:prstGeom>
        </p:spPr>
        <p:style>
          <a:lnRef idx="1">
            <a:schemeClr val="accent2"/>
          </a:lnRef>
          <a:fillRef idx="2">
            <a:schemeClr val="accent2"/>
          </a:fillRef>
          <a:effectRef idx="1">
            <a:schemeClr val="accent2"/>
          </a:effectRef>
          <a:fontRef idx="minor">
            <a:schemeClr val="dk1"/>
          </a:fontRef>
        </p:style>
        <p:txBody>
          <a:bodyPr lIns="72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None/>
            </a:pPr>
            <a:r>
              <a:rPr lang="zh-CN" altLang="en-US" sz="1400" b="0" dirty="0">
                <a:ea typeface="宋体" panose="02010600030101010101" pitchFamily="2" charset="-122"/>
              </a:rPr>
              <a:t>   </a:t>
            </a:r>
            <a:r>
              <a:rPr lang="en-US" altLang="zh-CN" sz="1400" b="0" dirty="0">
                <a:ea typeface="宋体" panose="02010600030101010101" pitchFamily="2" charset="-122"/>
              </a:rPr>
              <a:t>Cell Entity</a:t>
            </a:r>
            <a:r>
              <a:rPr lang="zh-CN" altLang="en-US" sz="1400" b="0" dirty="0">
                <a:ea typeface="宋体" panose="02010600030101010101" pitchFamily="2" charset="-122"/>
              </a:rPr>
              <a:t>属性被从</a:t>
            </a:r>
            <a:r>
              <a:rPr lang="en-US" altLang="zh-CN" sz="1400" b="0" dirty="0" err="1">
                <a:ea typeface="宋体" panose="02010600030101010101" pitchFamily="2" charset="-122"/>
              </a:rPr>
              <a:t>Base.cellData</a:t>
            </a:r>
            <a:r>
              <a:rPr lang="zh-CN" altLang="en-US" sz="1400" b="0" dirty="0">
                <a:ea typeface="宋体" panose="02010600030101010101" pitchFamily="2" charset="-122"/>
              </a:rPr>
              <a:t>中取得并传送，而且它变得不再可访问</a:t>
            </a:r>
            <a:endParaRPr lang="zh-CN" altLang="en-AU" sz="1400" b="0" dirty="0">
              <a:ea typeface="宋体" panose="02010600030101010101" pitchFamily="2" charset="-122"/>
            </a:endParaRPr>
          </a:p>
        </p:txBody>
      </p:sp>
      <p:sp>
        <p:nvSpPr>
          <p:cNvPr id="35" name="Text Box 21"/>
          <p:cNvSpPr txBox="1">
            <a:spLocks noChangeArrowheads="1"/>
          </p:cNvSpPr>
          <p:nvPr/>
        </p:nvSpPr>
        <p:spPr bwMode="auto">
          <a:xfrm>
            <a:off x="2268538" y="2478088"/>
            <a:ext cx="1793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0" bIns="0">
            <a:spAutoFit/>
          </a:bodyPr>
          <a:lstStyle/>
          <a:p>
            <a:r>
              <a:rPr lang="en-AU" sz="1400">
                <a:solidFill>
                  <a:srgbClr val="FF6600"/>
                </a:solidFill>
                <a:latin typeface="Verdana" panose="020B0604030504040204" pitchFamily="34" charset="0"/>
              </a:rPr>
              <a:t>*</a:t>
            </a:r>
            <a:endParaRPr lang="zh-CN" altLang="en-US" sz="1400">
              <a:solidFill>
                <a:srgbClr val="FF6600"/>
              </a:solidFill>
              <a:latin typeface="Verdana" panose="020B0604030504040204" pitchFamily="34" charset="0"/>
              <a:ea typeface="宋体" panose="02010600030101010101" pitchFamily="2" charset="-122"/>
            </a:endParaRPr>
          </a:p>
        </p:txBody>
      </p:sp>
      <p:sp>
        <p:nvSpPr>
          <p:cNvPr id="36" name="Text Box 22"/>
          <p:cNvSpPr txBox="1">
            <a:spLocks noChangeArrowheads="1"/>
          </p:cNvSpPr>
          <p:nvPr/>
        </p:nvSpPr>
        <p:spPr bwMode="auto">
          <a:xfrm>
            <a:off x="2271713" y="3192463"/>
            <a:ext cx="1793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0" bIns="0">
            <a:spAutoFit/>
          </a:bodyPr>
          <a:lstStyle/>
          <a:p>
            <a:r>
              <a:rPr lang="en-AU" sz="1400">
                <a:solidFill>
                  <a:srgbClr val="FF6600"/>
                </a:solidFill>
                <a:latin typeface="Verdana" panose="020B0604030504040204" pitchFamily="34" charset="0"/>
              </a:rPr>
              <a:t>*</a:t>
            </a:r>
            <a:endParaRPr lang="zh-CN" altLang="en-US" sz="1400">
              <a:solidFill>
                <a:srgbClr val="FF6600"/>
              </a:solidFill>
              <a:latin typeface="Verdana" panose="020B0604030504040204" pitchFamily="34" charset="0"/>
              <a:ea typeface="宋体" panose="02010600030101010101" pitchFamily="2" charset="-122"/>
            </a:endParaRPr>
          </a:p>
        </p:txBody>
      </p:sp>
      <p:sp>
        <p:nvSpPr>
          <p:cNvPr id="37" name="Text Box 23"/>
          <p:cNvSpPr txBox="1">
            <a:spLocks noChangeArrowheads="1"/>
          </p:cNvSpPr>
          <p:nvPr/>
        </p:nvSpPr>
        <p:spPr bwMode="auto">
          <a:xfrm>
            <a:off x="2268538" y="3212976"/>
            <a:ext cx="1793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0" bIns="0">
            <a:spAutoFit/>
          </a:bodyPr>
          <a:lstStyle/>
          <a:p>
            <a:r>
              <a:rPr lang="en-AU" sz="1400">
                <a:solidFill>
                  <a:srgbClr val="FF6600"/>
                </a:solidFill>
                <a:latin typeface="Verdana" panose="020B0604030504040204" pitchFamily="34" charset="0"/>
              </a:rPr>
              <a:t>*</a:t>
            </a:r>
            <a:endParaRPr lang="zh-CN" altLang="en-US" sz="1400">
              <a:solidFill>
                <a:srgbClr val="FF6600"/>
              </a:solidFill>
              <a:latin typeface="Verdana" panose="020B0604030504040204" pitchFamily="34" charset="0"/>
              <a:ea typeface="宋体" panose="02010600030101010101" pitchFamily="2" charset="-122"/>
            </a:endParaRPr>
          </a:p>
        </p:txBody>
      </p:sp>
      <p:sp>
        <p:nvSpPr>
          <p:cNvPr id="38" name="Text Box 24"/>
          <p:cNvSpPr txBox="1">
            <a:spLocks noChangeArrowheads="1"/>
          </p:cNvSpPr>
          <p:nvPr/>
        </p:nvSpPr>
        <p:spPr bwMode="auto">
          <a:xfrm>
            <a:off x="179388" y="6381750"/>
            <a:ext cx="1793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0" bIns="0">
            <a:spAutoFit/>
          </a:bodyPr>
          <a:lstStyle/>
          <a:p>
            <a:r>
              <a:rPr lang="en-AU" sz="1400">
                <a:solidFill>
                  <a:srgbClr val="FF6600"/>
                </a:solidFill>
                <a:latin typeface="Verdana" panose="020B0604030504040204" pitchFamily="34" charset="0"/>
              </a:rPr>
              <a:t>*</a:t>
            </a:r>
            <a:endParaRPr lang="zh-CN" altLang="en-US" sz="1400">
              <a:solidFill>
                <a:srgbClr val="FF6600"/>
              </a:solidFill>
              <a:latin typeface="Verdana" panose="020B0604030504040204" pitchFamily="34" charset="0"/>
              <a:ea typeface="宋体" panose="02010600030101010101" pitchFamily="2" charset="-122"/>
            </a:endParaRPr>
          </a:p>
        </p:txBody>
      </p:sp>
      <p:sp>
        <p:nvSpPr>
          <p:cNvPr id="3" name="文本框 2"/>
          <p:cNvSpPr txBox="1"/>
          <p:nvPr/>
        </p:nvSpPr>
        <p:spPr>
          <a:xfrm>
            <a:off x="1313656" y="917121"/>
            <a:ext cx="2864887" cy="369332"/>
          </a:xfrm>
          <a:prstGeom prst="rect">
            <a:avLst/>
          </a:prstGeom>
          <a:noFill/>
        </p:spPr>
        <p:txBody>
          <a:bodyPr wrap="none" rtlCol="0">
            <a:spAutoFit/>
          </a:bodyPr>
          <a:lstStyle/>
          <a:p>
            <a:r>
              <a:rPr lang="en-US" altLang="zh-CN" dirty="0" err="1">
                <a:solidFill>
                  <a:srgbClr val="FF0000"/>
                </a:solidFill>
                <a:hlinkClick r:id="rId2"/>
              </a:rPr>
              <a:t>KBEngine</a:t>
            </a:r>
            <a:r>
              <a:rPr lang="en-US" altLang="zh-CN" dirty="0">
                <a:solidFill>
                  <a:srgbClr val="FF0000"/>
                </a:solidFill>
                <a:hlinkClick r:id="rId2"/>
              </a:rPr>
              <a:t> API</a:t>
            </a:r>
            <a:r>
              <a:rPr lang="zh-CN" altLang="en-US" dirty="0">
                <a:solidFill>
                  <a:srgbClr val="FF0000"/>
                </a:solidFill>
              </a:rPr>
              <a:t>有</a:t>
            </a:r>
            <a:r>
              <a:rPr lang="en-US" altLang="zh-CN" dirty="0" err="1">
                <a:solidFill>
                  <a:srgbClr val="FF0000"/>
                </a:solidFill>
              </a:rPr>
              <a:t>api</a:t>
            </a:r>
            <a:r>
              <a:rPr lang="zh-CN" altLang="en-US" dirty="0">
                <a:solidFill>
                  <a:srgbClr val="FF0000"/>
                </a:solidFill>
              </a:rPr>
              <a:t>用法介绍</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Cellapp</a:t>
            </a:r>
            <a:r>
              <a:rPr lang="zh-CN" altLang="en-US" sz="4900" b="1" dirty="0">
                <a:solidFill>
                  <a:schemeClr val="accent1"/>
                </a:solidFill>
                <a:latin typeface="+mn-ea"/>
                <a:ea typeface="+mn-ea"/>
              </a:rPr>
              <a:t>上的</a:t>
            </a:r>
            <a:r>
              <a:rPr lang="en-US" altLang="zh-CN" sz="5300" dirty="0">
                <a:solidFill>
                  <a:schemeClr val="accent1"/>
                </a:solidFill>
                <a:ea typeface="宋体" panose="02010600030101010101" pitchFamily="2" charset="-122"/>
              </a:rPr>
              <a:t>Entity</a:t>
            </a:r>
            <a:r>
              <a:rPr lang="zh-CN" altLang="en-US" sz="5300" dirty="0">
                <a:solidFill>
                  <a:schemeClr val="accent1"/>
                </a:solidFill>
                <a:ea typeface="宋体" panose="02010600030101010101" pitchFamily="2" charset="-122"/>
              </a:rPr>
              <a:t>属性</a:t>
            </a:r>
            <a:endParaRPr lang="zh-CN" altLang="en-US" sz="5300" b="1" dirty="0">
              <a:solidFill>
                <a:schemeClr val="accent1"/>
              </a:solidFill>
              <a:latin typeface="+mn-ea"/>
              <a:ea typeface="+mn-ea"/>
            </a:endParaRPr>
          </a:p>
        </p:txBody>
      </p:sp>
      <p:grpSp>
        <p:nvGrpSpPr>
          <p:cNvPr id="26" name="Group 4"/>
          <p:cNvGrpSpPr/>
          <p:nvPr/>
        </p:nvGrpSpPr>
        <p:grpSpPr bwMode="auto">
          <a:xfrm>
            <a:off x="466725" y="1808163"/>
            <a:ext cx="8243888" cy="4254500"/>
            <a:chOff x="294" y="1139"/>
            <a:chExt cx="5193" cy="2680"/>
          </a:xfrm>
        </p:grpSpPr>
        <p:sp>
          <p:nvSpPr>
            <p:cNvPr id="27" name="Text Box 5"/>
            <p:cNvSpPr txBox="1">
              <a:spLocks noChangeArrowheads="1"/>
            </p:cNvSpPr>
            <p:nvPr/>
          </p:nvSpPr>
          <p:spPr bwMode="auto">
            <a:xfrm>
              <a:off x="294" y="1350"/>
              <a:ext cx="1203"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id</a:t>
              </a:r>
            </a:p>
          </p:txBody>
        </p:sp>
        <p:sp>
          <p:nvSpPr>
            <p:cNvPr id="39" name="Text Box 6"/>
            <p:cNvSpPr txBox="1">
              <a:spLocks noChangeArrowheads="1"/>
            </p:cNvSpPr>
            <p:nvPr/>
          </p:nvSpPr>
          <p:spPr bwMode="auto">
            <a:xfrm>
              <a:off x="1497" y="1350"/>
              <a:ext cx="3990"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zh-CN" altLang="en-US" b="0" dirty="0">
                  <a:solidFill>
                    <a:srgbClr val="00B0F0"/>
                  </a:solidFill>
                  <a:latin typeface="Verdana" panose="020B0604030504040204" pitchFamily="34" charset="0"/>
                  <a:ea typeface="宋体" panose="02010600030101010101" pitchFamily="2" charset="-122"/>
                </a:rPr>
                <a:t>唯一的</a:t>
              </a:r>
              <a:r>
                <a:rPr lang="en-US" altLang="zh-CN" b="0" dirty="0">
                  <a:solidFill>
                    <a:srgbClr val="00B0F0"/>
                  </a:solidFill>
                  <a:latin typeface="Verdana" panose="020B0604030504040204" pitchFamily="34" charset="0"/>
                  <a:ea typeface="宋体" panose="02010600030101010101" pitchFamily="2" charset="-122"/>
                </a:rPr>
                <a:t>Entity id</a:t>
              </a:r>
              <a:r>
                <a:rPr lang="zh-CN" altLang="en-US" b="0" dirty="0">
                  <a:solidFill>
                    <a:srgbClr val="00B0F0"/>
                  </a:solidFill>
                  <a:latin typeface="Verdana" panose="020B0604030504040204" pitchFamily="34" charset="0"/>
                  <a:ea typeface="宋体" panose="02010600030101010101" pitchFamily="2" charset="-122"/>
                </a:rPr>
                <a:t>，</a:t>
              </a:r>
              <a:r>
                <a:rPr lang="en-US" altLang="zh-CN" b="0" dirty="0">
                  <a:solidFill>
                    <a:srgbClr val="00B0F0"/>
                  </a:solidFill>
                  <a:latin typeface="Verdana" panose="020B0604030504040204" pitchFamily="34" charset="0"/>
                  <a:ea typeface="宋体" panose="02010600030101010101" pitchFamily="2" charset="-122"/>
                </a:rPr>
                <a:t>cell</a:t>
              </a:r>
              <a:r>
                <a:rPr lang="zh-CN" altLang="en-US" b="0" dirty="0">
                  <a:solidFill>
                    <a:srgbClr val="00B0F0"/>
                  </a:solidFill>
                  <a:latin typeface="Verdana" panose="020B0604030504040204" pitchFamily="34" charset="0"/>
                  <a:ea typeface="宋体" panose="02010600030101010101" pitchFamily="2" charset="-122"/>
                </a:rPr>
                <a:t>，</a:t>
              </a:r>
              <a:r>
                <a:rPr lang="en-US" altLang="zh-CN" b="0" dirty="0">
                  <a:solidFill>
                    <a:srgbClr val="00B0F0"/>
                  </a:solidFill>
                  <a:latin typeface="Verdana" panose="020B0604030504040204" pitchFamily="34" charset="0"/>
                  <a:ea typeface="宋体" panose="02010600030101010101" pitchFamily="2" charset="-122"/>
                </a:rPr>
                <a:t>base</a:t>
              </a:r>
              <a:r>
                <a:rPr lang="zh-CN" altLang="en-US" b="0" dirty="0">
                  <a:solidFill>
                    <a:srgbClr val="00B0F0"/>
                  </a:solidFill>
                  <a:latin typeface="Verdana" panose="020B0604030504040204" pitchFamily="34" charset="0"/>
                  <a:ea typeface="宋体" panose="02010600030101010101" pitchFamily="2" charset="-122"/>
                </a:rPr>
                <a:t>，</a:t>
              </a:r>
              <a:r>
                <a:rPr lang="en-US" altLang="zh-CN" b="0" dirty="0">
                  <a:solidFill>
                    <a:srgbClr val="00B0F0"/>
                  </a:solidFill>
                  <a:latin typeface="Verdana" panose="020B0604030504040204" pitchFamily="34" charset="0"/>
                  <a:ea typeface="宋体" panose="02010600030101010101" pitchFamily="2" charset="-122"/>
                </a:rPr>
                <a:t>client</a:t>
              </a:r>
              <a:r>
                <a:rPr lang="zh-CN" altLang="en-US" b="0" dirty="0">
                  <a:solidFill>
                    <a:srgbClr val="00B0F0"/>
                  </a:solidFill>
                  <a:latin typeface="Verdana" panose="020B0604030504040204" pitchFamily="34" charset="0"/>
                  <a:ea typeface="宋体" panose="02010600030101010101" pitchFamily="2" charset="-122"/>
                </a:rPr>
                <a:t>共用一个</a:t>
              </a:r>
              <a:r>
                <a:rPr lang="en-US" altLang="zh-CN" b="0" dirty="0">
                  <a:solidFill>
                    <a:srgbClr val="00B0F0"/>
                  </a:solidFill>
                  <a:latin typeface="Verdana" panose="020B0604030504040204" pitchFamily="34" charset="0"/>
                  <a:ea typeface="宋体" panose="02010600030101010101" pitchFamily="2" charset="-122"/>
                </a:rPr>
                <a:t>id</a:t>
              </a:r>
              <a:endParaRPr lang="en-AU" sz="1400" b="0" dirty="0">
                <a:solidFill>
                  <a:srgbClr val="00B0F0"/>
                </a:solidFill>
                <a:latin typeface="Verdana" panose="020B0604030504040204" pitchFamily="34" charset="0"/>
              </a:endParaRPr>
            </a:p>
          </p:txBody>
        </p:sp>
        <p:sp>
          <p:nvSpPr>
            <p:cNvPr id="40" name="Text Box 7"/>
            <p:cNvSpPr txBox="1">
              <a:spLocks noChangeArrowheads="1"/>
            </p:cNvSpPr>
            <p:nvPr/>
          </p:nvSpPr>
          <p:spPr bwMode="auto">
            <a:xfrm>
              <a:off x="294" y="1543"/>
              <a:ext cx="1203"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spaceID</a:t>
              </a:r>
            </a:p>
          </p:txBody>
        </p:sp>
        <p:sp>
          <p:nvSpPr>
            <p:cNvPr id="41" name="Text Box 8"/>
            <p:cNvSpPr txBox="1">
              <a:spLocks noChangeArrowheads="1"/>
            </p:cNvSpPr>
            <p:nvPr/>
          </p:nvSpPr>
          <p:spPr bwMode="auto">
            <a:xfrm>
              <a:off x="1497" y="1543"/>
              <a:ext cx="3990"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US" altLang="zh-CN" b="0" dirty="0">
                  <a:solidFill>
                    <a:srgbClr val="00007D"/>
                  </a:solidFill>
                  <a:ea typeface="宋体" panose="02010600030101010101" pitchFamily="2" charset="-122"/>
                </a:rPr>
                <a:t>Entity</a:t>
              </a:r>
              <a:r>
                <a:rPr lang="zh-CN" altLang="en-US" b="0" dirty="0">
                  <a:solidFill>
                    <a:srgbClr val="00007D"/>
                  </a:solidFill>
                  <a:ea typeface="宋体" panose="02010600030101010101" pitchFamily="2" charset="-122"/>
                </a:rPr>
                <a:t>所在的</a:t>
              </a:r>
              <a:r>
                <a:rPr lang="en-US" altLang="zh-CN" dirty="0">
                  <a:solidFill>
                    <a:srgbClr val="00007D"/>
                  </a:solidFill>
                  <a:ea typeface="宋体" panose="02010600030101010101" pitchFamily="2" charset="-122"/>
                </a:rPr>
                <a:t>S</a:t>
              </a:r>
              <a:r>
                <a:rPr lang="en-US" altLang="zh-CN" b="0" dirty="0">
                  <a:solidFill>
                    <a:srgbClr val="00007D"/>
                  </a:solidFill>
                  <a:ea typeface="宋体" panose="02010600030101010101" pitchFamily="2" charset="-122"/>
                </a:rPr>
                <a:t>pace</a:t>
              </a:r>
              <a:endParaRPr lang="en-AU" b="0" dirty="0">
                <a:solidFill>
                  <a:srgbClr val="00007D"/>
                </a:solidFill>
              </a:endParaRPr>
            </a:p>
          </p:txBody>
        </p:sp>
        <p:sp>
          <p:nvSpPr>
            <p:cNvPr id="46" name="Text Box 13"/>
            <p:cNvSpPr txBox="1">
              <a:spLocks noChangeArrowheads="1"/>
            </p:cNvSpPr>
            <p:nvPr/>
          </p:nvSpPr>
          <p:spPr bwMode="auto">
            <a:xfrm>
              <a:off x="294" y="2123"/>
              <a:ext cx="1203"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roll</a:t>
              </a:r>
            </a:p>
          </p:txBody>
        </p:sp>
        <p:sp>
          <p:nvSpPr>
            <p:cNvPr id="47" name="Text Box 14"/>
            <p:cNvSpPr txBox="1">
              <a:spLocks noChangeArrowheads="1"/>
            </p:cNvSpPr>
            <p:nvPr/>
          </p:nvSpPr>
          <p:spPr bwMode="auto">
            <a:xfrm>
              <a:off x="1497" y="2123"/>
              <a:ext cx="3990" cy="579"/>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0" anchor="ctr"/>
            <a:lstStyle/>
            <a:p>
              <a:pPr algn="l">
                <a:spcBef>
                  <a:spcPct val="20000"/>
                </a:spcBef>
                <a:buClr>
                  <a:srgbClr val="FF9933"/>
                </a:buClr>
                <a:buSzPct val="80000"/>
                <a:buFont typeface="Wingdings" panose="05000000000000000000" pitchFamily="2" charset="2"/>
                <a:buNone/>
              </a:pPr>
              <a:r>
                <a:rPr lang="en-US" altLang="zh-CN" b="0">
                  <a:solidFill>
                    <a:srgbClr val="00007D"/>
                  </a:solidFill>
                  <a:latin typeface="Verdana" panose="020B0604030504040204" pitchFamily="34" charset="0"/>
                  <a:ea typeface="宋体" panose="02010600030101010101" pitchFamily="2" charset="-122"/>
                </a:rPr>
                <a:t>Entity</a:t>
              </a:r>
              <a:r>
                <a:rPr lang="zh-CN" altLang="en-US" b="0">
                  <a:solidFill>
                    <a:srgbClr val="00007D"/>
                  </a:solidFill>
                  <a:latin typeface="Verdana" panose="020B0604030504040204" pitchFamily="34" charset="0"/>
                  <a:ea typeface="宋体" panose="02010600030101010101" pitchFamily="2" charset="-122"/>
                </a:rPr>
                <a:t>的朝向</a:t>
              </a:r>
              <a:endParaRPr lang="en-AU" b="0">
                <a:solidFill>
                  <a:srgbClr val="00007D"/>
                </a:solidFill>
                <a:latin typeface="Verdana" panose="020B0604030504040204" pitchFamily="34" charset="0"/>
              </a:endParaRPr>
            </a:p>
          </p:txBody>
        </p:sp>
        <p:sp>
          <p:nvSpPr>
            <p:cNvPr id="48" name="Text Box 15"/>
            <p:cNvSpPr txBox="1">
              <a:spLocks noChangeArrowheads="1"/>
            </p:cNvSpPr>
            <p:nvPr/>
          </p:nvSpPr>
          <p:spPr bwMode="auto">
            <a:xfrm>
              <a:off x="294" y="2316"/>
              <a:ext cx="1203"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pitch</a:t>
              </a:r>
            </a:p>
          </p:txBody>
        </p:sp>
        <p:sp>
          <p:nvSpPr>
            <p:cNvPr id="49" name="Text Box 16"/>
            <p:cNvSpPr txBox="1">
              <a:spLocks noChangeArrowheads="1"/>
            </p:cNvSpPr>
            <p:nvPr/>
          </p:nvSpPr>
          <p:spPr bwMode="auto">
            <a:xfrm>
              <a:off x="294" y="2509"/>
              <a:ext cx="1203"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yaw</a:t>
              </a:r>
            </a:p>
          </p:txBody>
        </p:sp>
        <p:sp>
          <p:nvSpPr>
            <p:cNvPr id="50" name="Text Box 17"/>
            <p:cNvSpPr txBox="1">
              <a:spLocks noChangeArrowheads="1"/>
            </p:cNvSpPr>
            <p:nvPr/>
          </p:nvSpPr>
          <p:spPr bwMode="auto">
            <a:xfrm>
              <a:off x="294" y="2702"/>
              <a:ext cx="1203"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direction</a:t>
              </a:r>
            </a:p>
          </p:txBody>
        </p:sp>
        <p:sp>
          <p:nvSpPr>
            <p:cNvPr id="51" name="Text Box 18"/>
            <p:cNvSpPr txBox="1">
              <a:spLocks noChangeArrowheads="1"/>
            </p:cNvSpPr>
            <p:nvPr/>
          </p:nvSpPr>
          <p:spPr bwMode="auto">
            <a:xfrm>
              <a:off x="1497" y="2702"/>
              <a:ext cx="3990"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US" altLang="zh-CN" b="0">
                  <a:solidFill>
                    <a:srgbClr val="00007D"/>
                  </a:solidFill>
                  <a:latin typeface="Verdana" panose="020B0604030504040204" pitchFamily="34" charset="0"/>
                  <a:ea typeface="宋体" panose="02010600030101010101" pitchFamily="2" charset="-122"/>
                </a:rPr>
                <a:t>Entity</a:t>
              </a:r>
              <a:r>
                <a:rPr lang="zh-CN" altLang="en-US" b="0">
                  <a:solidFill>
                    <a:srgbClr val="00007D"/>
                  </a:solidFill>
                  <a:latin typeface="Verdana" panose="020B0604030504040204" pitchFamily="34" charset="0"/>
                  <a:ea typeface="宋体" panose="02010600030101010101" pitchFamily="2" charset="-122"/>
                </a:rPr>
                <a:t>的面向，由</a:t>
              </a:r>
              <a:r>
                <a:rPr lang="en-US" altLang="zh-CN" sz="1400">
                  <a:solidFill>
                    <a:srgbClr val="00007D"/>
                  </a:solidFill>
                  <a:latin typeface="Courier New" panose="02070309020205020404" pitchFamily="49" charset="0"/>
                  <a:ea typeface="宋体" panose="02010600030101010101" pitchFamily="2" charset="-122"/>
                </a:rPr>
                <a:t>roll</a:t>
              </a:r>
              <a:r>
                <a:rPr lang="en-US" altLang="zh-CN" sz="1400" b="0">
                  <a:solidFill>
                    <a:srgbClr val="00007D"/>
                  </a:solidFill>
                  <a:latin typeface="Verdana" panose="020B0604030504040204" pitchFamily="34" charset="0"/>
                  <a:ea typeface="宋体" panose="02010600030101010101" pitchFamily="2" charset="-122"/>
                </a:rPr>
                <a:t>, </a:t>
              </a:r>
              <a:r>
                <a:rPr lang="en-US" altLang="zh-CN" sz="1400">
                  <a:solidFill>
                    <a:srgbClr val="00007D"/>
                  </a:solidFill>
                  <a:latin typeface="Courier New" panose="02070309020205020404" pitchFamily="49" charset="0"/>
                  <a:ea typeface="宋体" panose="02010600030101010101" pitchFamily="2" charset="-122"/>
                </a:rPr>
                <a:t>pitch</a:t>
              </a:r>
              <a:r>
                <a:rPr lang="en-US" altLang="zh-CN" sz="1400" b="0">
                  <a:solidFill>
                    <a:srgbClr val="00007D"/>
                  </a:solidFill>
                  <a:latin typeface="Verdana" panose="020B0604030504040204" pitchFamily="34" charset="0"/>
                  <a:ea typeface="宋体" panose="02010600030101010101" pitchFamily="2" charset="-122"/>
                </a:rPr>
                <a:t>, </a:t>
              </a:r>
              <a:r>
                <a:rPr lang="en-US" altLang="zh-CN" sz="1400">
                  <a:solidFill>
                    <a:srgbClr val="00007D"/>
                  </a:solidFill>
                  <a:latin typeface="Courier New" panose="02070309020205020404" pitchFamily="49" charset="0"/>
                  <a:ea typeface="宋体" panose="02010600030101010101" pitchFamily="2" charset="-122"/>
                </a:rPr>
                <a:t>yaw</a:t>
              </a:r>
              <a:r>
                <a:rPr lang="zh-CN" altLang="en-US" sz="1400" b="0">
                  <a:solidFill>
                    <a:srgbClr val="00007D"/>
                  </a:solidFill>
                  <a:latin typeface="Verdana" panose="020B0604030504040204" pitchFamily="34" charset="0"/>
                  <a:ea typeface="宋体" panose="02010600030101010101" pitchFamily="2" charset="-122"/>
                </a:rPr>
                <a:t>来组合表示</a:t>
              </a:r>
              <a:endParaRPr lang="en-AU" altLang="zh-CN" sz="1400" b="0">
                <a:solidFill>
                  <a:srgbClr val="00007D"/>
                </a:solidFill>
                <a:latin typeface="Verdana" panose="020B0604030504040204" pitchFamily="34" charset="0"/>
                <a:ea typeface="宋体" panose="02010600030101010101" pitchFamily="2" charset="-122"/>
              </a:endParaRPr>
            </a:p>
          </p:txBody>
        </p:sp>
        <p:sp>
          <p:nvSpPr>
            <p:cNvPr id="52" name="Text Box 19"/>
            <p:cNvSpPr txBox="1">
              <a:spLocks noChangeArrowheads="1"/>
            </p:cNvSpPr>
            <p:nvPr/>
          </p:nvSpPr>
          <p:spPr bwMode="auto">
            <a:xfrm>
              <a:off x="294" y="2895"/>
              <a:ext cx="1203"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en-AU" sz="1900">
                <a:solidFill>
                  <a:srgbClr val="00007D"/>
                </a:solidFill>
                <a:latin typeface="Courier New" panose="02070309020205020404" pitchFamily="49" charset="0"/>
              </a:endParaRPr>
            </a:p>
          </p:txBody>
        </p:sp>
        <p:sp>
          <p:nvSpPr>
            <p:cNvPr id="53" name="Text Box 20"/>
            <p:cNvSpPr txBox="1">
              <a:spLocks noChangeArrowheads="1"/>
            </p:cNvSpPr>
            <p:nvPr/>
          </p:nvSpPr>
          <p:spPr bwMode="auto">
            <a:xfrm>
              <a:off x="1497" y="2895"/>
              <a:ext cx="3990"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en-AU" sz="1400" b="0">
                <a:solidFill>
                  <a:srgbClr val="00007D"/>
                </a:solidFill>
                <a:latin typeface="Verdana" panose="020B0604030504040204" pitchFamily="34" charset="0"/>
              </a:endParaRPr>
            </a:p>
          </p:txBody>
        </p:sp>
        <p:sp>
          <p:nvSpPr>
            <p:cNvPr id="54" name="Text Box 21"/>
            <p:cNvSpPr txBox="1">
              <a:spLocks noChangeArrowheads="1"/>
            </p:cNvSpPr>
            <p:nvPr/>
          </p:nvSpPr>
          <p:spPr bwMode="auto">
            <a:xfrm>
              <a:off x="294" y="3088"/>
              <a:ext cx="1203" cy="34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0" anchor="ctr"/>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volatileInfo</a:t>
              </a:r>
            </a:p>
          </p:txBody>
        </p:sp>
        <p:sp>
          <p:nvSpPr>
            <p:cNvPr id="55" name="Text Box 22"/>
            <p:cNvSpPr txBox="1">
              <a:spLocks noChangeArrowheads="1"/>
            </p:cNvSpPr>
            <p:nvPr/>
          </p:nvSpPr>
          <p:spPr bwMode="auto">
            <a:xfrm>
              <a:off x="1497" y="3088"/>
              <a:ext cx="3990" cy="344"/>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zh-CN" altLang="en-US" b="0">
                  <a:solidFill>
                    <a:srgbClr val="00007D"/>
                  </a:solidFill>
                  <a:latin typeface="Verdana" panose="020B0604030504040204" pitchFamily="34" charset="0"/>
                  <a:ea typeface="宋体" panose="02010600030101010101" pitchFamily="2" charset="-122"/>
                </a:rPr>
                <a:t>用来决定</a:t>
              </a:r>
              <a:r>
                <a:rPr lang="en-US" altLang="zh-CN" b="0">
                  <a:solidFill>
                    <a:srgbClr val="00007D"/>
                  </a:solidFill>
                  <a:latin typeface="Verdana" panose="020B0604030504040204" pitchFamily="34" charset="0"/>
                  <a:ea typeface="宋体" panose="02010600030101010101" pitchFamily="2" charset="-122"/>
                </a:rPr>
                <a:t>roll,pitch,yaw</a:t>
              </a:r>
              <a:r>
                <a:rPr lang="zh-CN" altLang="en-US" b="0">
                  <a:solidFill>
                    <a:srgbClr val="00007D"/>
                  </a:solidFill>
                  <a:latin typeface="Verdana" panose="020B0604030504040204" pitchFamily="34" charset="0"/>
                  <a:ea typeface="宋体" panose="02010600030101010101" pitchFamily="2" charset="-122"/>
                </a:rPr>
                <a:t>各自的更新频率，在</a:t>
              </a:r>
              <a:r>
                <a:rPr lang="en-US" altLang="zh-CN" b="0">
                  <a:solidFill>
                    <a:srgbClr val="00007D"/>
                  </a:solidFill>
                  <a:latin typeface="Verdana" panose="020B0604030504040204" pitchFamily="34" charset="0"/>
                  <a:ea typeface="宋体" panose="02010600030101010101" pitchFamily="2" charset="-122"/>
                </a:rPr>
                <a:t>.def</a:t>
              </a:r>
              <a:r>
                <a:rPr lang="zh-CN" altLang="en-US" b="0">
                  <a:solidFill>
                    <a:srgbClr val="00007D"/>
                  </a:solidFill>
                  <a:latin typeface="Verdana" panose="020B0604030504040204" pitchFamily="34" charset="0"/>
                  <a:ea typeface="宋体" panose="02010600030101010101" pitchFamily="2" charset="-122"/>
                </a:rPr>
                <a:t>文件里有缺省值</a:t>
              </a:r>
              <a:endParaRPr lang="en-AU" b="0">
                <a:solidFill>
                  <a:srgbClr val="00007D"/>
                </a:solidFill>
                <a:latin typeface="Verdana" panose="020B0604030504040204" pitchFamily="34" charset="0"/>
              </a:endParaRPr>
            </a:p>
          </p:txBody>
        </p:sp>
        <p:sp>
          <p:nvSpPr>
            <p:cNvPr id="56" name="Text Box 23"/>
            <p:cNvSpPr txBox="1">
              <a:spLocks noChangeArrowheads="1"/>
            </p:cNvSpPr>
            <p:nvPr/>
          </p:nvSpPr>
          <p:spPr bwMode="auto">
            <a:xfrm>
              <a:off x="294" y="3433"/>
              <a:ext cx="1203"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en-AU" sz="1900">
                <a:solidFill>
                  <a:srgbClr val="00007D"/>
                </a:solidFill>
                <a:latin typeface="Courier New" panose="02070309020205020404" pitchFamily="49" charset="0"/>
              </a:endParaRPr>
            </a:p>
          </p:txBody>
        </p:sp>
        <p:sp>
          <p:nvSpPr>
            <p:cNvPr id="57" name="Text Box 24"/>
            <p:cNvSpPr txBox="1">
              <a:spLocks noChangeArrowheads="1"/>
            </p:cNvSpPr>
            <p:nvPr/>
          </p:nvSpPr>
          <p:spPr bwMode="auto">
            <a:xfrm>
              <a:off x="1497" y="3433"/>
              <a:ext cx="3990" cy="193"/>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zh-CN" altLang="en-AU" sz="1400" b="0">
                <a:solidFill>
                  <a:srgbClr val="00007D"/>
                </a:solidFill>
                <a:latin typeface="Verdana" panose="020B0604030504040204" pitchFamily="34" charset="0"/>
                <a:ea typeface="宋体" panose="02010600030101010101" pitchFamily="2" charset="-122"/>
              </a:endParaRPr>
            </a:p>
          </p:txBody>
        </p:sp>
        <p:sp>
          <p:nvSpPr>
            <p:cNvPr id="58" name="Text Box 25"/>
            <p:cNvSpPr txBox="1">
              <a:spLocks noChangeArrowheads="1"/>
            </p:cNvSpPr>
            <p:nvPr/>
          </p:nvSpPr>
          <p:spPr bwMode="auto">
            <a:xfrm>
              <a:off x="294" y="3626"/>
              <a:ext cx="1203"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topSpeed</a:t>
              </a:r>
            </a:p>
          </p:txBody>
        </p:sp>
        <p:sp>
          <p:nvSpPr>
            <p:cNvPr id="59" name="Text Box 26"/>
            <p:cNvSpPr txBox="1">
              <a:spLocks noChangeArrowheads="1"/>
            </p:cNvSpPr>
            <p:nvPr/>
          </p:nvSpPr>
          <p:spPr bwMode="auto">
            <a:xfrm>
              <a:off x="1497" y="3626"/>
              <a:ext cx="3990"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US" altLang="zh-CN" b="0">
                  <a:solidFill>
                    <a:srgbClr val="00007D"/>
                  </a:solidFill>
                  <a:latin typeface="Verdana" panose="020B0604030504040204" pitchFamily="34" charset="0"/>
                  <a:ea typeface="宋体" panose="02010600030101010101" pitchFamily="2" charset="-122"/>
                </a:rPr>
                <a:t>Entity</a:t>
              </a:r>
              <a:r>
                <a:rPr lang="zh-CN" altLang="en-US" b="0">
                  <a:solidFill>
                    <a:srgbClr val="00007D"/>
                  </a:solidFill>
                  <a:latin typeface="Verdana" panose="020B0604030504040204" pitchFamily="34" charset="0"/>
                  <a:ea typeface="宋体" panose="02010600030101010101" pitchFamily="2" charset="-122"/>
                </a:rPr>
                <a:t>的最大速度。用于物理检查</a:t>
              </a:r>
              <a:endParaRPr lang="en-AU" sz="1400" b="0">
                <a:solidFill>
                  <a:srgbClr val="00007D"/>
                </a:solidFill>
                <a:latin typeface="Verdana" panose="020B0604030504040204" pitchFamily="34" charset="0"/>
              </a:endParaRPr>
            </a:p>
          </p:txBody>
        </p:sp>
        <p:sp>
          <p:nvSpPr>
            <p:cNvPr id="60" name="Text Box 27"/>
            <p:cNvSpPr txBox="1">
              <a:spLocks noChangeArrowheads="1"/>
            </p:cNvSpPr>
            <p:nvPr/>
          </p:nvSpPr>
          <p:spPr bwMode="auto">
            <a:xfrm>
              <a:off x="294" y="1146"/>
              <a:ext cx="1203" cy="204"/>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属性</a:t>
              </a:r>
              <a:endParaRPr lang="zh-CN" altLang="en-US" sz="1900" b="0">
                <a:latin typeface="Verdana" panose="020B0604030504040204" pitchFamily="34" charset="0"/>
                <a:ea typeface="宋体" panose="02010600030101010101" pitchFamily="2" charset="-122"/>
              </a:endParaRPr>
            </a:p>
          </p:txBody>
        </p:sp>
        <p:sp>
          <p:nvSpPr>
            <p:cNvPr id="61" name="Text Box 28"/>
            <p:cNvSpPr txBox="1">
              <a:spLocks noChangeArrowheads="1"/>
            </p:cNvSpPr>
            <p:nvPr/>
          </p:nvSpPr>
          <p:spPr bwMode="auto">
            <a:xfrm>
              <a:off x="1497" y="1146"/>
              <a:ext cx="3990" cy="204"/>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描述</a:t>
              </a:r>
              <a:endParaRPr lang="zh-CN" altLang="en-US" sz="1900" b="0">
                <a:latin typeface="Verdana" panose="020B0604030504040204" pitchFamily="34" charset="0"/>
                <a:ea typeface="宋体" panose="02010600030101010101" pitchFamily="2" charset="-122"/>
              </a:endParaRPr>
            </a:p>
          </p:txBody>
        </p:sp>
        <p:sp>
          <p:nvSpPr>
            <p:cNvPr id="62" name="Line 29"/>
            <p:cNvSpPr>
              <a:spLocks noChangeShapeType="1"/>
            </p:cNvSpPr>
            <p:nvPr/>
          </p:nvSpPr>
          <p:spPr bwMode="auto">
            <a:xfrm flipV="1">
              <a:off x="1497" y="1139"/>
              <a:ext cx="0" cy="21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Text Box 11"/>
            <p:cNvSpPr txBox="1">
              <a:spLocks noChangeArrowheads="1"/>
            </p:cNvSpPr>
            <p:nvPr/>
          </p:nvSpPr>
          <p:spPr bwMode="auto">
            <a:xfrm>
              <a:off x="294" y="1930"/>
              <a:ext cx="1203"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AU" sz="1900">
                  <a:solidFill>
                    <a:srgbClr val="00007D"/>
                  </a:solidFill>
                  <a:latin typeface="Courier New" panose="02070309020205020404" pitchFamily="49" charset="0"/>
                </a:rPr>
                <a:t>position</a:t>
              </a:r>
            </a:p>
          </p:txBody>
        </p:sp>
        <p:sp>
          <p:nvSpPr>
            <p:cNvPr id="45" name="Text Box 12"/>
            <p:cNvSpPr txBox="1">
              <a:spLocks noChangeArrowheads="1"/>
            </p:cNvSpPr>
            <p:nvPr/>
          </p:nvSpPr>
          <p:spPr bwMode="auto">
            <a:xfrm>
              <a:off x="1497" y="1930"/>
              <a:ext cx="3990" cy="193"/>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36000" bIns="180000"/>
            <a:lstStyle/>
            <a:p>
              <a:pPr algn="l">
                <a:spcBef>
                  <a:spcPct val="20000"/>
                </a:spcBef>
                <a:buClr>
                  <a:srgbClr val="FF9933"/>
                </a:buClr>
                <a:buSzPct val="80000"/>
                <a:buFont typeface="Wingdings" panose="05000000000000000000" pitchFamily="2" charset="2"/>
                <a:buNone/>
              </a:pPr>
              <a:r>
                <a:rPr lang="en-US" altLang="zh-CN" b="0">
                  <a:solidFill>
                    <a:srgbClr val="00007D"/>
                  </a:solidFill>
                  <a:latin typeface="Verdana" panose="020B0604030504040204" pitchFamily="34" charset="0"/>
                  <a:ea typeface="宋体" panose="02010600030101010101" pitchFamily="2" charset="-122"/>
                </a:rPr>
                <a:t>Entity</a:t>
              </a:r>
              <a:r>
                <a:rPr lang="zh-CN" altLang="en-US" b="0">
                  <a:solidFill>
                    <a:srgbClr val="00007D"/>
                  </a:solidFill>
                  <a:latin typeface="Verdana" panose="020B0604030504040204" pitchFamily="34" charset="0"/>
                  <a:ea typeface="宋体" panose="02010600030101010101" pitchFamily="2" charset="-122"/>
                </a:rPr>
                <a:t>的世界坐标系位置</a:t>
              </a:r>
              <a:endParaRPr lang="en-AU" b="0">
                <a:solidFill>
                  <a:srgbClr val="00007D"/>
                </a:solidFill>
                <a:latin typeface="Verdana" panose="020B0604030504040204" pitchFamily="34" charset="0"/>
              </a:endParaRPr>
            </a:p>
          </p:txBody>
        </p:sp>
      </p:grpSp>
      <p:sp>
        <p:nvSpPr>
          <p:cNvPr id="63" name="Text Box 23"/>
          <p:cNvSpPr txBox="1">
            <a:spLocks noChangeArrowheads="1"/>
          </p:cNvSpPr>
          <p:nvPr/>
        </p:nvSpPr>
        <p:spPr bwMode="auto">
          <a:xfrm>
            <a:off x="467544" y="2762572"/>
            <a:ext cx="1909763" cy="306388"/>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en-AU" sz="1900">
              <a:solidFill>
                <a:srgbClr val="00007D"/>
              </a:solidFill>
              <a:latin typeface="Courier New" panose="02070309020205020404" pitchFamily="49" charset="0"/>
            </a:endParaRPr>
          </a:p>
        </p:txBody>
      </p:sp>
      <p:sp>
        <p:nvSpPr>
          <p:cNvPr id="64" name="Text Box 24"/>
          <p:cNvSpPr txBox="1">
            <a:spLocks noChangeArrowheads="1"/>
          </p:cNvSpPr>
          <p:nvPr/>
        </p:nvSpPr>
        <p:spPr bwMode="auto">
          <a:xfrm>
            <a:off x="2377307" y="2762572"/>
            <a:ext cx="6334125" cy="306388"/>
          </a:xfrm>
          <a:prstGeom prst="rect">
            <a:avLst/>
          </a:prstGeom>
        </p:spPr>
        <p:style>
          <a:lnRef idx="1">
            <a:schemeClr val="accent5"/>
          </a:lnRef>
          <a:fillRef idx="2">
            <a:schemeClr val="accent5"/>
          </a:fillRef>
          <a:effectRef idx="1">
            <a:schemeClr val="accent5"/>
          </a:effectRef>
          <a:fontRef idx="minor">
            <a:schemeClr val="dk1"/>
          </a:fontRef>
        </p:style>
        <p:txBody>
          <a:bodyPr lIns="72000" tIns="0" rIns="36000" bIns="180000"/>
          <a:lstStyle/>
          <a:p>
            <a:pPr algn="l">
              <a:spcBef>
                <a:spcPct val="20000"/>
              </a:spcBef>
              <a:buClr>
                <a:srgbClr val="FF9933"/>
              </a:buClr>
              <a:buSzPct val="80000"/>
              <a:buFont typeface="Wingdings" panose="05000000000000000000" pitchFamily="2" charset="2"/>
              <a:buNone/>
            </a:pPr>
            <a:endParaRPr lang="zh-CN" altLang="en-AU" sz="1400" b="0">
              <a:solidFill>
                <a:srgbClr val="00007D"/>
              </a:solidFill>
              <a:latin typeface="Verdana" panose="020B0604030504040204" pitchFamily="34"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err="1">
                <a:solidFill>
                  <a:schemeClr val="accent1"/>
                </a:solidFill>
                <a:latin typeface="+mn-ea"/>
                <a:ea typeface="+mn-ea"/>
              </a:rPr>
              <a:t>Cellapp</a:t>
            </a:r>
            <a:r>
              <a:rPr lang="zh-CN" altLang="en-US" sz="4900" b="1" dirty="0">
                <a:solidFill>
                  <a:schemeClr val="accent1"/>
                </a:solidFill>
                <a:latin typeface="+mn-ea"/>
                <a:ea typeface="+mn-ea"/>
              </a:rPr>
              <a:t>上的</a:t>
            </a:r>
            <a:r>
              <a:rPr lang="en-US" altLang="zh-CN" sz="5300" dirty="0">
                <a:solidFill>
                  <a:schemeClr val="accent1"/>
                </a:solidFill>
                <a:ea typeface="宋体" panose="02010600030101010101" pitchFamily="2" charset="-122"/>
              </a:rPr>
              <a:t>Entity</a:t>
            </a:r>
            <a:r>
              <a:rPr lang="zh-CN" altLang="en-US" sz="5300" dirty="0">
                <a:solidFill>
                  <a:schemeClr val="accent1"/>
                </a:solidFill>
                <a:ea typeface="宋体" panose="02010600030101010101" pitchFamily="2" charset="-122"/>
              </a:rPr>
              <a:t>方法</a:t>
            </a:r>
            <a:endParaRPr lang="zh-CN" altLang="en-US" sz="5300" b="1" dirty="0">
              <a:solidFill>
                <a:schemeClr val="accent1"/>
              </a:solidFill>
              <a:latin typeface="+mn-ea"/>
              <a:ea typeface="+mn-ea"/>
            </a:endParaRPr>
          </a:p>
        </p:txBody>
      </p:sp>
      <p:sp>
        <p:nvSpPr>
          <p:cNvPr id="30" name="Rectangle 3"/>
          <p:cNvSpPr txBox="1">
            <a:spLocks noChangeArrowheads="1"/>
          </p:cNvSpPr>
          <p:nvPr/>
        </p:nvSpPr>
        <p:spPr>
          <a:xfrm>
            <a:off x="179388" y="5300663"/>
            <a:ext cx="8748712" cy="1081087"/>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nSpc>
                <a:spcPct val="80000"/>
              </a:lnSpc>
            </a:pPr>
            <a:r>
              <a:rPr lang="zh-CN" altLang="en-US" sz="2000" dirty="0">
                <a:solidFill>
                  <a:srgbClr val="C00000"/>
                </a:solidFill>
                <a:ea typeface="宋体" panose="02010600030101010101" pitchFamily="2" charset="-122"/>
              </a:rPr>
              <a:t>所有</a:t>
            </a:r>
            <a:r>
              <a:rPr lang="en-US" altLang="zh-CN" sz="2000" dirty="0">
                <a:solidFill>
                  <a:srgbClr val="C00000"/>
                </a:solidFill>
                <a:ea typeface="宋体" panose="02010600030101010101" pitchFamily="2" charset="-122"/>
              </a:rPr>
              <a:t>Entity</a:t>
            </a:r>
            <a:r>
              <a:rPr lang="zh-CN" altLang="en-US" sz="2000" dirty="0">
                <a:solidFill>
                  <a:srgbClr val="C00000"/>
                </a:solidFill>
                <a:ea typeface="宋体" panose="02010600030101010101" pitchFamily="2" charset="-122"/>
              </a:rPr>
              <a:t>属性和方法都可以在</a:t>
            </a:r>
            <a:r>
              <a:rPr lang="en-US" altLang="zh-CN" sz="2000" dirty="0">
                <a:solidFill>
                  <a:srgbClr val="C00000"/>
                </a:solidFill>
                <a:ea typeface="宋体" panose="02010600030101010101" pitchFamily="2" charset="-122"/>
              </a:rPr>
              <a:t>Python API</a:t>
            </a:r>
            <a:r>
              <a:rPr lang="zh-CN" altLang="en-US" sz="2000" dirty="0">
                <a:solidFill>
                  <a:srgbClr val="C00000"/>
                </a:solidFill>
                <a:ea typeface="宋体" panose="02010600030101010101" pitchFamily="2" charset="-122"/>
              </a:rPr>
              <a:t>文档内查到</a:t>
            </a:r>
            <a:r>
              <a:rPr lang="en-US" altLang="zh-CN" sz="2000" dirty="0">
                <a:solidFill>
                  <a:srgbClr val="C00000"/>
                </a:solidFill>
                <a:ea typeface="宋体" panose="02010600030101010101" pitchFamily="2" charset="-122"/>
              </a:rPr>
              <a:t>:</a:t>
            </a:r>
          </a:p>
          <a:p>
            <a:pPr lvl="1">
              <a:lnSpc>
                <a:spcPct val="80000"/>
              </a:lnSpc>
            </a:pPr>
            <a:r>
              <a:rPr lang="en-AU" sz="1400" b="1" dirty="0" err="1">
                <a:latin typeface="Courier New" panose="02070309020205020404" pitchFamily="49" charset="0"/>
                <a:hlinkClick r:id="rId2" action="ppaction://hlinkfile"/>
              </a:rPr>
              <a:t>kbengine</a:t>
            </a:r>
            <a:r>
              <a:rPr lang="en-AU" sz="1400" b="1" dirty="0">
                <a:latin typeface="Courier New" panose="02070309020205020404" pitchFamily="49" charset="0"/>
                <a:hlinkClick r:id="rId2" action="ppaction://hlinkfile"/>
              </a:rPr>
              <a:t>/doc/</a:t>
            </a:r>
            <a:r>
              <a:rPr lang="en-AU" sz="1400" b="1" dirty="0" err="1">
                <a:latin typeface="Courier New" panose="02070309020205020404" pitchFamily="49" charset="0"/>
                <a:hlinkClick r:id="rId2" action="ppaction://hlinkfile"/>
              </a:rPr>
              <a:t>api</a:t>
            </a:r>
            <a:r>
              <a:rPr lang="en-AU" sz="1400" b="1" dirty="0">
                <a:latin typeface="Courier New" panose="02070309020205020404" pitchFamily="49" charset="0"/>
                <a:hlinkClick r:id="rId2" action="ppaction://hlinkfile"/>
              </a:rPr>
              <a:t>/kbengine_api.chm</a:t>
            </a:r>
            <a:endParaRPr lang="en-AU" sz="1400" b="1" dirty="0">
              <a:latin typeface="Courier New" panose="02070309020205020404" pitchFamily="49" charset="0"/>
            </a:endParaRPr>
          </a:p>
          <a:p>
            <a:pPr>
              <a:lnSpc>
                <a:spcPct val="80000"/>
              </a:lnSpc>
              <a:buFont typeface="Wingdings" panose="05000000000000000000" pitchFamily="2" charset="2"/>
              <a:buNone/>
            </a:pPr>
            <a:endParaRPr lang="zh-CN" altLang="en-US" sz="2800" dirty="0">
              <a:ea typeface="宋体" panose="02010600030101010101" pitchFamily="2" charset="-122"/>
            </a:endParaRPr>
          </a:p>
        </p:txBody>
      </p:sp>
      <p:sp>
        <p:nvSpPr>
          <p:cNvPr id="31" name="Text Box 4"/>
          <p:cNvSpPr txBox="1">
            <a:spLocks noChangeArrowheads="1"/>
          </p:cNvSpPr>
          <p:nvPr/>
        </p:nvSpPr>
        <p:spPr bwMode="auto">
          <a:xfrm>
            <a:off x="179388" y="2428875"/>
            <a:ext cx="2700337" cy="857250"/>
          </a:xfrm>
          <a:prstGeom prst="rect">
            <a:avLst/>
          </a:prstGeom>
        </p:spPr>
        <p:style>
          <a:lnRef idx="1">
            <a:schemeClr val="accent5"/>
          </a:lnRef>
          <a:fillRef idx="2">
            <a:schemeClr val="accent5"/>
          </a:fillRef>
          <a:effectRef idx="1">
            <a:schemeClr val="accent5"/>
          </a:effectRef>
          <a:fontRef idx="minor">
            <a:schemeClr val="dk1"/>
          </a:fontRef>
        </p:style>
        <p:txBody>
          <a:bodyPr lIns="18000" tIns="72000" rIns="0" bIns="72000"/>
          <a:lstStyle/>
          <a:p>
            <a:pPr algn="l">
              <a:lnSpc>
                <a:spcPct val="85000"/>
              </a:lnSpc>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entitiesInRange(</a:t>
            </a:r>
            <a:br>
              <a:rPr lang="en-US" altLang="zh-CN" sz="1300">
                <a:solidFill>
                  <a:srgbClr val="00007D"/>
                </a:solidFill>
                <a:latin typeface="Courier New" panose="02070309020205020404" pitchFamily="49" charset="0"/>
                <a:ea typeface="宋体" panose="02010600030101010101" pitchFamily="2" charset="-122"/>
              </a:rPr>
            </a:br>
            <a:r>
              <a:rPr lang="en-US" altLang="zh-CN" sz="1300">
                <a:solidFill>
                  <a:srgbClr val="00007D"/>
                </a:solidFill>
                <a:latin typeface="Courier New" panose="02070309020205020404" pitchFamily="49" charset="0"/>
                <a:ea typeface="宋体" panose="02010600030101010101" pitchFamily="2" charset="-122"/>
              </a:rPr>
              <a:t>        </a:t>
            </a:r>
            <a:r>
              <a:rPr lang="en-US" altLang="zh-CN" sz="1300" i="1">
                <a:solidFill>
                  <a:srgbClr val="00007D"/>
                </a:solidFill>
                <a:latin typeface="Courier New" panose="02070309020205020404" pitchFamily="49" charset="0"/>
                <a:ea typeface="宋体" panose="02010600030101010101" pitchFamily="2" charset="-122"/>
              </a:rPr>
              <a:t>range</a:t>
            </a:r>
            <a:endParaRPr lang="en-US" altLang="zh-CN" sz="1300">
              <a:solidFill>
                <a:srgbClr val="00007D"/>
              </a:solidFill>
              <a:latin typeface="Courier New" panose="02070309020205020404" pitchFamily="49" charset="0"/>
              <a:ea typeface="宋体" panose="02010600030101010101" pitchFamily="2" charset="-122"/>
            </a:endParaRPr>
          </a:p>
          <a:p>
            <a:pPr algn="l">
              <a:lnSpc>
                <a:spcPct val="85000"/>
              </a:lnSpc>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[,entityType,</a:t>
            </a:r>
          </a:p>
          <a:p>
            <a:pPr algn="l">
              <a:lnSpc>
                <a:spcPct val="85000"/>
              </a:lnSpc>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position] )</a:t>
            </a:r>
            <a:endParaRPr lang="en-AU" sz="1300">
              <a:solidFill>
                <a:srgbClr val="00007D"/>
              </a:solidFill>
              <a:latin typeface="Courier New" panose="02070309020205020404" pitchFamily="49" charset="0"/>
            </a:endParaRPr>
          </a:p>
        </p:txBody>
      </p:sp>
      <p:sp>
        <p:nvSpPr>
          <p:cNvPr id="32" name="Text Box 5"/>
          <p:cNvSpPr txBox="1">
            <a:spLocks noChangeArrowheads="1"/>
          </p:cNvSpPr>
          <p:nvPr/>
        </p:nvSpPr>
        <p:spPr bwMode="auto">
          <a:xfrm>
            <a:off x="179388" y="3594100"/>
            <a:ext cx="2700337" cy="519113"/>
          </a:xfrm>
          <a:prstGeom prst="rect">
            <a:avLst/>
          </a:prstGeom>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setAoIRadius( radius</a:t>
            </a:r>
          </a:p>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 hysteresis] )</a:t>
            </a:r>
            <a:endParaRPr lang="en-AU" sz="1300">
              <a:solidFill>
                <a:srgbClr val="00007D"/>
              </a:solidFill>
              <a:latin typeface="Courier New" panose="02070309020205020404" pitchFamily="49" charset="0"/>
            </a:endParaRPr>
          </a:p>
        </p:txBody>
      </p:sp>
      <p:sp>
        <p:nvSpPr>
          <p:cNvPr id="33" name="Text Box 6"/>
          <p:cNvSpPr txBox="1">
            <a:spLocks noChangeArrowheads="1"/>
          </p:cNvSpPr>
          <p:nvPr/>
        </p:nvSpPr>
        <p:spPr bwMode="auto">
          <a:xfrm>
            <a:off x="179388" y="1276350"/>
            <a:ext cx="2700337" cy="323850"/>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方法</a:t>
            </a:r>
            <a:endParaRPr lang="zh-CN" altLang="en-US" sz="1900" b="0">
              <a:latin typeface="Verdana" panose="020B0604030504040204" pitchFamily="34" charset="0"/>
              <a:ea typeface="宋体" panose="02010600030101010101" pitchFamily="2" charset="-122"/>
            </a:endParaRPr>
          </a:p>
        </p:txBody>
      </p:sp>
      <p:sp>
        <p:nvSpPr>
          <p:cNvPr id="34" name="Text Box 7"/>
          <p:cNvSpPr txBox="1">
            <a:spLocks noChangeArrowheads="1"/>
          </p:cNvSpPr>
          <p:nvPr/>
        </p:nvSpPr>
        <p:spPr bwMode="auto">
          <a:xfrm>
            <a:off x="2879725" y="1276350"/>
            <a:ext cx="6048375" cy="323850"/>
          </a:xfrm>
          <a:prstGeom prst="rect">
            <a:avLst/>
          </a:prstGeom>
        </p:spPr>
        <p:style>
          <a:lnRef idx="1">
            <a:schemeClr val="accent1"/>
          </a:lnRef>
          <a:fillRef idx="3">
            <a:schemeClr val="accent1"/>
          </a:fillRef>
          <a:effectRef idx="2">
            <a:schemeClr val="accent1"/>
          </a:effectRef>
          <a:fontRef idx="minor">
            <a:schemeClr val="lt1"/>
          </a:fontRef>
        </p:style>
        <p:txBody>
          <a:bodyPr lIns="54000" tIns="10800" rIns="0" bIns="10800"/>
          <a:lstStyle/>
          <a:p>
            <a:r>
              <a:rPr lang="zh-CN" altLang="en-AU" sz="1900" b="0">
                <a:latin typeface="Verdana" panose="020B0604030504040204" pitchFamily="34" charset="0"/>
                <a:ea typeface="宋体" panose="02010600030101010101" pitchFamily="2" charset="-122"/>
              </a:rPr>
              <a:t>描述</a:t>
            </a:r>
            <a:endParaRPr lang="zh-CN" altLang="en-US" sz="1900" b="0">
              <a:latin typeface="Verdana" panose="020B0604030504040204" pitchFamily="34" charset="0"/>
              <a:ea typeface="宋体" panose="02010600030101010101" pitchFamily="2" charset="-122"/>
            </a:endParaRPr>
          </a:p>
        </p:txBody>
      </p:sp>
      <p:sp>
        <p:nvSpPr>
          <p:cNvPr id="35" name="Line 8"/>
          <p:cNvSpPr>
            <a:spLocks noChangeShapeType="1"/>
          </p:cNvSpPr>
          <p:nvPr/>
        </p:nvSpPr>
        <p:spPr bwMode="auto">
          <a:xfrm flipV="1">
            <a:off x="2879725" y="1265238"/>
            <a:ext cx="3175" cy="3349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Text Box 9"/>
          <p:cNvSpPr txBox="1">
            <a:spLocks noChangeArrowheads="1"/>
          </p:cNvSpPr>
          <p:nvPr/>
        </p:nvSpPr>
        <p:spPr bwMode="auto">
          <a:xfrm>
            <a:off x="2879725" y="2428875"/>
            <a:ext cx="6048375" cy="857250"/>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搜索指定范围内的所有</a:t>
            </a:r>
            <a:r>
              <a:rPr lang="en-US" altLang="zh-CN" sz="1400" b="0" dirty="0">
                <a:solidFill>
                  <a:srgbClr val="00007D"/>
                </a:solidFill>
                <a:latin typeface="Verdana" panose="020B0604030504040204" pitchFamily="34" charset="0"/>
                <a:ea typeface="宋体" panose="02010600030101010101" pitchFamily="2" charset="-122"/>
              </a:rPr>
              <a:t>Entity</a:t>
            </a:r>
          </a:p>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可以搜索到</a:t>
            </a:r>
            <a:r>
              <a:rPr lang="en-US" altLang="zh-CN" sz="1400" b="0" dirty="0">
                <a:solidFill>
                  <a:srgbClr val="00007D"/>
                </a:solidFill>
                <a:latin typeface="Verdana" panose="020B0604030504040204" pitchFamily="34" charset="0"/>
                <a:ea typeface="宋体" panose="02010600030101010101" pitchFamily="2" charset="-122"/>
              </a:rPr>
              <a:t>AOI</a:t>
            </a:r>
            <a:r>
              <a:rPr lang="zh-CN" altLang="en-US" sz="1400" b="0" dirty="0">
                <a:solidFill>
                  <a:srgbClr val="00007D"/>
                </a:solidFill>
                <a:latin typeface="Verdana" panose="020B0604030504040204" pitchFamily="34" charset="0"/>
                <a:ea typeface="宋体" panose="02010600030101010101" pitchFamily="2" charset="-122"/>
              </a:rPr>
              <a:t>范围以外的</a:t>
            </a:r>
            <a:r>
              <a:rPr lang="en-US" altLang="zh-CN" sz="1400" b="0" dirty="0">
                <a:solidFill>
                  <a:srgbClr val="00007D"/>
                </a:solidFill>
                <a:latin typeface="Verdana" panose="020B0604030504040204" pitchFamily="34" charset="0"/>
                <a:ea typeface="宋体" panose="02010600030101010101" pitchFamily="2" charset="-122"/>
              </a:rPr>
              <a:t>Entity</a:t>
            </a:r>
            <a:r>
              <a:rPr lang="zh-CN" altLang="en-US" sz="1400" b="0" dirty="0">
                <a:solidFill>
                  <a:srgbClr val="00007D"/>
                </a:solidFill>
                <a:latin typeface="Verdana" panose="020B0604030504040204" pitchFamily="34" charset="0"/>
                <a:ea typeface="宋体" panose="02010600030101010101" pitchFamily="2" charset="-122"/>
              </a:rPr>
              <a:t>但是无法找到</a:t>
            </a:r>
            <a:r>
              <a:rPr lang="en-US" altLang="zh-CN" sz="1400" b="0" dirty="0">
                <a:solidFill>
                  <a:srgbClr val="00007D"/>
                </a:solidFill>
                <a:latin typeface="Verdana" panose="020B0604030504040204" pitchFamily="34" charset="0"/>
                <a:ea typeface="宋体" panose="02010600030101010101" pitchFamily="2" charset="-122"/>
              </a:rPr>
              <a:t>Cell</a:t>
            </a:r>
            <a:r>
              <a:rPr lang="zh-CN" altLang="en-US" sz="1400" b="0" dirty="0">
                <a:solidFill>
                  <a:srgbClr val="00007D"/>
                </a:solidFill>
                <a:latin typeface="Verdana" panose="020B0604030504040204" pitchFamily="34" charset="0"/>
                <a:ea typeface="宋体" panose="02010600030101010101" pitchFamily="2" charset="-122"/>
              </a:rPr>
              <a:t>以外的</a:t>
            </a:r>
            <a:r>
              <a:rPr lang="en-US" altLang="zh-CN" sz="1400" b="0" dirty="0">
                <a:solidFill>
                  <a:srgbClr val="00007D"/>
                </a:solidFill>
                <a:latin typeface="Verdana" panose="020B0604030504040204" pitchFamily="34" charset="0"/>
                <a:ea typeface="宋体" panose="02010600030101010101" pitchFamily="2" charset="-122"/>
              </a:rPr>
              <a:t>Entity</a:t>
            </a:r>
          </a:p>
          <a:p>
            <a:pPr>
              <a:spcBef>
                <a:spcPct val="5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球性测试</a:t>
            </a:r>
            <a:endParaRPr lang="en-AU" sz="1400" dirty="0">
              <a:solidFill>
                <a:srgbClr val="00007D"/>
              </a:solidFill>
              <a:latin typeface="Courier New" panose="02070309020205020404" pitchFamily="49" charset="0"/>
            </a:endParaRPr>
          </a:p>
        </p:txBody>
      </p:sp>
      <p:sp>
        <p:nvSpPr>
          <p:cNvPr id="37" name="Text Box 10"/>
          <p:cNvSpPr txBox="1">
            <a:spLocks noChangeArrowheads="1"/>
          </p:cNvSpPr>
          <p:nvPr/>
        </p:nvSpPr>
        <p:spPr bwMode="auto">
          <a:xfrm>
            <a:off x="2879725" y="3594100"/>
            <a:ext cx="6048375" cy="519113"/>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AU" sz="1400" b="0" dirty="0">
                <a:solidFill>
                  <a:srgbClr val="00007D"/>
                </a:solidFill>
                <a:latin typeface="Verdana" panose="020B0604030504040204" pitchFamily="34" charset="0"/>
                <a:ea typeface="宋体" panose="02010600030101010101" pitchFamily="2" charset="-122"/>
              </a:rPr>
              <a:t>改变</a:t>
            </a:r>
            <a:r>
              <a:rPr lang="en-AU" altLang="zh-CN" sz="1400" b="0" dirty="0">
                <a:solidFill>
                  <a:srgbClr val="00007D"/>
                </a:solidFill>
                <a:latin typeface="Verdana" panose="020B0604030504040204" pitchFamily="34" charset="0"/>
                <a:ea typeface="宋体" panose="02010600030101010101" pitchFamily="2" charset="-122"/>
              </a:rPr>
              <a:t>AOI</a:t>
            </a:r>
            <a:r>
              <a:rPr lang="zh-CN" altLang="en-AU" sz="1400" b="0" dirty="0">
                <a:solidFill>
                  <a:srgbClr val="00007D"/>
                </a:solidFill>
                <a:latin typeface="Verdana" panose="020B0604030504040204" pitchFamily="34" charset="0"/>
                <a:ea typeface="宋体" panose="02010600030101010101" pitchFamily="2" charset="-122"/>
              </a:rPr>
              <a:t>半径，缺省是</a:t>
            </a:r>
            <a:r>
              <a:rPr lang="en-AU" altLang="zh-CN" sz="1400" b="0" dirty="0">
                <a:solidFill>
                  <a:srgbClr val="00007D"/>
                </a:solidFill>
                <a:latin typeface="Verdana" panose="020B0604030504040204" pitchFamily="34" charset="0"/>
                <a:ea typeface="宋体" panose="02010600030101010101" pitchFamily="2" charset="-122"/>
              </a:rPr>
              <a:t>500m</a:t>
            </a:r>
            <a:endParaRPr lang="en-AU" sz="1400" b="0" dirty="0">
              <a:solidFill>
                <a:srgbClr val="00007D"/>
              </a:solidFill>
              <a:latin typeface="Verdana" panose="020B0604030504040204" pitchFamily="34" charset="0"/>
            </a:endParaRPr>
          </a:p>
          <a:p>
            <a:pPr>
              <a:spcBef>
                <a:spcPct val="5000"/>
              </a:spcBef>
              <a:buClr>
                <a:srgbClr val="FF9933"/>
              </a:buClr>
              <a:buSzPct val="80000"/>
              <a:buFont typeface="Wingdings" panose="05000000000000000000" pitchFamily="2" charset="2"/>
              <a:buChar char="§"/>
            </a:pPr>
            <a:r>
              <a:rPr lang="zh-CN" altLang="en-AU" sz="1400" b="0" dirty="0">
                <a:solidFill>
                  <a:srgbClr val="00007D"/>
                </a:solidFill>
                <a:latin typeface="Verdana" panose="020B0604030504040204" pitchFamily="34" charset="0"/>
                <a:ea typeface="宋体" panose="02010600030101010101" pitchFamily="2" charset="-122"/>
              </a:rPr>
              <a:t>必须小于</a:t>
            </a:r>
            <a:r>
              <a:rPr lang="en-AU" altLang="zh-CN" sz="1400" b="0" dirty="0">
                <a:solidFill>
                  <a:srgbClr val="00007D"/>
                </a:solidFill>
                <a:latin typeface="Verdana" panose="020B0604030504040204" pitchFamily="34" charset="0"/>
                <a:ea typeface="宋体" panose="02010600030101010101" pitchFamily="2" charset="-122"/>
              </a:rPr>
              <a:t>Ghost</a:t>
            </a:r>
            <a:r>
              <a:rPr lang="zh-CN" altLang="en-AU" sz="1400" b="0" dirty="0">
                <a:solidFill>
                  <a:srgbClr val="00007D"/>
                </a:solidFill>
                <a:latin typeface="Verdana" panose="020B0604030504040204" pitchFamily="34" charset="0"/>
                <a:ea typeface="宋体" panose="02010600030101010101" pitchFamily="2" charset="-122"/>
              </a:rPr>
              <a:t>距离，缺省是</a:t>
            </a:r>
            <a:r>
              <a:rPr lang="en-AU" altLang="zh-CN" sz="1400" b="0" dirty="0">
                <a:solidFill>
                  <a:srgbClr val="00007D"/>
                </a:solidFill>
                <a:latin typeface="Verdana" panose="020B0604030504040204" pitchFamily="34" charset="0"/>
                <a:ea typeface="宋体" panose="02010600030101010101" pitchFamily="2" charset="-122"/>
              </a:rPr>
              <a:t>500m</a:t>
            </a:r>
            <a:endParaRPr lang="en-AU" sz="1400" b="0" dirty="0">
              <a:solidFill>
                <a:srgbClr val="00007D"/>
              </a:solidFill>
              <a:latin typeface="Verdana" panose="020B0604030504040204" pitchFamily="34" charset="0"/>
            </a:endParaRPr>
          </a:p>
        </p:txBody>
      </p:sp>
      <p:sp>
        <p:nvSpPr>
          <p:cNvPr id="38" name="Text Box 11"/>
          <p:cNvSpPr txBox="1">
            <a:spLocks noChangeArrowheads="1"/>
          </p:cNvSpPr>
          <p:nvPr/>
        </p:nvSpPr>
        <p:spPr bwMode="auto">
          <a:xfrm>
            <a:off x="179388" y="3286125"/>
            <a:ext cx="2700337" cy="30797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isReal()</a:t>
            </a:r>
            <a:endParaRPr lang="en-AU" sz="1300">
              <a:solidFill>
                <a:srgbClr val="00007D"/>
              </a:solidFill>
              <a:latin typeface="Courier New" panose="02070309020205020404" pitchFamily="49" charset="0"/>
            </a:endParaRPr>
          </a:p>
        </p:txBody>
      </p:sp>
      <p:sp>
        <p:nvSpPr>
          <p:cNvPr id="42" name="Text Box 12"/>
          <p:cNvSpPr txBox="1">
            <a:spLocks noChangeArrowheads="1"/>
          </p:cNvSpPr>
          <p:nvPr/>
        </p:nvSpPr>
        <p:spPr bwMode="auto">
          <a:xfrm>
            <a:off x="2879725" y="3286125"/>
            <a:ext cx="6048375" cy="30797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返回此</a:t>
            </a:r>
            <a:r>
              <a:rPr lang="en-US" altLang="zh-CN" sz="1400" b="0" dirty="0">
                <a:solidFill>
                  <a:srgbClr val="00007D"/>
                </a:solidFill>
                <a:latin typeface="Verdana" panose="020B0604030504040204" pitchFamily="34" charset="0"/>
                <a:ea typeface="宋体" panose="02010600030101010101" pitchFamily="2" charset="-122"/>
              </a:rPr>
              <a:t>Entity</a:t>
            </a:r>
            <a:r>
              <a:rPr lang="zh-CN" altLang="en-US" sz="1400" b="0" dirty="0">
                <a:solidFill>
                  <a:srgbClr val="00007D"/>
                </a:solidFill>
                <a:latin typeface="Verdana" panose="020B0604030504040204" pitchFamily="34" charset="0"/>
                <a:ea typeface="宋体" panose="02010600030101010101" pitchFamily="2" charset="-122"/>
              </a:rPr>
              <a:t>是</a:t>
            </a:r>
            <a:r>
              <a:rPr lang="en-US" altLang="zh-CN" sz="1400" b="0" dirty="0">
                <a:solidFill>
                  <a:srgbClr val="00007D"/>
                </a:solidFill>
                <a:latin typeface="Verdana" panose="020B0604030504040204" pitchFamily="34" charset="0"/>
                <a:ea typeface="宋体" panose="02010600030101010101" pitchFamily="2" charset="-122"/>
              </a:rPr>
              <a:t>Real</a:t>
            </a:r>
            <a:r>
              <a:rPr lang="zh-CN" altLang="en-US" sz="1400" b="0" dirty="0">
                <a:solidFill>
                  <a:srgbClr val="00007D"/>
                </a:solidFill>
                <a:latin typeface="Verdana" panose="020B0604030504040204" pitchFamily="34" charset="0"/>
                <a:ea typeface="宋体" panose="02010600030101010101" pitchFamily="2" charset="-122"/>
              </a:rPr>
              <a:t>还是</a:t>
            </a:r>
            <a:r>
              <a:rPr lang="en-US" altLang="zh-CN" sz="1400" dirty="0">
                <a:solidFill>
                  <a:srgbClr val="00007D"/>
                </a:solidFill>
                <a:latin typeface="Verdana" panose="020B0604030504040204" pitchFamily="34" charset="0"/>
                <a:ea typeface="宋体" panose="02010600030101010101" pitchFamily="2" charset="-122"/>
              </a:rPr>
              <a:t>G</a:t>
            </a:r>
            <a:r>
              <a:rPr lang="en-US" altLang="zh-CN" sz="1400" b="0" dirty="0">
                <a:solidFill>
                  <a:srgbClr val="00007D"/>
                </a:solidFill>
                <a:latin typeface="Verdana" panose="020B0604030504040204" pitchFamily="34" charset="0"/>
                <a:ea typeface="宋体" panose="02010600030101010101" pitchFamily="2" charset="-122"/>
              </a:rPr>
              <a:t>host</a:t>
            </a:r>
            <a:r>
              <a:rPr lang="zh-CN" altLang="en-US" sz="1400" b="0" dirty="0">
                <a:solidFill>
                  <a:srgbClr val="00007D"/>
                </a:solidFill>
                <a:latin typeface="Verdana" panose="020B0604030504040204" pitchFamily="34" charset="0"/>
                <a:ea typeface="宋体" panose="02010600030101010101" pitchFamily="2" charset="-122"/>
              </a:rPr>
              <a:t>的</a:t>
            </a:r>
            <a:endParaRPr lang="en-AU" sz="1400" b="0" dirty="0">
              <a:solidFill>
                <a:srgbClr val="00007D"/>
              </a:solidFill>
              <a:latin typeface="Verdana" panose="020B0604030504040204" pitchFamily="34" charset="0"/>
            </a:endParaRPr>
          </a:p>
        </p:txBody>
      </p:sp>
      <p:sp>
        <p:nvSpPr>
          <p:cNvPr id="43" name="Text Box 13"/>
          <p:cNvSpPr txBox="1">
            <a:spLocks noChangeArrowheads="1"/>
          </p:cNvSpPr>
          <p:nvPr/>
        </p:nvSpPr>
        <p:spPr bwMode="auto">
          <a:xfrm>
            <a:off x="179388" y="4113213"/>
            <a:ext cx="2700337" cy="93662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teleport( </a:t>
            </a:r>
          </a:p>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nearbyEntityMBRef,</a:t>
            </a:r>
          </a:p>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position,</a:t>
            </a:r>
          </a:p>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         direction )</a:t>
            </a:r>
            <a:endParaRPr lang="en-AU" sz="1300">
              <a:solidFill>
                <a:srgbClr val="00007D"/>
              </a:solidFill>
              <a:latin typeface="Courier New" panose="02070309020205020404" pitchFamily="49" charset="0"/>
            </a:endParaRPr>
          </a:p>
        </p:txBody>
      </p:sp>
      <p:sp>
        <p:nvSpPr>
          <p:cNvPr id="65" name="Text Box 14"/>
          <p:cNvSpPr txBox="1">
            <a:spLocks noChangeArrowheads="1"/>
          </p:cNvSpPr>
          <p:nvPr/>
        </p:nvSpPr>
        <p:spPr bwMode="auto">
          <a:xfrm>
            <a:off x="2879725" y="4113213"/>
            <a:ext cx="6048375" cy="936625"/>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在同一个</a:t>
            </a:r>
            <a:r>
              <a:rPr lang="en-US" altLang="zh-CN" sz="1400" b="0" dirty="0">
                <a:solidFill>
                  <a:srgbClr val="00007D"/>
                </a:solidFill>
                <a:latin typeface="Verdana" panose="020B0604030504040204" pitchFamily="34" charset="0"/>
                <a:ea typeface="宋体" panose="02010600030101010101" pitchFamily="2" charset="-122"/>
              </a:rPr>
              <a:t>Space</a:t>
            </a:r>
            <a:r>
              <a:rPr lang="zh-CN" altLang="en-US" sz="1400" b="0" dirty="0">
                <a:solidFill>
                  <a:srgbClr val="00007D"/>
                </a:solidFill>
                <a:latin typeface="Verdana" panose="020B0604030504040204" pitchFamily="34" charset="0"/>
                <a:ea typeface="宋体" panose="02010600030101010101" pitchFamily="2" charset="-122"/>
              </a:rPr>
              <a:t>内改变</a:t>
            </a:r>
            <a:r>
              <a:rPr lang="en-US" altLang="zh-CN" sz="1400" b="0" dirty="0">
                <a:solidFill>
                  <a:srgbClr val="00007D"/>
                </a:solidFill>
                <a:latin typeface="Verdana" panose="020B0604030504040204" pitchFamily="34" charset="0"/>
                <a:ea typeface="宋体" panose="02010600030101010101" pitchFamily="2" charset="-122"/>
              </a:rPr>
              <a:t>Entity</a:t>
            </a:r>
            <a:r>
              <a:rPr lang="zh-CN" altLang="en-US" sz="1400" b="0" dirty="0">
                <a:solidFill>
                  <a:srgbClr val="00007D"/>
                </a:solidFill>
                <a:latin typeface="Verdana" panose="020B0604030504040204" pitchFamily="34" charset="0"/>
                <a:ea typeface="宋体" panose="02010600030101010101" pitchFamily="2" charset="-122"/>
              </a:rPr>
              <a:t>的位置</a:t>
            </a:r>
            <a:endParaRPr lang="en-US" altLang="zh-CN" sz="1400" b="0" dirty="0">
              <a:solidFill>
                <a:srgbClr val="00007D"/>
              </a:solidFill>
              <a:latin typeface="Verdana" panose="020B0604030504040204" pitchFamily="34" charset="0"/>
              <a:ea typeface="宋体" panose="02010600030101010101" pitchFamily="2" charset="-122"/>
            </a:endParaRPr>
          </a:p>
          <a:p>
            <a:pPr>
              <a:spcBef>
                <a:spcPct val="20000"/>
              </a:spcBef>
              <a:buClr>
                <a:srgbClr val="FF9933"/>
              </a:buClr>
              <a:buSzPct val="80000"/>
              <a:buFont typeface="Wingdings" panose="05000000000000000000" pitchFamily="2" charset="2"/>
              <a:buChar char="§"/>
            </a:pPr>
            <a:r>
              <a:rPr lang="zh-CN" altLang="en-US" sz="1400" b="0" dirty="0">
                <a:solidFill>
                  <a:srgbClr val="00007D"/>
                </a:solidFill>
                <a:latin typeface="Verdana" panose="020B0604030504040204" pitchFamily="34" charset="0"/>
                <a:ea typeface="宋体" panose="02010600030101010101" pitchFamily="2" charset="-122"/>
              </a:rPr>
              <a:t>放</a:t>
            </a:r>
            <a:r>
              <a:rPr lang="en-US" altLang="zh-CN" sz="1400" b="0" dirty="0">
                <a:solidFill>
                  <a:srgbClr val="00007D"/>
                </a:solidFill>
                <a:latin typeface="Verdana" panose="020B0604030504040204" pitchFamily="34" charset="0"/>
                <a:ea typeface="宋体" panose="02010600030101010101" pitchFamily="2" charset="-122"/>
              </a:rPr>
              <a:t>Entity</a:t>
            </a:r>
            <a:r>
              <a:rPr lang="zh-CN" altLang="en-US" sz="1400" b="0" dirty="0">
                <a:solidFill>
                  <a:srgbClr val="00007D"/>
                </a:solidFill>
                <a:latin typeface="Verdana" panose="020B0604030504040204" pitchFamily="34" charset="0"/>
                <a:ea typeface="宋体" panose="02010600030101010101" pitchFamily="2" charset="-122"/>
              </a:rPr>
              <a:t>到另一个</a:t>
            </a:r>
            <a:r>
              <a:rPr lang="en-US" altLang="zh-CN" sz="1400" b="0" dirty="0">
                <a:solidFill>
                  <a:srgbClr val="00007D"/>
                </a:solidFill>
                <a:latin typeface="Verdana" panose="020B0604030504040204" pitchFamily="34" charset="0"/>
                <a:ea typeface="宋体" panose="02010600030101010101" pitchFamily="2" charset="-122"/>
              </a:rPr>
              <a:t>Space – </a:t>
            </a:r>
            <a:r>
              <a:rPr lang="en-US" altLang="zh-CN" sz="1400" dirty="0" err="1">
                <a:solidFill>
                  <a:srgbClr val="00007D"/>
                </a:solidFill>
                <a:latin typeface="Courier New" panose="02070309020205020404" pitchFamily="49" charset="0"/>
                <a:ea typeface="宋体" panose="02010600030101010101" pitchFamily="2" charset="-122"/>
              </a:rPr>
              <a:t>nearbyEntityMBRef</a:t>
            </a:r>
            <a:r>
              <a:rPr lang="zh-CN" altLang="en-US" sz="1400" b="0" dirty="0">
                <a:solidFill>
                  <a:srgbClr val="00007D"/>
                </a:solidFill>
                <a:latin typeface="Courier New" panose="02070309020205020404" pitchFamily="49" charset="0"/>
                <a:ea typeface="宋体" panose="02010600030101010101" pitchFamily="2" charset="-122"/>
              </a:rPr>
              <a:t>指向的</a:t>
            </a:r>
            <a:r>
              <a:rPr lang="en-US" altLang="zh-CN" sz="1400" b="0" dirty="0">
                <a:solidFill>
                  <a:srgbClr val="00007D"/>
                </a:solidFill>
                <a:latin typeface="Courier New" panose="02070309020205020404" pitchFamily="49" charset="0"/>
                <a:ea typeface="宋体" panose="02010600030101010101" pitchFamily="2" charset="-122"/>
              </a:rPr>
              <a:t>Entity</a:t>
            </a:r>
            <a:r>
              <a:rPr lang="zh-CN" altLang="en-US" sz="1400" b="0" dirty="0">
                <a:solidFill>
                  <a:srgbClr val="00007D"/>
                </a:solidFill>
                <a:latin typeface="Courier New" panose="02070309020205020404" pitchFamily="49" charset="0"/>
                <a:ea typeface="宋体" panose="02010600030101010101" pitchFamily="2" charset="-122"/>
              </a:rPr>
              <a:t>相同的</a:t>
            </a:r>
            <a:r>
              <a:rPr lang="en-US" altLang="zh-CN" sz="1400" b="0" dirty="0">
                <a:solidFill>
                  <a:srgbClr val="00007D"/>
                </a:solidFill>
                <a:latin typeface="Courier New" panose="02070309020205020404" pitchFamily="49" charset="0"/>
                <a:ea typeface="宋体" panose="02010600030101010101" pitchFamily="2" charset="-122"/>
              </a:rPr>
              <a:t>Space</a:t>
            </a:r>
          </a:p>
        </p:txBody>
      </p:sp>
      <p:sp>
        <p:nvSpPr>
          <p:cNvPr id="66" name="Text Box 15"/>
          <p:cNvSpPr txBox="1">
            <a:spLocks noChangeArrowheads="1"/>
          </p:cNvSpPr>
          <p:nvPr/>
        </p:nvSpPr>
        <p:spPr bwMode="auto">
          <a:xfrm>
            <a:off x="179388" y="1592263"/>
            <a:ext cx="2700337" cy="323850"/>
          </a:xfrm>
          <a:prstGeom prst="rect">
            <a:avLst/>
          </a:prstGeom>
        </p:spPr>
        <p:style>
          <a:lnRef idx="1">
            <a:schemeClr val="accent5"/>
          </a:lnRef>
          <a:fillRef idx="2">
            <a:schemeClr val="accent5"/>
          </a:fillRef>
          <a:effectRef idx="1">
            <a:schemeClr val="accent5"/>
          </a:effectRef>
          <a:fontRef idx="minor">
            <a:schemeClr val="dk1"/>
          </a:fontRef>
        </p:style>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destroySpace()</a:t>
            </a:r>
            <a:endParaRPr lang="en-AU" sz="1300">
              <a:solidFill>
                <a:srgbClr val="00007D"/>
              </a:solidFill>
              <a:latin typeface="Courier New" panose="02070309020205020404" pitchFamily="49" charset="0"/>
            </a:endParaRPr>
          </a:p>
        </p:txBody>
      </p:sp>
      <p:sp>
        <p:nvSpPr>
          <p:cNvPr id="67" name="Text Box 16"/>
          <p:cNvSpPr txBox="1">
            <a:spLocks noChangeArrowheads="1"/>
          </p:cNvSpPr>
          <p:nvPr/>
        </p:nvSpPr>
        <p:spPr bwMode="auto">
          <a:xfrm>
            <a:off x="2879725" y="1592263"/>
            <a:ext cx="6048375" cy="323850"/>
          </a:xfrm>
          <a:prstGeom prst="rect">
            <a:avLst/>
          </a:prstGeom>
        </p:spPr>
        <p:style>
          <a:lnRef idx="1">
            <a:schemeClr val="accent5"/>
          </a:lnRef>
          <a:fillRef idx="2">
            <a:schemeClr val="accent5"/>
          </a:fillRef>
          <a:effectRef idx="1">
            <a:schemeClr val="accent5"/>
          </a:effectRef>
          <a:fontRef idx="minor">
            <a:schemeClr val="dk1"/>
          </a:fontRef>
        </p:style>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删除</a:t>
            </a:r>
            <a:r>
              <a:rPr lang="en-US" altLang="zh-CN" sz="1400" b="0" dirty="0">
                <a:solidFill>
                  <a:srgbClr val="00007D"/>
                </a:solidFill>
                <a:ea typeface="宋体" panose="02010600030101010101" pitchFamily="2" charset="-122"/>
              </a:rPr>
              <a:t>Space</a:t>
            </a:r>
            <a:r>
              <a:rPr lang="zh-CN" altLang="en-US" sz="1400" b="0" dirty="0">
                <a:solidFill>
                  <a:srgbClr val="00007D"/>
                </a:solidFill>
                <a:ea typeface="宋体" panose="02010600030101010101" pitchFamily="2" charset="-122"/>
              </a:rPr>
              <a:t>里的所有</a:t>
            </a:r>
            <a:r>
              <a:rPr lang="en-US" altLang="zh-CN" sz="1400" b="0" dirty="0">
                <a:solidFill>
                  <a:srgbClr val="00007D"/>
                </a:solidFill>
                <a:ea typeface="宋体" panose="02010600030101010101" pitchFamily="2" charset="-122"/>
              </a:rPr>
              <a:t>Entity,</a:t>
            </a:r>
            <a:r>
              <a:rPr lang="zh-CN" altLang="en-US" sz="1400" b="0" dirty="0">
                <a:solidFill>
                  <a:srgbClr val="00007D"/>
                </a:solidFill>
                <a:ea typeface="宋体" panose="02010600030101010101" pitchFamily="2" charset="-122"/>
              </a:rPr>
              <a:t>从而删除</a:t>
            </a:r>
            <a:r>
              <a:rPr lang="en-US" altLang="zh-CN" sz="1400" b="0" dirty="0">
                <a:solidFill>
                  <a:srgbClr val="00007D"/>
                </a:solidFill>
                <a:ea typeface="宋体" panose="02010600030101010101" pitchFamily="2" charset="-122"/>
              </a:rPr>
              <a:t>Space</a:t>
            </a:r>
          </a:p>
        </p:txBody>
      </p:sp>
      <p:sp>
        <p:nvSpPr>
          <p:cNvPr id="68" name="Text Box 17"/>
          <p:cNvSpPr txBox="1">
            <a:spLocks noChangeArrowheads="1"/>
          </p:cNvSpPr>
          <p:nvPr/>
        </p:nvSpPr>
        <p:spPr bwMode="auto">
          <a:xfrm>
            <a:off x="179388" y="1916113"/>
            <a:ext cx="2700337" cy="539750"/>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0" bIns="180000"/>
          <a:lstStyle/>
          <a:p>
            <a:pPr algn="l">
              <a:spcBef>
                <a:spcPct val="20000"/>
              </a:spcBef>
              <a:buClr>
                <a:srgbClr val="FF9933"/>
              </a:buClr>
              <a:buSzPct val="80000"/>
              <a:buFont typeface="Wingdings" panose="05000000000000000000" pitchFamily="2" charset="2"/>
              <a:buNone/>
            </a:pPr>
            <a:r>
              <a:rPr lang="en-US" altLang="zh-CN" sz="1300">
                <a:solidFill>
                  <a:srgbClr val="00007D"/>
                </a:solidFill>
                <a:latin typeface="Courier New" panose="02070309020205020404" pitchFamily="49" charset="0"/>
                <a:ea typeface="宋体" panose="02010600030101010101" pitchFamily="2" charset="-122"/>
              </a:rPr>
              <a:t>destroy()</a:t>
            </a:r>
            <a:endParaRPr lang="en-AU" sz="1300">
              <a:solidFill>
                <a:srgbClr val="00007D"/>
              </a:solidFill>
              <a:latin typeface="Courier New" panose="02070309020205020404" pitchFamily="49" charset="0"/>
            </a:endParaRPr>
          </a:p>
        </p:txBody>
      </p:sp>
      <p:sp>
        <p:nvSpPr>
          <p:cNvPr id="69" name="Text Box 18"/>
          <p:cNvSpPr txBox="1">
            <a:spLocks noChangeArrowheads="1"/>
          </p:cNvSpPr>
          <p:nvPr/>
        </p:nvSpPr>
        <p:spPr bwMode="auto">
          <a:xfrm>
            <a:off x="2879725" y="1916113"/>
            <a:ext cx="6048375" cy="539750"/>
          </a:xfrm>
          <a:prstGeom prst="rect">
            <a:avLst/>
          </a:prstGeom>
          <a:solidFill>
            <a:srgbClr val="E6F1FE"/>
          </a:solidFill>
          <a:ln w="3175" algn="ctr">
            <a:solidFill>
              <a:srgbClr val="00007D"/>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0" bIns="180000"/>
          <a:lstStyle>
            <a:lvl1pPr marL="85725" indent="-85725" algn="l">
              <a:spcBef>
                <a:spcPct val="0"/>
              </a:spcBef>
              <a:defRPr>
                <a:solidFill>
                  <a:schemeClr val="tx1"/>
                </a:solidFill>
                <a:latin typeface="Arial" panose="020B0604020202020204" pitchFamily="34" charset="0"/>
              </a:defRPr>
            </a:lvl1pPr>
            <a:lvl2pPr algn="l">
              <a:spcBef>
                <a:spcPct val="0"/>
              </a:spcBef>
              <a:defRPr>
                <a:solidFill>
                  <a:schemeClr val="tx1"/>
                </a:solidFill>
                <a:latin typeface="Arial" panose="020B0604020202020204" pitchFamily="34" charset="0"/>
              </a:defRPr>
            </a:lvl2pPr>
            <a:lvl3pPr algn="l">
              <a:spcBef>
                <a:spcPct val="0"/>
              </a:spcBef>
              <a:defRPr>
                <a:solidFill>
                  <a:schemeClr val="tx1"/>
                </a:solidFill>
                <a:latin typeface="Arial" panose="020B0604020202020204" pitchFamily="34" charset="0"/>
              </a:defRPr>
            </a:lvl3pPr>
            <a:lvl4pPr algn="l">
              <a:spcBef>
                <a:spcPct val="0"/>
              </a:spcBef>
              <a:defRPr>
                <a:solidFill>
                  <a:schemeClr val="tx1"/>
                </a:solidFill>
                <a:latin typeface="Arial" panose="020B0604020202020204" pitchFamily="34" charset="0"/>
              </a:defRPr>
            </a:lvl4pPr>
            <a:lvl5pPr algn="l">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删除</a:t>
            </a:r>
            <a:r>
              <a:rPr lang="en-US" altLang="zh-CN" sz="1400" b="0" dirty="0">
                <a:solidFill>
                  <a:srgbClr val="00007D"/>
                </a:solidFill>
                <a:ea typeface="宋体" panose="02010600030101010101" pitchFamily="2" charset="-122"/>
              </a:rPr>
              <a:t>Entity</a:t>
            </a:r>
            <a:r>
              <a:rPr lang="zh-CN" altLang="en-US" sz="1400" b="0" dirty="0">
                <a:solidFill>
                  <a:srgbClr val="00007D"/>
                </a:solidFill>
                <a:ea typeface="宋体" panose="02010600030101010101" pitchFamily="2" charset="-122"/>
              </a:rPr>
              <a:t>的</a:t>
            </a:r>
            <a:r>
              <a:rPr lang="en-US" altLang="zh-CN" sz="1400" b="0" dirty="0">
                <a:solidFill>
                  <a:srgbClr val="00007D"/>
                </a:solidFill>
                <a:ea typeface="宋体" panose="02010600030101010101" pitchFamily="2" charset="-122"/>
              </a:rPr>
              <a:t>Cell</a:t>
            </a:r>
            <a:r>
              <a:rPr lang="zh-CN" altLang="en-US" sz="1400" b="0" dirty="0">
                <a:solidFill>
                  <a:srgbClr val="00007D"/>
                </a:solidFill>
                <a:ea typeface="宋体" panose="02010600030101010101" pitchFamily="2" charset="-122"/>
              </a:rPr>
              <a:t>部分</a:t>
            </a:r>
            <a:endParaRPr lang="en-US" altLang="zh-CN" sz="1400" b="0" dirty="0">
              <a:solidFill>
                <a:srgbClr val="00007D"/>
              </a:solidFill>
              <a:ea typeface="宋体" panose="02010600030101010101" pitchFamily="2" charset="-122"/>
            </a:endParaRPr>
          </a:p>
          <a:p>
            <a:pPr>
              <a:spcBef>
                <a:spcPct val="5000"/>
              </a:spcBef>
              <a:buClr>
                <a:srgbClr val="FF9933"/>
              </a:buClr>
              <a:buSzPct val="80000"/>
              <a:buFont typeface="Wingdings" panose="05000000000000000000" pitchFamily="2" charset="2"/>
              <a:buChar char="§"/>
            </a:pPr>
            <a:r>
              <a:rPr lang="zh-CN" altLang="en-US" sz="1400" b="0" dirty="0">
                <a:solidFill>
                  <a:srgbClr val="00007D"/>
                </a:solidFill>
                <a:ea typeface="宋体" panose="02010600030101010101" pitchFamily="2" charset="-122"/>
              </a:rPr>
              <a:t>从</a:t>
            </a:r>
            <a:r>
              <a:rPr lang="en-US" altLang="zh-CN" sz="1400" b="0" dirty="0">
                <a:solidFill>
                  <a:srgbClr val="00007D"/>
                </a:solidFill>
                <a:ea typeface="宋体" panose="02010600030101010101" pitchFamily="2" charset="-122"/>
              </a:rPr>
              <a:t>Space</a:t>
            </a:r>
            <a:r>
              <a:rPr lang="zh-CN" altLang="en-US" sz="1400" b="0" dirty="0">
                <a:solidFill>
                  <a:srgbClr val="00007D"/>
                </a:solidFill>
                <a:ea typeface="宋体" panose="02010600030101010101" pitchFamily="2" charset="-122"/>
              </a:rPr>
              <a:t>里删除</a:t>
            </a:r>
            <a:r>
              <a:rPr lang="en-US" altLang="zh-CN" sz="1400" b="0" dirty="0">
                <a:solidFill>
                  <a:srgbClr val="00007D"/>
                </a:solidFill>
                <a:ea typeface="宋体" panose="02010600030101010101" pitchFamily="2" charset="-122"/>
              </a:rPr>
              <a:t>Entity</a:t>
            </a:r>
            <a:endParaRPr lang="en-US" altLang="zh-CN" sz="1400" b="0" dirty="0">
              <a:solidFill>
                <a:srgbClr val="00007D"/>
              </a:solidFill>
              <a:latin typeface="Verdana" panose="020B0604030504040204" pitchFamily="34" charset="0"/>
              <a:ea typeface="宋体" panose="02010600030101010101" pitchFamily="2" charset="-122"/>
            </a:endParaRPr>
          </a:p>
        </p:txBody>
      </p:sp>
      <p:sp>
        <p:nvSpPr>
          <p:cNvPr id="3" name="文本框 2"/>
          <p:cNvSpPr txBox="1"/>
          <p:nvPr/>
        </p:nvSpPr>
        <p:spPr>
          <a:xfrm>
            <a:off x="2771800" y="925881"/>
            <a:ext cx="2864887" cy="369332"/>
          </a:xfrm>
          <a:prstGeom prst="rect">
            <a:avLst/>
          </a:prstGeom>
          <a:noFill/>
        </p:spPr>
        <p:txBody>
          <a:bodyPr wrap="none" rtlCol="0">
            <a:spAutoFit/>
          </a:bodyPr>
          <a:lstStyle/>
          <a:p>
            <a:r>
              <a:rPr lang="en-US" altLang="zh-CN" dirty="0" err="1">
                <a:solidFill>
                  <a:srgbClr val="FF0000"/>
                </a:solidFill>
                <a:hlinkClick r:id="rId3"/>
              </a:rPr>
              <a:t>KBEngine</a:t>
            </a:r>
            <a:r>
              <a:rPr lang="en-US" altLang="zh-CN" dirty="0">
                <a:solidFill>
                  <a:srgbClr val="FF0000"/>
                </a:solidFill>
                <a:hlinkClick r:id="rId3"/>
              </a:rPr>
              <a:t> API</a:t>
            </a:r>
            <a:r>
              <a:rPr lang="zh-CN" altLang="en-US" dirty="0">
                <a:solidFill>
                  <a:srgbClr val="FF0000"/>
                </a:solidFill>
              </a:rPr>
              <a:t>有</a:t>
            </a:r>
            <a:r>
              <a:rPr lang="en-US" altLang="zh-CN" dirty="0" err="1">
                <a:solidFill>
                  <a:srgbClr val="FF0000"/>
                </a:solidFill>
              </a:rPr>
              <a:t>api</a:t>
            </a:r>
            <a:r>
              <a:rPr lang="zh-CN" altLang="en-US" dirty="0">
                <a:solidFill>
                  <a:srgbClr val="FF0000"/>
                </a:solidFill>
              </a:rPr>
              <a:t>用法介绍</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的典型生存周期</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sz="2800" dirty="0">
                <a:ea typeface="宋体" panose="02010600030101010101" pitchFamily="2" charset="-122"/>
              </a:rPr>
              <a:t>Base</a:t>
            </a:r>
            <a:r>
              <a:rPr lang="zh-CN" altLang="en-US" sz="2800" dirty="0">
                <a:ea typeface="宋体" panose="02010600030101010101" pitchFamily="2" charset="-122"/>
              </a:rPr>
              <a:t>部分先被创建</a:t>
            </a:r>
            <a:endParaRPr lang="en-US" altLang="zh-CN" sz="2800" dirty="0">
              <a:ea typeface="宋体" panose="02010600030101010101" pitchFamily="2" charset="-122"/>
            </a:endParaRPr>
          </a:p>
          <a:p>
            <a:pPr lvl="1"/>
            <a:r>
              <a:rPr lang="zh-CN" altLang="en-US" sz="2400" dirty="0">
                <a:ea typeface="宋体" panose="02010600030101010101" pitchFamily="2" charset="-122"/>
              </a:rPr>
              <a:t>从数据库或者代码里创建</a:t>
            </a:r>
            <a:endParaRPr lang="en-US" altLang="zh-CN" sz="2400" dirty="0">
              <a:ea typeface="宋体" panose="02010600030101010101" pitchFamily="2" charset="-122"/>
            </a:endParaRPr>
          </a:p>
          <a:p>
            <a:pPr lvl="1"/>
            <a:r>
              <a:rPr lang="en-US" altLang="zh-CN" sz="2400" dirty="0">
                <a:ea typeface="宋体" panose="02010600030101010101" pitchFamily="2" charset="-122"/>
              </a:rPr>
              <a:t>Base entity</a:t>
            </a:r>
            <a:r>
              <a:rPr lang="zh-CN" altLang="en-US" sz="2400" dirty="0">
                <a:ea typeface="宋体" panose="02010600030101010101" pitchFamily="2" charset="-122"/>
              </a:rPr>
              <a:t>可以没有</a:t>
            </a:r>
            <a:r>
              <a:rPr lang="en-US" altLang="zh-CN" sz="2400" dirty="0">
                <a:ea typeface="宋体" panose="02010600030101010101" pitchFamily="2" charset="-122"/>
              </a:rPr>
              <a:t>Cell</a:t>
            </a:r>
            <a:r>
              <a:rPr lang="zh-CN" altLang="en-US" sz="2400" dirty="0">
                <a:ea typeface="宋体" panose="02010600030101010101" pitchFamily="2" charset="-122"/>
              </a:rPr>
              <a:t>部分</a:t>
            </a:r>
            <a:r>
              <a:rPr lang="en-US" altLang="zh-CN" sz="2400" dirty="0">
                <a:ea typeface="宋体" panose="02010600030101010101" pitchFamily="2" charset="-122"/>
              </a:rPr>
              <a:t>-</a:t>
            </a:r>
            <a:r>
              <a:rPr lang="en-US" altLang="zh-CN" sz="2400" dirty="0" err="1">
                <a:ea typeface="宋体" panose="02010600030101010101" pitchFamily="2" charset="-122"/>
              </a:rPr>
              <a:t>cellData</a:t>
            </a:r>
            <a:r>
              <a:rPr lang="zh-CN" altLang="en-US" sz="2400" dirty="0">
                <a:ea typeface="宋体" panose="02010600030101010101" pitchFamily="2" charset="-122"/>
              </a:rPr>
              <a:t>属性</a:t>
            </a:r>
            <a:endParaRPr lang="en-US" altLang="zh-CN" sz="2400" dirty="0">
              <a:ea typeface="宋体" panose="02010600030101010101" pitchFamily="2" charset="-122"/>
            </a:endParaRPr>
          </a:p>
          <a:p>
            <a:pPr lvl="1"/>
            <a:r>
              <a:rPr lang="en-US" altLang="zh-CN" sz="2400" dirty="0">
                <a:ea typeface="宋体" panose="02010600030101010101" pitchFamily="2" charset="-122"/>
              </a:rPr>
              <a:t>Base entity</a:t>
            </a:r>
            <a:r>
              <a:rPr lang="zh-CN" altLang="en-US" sz="2400" dirty="0">
                <a:ea typeface="宋体" panose="02010600030101010101" pitchFamily="2" charset="-122"/>
              </a:rPr>
              <a:t>在其</a:t>
            </a:r>
            <a:r>
              <a:rPr lang="en-US" altLang="zh-CN" sz="2400" dirty="0">
                <a:ea typeface="宋体" panose="02010600030101010101" pitchFamily="2" charset="-122"/>
              </a:rPr>
              <a:t>Cell</a:t>
            </a:r>
            <a:r>
              <a:rPr lang="zh-CN" altLang="en-US" sz="2400" dirty="0">
                <a:ea typeface="宋体" panose="02010600030101010101" pitchFamily="2" charset="-122"/>
              </a:rPr>
              <a:t>部分存在时不能被销毁</a:t>
            </a:r>
            <a:r>
              <a:rPr lang="en-US" altLang="zh-CN" sz="1600" dirty="0">
                <a:solidFill>
                  <a:srgbClr val="FF0000"/>
                </a:solidFill>
                <a:ea typeface="宋体" panose="02010600030101010101" pitchFamily="2" charset="-122"/>
              </a:rPr>
              <a:t>(</a:t>
            </a:r>
            <a:r>
              <a:rPr lang="zh-CN" altLang="en-US" sz="1600" dirty="0">
                <a:solidFill>
                  <a:srgbClr val="FF0000"/>
                </a:solidFill>
                <a:ea typeface="宋体" panose="02010600030101010101" pitchFamily="2" charset="-122"/>
              </a:rPr>
              <a:t>也就是</a:t>
            </a:r>
            <a:r>
              <a:rPr lang="en-US" altLang="zh-CN" sz="1600" dirty="0" err="1">
                <a:solidFill>
                  <a:srgbClr val="FF0000"/>
                </a:solidFill>
                <a:ea typeface="宋体" panose="02010600030101010101" pitchFamily="2" charset="-122"/>
              </a:rPr>
              <a:t>cellapp</a:t>
            </a:r>
            <a:r>
              <a:rPr lang="zh-CN" altLang="en-US" sz="1600" dirty="0">
                <a:solidFill>
                  <a:srgbClr val="FF0000"/>
                </a:solidFill>
                <a:ea typeface="宋体" panose="02010600030101010101" pitchFamily="2" charset="-122"/>
              </a:rPr>
              <a:t>有数据</a:t>
            </a:r>
            <a:r>
              <a:rPr lang="en-US" altLang="zh-CN" sz="1600" dirty="0" err="1">
                <a:solidFill>
                  <a:srgbClr val="FF0000"/>
                </a:solidFill>
                <a:ea typeface="宋体" panose="02010600030101010101" pitchFamily="2" charset="-122"/>
              </a:rPr>
              <a:t>baseapp</a:t>
            </a:r>
            <a:r>
              <a:rPr lang="zh-CN" altLang="en-US" sz="1600" dirty="0">
                <a:solidFill>
                  <a:srgbClr val="FF0000"/>
                </a:solidFill>
                <a:ea typeface="宋体" panose="02010600030101010101" pitchFamily="2" charset="-122"/>
              </a:rPr>
              <a:t>必须保留对应的</a:t>
            </a:r>
            <a:r>
              <a:rPr lang="en-US" altLang="zh-CN" sz="1600" dirty="0">
                <a:solidFill>
                  <a:srgbClr val="FF0000"/>
                </a:solidFill>
                <a:ea typeface="宋体" panose="02010600030101010101" pitchFamily="2" charset="-122"/>
              </a:rPr>
              <a:t>entity</a:t>
            </a:r>
            <a:r>
              <a:rPr lang="zh-CN" altLang="en-US" sz="1600" dirty="0">
                <a:solidFill>
                  <a:srgbClr val="FF0000"/>
                </a:solidFill>
                <a:ea typeface="宋体" panose="02010600030101010101" pitchFamily="2" charset="-122"/>
              </a:rPr>
              <a:t>数据</a:t>
            </a:r>
            <a:r>
              <a:rPr lang="en-US" altLang="zh-CN" sz="1600" dirty="0">
                <a:solidFill>
                  <a:srgbClr val="FF0000"/>
                </a:solidFill>
                <a:ea typeface="宋体" panose="02010600030101010101" pitchFamily="2" charset="-122"/>
              </a:rPr>
              <a:t>)</a:t>
            </a:r>
          </a:p>
          <a:p>
            <a:pPr lvl="1"/>
            <a:r>
              <a:rPr lang="en-US" altLang="zh-CN" sz="2400" dirty="0">
                <a:ea typeface="宋体" panose="02010600030101010101" pitchFamily="2" charset="-122"/>
              </a:rPr>
              <a:t>Base entity</a:t>
            </a:r>
            <a:r>
              <a:rPr lang="zh-CN" altLang="en-US" sz="2400" dirty="0">
                <a:ea typeface="宋体" panose="02010600030101010101" pitchFamily="2" charset="-122"/>
              </a:rPr>
              <a:t>通常在</a:t>
            </a:r>
            <a:r>
              <a:rPr lang="en-US" altLang="zh-CN" sz="2400" dirty="0" err="1">
                <a:solidFill>
                  <a:srgbClr val="00B0F0"/>
                </a:solidFill>
                <a:ea typeface="宋体" panose="02010600030101010101" pitchFamily="2" charset="-122"/>
              </a:rPr>
              <a:t>OnLoseCell</a:t>
            </a:r>
            <a:r>
              <a:rPr lang="en-US" altLang="zh-CN" sz="2400" dirty="0">
                <a:solidFill>
                  <a:srgbClr val="00B0F0"/>
                </a:solidFill>
                <a:ea typeface="宋体" panose="02010600030101010101" pitchFamily="2" charset="-122"/>
              </a:rPr>
              <a:t>()</a:t>
            </a:r>
            <a:r>
              <a:rPr lang="zh-CN" altLang="en-US" sz="2400" dirty="0">
                <a:ea typeface="宋体" panose="02010600030101010101" pitchFamily="2" charset="-122"/>
              </a:rPr>
              <a:t>回调函数里决定自行销毁</a:t>
            </a:r>
            <a:endParaRPr lang="en-US" altLang="zh-CN" sz="2400" dirty="0">
              <a:ea typeface="宋体" panose="02010600030101010101" pitchFamily="2" charset="-122"/>
            </a:endParaRPr>
          </a:p>
          <a:p>
            <a:r>
              <a:rPr lang="en-US" altLang="zh-CN" sz="2800" dirty="0">
                <a:ea typeface="宋体" panose="02010600030101010101" pitchFamily="2" charset="-122"/>
              </a:rPr>
              <a:t>Cell</a:t>
            </a:r>
            <a:r>
              <a:rPr lang="zh-CN" altLang="en-US" sz="2800" dirty="0">
                <a:ea typeface="宋体" panose="02010600030101010101" pitchFamily="2" charset="-122"/>
              </a:rPr>
              <a:t>部分由</a:t>
            </a:r>
            <a:r>
              <a:rPr lang="en-US" altLang="zh-CN" sz="2800" dirty="0">
                <a:ea typeface="宋体" panose="02010600030101010101" pitchFamily="2" charset="-122"/>
              </a:rPr>
              <a:t>Base</a:t>
            </a:r>
            <a:r>
              <a:rPr lang="zh-CN" altLang="en-US" sz="2800" dirty="0">
                <a:ea typeface="宋体" panose="02010600030101010101" pitchFamily="2" charset="-122"/>
              </a:rPr>
              <a:t>部分来创建</a:t>
            </a:r>
          </a:p>
          <a:p>
            <a:pPr lvl="1"/>
            <a:r>
              <a:rPr lang="en-US" altLang="zh-CN" sz="2400" dirty="0">
                <a:ea typeface="宋体" panose="02010600030101010101" pitchFamily="2" charset="-122"/>
              </a:rPr>
              <a:t>Cell-only</a:t>
            </a:r>
            <a:r>
              <a:rPr lang="zh-CN" altLang="en-US" sz="2400" dirty="0">
                <a:ea typeface="宋体" panose="02010600030101010101" pitchFamily="2" charset="-122"/>
              </a:rPr>
              <a:t>的</a:t>
            </a:r>
            <a:r>
              <a:rPr lang="en-US" altLang="zh-CN" sz="2400" dirty="0">
                <a:ea typeface="宋体" panose="02010600030101010101" pitchFamily="2" charset="-122"/>
              </a:rPr>
              <a:t>entity</a:t>
            </a:r>
            <a:r>
              <a:rPr lang="zh-CN" altLang="en-US" sz="2400" dirty="0">
                <a:ea typeface="宋体" panose="02010600030101010101" pitchFamily="2" charset="-122"/>
              </a:rPr>
              <a:t>可以用脚本来创建</a:t>
            </a:r>
            <a:endParaRPr lang="en-US" altLang="zh-CN" sz="2400" dirty="0">
              <a:ea typeface="宋体" panose="02010600030101010101" pitchFamily="2" charset="-122"/>
            </a:endParaRPr>
          </a:p>
          <a:p>
            <a:r>
              <a:rPr lang="en-US" altLang="zh-CN" sz="2800" dirty="0">
                <a:ea typeface="宋体" panose="02010600030101010101" pitchFamily="2" charset="-122"/>
              </a:rPr>
              <a:t>Client</a:t>
            </a:r>
            <a:r>
              <a:rPr lang="zh-CN" altLang="en-US" sz="2800" dirty="0">
                <a:ea typeface="宋体" panose="02010600030101010101" pitchFamily="2" charset="-122"/>
              </a:rPr>
              <a:t>部分通常在</a:t>
            </a:r>
            <a:r>
              <a:rPr lang="en-US" altLang="zh-CN" sz="2800" dirty="0">
                <a:ea typeface="宋体" panose="02010600030101010101" pitchFamily="2" charset="-122"/>
              </a:rPr>
              <a:t>Entity</a:t>
            </a:r>
            <a:r>
              <a:rPr lang="zh-CN" altLang="en-US" sz="2800" dirty="0">
                <a:ea typeface="宋体" panose="02010600030101010101" pitchFamily="2" charset="-122"/>
              </a:rPr>
              <a:t>进入到玩家的</a:t>
            </a:r>
            <a:r>
              <a:rPr lang="en-US" altLang="zh-CN" sz="2800" dirty="0">
                <a:ea typeface="宋体" panose="02010600030101010101" pitchFamily="2" charset="-122"/>
              </a:rPr>
              <a:t>AOI</a:t>
            </a:r>
            <a:r>
              <a:rPr lang="zh-CN" altLang="en-US" sz="2800" dirty="0">
                <a:ea typeface="宋体" panose="02010600030101010101" pitchFamily="2" charset="-122"/>
              </a:rPr>
              <a:t>时被创建</a:t>
            </a:r>
            <a:endParaRPr lang="en-US" altLang="zh-CN" sz="2800" dirty="0">
              <a:ea typeface="宋体" panose="02010600030101010101" pitchFamily="2" charset="-122"/>
            </a:endParaRPr>
          </a:p>
          <a:p>
            <a:pPr lvl="1"/>
            <a:r>
              <a:rPr lang="zh-CN" altLang="en-US" sz="2400" dirty="0">
                <a:ea typeface="宋体" panose="02010600030101010101" pitchFamily="2" charset="-122"/>
              </a:rPr>
              <a:t>应该用</a:t>
            </a:r>
            <a:r>
              <a:rPr lang="en-US" altLang="zh-CN" sz="2400" dirty="0" err="1">
                <a:solidFill>
                  <a:srgbClr val="00B0F0"/>
                </a:solidFill>
                <a:ea typeface="宋体" panose="02010600030101010101" pitchFamily="2" charset="-122"/>
              </a:rPr>
              <a:t>enterWorld</a:t>
            </a:r>
            <a:r>
              <a:rPr lang="en-US" altLang="zh-CN" sz="2400" dirty="0">
                <a:solidFill>
                  <a:srgbClr val="00B0F0"/>
                </a:solidFill>
                <a:ea typeface="宋体" panose="02010600030101010101" pitchFamily="2" charset="-122"/>
              </a:rPr>
              <a:t>()/</a:t>
            </a:r>
            <a:r>
              <a:rPr lang="en-US" altLang="zh-CN" sz="2400" dirty="0" err="1">
                <a:solidFill>
                  <a:srgbClr val="00B0F0"/>
                </a:solidFill>
                <a:ea typeface="宋体" panose="02010600030101010101" pitchFamily="2" charset="-122"/>
              </a:rPr>
              <a:t>leaveWorld</a:t>
            </a:r>
            <a:r>
              <a:rPr lang="en-US" altLang="zh-CN" sz="2400" dirty="0">
                <a:solidFill>
                  <a:srgbClr val="00B0F0"/>
                </a:solidFill>
                <a:ea typeface="宋体" panose="02010600030101010101" pitchFamily="2" charset="-122"/>
              </a:rPr>
              <a:t>()</a:t>
            </a:r>
            <a:r>
              <a:rPr lang="zh-CN" altLang="en-US" sz="2400" dirty="0">
                <a:ea typeface="宋体" panose="02010600030101010101" pitchFamily="2" charset="-122"/>
              </a:rPr>
              <a:t>回调函数作为初始和结束，而不是 </a:t>
            </a:r>
            <a:r>
              <a:rPr lang="en-US" altLang="zh-CN" sz="2400" dirty="0">
                <a:ea typeface="宋体" panose="02010600030101010101" pitchFamily="2" charset="-122"/>
              </a:rPr>
              <a:t>__</a:t>
            </a:r>
            <a:r>
              <a:rPr lang="en-US" altLang="zh-CN" sz="2400" dirty="0" err="1">
                <a:ea typeface="宋体" panose="02010600030101010101" pitchFamily="2" charset="-122"/>
              </a:rPr>
              <a:t>init</a:t>
            </a:r>
            <a:r>
              <a:rPr lang="en-US" altLang="zh-CN" sz="2400" dirty="0">
                <a:ea typeface="宋体" panose="02010600030101010101" pitchFamily="2" charset="-122"/>
              </a:rPr>
              <a:t>__()</a:t>
            </a:r>
            <a:r>
              <a:rPr lang="zh-CN" altLang="en-US" sz="2400" dirty="0">
                <a:ea typeface="宋体" panose="02010600030101010101" pitchFamily="2" charset="-122"/>
              </a:rPr>
              <a:t>函数</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的创建</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a:ea typeface="宋体" panose="02010600030101010101" pitchFamily="2" charset="-122"/>
              </a:rPr>
              <a:t>Entity</a:t>
            </a:r>
            <a:r>
              <a:rPr lang="zh-CN" altLang="en-US" dirty="0">
                <a:ea typeface="宋体" panose="02010600030101010101" pitchFamily="2" charset="-122"/>
              </a:rPr>
              <a:t>在</a:t>
            </a:r>
            <a:r>
              <a:rPr lang="en-US" altLang="zh-CN" dirty="0">
                <a:ea typeface="宋体" panose="02010600030101010101" pitchFamily="2" charset="-122"/>
              </a:rPr>
              <a:t>Cell</a:t>
            </a:r>
            <a:r>
              <a:rPr lang="zh-CN" altLang="en-US" dirty="0">
                <a:ea typeface="宋体" panose="02010600030101010101" pitchFamily="2" charset="-122"/>
              </a:rPr>
              <a:t>上的实例会在下一个网络更新时发布到合适的</a:t>
            </a:r>
            <a:r>
              <a:rPr lang="en-US" altLang="zh-CN" dirty="0">
                <a:ea typeface="宋体" panose="02010600030101010101" pitchFamily="2" charset="-122"/>
              </a:rPr>
              <a:t>Client</a:t>
            </a:r>
          </a:p>
          <a:p>
            <a:r>
              <a:rPr lang="zh-CN" altLang="en-US" dirty="0">
                <a:ea typeface="宋体" panose="02010600030101010101" pitchFamily="2" charset="-122"/>
              </a:rPr>
              <a:t>推荐创建的方法</a:t>
            </a:r>
            <a:r>
              <a:rPr lang="en-US" altLang="zh-CN" dirty="0">
                <a:ea typeface="宋体" panose="02010600030101010101" pitchFamily="2" charset="-122"/>
              </a:rPr>
              <a:t>:</a:t>
            </a:r>
          </a:p>
          <a:p>
            <a:pPr lvl="1"/>
            <a:r>
              <a:rPr lang="en-AU" altLang="zh-CN" dirty="0">
                <a:solidFill>
                  <a:srgbClr val="00B0F0"/>
                </a:solidFill>
              </a:rPr>
              <a:t>Base Entit</a:t>
            </a:r>
            <a:r>
              <a:rPr lang="en-AU" altLang="zh-CN" dirty="0">
                <a:solidFill>
                  <a:srgbClr val="00B0F0"/>
                </a:solidFill>
                <a:ea typeface="宋体" panose="02010600030101010101" pitchFamily="2" charset="-122"/>
              </a:rPr>
              <a:t>y</a:t>
            </a:r>
            <a:r>
              <a:rPr lang="en-AU" altLang="zh-CN" dirty="0">
                <a:solidFill>
                  <a:srgbClr val="00B0F0"/>
                </a:solidFill>
              </a:rPr>
              <a:t>:</a:t>
            </a:r>
            <a:br>
              <a:rPr lang="en-AU" altLang="zh-CN" dirty="0"/>
            </a:br>
            <a:r>
              <a:rPr lang="en-US" altLang="zh-CN" sz="2400" dirty="0" err="1">
                <a:solidFill>
                  <a:srgbClr val="00B0F0"/>
                </a:solidFill>
                <a:latin typeface="Courier New" panose="02070309020205020404" pitchFamily="49" charset="0"/>
                <a:ea typeface="宋体" panose="02010600030101010101" pitchFamily="2" charset="-122"/>
              </a:rPr>
              <a:t>KBEngine.createBaseAnywhere</a:t>
            </a:r>
            <a:r>
              <a:rPr lang="en-US" altLang="zh-CN" sz="2400" dirty="0">
                <a:solidFill>
                  <a:srgbClr val="00B0F0"/>
                </a:solidFill>
                <a:latin typeface="Courier New" panose="02070309020205020404" pitchFamily="49" charset="0"/>
                <a:ea typeface="宋体" panose="02010600030101010101" pitchFamily="2" charset="-122"/>
              </a:rPr>
              <a:t>()</a:t>
            </a:r>
            <a:endParaRPr lang="en-US" altLang="zh-CN" sz="2400" dirty="0">
              <a:latin typeface="Courier New" panose="02070309020205020404" pitchFamily="49" charset="0"/>
              <a:ea typeface="宋体" panose="02010600030101010101" pitchFamily="2" charset="-122"/>
            </a:endParaRPr>
          </a:p>
          <a:p>
            <a:pPr lvl="2"/>
            <a:r>
              <a:rPr lang="zh-CN" altLang="en-US" dirty="0">
                <a:ea typeface="宋体" panose="02010600030101010101" pitchFamily="2" charset="-122"/>
              </a:rPr>
              <a:t>或者</a:t>
            </a:r>
            <a:r>
              <a:rPr lang="en-US" altLang="zh-CN" dirty="0">
                <a:ea typeface="宋体" panose="02010600030101010101" pitchFamily="2" charset="-122"/>
              </a:rPr>
              <a:t>:</a:t>
            </a:r>
            <a:br>
              <a:rPr lang="en-US" altLang="zh-CN" dirty="0">
                <a:ea typeface="宋体" panose="02010600030101010101" pitchFamily="2" charset="-122"/>
              </a:rPr>
            </a:br>
            <a:r>
              <a:rPr lang="en-US" altLang="zh-CN" dirty="0" err="1">
                <a:solidFill>
                  <a:srgbClr val="00B0F0"/>
                </a:solidFill>
                <a:latin typeface="Courier New" panose="02070309020205020404" pitchFamily="49" charset="0"/>
                <a:ea typeface="宋体" panose="02010600030101010101" pitchFamily="2" charset="-122"/>
                <a:cs typeface="Courier New" panose="02070309020205020404" pitchFamily="49" charset="0"/>
              </a:rPr>
              <a:t>createBaseLocally</a:t>
            </a:r>
            <a:r>
              <a:rPr lang="en-US" altLang="zh-CN" dirty="0">
                <a:solidFill>
                  <a:srgbClr val="00B0F0"/>
                </a:solidFill>
                <a:latin typeface="Courier New" panose="02070309020205020404" pitchFamily="49" charset="0"/>
                <a:ea typeface="宋体" panose="02010600030101010101" pitchFamily="2" charset="-122"/>
                <a:cs typeface="Courier New" panose="02070309020205020404" pitchFamily="49" charset="0"/>
              </a:rPr>
              <a:t>()</a:t>
            </a:r>
            <a:br>
              <a:rPr lang="en-US" altLang="zh-CN" dirty="0">
                <a:solidFill>
                  <a:srgbClr val="00B0F0"/>
                </a:solidFill>
                <a:latin typeface="Courier New" panose="02070309020205020404" pitchFamily="49" charset="0"/>
                <a:ea typeface="宋体" panose="02010600030101010101" pitchFamily="2" charset="-122"/>
                <a:cs typeface="Courier New" panose="02070309020205020404" pitchFamily="49" charset="0"/>
              </a:rPr>
            </a:br>
            <a:r>
              <a:rPr lang="en-US" altLang="zh-CN" dirty="0" err="1">
                <a:solidFill>
                  <a:srgbClr val="00B0F0"/>
                </a:solidFill>
                <a:latin typeface="Courier New" panose="02070309020205020404" pitchFamily="49" charset="0"/>
                <a:ea typeface="宋体" panose="02010600030101010101" pitchFamily="2" charset="-122"/>
                <a:cs typeface="Courier New" panose="02070309020205020404" pitchFamily="49" charset="0"/>
              </a:rPr>
              <a:t>createBase</a:t>
            </a:r>
            <a:r>
              <a:rPr lang="en-US" altLang="zh-CN" dirty="0">
                <a:solidFill>
                  <a:srgbClr val="00B0F0"/>
                </a:solidFill>
                <a:latin typeface="Courier New" panose="02070309020205020404" pitchFamily="49" charset="0"/>
                <a:ea typeface="宋体" panose="02010600030101010101" pitchFamily="2" charset="-122"/>
                <a:cs typeface="Courier New" panose="02070309020205020404" pitchFamily="49" charset="0"/>
              </a:rPr>
              <a:t>...</a:t>
            </a:r>
            <a:r>
              <a:rPr lang="en-US" altLang="zh-CN" dirty="0" err="1">
                <a:solidFill>
                  <a:srgbClr val="00B0F0"/>
                </a:solidFill>
                <a:latin typeface="Courier New" panose="02070309020205020404" pitchFamily="49" charset="0"/>
                <a:ea typeface="宋体" panose="02010600030101010101" pitchFamily="2" charset="-122"/>
                <a:cs typeface="Courier New" panose="02070309020205020404" pitchFamily="49" charset="0"/>
              </a:rPr>
              <a:t>FromDB</a:t>
            </a:r>
            <a:r>
              <a:rPr lang="en-US" altLang="zh-CN" dirty="0">
                <a:solidFill>
                  <a:srgbClr val="00B0F0"/>
                </a:solidFill>
                <a:latin typeface="Courier New" panose="02070309020205020404" pitchFamily="49" charset="0"/>
                <a:ea typeface="宋体" panose="02010600030101010101" pitchFamily="2" charset="-122"/>
                <a:cs typeface="Courier New" panose="02070309020205020404" pitchFamily="49" charset="0"/>
              </a:rPr>
              <a:t>()</a:t>
            </a:r>
            <a:br>
              <a:rPr lang="en-US" altLang="zh-CN" dirty="0">
                <a:latin typeface="Courier New" panose="02070309020205020404" pitchFamily="49" charset="0"/>
                <a:ea typeface="宋体" panose="02010600030101010101" pitchFamily="2" charset="-122"/>
                <a:cs typeface="Courier New" panose="02070309020205020404" pitchFamily="49" charset="0"/>
              </a:rPr>
            </a:br>
            <a:endParaRPr lang="en-AU" altLang="zh-CN" b="1" dirty="0">
              <a:latin typeface="Courier New" panose="02070309020205020404" pitchFamily="49" charset="0"/>
              <a:cs typeface="Courier New" panose="02070309020205020404" pitchFamily="49"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的创建</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ea typeface="宋体" panose="02010600030101010101" pitchFamily="2" charset="-122"/>
              </a:rPr>
              <a:t>推荐的创建方法</a:t>
            </a:r>
            <a:r>
              <a:rPr lang="en-US" altLang="zh-CN" dirty="0">
                <a:ea typeface="宋体" panose="02010600030101010101" pitchFamily="2" charset="-122"/>
              </a:rPr>
              <a:t>:</a:t>
            </a:r>
          </a:p>
          <a:p>
            <a:pPr lvl="1"/>
            <a:r>
              <a:rPr lang="en-AU" altLang="zh-CN" dirty="0">
                <a:solidFill>
                  <a:srgbClr val="00B0F0"/>
                </a:solidFill>
              </a:rPr>
              <a:t>Cell Entit</a:t>
            </a:r>
            <a:r>
              <a:rPr lang="en-AU" altLang="zh-CN" dirty="0">
                <a:solidFill>
                  <a:srgbClr val="00B0F0"/>
                </a:solidFill>
                <a:ea typeface="宋体" panose="02010600030101010101" pitchFamily="2" charset="-122"/>
              </a:rPr>
              <a:t>y</a:t>
            </a:r>
            <a:r>
              <a:rPr lang="en-AU" altLang="zh-CN" dirty="0">
                <a:solidFill>
                  <a:srgbClr val="00B0F0"/>
                </a:solidFill>
              </a:rPr>
              <a:t>:</a:t>
            </a:r>
            <a:br>
              <a:rPr lang="en-AU" altLang="zh-CN" dirty="0">
                <a:solidFill>
                  <a:srgbClr val="00B0F0"/>
                </a:solidFill>
              </a:rPr>
            </a:br>
            <a:r>
              <a:rPr lang="en-AU" altLang="zh-CN" dirty="0" err="1">
                <a:solidFill>
                  <a:srgbClr val="00B0F0"/>
                </a:solidFill>
                <a:latin typeface="Courier New" panose="02070309020205020404" pitchFamily="49" charset="0"/>
              </a:rPr>
              <a:t>createCellEntity</a:t>
            </a:r>
            <a:r>
              <a:rPr lang="en-AU" altLang="zh-CN" dirty="0">
                <a:solidFill>
                  <a:srgbClr val="00B0F0"/>
                </a:solidFill>
                <a:latin typeface="Courier New" panose="02070309020205020404" pitchFamily="49" charset="0"/>
              </a:rPr>
              <a:t>()</a:t>
            </a:r>
            <a:br>
              <a:rPr lang="en-AU" altLang="zh-CN" dirty="0">
                <a:solidFill>
                  <a:srgbClr val="00B0F0"/>
                </a:solidFill>
                <a:latin typeface="Courier New" panose="02070309020205020404" pitchFamily="49" charset="0"/>
              </a:rPr>
            </a:br>
            <a:r>
              <a:rPr lang="en-AU" altLang="zh-CN" dirty="0" err="1">
                <a:solidFill>
                  <a:srgbClr val="00B0F0"/>
                </a:solidFill>
                <a:latin typeface="Courier New" panose="02070309020205020404" pitchFamily="49" charset="0"/>
              </a:rPr>
              <a:t>createInNewSpace</a:t>
            </a:r>
            <a:r>
              <a:rPr lang="en-AU" altLang="zh-CN" dirty="0">
                <a:solidFill>
                  <a:srgbClr val="00B0F0"/>
                </a:solidFill>
                <a:latin typeface="Courier New" panose="02070309020205020404" pitchFamily="49" charset="0"/>
              </a:rPr>
              <a:t>()</a:t>
            </a:r>
            <a:endParaRPr lang="en-AU" altLang="zh-CN" dirty="0">
              <a:latin typeface="Courier New" panose="02070309020205020404" pitchFamily="49" charset="0"/>
            </a:endParaRPr>
          </a:p>
          <a:p>
            <a:pPr lvl="1"/>
            <a:r>
              <a:rPr lang="en-AU" altLang="zh-CN" dirty="0"/>
              <a:t>Cell entity</a:t>
            </a:r>
            <a:r>
              <a:rPr lang="zh-CN" altLang="en-AU" dirty="0">
                <a:ea typeface="宋体" panose="02010600030101010101" pitchFamily="2" charset="-122"/>
              </a:rPr>
              <a:t>属性可以在从数据库读取后创建之前修改</a:t>
            </a:r>
            <a:r>
              <a:rPr lang="en-AU" altLang="zh-CN" dirty="0">
                <a:ea typeface="宋体" panose="02010600030101010101" pitchFamily="2" charset="-122"/>
              </a:rPr>
              <a:t> </a:t>
            </a:r>
          </a:p>
          <a:p>
            <a:pPr lvl="2"/>
            <a:r>
              <a:rPr lang="zh-CN" altLang="en-AU" dirty="0">
                <a:ea typeface="宋体" panose="02010600030101010101" pitchFamily="2" charset="-122"/>
              </a:rPr>
              <a:t>参看 </a:t>
            </a:r>
            <a:r>
              <a:rPr lang="en-AU" altLang="zh-CN" dirty="0"/>
              <a:t>Base API </a:t>
            </a:r>
            <a:r>
              <a:rPr lang="zh-CN" altLang="en-AU" dirty="0">
                <a:ea typeface="宋体" panose="02010600030101010101" pitchFamily="2" charset="-122"/>
              </a:rPr>
              <a:t>文档</a:t>
            </a:r>
            <a:r>
              <a:rPr lang="en-AU" altLang="zh-CN" dirty="0"/>
              <a:t>: </a:t>
            </a:r>
            <a:r>
              <a:rPr lang="en-AU" altLang="zh-CN" dirty="0" err="1">
                <a:latin typeface="Courier New" panose="02070309020205020404" pitchFamily="49" charset="0"/>
              </a:rPr>
              <a:t>KBEngine.</a:t>
            </a:r>
            <a:r>
              <a:rPr lang="en-US" altLang="en-AU" dirty="0" err="1">
                <a:latin typeface="Courier New" panose="02070309020205020404" pitchFamily="49" charset="0"/>
              </a:rPr>
              <a:t>Entity</a:t>
            </a:r>
            <a:r>
              <a:rPr lang="en-AU" altLang="zh-CN" dirty="0" err="1">
                <a:latin typeface="Courier New" panose="02070309020205020404" pitchFamily="49" charset="0"/>
              </a:rPr>
              <a:t>.cellData</a:t>
            </a:r>
            <a:endParaRPr lang="en-AU" altLang="zh-CN" dirty="0">
              <a:latin typeface="Courier New" panose="02070309020205020404" pitchFamily="49" charset="0"/>
            </a:endParaRPr>
          </a:p>
          <a:p>
            <a:pPr lvl="1"/>
            <a:r>
              <a:rPr lang="en-AU" altLang="zh-CN" dirty="0">
                <a:solidFill>
                  <a:srgbClr val="00B0F0"/>
                </a:solidFill>
              </a:rPr>
              <a:t>Cell Only Entit</a:t>
            </a:r>
            <a:r>
              <a:rPr lang="en-AU" altLang="zh-CN" dirty="0">
                <a:solidFill>
                  <a:srgbClr val="00B0F0"/>
                </a:solidFill>
                <a:ea typeface="宋体" panose="02010600030101010101" pitchFamily="2" charset="-122"/>
              </a:rPr>
              <a:t>y</a:t>
            </a:r>
            <a:r>
              <a:rPr lang="en-AU" altLang="zh-CN" dirty="0">
                <a:solidFill>
                  <a:srgbClr val="00B0F0"/>
                </a:solidFill>
              </a:rPr>
              <a:t>:</a:t>
            </a:r>
            <a:br>
              <a:rPr lang="en-AU" altLang="zh-CN" dirty="0">
                <a:solidFill>
                  <a:srgbClr val="00B0F0"/>
                </a:solidFill>
              </a:rPr>
            </a:br>
            <a:r>
              <a:rPr lang="en-AU" altLang="zh-CN" dirty="0" err="1">
                <a:solidFill>
                  <a:srgbClr val="00B0F0"/>
                </a:solidFill>
                <a:latin typeface="Courier New" panose="02070309020205020404" pitchFamily="49" charset="0"/>
              </a:rPr>
              <a:t>createEntity</a:t>
            </a:r>
            <a:r>
              <a:rPr lang="en-AU" altLang="zh-CN" dirty="0">
                <a:solidFill>
                  <a:srgbClr val="00B0F0"/>
                </a:solidFill>
                <a:latin typeface="Courier New" panose="02070309020205020404" pitchFamily="49" charset="0"/>
              </a:rPr>
              <a:t>()</a:t>
            </a:r>
            <a:endParaRPr lang="en-AU" altLang="zh-CN" dirty="0">
              <a:latin typeface="Courier New" panose="02070309020205020404" pitchFamily="49" charset="0"/>
            </a:endParaRPr>
          </a:p>
          <a:p>
            <a:pPr lvl="2"/>
            <a:r>
              <a:rPr lang="zh-CN" altLang="en-AU" dirty="0">
                <a:ea typeface="宋体" panose="02010600030101010101" pitchFamily="2" charset="-122"/>
              </a:rPr>
              <a:t>在</a:t>
            </a:r>
            <a:r>
              <a:rPr lang="en-AU" altLang="zh-CN" dirty="0">
                <a:ea typeface="宋体" panose="02010600030101010101" pitchFamily="2" charset="-122"/>
              </a:rPr>
              <a:t>Cell</a:t>
            </a:r>
            <a:r>
              <a:rPr lang="zh-CN" altLang="en-AU" dirty="0">
                <a:ea typeface="宋体" panose="02010600030101010101" pitchFamily="2" charset="-122"/>
              </a:rPr>
              <a:t>上调用</a:t>
            </a:r>
            <a:endParaRPr lang="en-AU" altLang="zh-CN" dirty="0"/>
          </a:p>
          <a:p>
            <a:pPr lvl="2"/>
            <a:r>
              <a:rPr lang="zh-CN" altLang="en-AU" dirty="0">
                <a:ea typeface="宋体" panose="02010600030101010101" pitchFamily="2" charset="-122"/>
              </a:rPr>
              <a:t>不能被容错</a:t>
            </a:r>
            <a:endParaRPr lang="en-AU" altLang="zh-CN"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的销毁</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AU" altLang="zh-CN" dirty="0"/>
              <a:t>Cell entit</a:t>
            </a:r>
            <a:r>
              <a:rPr lang="en-AU" altLang="zh-CN" dirty="0">
                <a:ea typeface="宋体" panose="02010600030101010101" pitchFamily="2" charset="-122"/>
              </a:rPr>
              <a:t>y</a:t>
            </a:r>
            <a:r>
              <a:rPr lang="zh-CN" altLang="en-AU" dirty="0">
                <a:ea typeface="宋体" panose="02010600030101010101" pitchFamily="2" charset="-122"/>
              </a:rPr>
              <a:t>作为游戏逻辑的一部分被销毁</a:t>
            </a:r>
            <a:endParaRPr lang="en-AU" altLang="zh-CN" dirty="0"/>
          </a:p>
          <a:p>
            <a:pPr>
              <a:lnSpc>
                <a:spcPct val="90000"/>
              </a:lnSpc>
            </a:pPr>
            <a:r>
              <a:rPr lang="en-AU" altLang="zh-CN" dirty="0"/>
              <a:t>Base entity</a:t>
            </a:r>
            <a:r>
              <a:rPr lang="zh-CN" altLang="en-AU" dirty="0">
                <a:ea typeface="宋体" panose="02010600030101010101" pitchFamily="2" charset="-122"/>
              </a:rPr>
              <a:t>在其</a:t>
            </a:r>
            <a:r>
              <a:rPr lang="en-AU" altLang="zh-CN" dirty="0">
                <a:ea typeface="宋体" panose="02010600030101010101" pitchFamily="2" charset="-122"/>
              </a:rPr>
              <a:t>Cell</a:t>
            </a:r>
            <a:r>
              <a:rPr lang="zh-CN" altLang="en-AU" dirty="0">
                <a:ea typeface="宋体" panose="02010600030101010101" pitchFamily="2" charset="-122"/>
              </a:rPr>
              <a:t>部分还存在之前不能被销毁</a:t>
            </a:r>
          </a:p>
          <a:p>
            <a:pPr marL="0" indent="0">
              <a:lnSpc>
                <a:spcPct val="90000"/>
              </a:lnSpc>
              <a:buNone/>
            </a:pPr>
            <a:r>
              <a:rPr lang="en-US" altLang="zh-CN" sz="1400" dirty="0">
                <a:solidFill>
                  <a:srgbClr val="FF0000"/>
                </a:solidFill>
              </a:rPr>
              <a:t>(</a:t>
            </a:r>
            <a:r>
              <a:rPr lang="zh-CN" altLang="en-AU" sz="1400" dirty="0">
                <a:solidFill>
                  <a:srgbClr val="FF0000"/>
                </a:solidFill>
              </a:rPr>
              <a:t>即</a:t>
            </a:r>
            <a:r>
              <a:rPr lang="en-US" altLang="zh-CN" sz="1400" dirty="0">
                <a:solidFill>
                  <a:srgbClr val="FF0000"/>
                </a:solidFill>
              </a:rPr>
              <a:t>cell</a:t>
            </a:r>
            <a:r>
              <a:rPr lang="zh-CN" altLang="en-US" sz="1400" dirty="0">
                <a:solidFill>
                  <a:srgbClr val="FF0000"/>
                </a:solidFill>
              </a:rPr>
              <a:t>数据还在</a:t>
            </a:r>
            <a:r>
              <a:rPr lang="en-US" altLang="zh-CN" sz="1400" dirty="0">
                <a:solidFill>
                  <a:srgbClr val="FF0000"/>
                </a:solidFill>
              </a:rPr>
              <a:t>base</a:t>
            </a:r>
            <a:r>
              <a:rPr lang="zh-CN" altLang="en-US" sz="1400" dirty="0">
                <a:solidFill>
                  <a:srgbClr val="FF0000"/>
                </a:solidFill>
              </a:rPr>
              <a:t>数据必须保留</a:t>
            </a:r>
            <a:r>
              <a:rPr lang="en-US" altLang="zh-CN" sz="1400" dirty="0">
                <a:solidFill>
                  <a:srgbClr val="FF0000"/>
                </a:solidFill>
              </a:rPr>
              <a:t>)</a:t>
            </a:r>
            <a:endParaRPr lang="en-AU" altLang="zh-CN" sz="1400" dirty="0">
              <a:solidFill>
                <a:srgbClr val="FF0000"/>
              </a:solidFill>
            </a:endParaRPr>
          </a:p>
          <a:p>
            <a:pPr>
              <a:lnSpc>
                <a:spcPct val="90000"/>
              </a:lnSpc>
            </a:pPr>
            <a:r>
              <a:rPr lang="zh-CN" altLang="en-AU" dirty="0">
                <a:ea typeface="宋体" panose="02010600030101010101" pitchFamily="2" charset="-122"/>
              </a:rPr>
              <a:t>销毁</a:t>
            </a:r>
            <a:r>
              <a:rPr lang="en-AU" altLang="zh-CN" dirty="0">
                <a:ea typeface="宋体" panose="02010600030101010101" pitchFamily="2" charset="-122"/>
              </a:rPr>
              <a:t>Cell</a:t>
            </a:r>
            <a:r>
              <a:rPr lang="zh-CN" altLang="en-AU" dirty="0">
                <a:ea typeface="宋体" panose="02010600030101010101" pitchFamily="2" charset="-122"/>
              </a:rPr>
              <a:t>部分</a:t>
            </a:r>
            <a:r>
              <a:rPr lang="en-AU" altLang="zh-CN" dirty="0"/>
              <a:t>:</a:t>
            </a:r>
          </a:p>
          <a:p>
            <a:pPr lvl="1">
              <a:lnSpc>
                <a:spcPct val="90000"/>
              </a:lnSpc>
            </a:pPr>
            <a:r>
              <a:rPr lang="en-AU" altLang="zh-CN" dirty="0">
                <a:solidFill>
                  <a:srgbClr val="00B0F0"/>
                </a:solidFill>
                <a:ea typeface="宋体" panose="02010600030101010101" pitchFamily="2" charset="-122"/>
              </a:rPr>
              <a:t>C</a:t>
            </a:r>
            <a:r>
              <a:rPr lang="en-AU" altLang="zh-CN" dirty="0">
                <a:solidFill>
                  <a:srgbClr val="00B0F0"/>
                </a:solidFill>
              </a:rPr>
              <a:t>ell</a:t>
            </a:r>
            <a:r>
              <a:rPr lang="zh-CN" altLang="en-AU" dirty="0">
                <a:solidFill>
                  <a:srgbClr val="00B0F0"/>
                </a:solidFill>
                <a:ea typeface="宋体" panose="02010600030101010101" pitchFamily="2" charset="-122"/>
              </a:rPr>
              <a:t>上</a:t>
            </a:r>
            <a:r>
              <a:rPr lang="en-AU" altLang="zh-CN" dirty="0">
                <a:solidFill>
                  <a:srgbClr val="00B0F0"/>
                </a:solidFill>
              </a:rPr>
              <a:t>: </a:t>
            </a:r>
            <a:r>
              <a:rPr lang="en-AU" altLang="zh-CN" dirty="0" err="1">
                <a:solidFill>
                  <a:srgbClr val="00B0F0"/>
                </a:solidFill>
                <a:latin typeface="Courier New" panose="02070309020205020404" pitchFamily="49" charset="0"/>
              </a:rPr>
              <a:t>Entity.destroy</a:t>
            </a:r>
            <a:r>
              <a:rPr lang="en-AU" altLang="zh-CN" dirty="0">
                <a:solidFill>
                  <a:srgbClr val="00B0F0"/>
                </a:solidFill>
                <a:latin typeface="Courier New" panose="02070309020205020404" pitchFamily="49" charset="0"/>
              </a:rPr>
              <a:t>()</a:t>
            </a:r>
            <a:endParaRPr lang="en-AU" altLang="zh-CN" dirty="0">
              <a:latin typeface="Courier New" panose="02070309020205020404" pitchFamily="49" charset="0"/>
            </a:endParaRPr>
          </a:p>
          <a:p>
            <a:pPr lvl="1">
              <a:lnSpc>
                <a:spcPct val="90000"/>
              </a:lnSpc>
            </a:pPr>
            <a:r>
              <a:rPr lang="en-AU" altLang="zh-CN" dirty="0">
                <a:solidFill>
                  <a:srgbClr val="00B0F0"/>
                </a:solidFill>
                <a:ea typeface="宋体" panose="02010600030101010101" pitchFamily="2" charset="-122"/>
              </a:rPr>
              <a:t>B</a:t>
            </a:r>
            <a:r>
              <a:rPr lang="en-AU" altLang="zh-CN" dirty="0">
                <a:solidFill>
                  <a:srgbClr val="00B0F0"/>
                </a:solidFill>
              </a:rPr>
              <a:t>ase</a:t>
            </a:r>
            <a:r>
              <a:rPr lang="zh-CN" altLang="en-AU" dirty="0">
                <a:solidFill>
                  <a:srgbClr val="00B0F0"/>
                </a:solidFill>
                <a:ea typeface="宋体" panose="02010600030101010101" pitchFamily="2" charset="-122"/>
              </a:rPr>
              <a:t>上</a:t>
            </a:r>
            <a:r>
              <a:rPr lang="en-AU" altLang="zh-CN" dirty="0">
                <a:solidFill>
                  <a:srgbClr val="00B0F0"/>
                </a:solidFill>
              </a:rPr>
              <a:t>: </a:t>
            </a:r>
            <a:r>
              <a:rPr lang="en-AU" altLang="zh-CN" dirty="0" err="1">
                <a:solidFill>
                  <a:srgbClr val="00B0F0"/>
                </a:solidFill>
                <a:latin typeface="Courier New" panose="02070309020205020404" pitchFamily="49" charset="0"/>
              </a:rPr>
              <a:t>Base.destroyCellEntity</a:t>
            </a:r>
            <a:r>
              <a:rPr lang="en-AU" altLang="zh-CN" dirty="0">
                <a:solidFill>
                  <a:srgbClr val="00B0F0"/>
                </a:solidFill>
                <a:latin typeface="Courier New" panose="02070309020205020404" pitchFamily="49" charset="0"/>
              </a:rPr>
              <a:t>()</a:t>
            </a:r>
            <a:endParaRPr lang="en-AU" altLang="zh-CN" dirty="0">
              <a:latin typeface="Courier New" panose="02070309020205020404" pitchFamily="49" charset="0"/>
            </a:endParaRPr>
          </a:p>
          <a:p>
            <a:pPr lvl="1">
              <a:lnSpc>
                <a:spcPct val="90000"/>
              </a:lnSpc>
            </a:pPr>
            <a:r>
              <a:rPr lang="zh-CN" altLang="en-AU" dirty="0">
                <a:latin typeface="Courier New" panose="02070309020205020404" pitchFamily="49" charset="0"/>
                <a:ea typeface="宋体" panose="02010600030101010101" pitchFamily="2" charset="-122"/>
              </a:rPr>
              <a:t>当</a:t>
            </a:r>
            <a:r>
              <a:rPr lang="en-AU" altLang="zh-CN" dirty="0">
                <a:latin typeface="Courier New" panose="02070309020205020404" pitchFamily="49" charset="0"/>
                <a:ea typeface="宋体" panose="02010600030101010101" pitchFamily="2" charset="-122"/>
              </a:rPr>
              <a:t>cell</a:t>
            </a:r>
            <a:r>
              <a:rPr lang="zh-CN" altLang="en-AU" dirty="0">
                <a:latin typeface="Courier New" panose="02070309020205020404" pitchFamily="49" charset="0"/>
                <a:ea typeface="宋体" panose="02010600030101010101" pitchFamily="2" charset="-122"/>
              </a:rPr>
              <a:t>部分销毁时</a:t>
            </a:r>
            <a:r>
              <a:rPr lang="en-AU" altLang="zh-CN" dirty="0" err="1">
                <a:solidFill>
                  <a:srgbClr val="00B0F0"/>
                </a:solidFill>
                <a:latin typeface="Courier New" panose="02070309020205020404" pitchFamily="49" charset="0"/>
              </a:rPr>
              <a:t>Base.onLoseCell</a:t>
            </a:r>
            <a:r>
              <a:rPr lang="en-AU" altLang="zh-CN" dirty="0">
                <a:solidFill>
                  <a:srgbClr val="00B0F0"/>
                </a:solidFill>
                <a:latin typeface="Courier New" panose="02070309020205020404" pitchFamily="49" charset="0"/>
              </a:rPr>
              <a:t>()</a:t>
            </a:r>
            <a:r>
              <a:rPr lang="zh-CN" altLang="en-AU" dirty="0">
                <a:latin typeface="Courier New" panose="02070309020205020404" pitchFamily="49" charset="0"/>
                <a:ea typeface="宋体" panose="02010600030101010101" pitchFamily="2" charset="-122"/>
              </a:rPr>
              <a:t>会被调用</a:t>
            </a:r>
          </a:p>
          <a:p>
            <a:pPr marL="182245" lvl="1" indent="0">
              <a:lnSpc>
                <a:spcPct val="90000"/>
              </a:lnSpc>
              <a:buNone/>
            </a:pPr>
            <a:r>
              <a:rPr lang="en-US" altLang="zh-CN" sz="1400" dirty="0">
                <a:solidFill>
                  <a:srgbClr val="FF0000"/>
                </a:solidFill>
                <a:latin typeface="Courier New" panose="02070309020205020404" pitchFamily="49" charset="0"/>
              </a:rPr>
              <a:t>(</a:t>
            </a:r>
            <a:r>
              <a:rPr lang="zh-CN" altLang="en-AU" sz="1400" dirty="0">
                <a:solidFill>
                  <a:srgbClr val="FF0000"/>
                </a:solidFill>
                <a:latin typeface="Courier New" panose="02070309020205020404" pitchFamily="49" charset="0"/>
              </a:rPr>
              <a:t>即</a:t>
            </a:r>
            <a:r>
              <a:rPr lang="en-US" altLang="zh-CN" sz="1400" dirty="0">
                <a:solidFill>
                  <a:srgbClr val="FF0000"/>
                </a:solidFill>
                <a:latin typeface="Courier New" panose="02070309020205020404" pitchFamily="49" charset="0"/>
              </a:rPr>
              <a:t>cell</a:t>
            </a:r>
            <a:r>
              <a:rPr lang="zh-CN" altLang="en-US" sz="1400" dirty="0">
                <a:solidFill>
                  <a:srgbClr val="FF0000"/>
                </a:solidFill>
                <a:latin typeface="Courier New" panose="02070309020205020404" pitchFamily="49" charset="0"/>
              </a:rPr>
              <a:t>数据销毁后</a:t>
            </a:r>
            <a:r>
              <a:rPr lang="en-US" altLang="zh-CN" sz="1400" dirty="0">
                <a:solidFill>
                  <a:srgbClr val="FF0000"/>
                </a:solidFill>
                <a:latin typeface="Courier New" panose="02070309020205020404" pitchFamily="49" charset="0"/>
              </a:rPr>
              <a:t>,base</a:t>
            </a:r>
            <a:r>
              <a:rPr lang="zh-CN" altLang="en-US" sz="1400" dirty="0">
                <a:solidFill>
                  <a:srgbClr val="FF0000"/>
                </a:solidFill>
                <a:latin typeface="Courier New" panose="02070309020205020404" pitchFamily="49" charset="0"/>
              </a:rPr>
              <a:t>上的</a:t>
            </a:r>
            <a:r>
              <a:rPr lang="en-US" altLang="zh-CN" sz="1400" dirty="0">
                <a:solidFill>
                  <a:srgbClr val="FF0000"/>
                </a:solidFill>
                <a:latin typeface="Courier New" panose="02070309020205020404" pitchFamily="49" charset="0"/>
              </a:rPr>
              <a:t>entity</a:t>
            </a:r>
            <a:r>
              <a:rPr lang="zh-CN" altLang="en-US" sz="1400" dirty="0">
                <a:solidFill>
                  <a:srgbClr val="FF0000"/>
                </a:solidFill>
                <a:latin typeface="Courier New" panose="02070309020205020404" pitchFamily="49" charset="0"/>
              </a:rPr>
              <a:t>会被调用销毁</a:t>
            </a:r>
            <a:r>
              <a:rPr lang="en-US" altLang="zh-CN" sz="1400" dirty="0">
                <a:solidFill>
                  <a:srgbClr val="FF0000"/>
                </a:solidFill>
                <a:latin typeface="Courier New" panose="02070309020205020404" pitchFamily="49" charset="0"/>
              </a:rPr>
              <a:t>)</a:t>
            </a:r>
            <a:endParaRPr lang="en-AU" altLang="zh-CN" sz="1400" dirty="0">
              <a:solidFill>
                <a:srgbClr val="FF0000"/>
              </a:solidFill>
              <a:latin typeface="Courier New" panose="02070309020205020404" pitchFamily="49" charset="0"/>
            </a:endParaRPr>
          </a:p>
          <a:p>
            <a:pPr>
              <a:lnSpc>
                <a:spcPct val="90000"/>
              </a:lnSpc>
            </a:pPr>
            <a:r>
              <a:rPr lang="zh-CN" altLang="en-AU" dirty="0">
                <a:ea typeface="宋体" panose="02010600030101010101" pitchFamily="2" charset="-122"/>
              </a:rPr>
              <a:t>销毁</a:t>
            </a:r>
            <a:r>
              <a:rPr lang="en-AU" altLang="zh-CN" dirty="0">
                <a:ea typeface="宋体" panose="02010600030101010101" pitchFamily="2" charset="-122"/>
              </a:rPr>
              <a:t>base</a:t>
            </a:r>
            <a:r>
              <a:rPr lang="zh-CN" altLang="en-AU" dirty="0">
                <a:ea typeface="宋体" panose="02010600030101010101" pitchFamily="2" charset="-122"/>
              </a:rPr>
              <a:t>部分</a:t>
            </a:r>
            <a:r>
              <a:rPr lang="en-AU" altLang="zh-CN" dirty="0"/>
              <a:t>:</a:t>
            </a:r>
          </a:p>
          <a:p>
            <a:pPr lvl="1">
              <a:lnSpc>
                <a:spcPct val="90000"/>
              </a:lnSpc>
            </a:pPr>
            <a:r>
              <a:rPr lang="en-AU" altLang="zh-CN" dirty="0" err="1">
                <a:solidFill>
                  <a:srgbClr val="00B0F0"/>
                </a:solidFill>
                <a:latin typeface="Courier New" panose="02070309020205020404" pitchFamily="49" charset="0"/>
              </a:rPr>
              <a:t>Base.destroy</a:t>
            </a:r>
            <a:r>
              <a:rPr lang="en-AU" altLang="zh-CN" dirty="0">
                <a:solidFill>
                  <a:srgbClr val="00B0F0"/>
                </a:solidFill>
                <a:latin typeface="Courier New" panose="02070309020205020404" pitchFamily="49" charset="0"/>
              </a:rPr>
              <a:t>()</a:t>
            </a:r>
            <a:endParaRPr lang="en-AU" altLang="zh-CN" dirty="0">
              <a:latin typeface="Courier New" panose="02070309020205020404" pitchFamily="49" charset="0"/>
            </a:endParaRPr>
          </a:p>
          <a:p>
            <a:pPr lvl="1">
              <a:lnSpc>
                <a:spcPct val="90000"/>
              </a:lnSpc>
            </a:pPr>
            <a:r>
              <a:rPr lang="zh-CN" altLang="en-AU" dirty="0">
                <a:ea typeface="宋体" panose="02010600030101010101" pitchFamily="2" charset="-122"/>
              </a:rPr>
              <a:t>如果是</a:t>
            </a:r>
            <a:r>
              <a:rPr lang="zh-CN" altLang="en-AU" dirty="0">
                <a:solidFill>
                  <a:srgbClr val="00B0F0"/>
                </a:solidFill>
                <a:ea typeface="宋体" panose="02010600030101010101" pitchFamily="2" charset="-122"/>
              </a:rPr>
              <a:t>永久性数据会使得</a:t>
            </a:r>
            <a:r>
              <a:rPr lang="en-AU" altLang="zh-CN" dirty="0" err="1">
                <a:solidFill>
                  <a:srgbClr val="00B0F0"/>
                </a:solidFill>
                <a:latin typeface="Courier New" panose="02070309020205020404" pitchFamily="49" charset="0"/>
              </a:rPr>
              <a:t>writeToDB</a:t>
            </a:r>
            <a:r>
              <a:rPr lang="en-AU" altLang="zh-CN" dirty="0">
                <a:solidFill>
                  <a:srgbClr val="00B0F0"/>
                </a:solidFill>
                <a:latin typeface="Courier New" panose="02070309020205020404" pitchFamily="49" charset="0"/>
              </a:rPr>
              <a:t>()</a:t>
            </a:r>
            <a:r>
              <a:rPr lang="zh-CN" altLang="en-AU" dirty="0">
                <a:solidFill>
                  <a:srgbClr val="00B0F0"/>
                </a:solidFill>
                <a:latin typeface="Courier New" panose="02070309020205020404" pitchFamily="49" charset="0"/>
                <a:ea typeface="宋体" panose="02010600030101010101" pitchFamily="2" charset="-122"/>
              </a:rPr>
              <a:t>被调用</a:t>
            </a:r>
          </a:p>
          <a:p>
            <a:pPr marL="182245" lvl="1" indent="0">
              <a:lnSpc>
                <a:spcPct val="90000"/>
              </a:lnSpc>
              <a:buNone/>
            </a:pPr>
            <a:r>
              <a:rPr lang="en-US" altLang="zh-CN" sz="1200" dirty="0">
                <a:solidFill>
                  <a:srgbClr val="FF0000"/>
                </a:solidFill>
                <a:latin typeface="Courier New" panose="02070309020205020404" pitchFamily="49" charset="0"/>
                <a:ea typeface="宋体" panose="02010600030101010101" pitchFamily="2" charset="-122"/>
              </a:rPr>
              <a:t>(</a:t>
            </a:r>
            <a:r>
              <a:rPr lang="zh-CN" altLang="en-US" sz="1200" dirty="0">
                <a:solidFill>
                  <a:srgbClr val="FF0000"/>
                </a:solidFill>
                <a:latin typeface="Courier New" panose="02070309020205020404" pitchFamily="49" charset="0"/>
                <a:ea typeface="宋体" panose="02010600030101010101" pitchFamily="2" charset="-122"/>
              </a:rPr>
              <a:t>因该是销毁前会写一次</a:t>
            </a:r>
            <a:r>
              <a:rPr lang="en-US" altLang="zh-CN" sz="1200" dirty="0">
                <a:solidFill>
                  <a:srgbClr val="FF0000"/>
                </a:solidFill>
                <a:latin typeface="Courier New" panose="02070309020205020404" pitchFamily="49" charset="0"/>
                <a:ea typeface="宋体" panose="02010600030101010101" pitchFamily="2" charset="-122"/>
              </a:rPr>
              <a:t>DB)</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容错</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a:ea typeface="宋体" panose="02010600030101010101" pitchFamily="2" charset="-122"/>
              </a:rPr>
              <a:t>Cell</a:t>
            </a:r>
            <a:r>
              <a:rPr lang="zh-CN" altLang="en-US" dirty="0">
                <a:ea typeface="宋体" panose="02010600030101010101" pitchFamily="2" charset="-122"/>
              </a:rPr>
              <a:t>的属性被</a:t>
            </a:r>
            <a:r>
              <a:rPr lang="zh-CN" altLang="en-US" dirty="0">
                <a:solidFill>
                  <a:srgbClr val="00B0F0"/>
                </a:solidFill>
                <a:ea typeface="宋体" panose="02010600030101010101" pitchFamily="2" charset="-122"/>
              </a:rPr>
              <a:t>备份到</a:t>
            </a:r>
            <a:r>
              <a:rPr lang="en-US" altLang="zh-CN" dirty="0">
                <a:solidFill>
                  <a:srgbClr val="00B0F0"/>
                </a:solidFill>
                <a:ea typeface="宋体" panose="02010600030101010101" pitchFamily="2" charset="-122"/>
              </a:rPr>
              <a:t>Base</a:t>
            </a:r>
            <a:endParaRPr lang="en-US" altLang="zh-CN" dirty="0">
              <a:ea typeface="宋体" panose="02010600030101010101" pitchFamily="2" charset="-122"/>
            </a:endParaRPr>
          </a:p>
          <a:p>
            <a:r>
              <a:rPr lang="en-US" altLang="zh-CN" dirty="0">
                <a:ea typeface="宋体" panose="02010600030101010101" pitchFamily="2" charset="-122"/>
              </a:rPr>
              <a:t>Base</a:t>
            </a:r>
            <a:r>
              <a:rPr lang="zh-CN" altLang="en-US" dirty="0">
                <a:ea typeface="宋体" panose="02010600030101010101" pitchFamily="2" charset="-122"/>
              </a:rPr>
              <a:t>的属性也被</a:t>
            </a:r>
            <a:r>
              <a:rPr lang="zh-CN" altLang="en-US" dirty="0">
                <a:solidFill>
                  <a:srgbClr val="00B0F0"/>
                </a:solidFill>
                <a:ea typeface="宋体" panose="02010600030101010101" pitchFamily="2" charset="-122"/>
              </a:rPr>
              <a:t>备份到另一个</a:t>
            </a:r>
            <a:r>
              <a:rPr lang="en-US" altLang="zh-CN" dirty="0" err="1">
                <a:solidFill>
                  <a:srgbClr val="00B0F0"/>
                </a:solidFill>
                <a:ea typeface="宋体" panose="02010600030101010101" pitchFamily="2" charset="-122"/>
              </a:rPr>
              <a:t>BaseApp</a:t>
            </a:r>
            <a:endParaRPr lang="en-US" altLang="zh-CN" dirty="0">
              <a:ea typeface="宋体" panose="02010600030101010101" pitchFamily="2" charset="-122"/>
            </a:endParaRPr>
          </a:p>
          <a:p>
            <a:r>
              <a:rPr lang="zh-CN" altLang="en-US" dirty="0">
                <a:solidFill>
                  <a:srgbClr val="00B0F0"/>
                </a:solidFill>
                <a:ea typeface="宋体" panose="02010600030101010101" pitchFamily="2" charset="-122"/>
              </a:rPr>
              <a:t>永久属性备份到数据库</a:t>
            </a:r>
            <a:endParaRPr lang="en-US" altLang="zh-CN" dirty="0">
              <a:ea typeface="宋体" panose="02010600030101010101" pitchFamily="2" charset="-122"/>
            </a:endParaRPr>
          </a:p>
          <a:p>
            <a:pPr lvl="1"/>
            <a:r>
              <a:rPr lang="zh-CN" altLang="en-US" dirty="0">
                <a:ea typeface="宋体" panose="02010600030101010101" pitchFamily="2" charset="-122"/>
              </a:rPr>
              <a:t>存档</a:t>
            </a:r>
            <a:r>
              <a:rPr lang="en-US" altLang="zh-CN" dirty="0">
                <a:ea typeface="宋体" panose="02010600030101010101" pitchFamily="2" charset="-122"/>
              </a:rPr>
              <a:t>: </a:t>
            </a:r>
            <a:r>
              <a:rPr lang="zh-CN" altLang="en-US" dirty="0">
                <a:ea typeface="宋体" panose="02010600030101010101" pitchFamily="2" charset="-122"/>
              </a:rPr>
              <a:t>持续地</a:t>
            </a:r>
            <a:r>
              <a:rPr lang="zh-CN" altLang="en-US" dirty="0">
                <a:solidFill>
                  <a:srgbClr val="00B0F0"/>
                </a:solidFill>
                <a:ea typeface="宋体" panose="02010600030101010101" pitchFamily="2" charset="-122"/>
              </a:rPr>
              <a:t>轮流调度存档</a:t>
            </a:r>
            <a:endParaRPr lang="en-US" altLang="zh-CN" dirty="0">
              <a:ea typeface="宋体" panose="02010600030101010101" pitchFamily="2" charset="-122"/>
            </a:endParaRPr>
          </a:p>
          <a:p>
            <a:r>
              <a:rPr lang="zh-CN" altLang="en-US" dirty="0">
                <a:ea typeface="宋体" panose="02010600030101010101" pitchFamily="2" charset="-122"/>
              </a:rPr>
              <a:t>容错</a:t>
            </a:r>
            <a:r>
              <a:rPr lang="en-US" altLang="zh-CN" dirty="0">
                <a:ea typeface="宋体" panose="02010600030101010101" pitchFamily="2" charset="-122"/>
              </a:rPr>
              <a:t>vs.</a:t>
            </a:r>
            <a:r>
              <a:rPr lang="zh-CN" altLang="en-US" dirty="0">
                <a:ea typeface="宋体" panose="02010600030101010101" pitchFamily="2" charset="-122"/>
              </a:rPr>
              <a:t>灾难恢复</a:t>
            </a:r>
            <a:endParaRPr lang="en-US" altLang="zh-CN" dirty="0">
              <a:ea typeface="宋体" panose="02010600030101010101" pitchFamily="2" charset="-122"/>
            </a:endParaRPr>
          </a:p>
          <a:p>
            <a:pPr lvl="1"/>
            <a:r>
              <a:rPr lang="zh-CN" altLang="en-US" dirty="0">
                <a:ea typeface="宋体" panose="02010600030101010101" pitchFamily="2" charset="-122"/>
              </a:rPr>
              <a:t>灾难 </a:t>
            </a:r>
            <a:r>
              <a:rPr lang="en-US" altLang="zh-CN" dirty="0">
                <a:ea typeface="宋体" panose="02010600030101010101" pitchFamily="2" charset="-122"/>
              </a:rPr>
              <a:t>= </a:t>
            </a:r>
            <a:r>
              <a:rPr lang="zh-CN" altLang="en-US" dirty="0">
                <a:ea typeface="宋体" panose="02010600030101010101" pitchFamily="2" charset="-122"/>
              </a:rPr>
              <a:t>同时很多服务器进程失败</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第五章</a:t>
            </a:r>
          </a:p>
        </p:txBody>
      </p:sp>
      <p:sp>
        <p:nvSpPr>
          <p:cNvPr id="12" name="TextBox 11"/>
          <p:cNvSpPr txBox="1"/>
          <p:nvPr/>
        </p:nvSpPr>
        <p:spPr>
          <a:xfrm>
            <a:off x="1619672" y="2924944"/>
            <a:ext cx="633670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Cell</a:t>
            </a:r>
            <a:r>
              <a:rPr lang="zh-CN" altLang="en-US" sz="4000" b="1" kern="0" dirty="0">
                <a:solidFill>
                  <a:schemeClr val="tx2"/>
                </a:solidFill>
                <a:latin typeface="Verdana" panose="020B0604030504040204"/>
                <a:ea typeface="宋体" panose="02010600030101010101" pitchFamily="2" charset="-122"/>
              </a:rPr>
              <a:t>功能集</a:t>
            </a:r>
            <a:endParaRPr lang="zh-CN" altLang="en-US" sz="3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a:t>
            </a:r>
            <a:r>
              <a:rPr lang="en-US" altLang="zh-CN" sz="4900" b="1" dirty="0">
                <a:solidFill>
                  <a:schemeClr val="accent1"/>
                </a:solidFill>
                <a:latin typeface="+mn-ea"/>
                <a:ea typeface="+mn-ea"/>
              </a:rPr>
              <a:t>cell</a:t>
            </a:r>
            <a:r>
              <a:rPr lang="zh-CN" altLang="en-US" sz="4900" b="1" dirty="0">
                <a:solidFill>
                  <a:schemeClr val="accent1"/>
                </a:solidFill>
                <a:latin typeface="+mn-ea"/>
                <a:ea typeface="+mn-ea"/>
              </a:rPr>
              <a:t>部分的功能集</a:t>
            </a:r>
          </a:p>
        </p:txBody>
      </p:sp>
      <p:sp>
        <p:nvSpPr>
          <p:cNvPr id="17" name="Rectangle 3"/>
          <p:cNvSpPr txBox="1">
            <a:spLocks noChangeArrowheads="1"/>
          </p:cNvSpPr>
          <p:nvPr/>
        </p:nvSpPr>
        <p:spPr bwMode="auto">
          <a:xfrm>
            <a:off x="107539"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ea typeface="宋体" panose="02010600030101010101" pitchFamily="2" charset="-122"/>
              </a:rPr>
              <a:t>在</a:t>
            </a:r>
            <a:r>
              <a:rPr lang="en-US" altLang="zh-CN" dirty="0">
                <a:ea typeface="宋体" panose="02010600030101010101" pitchFamily="2" charset="-122"/>
              </a:rPr>
              <a:t>Entity</a:t>
            </a:r>
            <a:r>
              <a:rPr lang="zh-CN" altLang="en-US" dirty="0">
                <a:ea typeface="宋体" panose="02010600030101010101" pitchFamily="2" charset="-122"/>
              </a:rPr>
              <a:t>的</a:t>
            </a:r>
            <a:r>
              <a:rPr lang="en-US" altLang="zh-CN" dirty="0">
                <a:ea typeface="宋体" panose="02010600030101010101" pitchFamily="2" charset="-122"/>
              </a:rPr>
              <a:t>Cell</a:t>
            </a:r>
            <a:r>
              <a:rPr lang="zh-CN" altLang="en-US" dirty="0">
                <a:ea typeface="宋体" panose="02010600030101010101" pitchFamily="2" charset="-122"/>
              </a:rPr>
              <a:t>部分有许多</a:t>
            </a:r>
            <a:r>
              <a:rPr lang="zh-CN" altLang="en-US" dirty="0">
                <a:solidFill>
                  <a:srgbClr val="00B0F0"/>
                </a:solidFill>
                <a:ea typeface="宋体" panose="02010600030101010101" pitchFamily="2" charset="-122"/>
              </a:rPr>
              <a:t>与空间有关的功能</a:t>
            </a:r>
            <a:r>
              <a:rPr lang="zh-CN" altLang="en-US" dirty="0">
                <a:ea typeface="宋体" panose="02010600030101010101" pitchFamily="2" charset="-122"/>
              </a:rPr>
              <a:t>可用</a:t>
            </a:r>
            <a:endParaRPr lang="en-US" altLang="zh-CN" dirty="0">
              <a:ea typeface="宋体" panose="02010600030101010101" pitchFamily="2" charset="-122"/>
            </a:endParaRPr>
          </a:p>
          <a:p>
            <a:pPr lvl="1"/>
            <a:r>
              <a:rPr lang="en-US" altLang="zh-CN" dirty="0">
                <a:solidFill>
                  <a:srgbClr val="00B0F0"/>
                </a:solidFill>
                <a:ea typeface="宋体" panose="02010600030101010101" pitchFamily="2" charset="-122"/>
              </a:rPr>
              <a:t>Navigate/</a:t>
            </a:r>
            <a:r>
              <a:rPr lang="en-US" altLang="zh-CN" dirty="0" err="1">
                <a:solidFill>
                  <a:srgbClr val="00B0F0"/>
                </a:solidFill>
                <a:ea typeface="宋体" panose="02010600030101010101" pitchFamily="2" charset="-122"/>
              </a:rPr>
              <a:t>MoveTo</a:t>
            </a:r>
            <a:r>
              <a:rPr lang="en-US" altLang="zh-CN" dirty="0">
                <a:solidFill>
                  <a:srgbClr val="00B0F0"/>
                </a:solidFill>
                <a:ea typeface="宋体" panose="02010600030101010101" pitchFamily="2" charset="-122"/>
              </a:rPr>
              <a:t>*</a:t>
            </a:r>
            <a:r>
              <a:rPr lang="zh-CN" altLang="en-US" dirty="0">
                <a:solidFill>
                  <a:srgbClr val="00B0F0"/>
                </a:solidFill>
                <a:ea typeface="宋体" panose="02010600030101010101" pitchFamily="2" charset="-122"/>
              </a:rPr>
              <a:t>导航系统</a:t>
            </a:r>
            <a:endParaRPr lang="zh-CN" altLang="en-US" dirty="0">
              <a:ea typeface="宋体" panose="02010600030101010101" pitchFamily="2" charset="-122"/>
            </a:endParaRPr>
          </a:p>
          <a:p>
            <a:pPr lvl="1"/>
            <a:r>
              <a:rPr lang="en-US" altLang="zh-CN" dirty="0">
                <a:solidFill>
                  <a:srgbClr val="00B0F0"/>
                </a:solidFill>
                <a:ea typeface="宋体" panose="02010600030101010101" pitchFamily="2" charset="-122"/>
              </a:rPr>
              <a:t>Proximity</a:t>
            </a:r>
            <a:r>
              <a:rPr lang="zh-CN" altLang="en-US" dirty="0">
                <a:solidFill>
                  <a:srgbClr val="00B0F0"/>
                </a:solidFill>
                <a:ea typeface="宋体" panose="02010600030101010101" pitchFamily="2" charset="-122"/>
              </a:rPr>
              <a:t>触发器</a:t>
            </a:r>
            <a:r>
              <a:rPr lang="en-US" altLang="zh-CN" dirty="0">
                <a:solidFill>
                  <a:srgbClr val="00B0F0"/>
                </a:solidFill>
                <a:ea typeface="宋体" panose="02010600030101010101" pitchFamily="2" charset="-122"/>
              </a:rPr>
              <a:t>(</a:t>
            </a:r>
            <a:r>
              <a:rPr lang="zh-CN" altLang="en-US" dirty="0">
                <a:solidFill>
                  <a:srgbClr val="00B0F0"/>
                </a:solidFill>
                <a:ea typeface="宋体" panose="02010600030101010101" pitchFamily="2" charset="-122"/>
              </a:rPr>
              <a:t>陷阱</a:t>
            </a:r>
            <a:r>
              <a:rPr lang="en-US" altLang="zh-CN" dirty="0">
                <a:solidFill>
                  <a:srgbClr val="00B0F0"/>
                </a:solidFill>
                <a:ea typeface="宋体" panose="02010600030101010101" pitchFamily="2" charset="-122"/>
              </a:rPr>
              <a:t>)</a:t>
            </a:r>
            <a:endParaRPr lang="en-US" altLang="zh-CN" dirty="0">
              <a:ea typeface="宋体" panose="02010600030101010101" pitchFamily="2" charset="-122"/>
            </a:endParaRPr>
          </a:p>
          <a:p>
            <a:r>
              <a:rPr lang="zh-CN" altLang="en-US" dirty="0">
                <a:ea typeface="宋体" panose="02010600030101010101" pitchFamily="2" charset="-122"/>
              </a:rPr>
              <a:t>这些功能都是用</a:t>
            </a:r>
            <a:r>
              <a:rPr lang="en-US" altLang="zh-CN" dirty="0">
                <a:solidFill>
                  <a:srgbClr val="00B0F0"/>
                </a:solidFill>
                <a:ea typeface="宋体" panose="02010600030101010101" pitchFamily="2" charset="-122"/>
              </a:rPr>
              <a:t>Controller</a:t>
            </a:r>
            <a:r>
              <a:rPr lang="zh-CN" altLang="en-US" dirty="0">
                <a:ea typeface="宋体" panose="02010600030101010101" pitchFamily="2" charset="-122"/>
              </a:rPr>
              <a:t>实现的</a:t>
            </a:r>
            <a:endParaRPr lang="en-US" altLang="zh-CN" dirty="0">
              <a:ea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a:t>
            </a:r>
            <a:r>
              <a:rPr lang="en-US" altLang="zh-CN" sz="4900" dirty="0">
                <a:solidFill>
                  <a:schemeClr val="accent1"/>
                </a:solidFill>
                <a:ea typeface="宋体" panose="02010600030101010101" pitchFamily="2" charset="-122"/>
              </a:rPr>
              <a:t>Controller</a:t>
            </a:r>
            <a:r>
              <a:rPr lang="en-US" altLang="zh-CN" sz="1555" dirty="0">
                <a:solidFill>
                  <a:srgbClr val="FF0000"/>
                </a:solidFill>
                <a:ea typeface="宋体" panose="02010600030101010101" pitchFamily="2" charset="-122"/>
              </a:rPr>
              <a:t>(</a:t>
            </a:r>
            <a:r>
              <a:rPr lang="zh-CN" altLang="en-US" sz="1555" dirty="0">
                <a:solidFill>
                  <a:srgbClr val="FF0000"/>
                </a:solidFill>
                <a:ea typeface="宋体" panose="02010600030101010101" pitchFamily="2" charset="-122"/>
              </a:rPr>
              <a:t>每个</a:t>
            </a:r>
            <a:r>
              <a:rPr lang="en-US" altLang="zh-CN" sz="1555" dirty="0">
                <a:solidFill>
                  <a:srgbClr val="FF0000"/>
                </a:solidFill>
                <a:ea typeface="宋体" panose="02010600030101010101" pitchFamily="2" charset="-122"/>
              </a:rPr>
              <a:t>Controller</a:t>
            </a:r>
            <a:r>
              <a:rPr lang="zh-CN" altLang="en-US" sz="1555" dirty="0">
                <a:solidFill>
                  <a:srgbClr val="FF0000"/>
                </a:solidFill>
                <a:ea typeface="宋体" panose="02010600030101010101" pitchFamily="2" charset="-122"/>
              </a:rPr>
              <a:t>应该用于处理某一个功能</a:t>
            </a:r>
            <a:r>
              <a:rPr lang="en-US" altLang="zh-CN" sz="1555" dirty="0">
                <a:solidFill>
                  <a:srgbClr val="FF0000"/>
                </a:solidFill>
                <a:ea typeface="宋体" panose="02010600030101010101" pitchFamily="2" charset="-122"/>
              </a:rPr>
              <a:t>)</a:t>
            </a:r>
            <a:endParaRPr lang="en-US" altLang="zh-CN" sz="1555" b="1" dirty="0">
              <a:solidFill>
                <a:srgbClr val="FF0000"/>
              </a:solidFill>
              <a:latin typeface="+mn-ea"/>
              <a:ea typeface="宋体" panose="02010600030101010101" pitchFamily="2" charset="-122"/>
            </a:endParaRPr>
          </a:p>
        </p:txBody>
      </p:sp>
      <p:sp>
        <p:nvSpPr>
          <p:cNvPr id="17" name="Rectangle 3"/>
          <p:cNvSpPr txBox="1">
            <a:spLocks noChangeArrowheads="1"/>
          </p:cNvSpPr>
          <p:nvPr/>
        </p:nvSpPr>
        <p:spPr bwMode="auto">
          <a:xfrm>
            <a:off x="35496" y="980728"/>
            <a:ext cx="9054876"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zh-CN" altLang="en-US" dirty="0">
                <a:ea typeface="宋体" panose="02010600030101010101" pitchFamily="2" charset="-122"/>
              </a:rPr>
              <a:t>实现那些需要在后台</a:t>
            </a:r>
            <a:r>
              <a:rPr lang="zh-CN" altLang="en-US" dirty="0">
                <a:solidFill>
                  <a:srgbClr val="00B0F0"/>
                </a:solidFill>
                <a:ea typeface="宋体" panose="02010600030101010101" pitchFamily="2" charset="-122"/>
              </a:rPr>
              <a:t>花费很多</a:t>
            </a:r>
            <a:r>
              <a:rPr lang="en-US" altLang="zh-CN" dirty="0">
                <a:solidFill>
                  <a:srgbClr val="00B0F0"/>
                </a:solidFill>
                <a:ea typeface="宋体" panose="02010600030101010101" pitchFamily="2" charset="-122"/>
              </a:rPr>
              <a:t>tick</a:t>
            </a:r>
            <a:r>
              <a:rPr lang="zh-CN" altLang="en-US" dirty="0">
                <a:solidFill>
                  <a:srgbClr val="00B0F0"/>
                </a:solidFill>
                <a:ea typeface="宋体" panose="02010600030101010101" pitchFamily="2" charset="-122"/>
              </a:rPr>
              <a:t>处理的功能</a:t>
            </a:r>
            <a:endParaRPr lang="zh-CN" altLang="en-US" dirty="0">
              <a:ea typeface="宋体" panose="02010600030101010101" pitchFamily="2" charset="-122"/>
            </a:endParaRPr>
          </a:p>
          <a:p>
            <a:r>
              <a:rPr lang="zh-CN" altLang="en-US" dirty="0">
                <a:ea typeface="宋体" panose="02010600030101010101" pitchFamily="2" charset="-122"/>
              </a:rPr>
              <a:t>当结束时</a:t>
            </a:r>
            <a:r>
              <a:rPr lang="zh-CN" altLang="en-US" dirty="0">
                <a:solidFill>
                  <a:srgbClr val="00B0F0"/>
                </a:solidFill>
                <a:ea typeface="宋体" panose="02010600030101010101" pitchFamily="2" charset="-122"/>
              </a:rPr>
              <a:t>会回调</a:t>
            </a:r>
            <a:r>
              <a:rPr lang="en-US" altLang="zh-CN" dirty="0">
                <a:solidFill>
                  <a:srgbClr val="00B0F0"/>
                </a:solidFill>
                <a:ea typeface="宋体" panose="02010600030101010101" pitchFamily="2" charset="-122"/>
              </a:rPr>
              <a:t>Python</a:t>
            </a:r>
            <a:r>
              <a:rPr lang="zh-CN" altLang="en-US" dirty="0">
                <a:solidFill>
                  <a:srgbClr val="00B0F0"/>
                </a:solidFill>
                <a:ea typeface="宋体" panose="02010600030101010101" pitchFamily="2" charset="-122"/>
              </a:rPr>
              <a:t>脚本</a:t>
            </a:r>
            <a:endParaRPr lang="en-US" altLang="zh-CN" dirty="0">
              <a:ea typeface="宋体" panose="02010600030101010101" pitchFamily="2" charset="-122"/>
            </a:endParaRPr>
          </a:p>
          <a:p>
            <a:r>
              <a:rPr lang="zh-CN" altLang="en-US" dirty="0">
                <a:ea typeface="宋体" panose="02010600030101010101" pitchFamily="2" charset="-122"/>
              </a:rPr>
              <a:t>用于</a:t>
            </a:r>
            <a:r>
              <a:rPr lang="zh-CN" altLang="en-US" dirty="0">
                <a:solidFill>
                  <a:srgbClr val="00B0F0"/>
                </a:solidFill>
                <a:ea typeface="宋体" panose="02010600030101010101" pitchFamily="2" charset="-122"/>
              </a:rPr>
              <a:t>实现复杂的逻辑</a:t>
            </a:r>
            <a:endParaRPr lang="en-US" altLang="zh-CN" dirty="0">
              <a:ea typeface="宋体" panose="02010600030101010101" pitchFamily="2" charset="-122"/>
            </a:endParaRPr>
          </a:p>
          <a:p>
            <a:r>
              <a:rPr lang="zh-CN" altLang="en-US" dirty="0">
                <a:ea typeface="宋体" panose="02010600030101010101" pitchFamily="2" charset="-122"/>
              </a:rPr>
              <a:t>因为效率原因</a:t>
            </a:r>
            <a:r>
              <a:rPr lang="zh-CN" altLang="en-US" dirty="0">
                <a:solidFill>
                  <a:srgbClr val="00B0F0"/>
                </a:solidFill>
                <a:ea typeface="宋体" panose="02010600030101010101" pitchFamily="2" charset="-122"/>
              </a:rPr>
              <a:t>用</a:t>
            </a:r>
            <a:r>
              <a:rPr lang="en-US" altLang="zh-CN" dirty="0">
                <a:solidFill>
                  <a:srgbClr val="00B0F0"/>
                </a:solidFill>
                <a:ea typeface="宋体" panose="02010600030101010101" pitchFamily="2" charset="-122"/>
              </a:rPr>
              <a:t>C/C++</a:t>
            </a:r>
            <a:r>
              <a:rPr lang="zh-CN" altLang="en-US" dirty="0">
                <a:solidFill>
                  <a:srgbClr val="00B0F0"/>
                </a:solidFill>
                <a:ea typeface="宋体" panose="02010600030101010101" pitchFamily="2" charset="-122"/>
              </a:rPr>
              <a:t>实现</a:t>
            </a:r>
            <a:r>
              <a:rPr lang="en-US" altLang="zh-CN" dirty="0">
                <a:ea typeface="宋体" panose="02010600030101010101" pitchFamily="2" charset="-122"/>
              </a:rPr>
              <a:t>(</a:t>
            </a:r>
            <a:r>
              <a:rPr lang="zh-CN" altLang="en-US" dirty="0">
                <a:ea typeface="宋体" panose="02010600030101010101" pitchFamily="2" charset="-122"/>
              </a:rPr>
              <a:t>相对于</a:t>
            </a:r>
            <a:r>
              <a:rPr lang="en-US" altLang="zh-CN" dirty="0">
                <a:ea typeface="宋体" panose="02010600030101010101" pitchFamily="2" charset="-122"/>
              </a:rPr>
              <a:t>script)</a:t>
            </a:r>
          </a:p>
          <a:p>
            <a:r>
              <a:rPr lang="zh-CN" altLang="en-US" dirty="0">
                <a:ea typeface="宋体" panose="02010600030101010101" pitchFamily="2" charset="-122"/>
              </a:rPr>
              <a:t>当</a:t>
            </a:r>
            <a:r>
              <a:rPr lang="en-US" altLang="zh-CN" dirty="0">
                <a:ea typeface="宋体" panose="02010600030101010101" pitchFamily="2" charset="-122"/>
              </a:rPr>
              <a:t>Entity</a:t>
            </a:r>
            <a:r>
              <a:rPr lang="zh-CN" altLang="en-US" dirty="0">
                <a:ea typeface="宋体" panose="02010600030101010101" pitchFamily="2" charset="-122"/>
              </a:rPr>
              <a:t>跨越</a:t>
            </a:r>
            <a:r>
              <a:rPr lang="en-US" altLang="zh-CN" dirty="0">
                <a:ea typeface="宋体" panose="02010600030101010101" pitchFamily="2" charset="-122"/>
              </a:rPr>
              <a:t>Cell</a:t>
            </a:r>
            <a:r>
              <a:rPr lang="zh-CN" altLang="en-US" dirty="0">
                <a:ea typeface="宋体" panose="02010600030101010101" pitchFamily="2" charset="-122"/>
              </a:rPr>
              <a:t>边界时</a:t>
            </a:r>
            <a:r>
              <a:rPr lang="en-US" altLang="zh-CN" dirty="0">
                <a:ea typeface="宋体" panose="02010600030101010101" pitchFamily="2" charset="-122"/>
              </a:rPr>
              <a:t>Controller</a:t>
            </a:r>
            <a:r>
              <a:rPr lang="zh-CN" altLang="en-US" dirty="0">
                <a:ea typeface="宋体" panose="02010600030101010101" pitchFamily="2" charset="-122"/>
              </a:rPr>
              <a:t>也跟着复制到新的</a:t>
            </a:r>
            <a:r>
              <a:rPr lang="en-US" altLang="zh-CN" dirty="0">
                <a:ea typeface="宋体" panose="02010600030101010101" pitchFamily="2" charset="-122"/>
              </a:rPr>
              <a:t>Cell</a:t>
            </a:r>
          </a:p>
          <a:p>
            <a:r>
              <a:rPr lang="zh-CN" altLang="en-US" dirty="0">
                <a:ea typeface="宋体" panose="02010600030101010101" pitchFamily="2" charset="-122"/>
              </a:rPr>
              <a:t>每个</a:t>
            </a:r>
            <a:r>
              <a:rPr lang="en-US" altLang="zh-CN" dirty="0">
                <a:ea typeface="宋体" panose="02010600030101010101" pitchFamily="2" charset="-122"/>
              </a:rPr>
              <a:t>Entity</a:t>
            </a:r>
            <a:r>
              <a:rPr lang="zh-CN" altLang="en-US" dirty="0">
                <a:ea typeface="宋体" panose="02010600030101010101" pitchFamily="2" charset="-122"/>
              </a:rPr>
              <a:t>上</a:t>
            </a:r>
            <a:r>
              <a:rPr lang="zh-CN" altLang="en-US" dirty="0">
                <a:solidFill>
                  <a:srgbClr val="00B0F0"/>
                </a:solidFill>
                <a:ea typeface="宋体" panose="02010600030101010101" pitchFamily="2" charset="-122"/>
              </a:rPr>
              <a:t>可以有无限多个</a:t>
            </a:r>
            <a:r>
              <a:rPr lang="en-US" altLang="zh-CN" dirty="0">
                <a:solidFill>
                  <a:srgbClr val="00B0F0"/>
                </a:solidFill>
                <a:ea typeface="宋体" panose="02010600030101010101" pitchFamily="2" charset="-122"/>
              </a:rPr>
              <a:t>Controller</a:t>
            </a:r>
            <a:endParaRPr lang="en-US" altLang="zh-CN" dirty="0">
              <a:ea typeface="宋体" panose="02010600030101010101" pitchFamily="2" charset="-122"/>
            </a:endParaRPr>
          </a:p>
          <a:p>
            <a:r>
              <a:rPr lang="zh-CN" altLang="en-US" dirty="0">
                <a:solidFill>
                  <a:srgbClr val="00B0F0"/>
                </a:solidFill>
                <a:ea typeface="宋体" panose="02010600030101010101" pitchFamily="2" charset="-122"/>
              </a:rPr>
              <a:t>每个实列返回一个</a:t>
            </a:r>
            <a:r>
              <a:rPr lang="en-US" altLang="zh-CN" dirty="0">
                <a:solidFill>
                  <a:srgbClr val="00B0F0"/>
                </a:solidFill>
                <a:ea typeface="宋体" panose="02010600030101010101" pitchFamily="2" charset="-122"/>
              </a:rPr>
              <a:t>Controller ID</a:t>
            </a:r>
          </a:p>
          <a:p>
            <a:pPr lvl="1"/>
            <a:r>
              <a:rPr lang="zh-CN" altLang="en-US" sz="3200" dirty="0">
                <a:ea typeface="宋体" panose="02010600030101010101" pitchFamily="2" charset="-122"/>
              </a:rPr>
              <a:t>删除</a:t>
            </a:r>
            <a:r>
              <a:rPr lang="en-US" altLang="zh-CN" sz="3200" dirty="0">
                <a:ea typeface="宋体" panose="02010600030101010101" pitchFamily="2" charset="-122"/>
              </a:rPr>
              <a:t>:</a:t>
            </a:r>
            <a:r>
              <a:rPr lang="en-US" altLang="zh-CN" sz="3200" dirty="0" err="1">
                <a:latin typeface="Courier New" panose="02070309020205020404" pitchFamily="49" charset="0"/>
                <a:ea typeface="宋体" panose="02010600030101010101" pitchFamily="2" charset="-122"/>
              </a:rPr>
              <a:t>Entity.cancel</a:t>
            </a:r>
            <a:r>
              <a:rPr lang="en-US" altLang="zh-CN" sz="3200" dirty="0">
                <a:latin typeface="Courier New" panose="02070309020205020404" pitchFamily="49" charset="0"/>
                <a:ea typeface="宋体" panose="02010600030101010101" pitchFamily="2" charset="-122"/>
              </a:rPr>
              <a:t>( id )</a:t>
            </a:r>
          </a:p>
          <a:p>
            <a:r>
              <a:rPr lang="zh-CN" altLang="en-US" dirty="0">
                <a:ea typeface="宋体" panose="02010600030101010101" pitchFamily="2" charset="-122"/>
              </a:rPr>
              <a:t>能在它们的</a:t>
            </a:r>
            <a:r>
              <a:rPr lang="en-US" altLang="zh-CN" dirty="0">
                <a:ea typeface="宋体" panose="02010600030101010101" pitchFamily="2" charset="-122"/>
              </a:rPr>
              <a:t>Entity</a:t>
            </a:r>
            <a:r>
              <a:rPr lang="zh-CN" altLang="en-US" dirty="0">
                <a:ea typeface="宋体" panose="02010600030101010101" pitchFamily="2" charset="-122"/>
              </a:rPr>
              <a:t>的脚本上激活回调函数</a:t>
            </a:r>
            <a:endParaRPr lang="en-AU" altLang="zh-C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的导航系统</a:t>
            </a:r>
            <a:r>
              <a:rPr lang="en-US" altLang="zh-CN" sz="4900" dirty="0">
                <a:solidFill>
                  <a:srgbClr val="00B0F0"/>
                </a:solidFill>
                <a:ea typeface="宋体" panose="02010600030101010101" pitchFamily="2" charset="-122"/>
              </a:rPr>
              <a:t>(Navigation)</a:t>
            </a:r>
            <a:endParaRPr lang="en-US" altLang="zh-CN" sz="4900" b="1" dirty="0">
              <a:solidFill>
                <a:srgbClr val="00B0F0"/>
              </a:solidFill>
              <a:latin typeface="+mn-ea"/>
              <a:ea typeface="宋体" panose="02010600030101010101" pitchFamily="2" charset="-122"/>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tabLst>
                <a:tab pos="2962275" algn="l"/>
              </a:tabLst>
            </a:pPr>
            <a:r>
              <a:rPr lang="zh-CN" altLang="en-US" dirty="0">
                <a:latin typeface="Verdana" panose="020B0604030504040204" pitchFamily="34" charset="0"/>
                <a:ea typeface="宋体" panose="02010600030101010101" pitchFamily="2" charset="-122"/>
              </a:rPr>
              <a:t>导航系统提供了许多用于</a:t>
            </a:r>
            <a:r>
              <a:rPr lang="en-US" altLang="zh-CN" dirty="0">
                <a:latin typeface="Verdana" panose="020B0604030504040204" pitchFamily="34" charset="0"/>
                <a:ea typeface="宋体" panose="02010600030101010101" pitchFamily="2" charset="-122"/>
              </a:rPr>
              <a:t>Entity</a:t>
            </a:r>
            <a:r>
              <a:rPr lang="zh-CN" altLang="en-US" dirty="0">
                <a:latin typeface="Verdana" panose="020B0604030504040204" pitchFamily="34" charset="0"/>
                <a:ea typeface="宋体" panose="02010600030101010101" pitchFamily="2" charset="-122"/>
              </a:rPr>
              <a:t>的</a:t>
            </a:r>
            <a:r>
              <a:rPr lang="zh-CN" altLang="en-US" dirty="0">
                <a:solidFill>
                  <a:srgbClr val="00B0F0"/>
                </a:solidFill>
                <a:latin typeface="Verdana" panose="020B0604030504040204" pitchFamily="34" charset="0"/>
                <a:ea typeface="宋体" panose="02010600030101010101" pitchFamily="2" charset="-122"/>
              </a:rPr>
              <a:t>移动和寻路</a:t>
            </a:r>
            <a:r>
              <a:rPr lang="zh-CN" altLang="en-US" dirty="0">
                <a:latin typeface="Verdana" panose="020B0604030504040204" pitchFamily="34" charset="0"/>
                <a:ea typeface="宋体" panose="02010600030101010101" pitchFamily="2" charset="-122"/>
              </a:rPr>
              <a:t>的函数</a:t>
            </a:r>
            <a:endParaRPr lang="en-US" altLang="zh-CN" dirty="0">
              <a:latin typeface="Verdana" panose="020B0604030504040204" pitchFamily="34" charset="0"/>
              <a:ea typeface="宋体" panose="02010600030101010101" pitchFamily="2" charset="-122"/>
            </a:endParaRPr>
          </a:p>
          <a:p>
            <a:pPr>
              <a:tabLst>
                <a:tab pos="2962275" algn="l"/>
              </a:tabLst>
            </a:pPr>
            <a:r>
              <a:rPr lang="en-US" altLang="zh-CN" dirty="0">
                <a:latin typeface="Verdana" panose="020B0604030504040204" pitchFamily="34" charset="0"/>
                <a:ea typeface="宋体" panose="02010600030101010101" pitchFamily="2" charset="-122"/>
              </a:rPr>
              <a:t>Navigation Controller</a:t>
            </a:r>
            <a:r>
              <a:rPr lang="zh-CN" altLang="en-US" dirty="0">
                <a:latin typeface="Verdana" panose="020B0604030504040204" pitchFamily="34" charset="0"/>
                <a:ea typeface="宋体" panose="02010600030101010101" pitchFamily="2" charset="-122"/>
              </a:rPr>
              <a:t>用</a:t>
            </a:r>
            <a:r>
              <a:rPr lang="en-US" altLang="zh-CN" dirty="0" err="1"/>
              <a:t>RecastNavigation</a:t>
            </a:r>
            <a:r>
              <a:rPr lang="zh-CN" altLang="en-US" dirty="0">
                <a:latin typeface="Verdana" panose="020B0604030504040204" pitchFamily="34" charset="0"/>
                <a:ea typeface="宋体" panose="02010600030101010101" pitchFamily="2" charset="-122"/>
              </a:rPr>
              <a:t>从静态的碰撞场景里预先产生的</a:t>
            </a:r>
            <a:r>
              <a:rPr lang="en-US" altLang="zh-CN" dirty="0" err="1">
                <a:solidFill>
                  <a:srgbClr val="00B0F0"/>
                </a:solidFill>
                <a:latin typeface="Verdana" panose="020B0604030504040204" pitchFamily="34" charset="0"/>
                <a:ea typeface="宋体" panose="02010600030101010101" pitchFamily="2" charset="-122"/>
              </a:rPr>
              <a:t>NavMesh</a:t>
            </a:r>
            <a:r>
              <a:rPr lang="zh-CN" altLang="en-US" dirty="0">
                <a:latin typeface="Verdana" panose="020B0604030504040204" pitchFamily="34" charset="0"/>
                <a:ea typeface="宋体" panose="02010600030101010101" pitchFamily="2" charset="-122"/>
              </a:rPr>
              <a:t>来寻路</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a:t>
            </a:r>
            <a:r>
              <a:rPr lang="zh-CN" altLang="en-US" sz="4900" b="1" dirty="0">
                <a:solidFill>
                  <a:schemeClr val="accent1"/>
                </a:solidFill>
                <a:latin typeface="+mn-ea"/>
                <a:ea typeface="+mn-ea"/>
              </a:rPr>
              <a:t>的导航系统</a:t>
            </a:r>
            <a:r>
              <a:rPr lang="en-US" altLang="zh-CN" sz="4900" dirty="0">
                <a:solidFill>
                  <a:schemeClr val="accent1"/>
                </a:solidFill>
                <a:ea typeface="宋体" panose="02010600030101010101" pitchFamily="2" charset="-122"/>
              </a:rPr>
              <a:t>(</a:t>
            </a:r>
            <a:r>
              <a:rPr lang="zh-CN" altLang="en-US" sz="4900" dirty="0">
                <a:solidFill>
                  <a:schemeClr val="accent1"/>
                </a:solidFill>
                <a:ea typeface="宋体" panose="02010600030101010101" pitchFamily="2" charset="-122"/>
              </a:rPr>
              <a:t>方法</a:t>
            </a:r>
            <a:r>
              <a:rPr lang="en-US" altLang="zh-CN" sz="4900" dirty="0">
                <a:solidFill>
                  <a:schemeClr val="accent1"/>
                </a:solidFill>
                <a:ea typeface="宋体" panose="02010600030101010101" pitchFamily="2" charset="-122"/>
              </a:rPr>
              <a:t>)</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zh-CN" altLang="en-AU" dirty="0">
                <a:ea typeface="宋体" panose="02010600030101010101" pitchFamily="2" charset="-122"/>
              </a:rPr>
              <a:t>直接的</a:t>
            </a:r>
            <a:r>
              <a:rPr lang="zh-CN" altLang="en-AU" dirty="0">
                <a:solidFill>
                  <a:srgbClr val="00B0F0"/>
                </a:solidFill>
                <a:ea typeface="宋体" panose="02010600030101010101" pitchFamily="2" charset="-122"/>
              </a:rPr>
              <a:t>直线运动</a:t>
            </a:r>
            <a:endParaRPr lang="en-AU" altLang="zh-CN" dirty="0"/>
          </a:p>
          <a:p>
            <a:pPr lvl="1">
              <a:lnSpc>
                <a:spcPct val="90000"/>
              </a:lnSpc>
            </a:pPr>
            <a:r>
              <a:rPr lang="en-AU" altLang="zh-CN" dirty="0" err="1">
                <a:latin typeface="Courier New" panose="02070309020205020404" pitchFamily="49" charset="0"/>
              </a:rPr>
              <a:t>moveToPoint</a:t>
            </a:r>
            <a:r>
              <a:rPr lang="en-AU" altLang="zh-CN" dirty="0">
                <a:latin typeface="Courier New" panose="02070309020205020404" pitchFamily="49" charset="0"/>
              </a:rPr>
              <a:t>()</a:t>
            </a:r>
          </a:p>
          <a:p>
            <a:pPr lvl="1">
              <a:lnSpc>
                <a:spcPct val="90000"/>
              </a:lnSpc>
            </a:pPr>
            <a:r>
              <a:rPr lang="en-AU" altLang="zh-CN" dirty="0" err="1">
                <a:latin typeface="Courier New" panose="02070309020205020404" pitchFamily="49" charset="0"/>
              </a:rPr>
              <a:t>moveToEntity</a:t>
            </a:r>
            <a:r>
              <a:rPr lang="en-AU" altLang="zh-CN" dirty="0">
                <a:latin typeface="Courier New" panose="02070309020205020404" pitchFamily="49" charset="0"/>
              </a:rPr>
              <a:t>()</a:t>
            </a:r>
          </a:p>
          <a:p>
            <a:pPr>
              <a:lnSpc>
                <a:spcPct val="90000"/>
              </a:lnSpc>
            </a:pPr>
            <a:r>
              <a:rPr lang="zh-CN" altLang="en-AU" dirty="0">
                <a:ea typeface="宋体" panose="02010600030101010101" pitchFamily="2" charset="-122"/>
              </a:rPr>
              <a:t>导航</a:t>
            </a:r>
            <a:r>
              <a:rPr lang="en-AU" altLang="zh-CN" dirty="0"/>
              <a:t>(</a:t>
            </a:r>
            <a:r>
              <a:rPr lang="zh-CN" altLang="en-AU" dirty="0">
                <a:ea typeface="宋体" panose="02010600030101010101" pitchFamily="2" charset="-122"/>
              </a:rPr>
              <a:t>用</a:t>
            </a:r>
            <a:r>
              <a:rPr lang="en-AU" altLang="zh-CN" dirty="0" err="1"/>
              <a:t>NavMesh</a:t>
            </a:r>
            <a:r>
              <a:rPr lang="en-AU" altLang="zh-CN" dirty="0"/>
              <a:t>)</a:t>
            </a:r>
          </a:p>
          <a:p>
            <a:pPr lvl="1">
              <a:lnSpc>
                <a:spcPct val="90000"/>
              </a:lnSpc>
            </a:pPr>
            <a:r>
              <a:rPr lang="en-AU" altLang="zh-CN" dirty="0">
                <a:solidFill>
                  <a:srgbClr val="00B0F0"/>
                </a:solidFill>
                <a:latin typeface="Courier New" panose="02070309020205020404" pitchFamily="49" charset="0"/>
              </a:rPr>
              <a:t>navigate()</a:t>
            </a:r>
            <a:endParaRPr lang="en-AU" altLang="zh-CN" dirty="0">
              <a:latin typeface="Courier New" panose="02070309020205020404" pitchFamily="49" charset="0"/>
            </a:endParaRPr>
          </a:p>
          <a:p>
            <a:pPr>
              <a:lnSpc>
                <a:spcPct val="90000"/>
              </a:lnSpc>
            </a:pPr>
            <a:r>
              <a:rPr lang="zh-CN" altLang="en-AU" dirty="0">
                <a:ea typeface="宋体" panose="02010600030101010101" pitchFamily="2" charset="-122"/>
              </a:rPr>
              <a:t>通常的</a:t>
            </a:r>
            <a:endParaRPr lang="en-AU" altLang="zh-CN" dirty="0">
              <a:ea typeface="宋体" panose="02010600030101010101" pitchFamily="2" charset="-122"/>
            </a:endParaRPr>
          </a:p>
          <a:p>
            <a:pPr lvl="1">
              <a:lnSpc>
                <a:spcPct val="90000"/>
              </a:lnSpc>
            </a:pPr>
            <a:r>
              <a:rPr lang="en-AU" altLang="zh-CN" dirty="0" err="1">
                <a:latin typeface="Courier New" panose="02070309020205020404" pitchFamily="49" charset="0"/>
              </a:rPr>
              <a:t>canNavigateTo</a:t>
            </a:r>
            <a:r>
              <a:rPr lang="en-AU" altLang="zh-CN" dirty="0">
                <a:latin typeface="Courier New" panose="02070309020205020404" pitchFamily="49" charset="0"/>
              </a:rPr>
              <a:t>()</a:t>
            </a:r>
          </a:p>
          <a:p>
            <a:pPr lvl="1">
              <a:lnSpc>
                <a:spcPct val="90000"/>
              </a:lnSpc>
            </a:pPr>
            <a:r>
              <a:rPr lang="en-AU" altLang="zh-CN" dirty="0" err="1">
                <a:latin typeface="Courier New" panose="02070309020205020404" pitchFamily="49" charset="0"/>
              </a:rPr>
              <a:t>getStopPoint</a:t>
            </a:r>
            <a:r>
              <a:rPr lang="en-AU" altLang="zh-CN" dirty="0">
                <a:latin typeface="Courier New" panose="02070309020205020404" pitchFamily="49" charset="0"/>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Entity Proximity</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US" altLang="zh-CN" dirty="0" err="1">
                <a:latin typeface="Courier New" panose="02070309020205020404" pitchFamily="49" charset="0"/>
                <a:ea typeface="宋体" panose="02010600030101010101" pitchFamily="2" charset="-122"/>
              </a:rPr>
              <a:t>ProximityController</a:t>
            </a:r>
            <a:r>
              <a:rPr lang="zh-CN" altLang="en-US" dirty="0">
                <a:ea typeface="宋体" panose="02010600030101010101" pitchFamily="2" charset="-122"/>
              </a:rPr>
              <a:t>实现一个无限高的，与轴平行的立方柱形的陷阱</a:t>
            </a:r>
            <a:endParaRPr lang="en-US" altLang="zh-CN" dirty="0">
              <a:ea typeface="宋体" panose="02010600030101010101" pitchFamily="2" charset="-122"/>
            </a:endParaRPr>
          </a:p>
          <a:p>
            <a:r>
              <a:rPr lang="zh-CN" altLang="en-US" dirty="0">
                <a:ea typeface="宋体" panose="02010600030101010101" pitchFamily="2" charset="-122"/>
              </a:rPr>
              <a:t>应该在陷阱的</a:t>
            </a:r>
            <a:r>
              <a:rPr lang="zh-CN" altLang="en-US" dirty="0">
                <a:solidFill>
                  <a:srgbClr val="00B0F0"/>
                </a:solidFill>
                <a:ea typeface="宋体" panose="02010600030101010101" pitchFamily="2" charset="-122"/>
              </a:rPr>
              <a:t>通知函数中再进行</a:t>
            </a:r>
            <a:r>
              <a:rPr lang="en-US" altLang="zh-CN" dirty="0">
                <a:solidFill>
                  <a:srgbClr val="00B0F0"/>
                </a:solidFill>
                <a:ea typeface="宋体" panose="02010600030101010101" pitchFamily="2" charset="-122"/>
              </a:rPr>
              <a:t>Y</a:t>
            </a:r>
            <a:r>
              <a:rPr lang="zh-CN" altLang="en-US" dirty="0">
                <a:solidFill>
                  <a:srgbClr val="00B0F0"/>
                </a:solidFill>
                <a:ea typeface="宋体" panose="02010600030101010101" pitchFamily="2" charset="-122"/>
              </a:rPr>
              <a:t>轴的检查</a:t>
            </a:r>
            <a:endParaRPr lang="en-US" altLang="zh-CN" dirty="0">
              <a:ea typeface="宋体" panose="02010600030101010101" pitchFamily="2" charset="-122"/>
            </a:endParaRPr>
          </a:p>
          <a:p>
            <a:r>
              <a:rPr lang="zh-CN" altLang="en-US" dirty="0">
                <a:ea typeface="宋体" panose="02010600030101010101" pitchFamily="2" charset="-122"/>
              </a:rPr>
              <a:t>一个</a:t>
            </a:r>
            <a:r>
              <a:rPr lang="en-US" altLang="zh-CN" dirty="0">
                <a:ea typeface="宋体" panose="02010600030101010101" pitchFamily="2" charset="-122"/>
              </a:rPr>
              <a:t>Entity</a:t>
            </a:r>
            <a:r>
              <a:rPr lang="zh-CN" altLang="en-US" dirty="0">
                <a:ea typeface="宋体" panose="02010600030101010101" pitchFamily="2" charset="-122"/>
              </a:rPr>
              <a:t>可以有很多个</a:t>
            </a:r>
            <a:r>
              <a:rPr lang="en-US" altLang="zh-CN" dirty="0">
                <a:ea typeface="宋体" panose="02010600030101010101" pitchFamily="2" charset="-122"/>
              </a:rPr>
              <a:t>Proximity</a:t>
            </a:r>
            <a:r>
              <a:rPr lang="zh-CN" altLang="en-US" dirty="0">
                <a:ea typeface="宋体" panose="02010600030101010101" pitchFamily="2" charset="-122"/>
              </a:rPr>
              <a:t>陷阱</a:t>
            </a:r>
          </a:p>
          <a:p>
            <a:r>
              <a:rPr lang="zh-CN" altLang="en-US" dirty="0">
                <a:ea typeface="宋体" panose="02010600030101010101" pitchFamily="2" charset="-122"/>
              </a:rPr>
              <a:t>增加一个</a:t>
            </a:r>
            <a:r>
              <a:rPr lang="en-US" altLang="zh-CN" dirty="0">
                <a:ea typeface="宋体" panose="02010600030101010101" pitchFamily="2" charset="-122"/>
              </a:rPr>
              <a:t>Proximity</a:t>
            </a:r>
            <a:r>
              <a:rPr lang="zh-CN" altLang="en-US" dirty="0">
                <a:ea typeface="宋体" panose="02010600030101010101" pitchFamily="2" charset="-122"/>
              </a:rPr>
              <a:t>陷阱</a:t>
            </a:r>
            <a:r>
              <a:rPr lang="en-US" altLang="zh-CN" dirty="0">
                <a:ea typeface="宋体" panose="02010600030101010101" pitchFamily="2" charset="-122"/>
              </a:rPr>
              <a:t>:</a:t>
            </a:r>
            <a:br>
              <a:rPr lang="en-US" altLang="zh-CN" dirty="0">
                <a:ea typeface="宋体" panose="02010600030101010101" pitchFamily="2" charset="-122"/>
              </a:rPr>
            </a:br>
            <a:r>
              <a:rPr lang="en-AU" altLang="zh-CN" dirty="0" err="1">
                <a:latin typeface="Courier New" panose="02070309020205020404" pitchFamily="49" charset="0"/>
              </a:rPr>
              <a:t>Entity.addProximity</a:t>
            </a:r>
            <a:r>
              <a:rPr lang="en-AU" altLang="zh-CN" dirty="0">
                <a:latin typeface="Courier New" panose="02070309020205020404" pitchFamily="49" charset="0"/>
              </a:rPr>
              <a:t>()</a:t>
            </a:r>
          </a:p>
          <a:p>
            <a:endParaRPr lang="en-AU" altLang="zh-CN" dirty="0">
              <a:latin typeface="Courier New" panose="02070309020205020404" pitchFamily="49" charset="0"/>
            </a:endParaRPr>
          </a:p>
          <a:p>
            <a:pPr marL="0" indent="0">
              <a:buNone/>
            </a:pPr>
            <a:r>
              <a:rPr lang="en-US" altLang="zh-CN" sz="1600" dirty="0">
                <a:solidFill>
                  <a:srgbClr val="FF0000"/>
                </a:solidFill>
                <a:latin typeface="Courier New" panose="02070309020205020404" pitchFamily="49" charset="0"/>
              </a:rPr>
              <a:t>(</a:t>
            </a:r>
            <a:r>
              <a:rPr lang="zh-CN" altLang="en-US" sz="1600" dirty="0">
                <a:solidFill>
                  <a:srgbClr val="FF0000"/>
                </a:solidFill>
                <a:latin typeface="Courier New" panose="02070309020205020404" pitchFamily="49" charset="0"/>
              </a:rPr>
              <a:t>可理解为一种基于距离的实体监测机制。在游戏开发里，它能够实时监测实体之间的距离，</a:t>
            </a:r>
          </a:p>
          <a:p>
            <a:pPr marL="0" indent="0">
              <a:buNone/>
            </a:pPr>
            <a:r>
              <a:rPr lang="zh-CN" altLang="en-US" sz="1600" dirty="0">
                <a:solidFill>
                  <a:srgbClr val="FF0000"/>
                </a:solidFill>
                <a:latin typeface="Courier New" panose="02070309020205020404" pitchFamily="49" charset="0"/>
              </a:rPr>
              <a:t>当实体间的距离满足预设条件时，会触发特定的事件，让开发者可以针对这些事件编写相应的逻辑</a:t>
            </a:r>
            <a:r>
              <a:rPr lang="en-US" altLang="zh-CN" sz="1600" dirty="0">
                <a:solidFill>
                  <a:srgbClr val="FF0000"/>
                </a:solidFill>
                <a:latin typeface="Courier New" panose="02070309020205020404" pitchFamily="49" charset="0"/>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控制其它的</a:t>
            </a:r>
            <a:r>
              <a:rPr lang="en-US" altLang="zh-CN" sz="4900" b="1" dirty="0">
                <a:solidFill>
                  <a:schemeClr val="accent1"/>
                </a:solidFill>
                <a:latin typeface="+mn-ea"/>
                <a:ea typeface="+mn-ea"/>
              </a:rPr>
              <a:t>Entity</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zh-CN" altLang="en-US" sz="2800" dirty="0">
                <a:ea typeface="宋体" panose="02010600030101010101" pitchFamily="2" charset="-122"/>
              </a:rPr>
              <a:t>包括</a:t>
            </a:r>
            <a:r>
              <a:rPr lang="en-US" altLang="zh-CN" sz="2800" dirty="0">
                <a:ea typeface="宋体" panose="02010600030101010101" pitchFamily="2" charset="-122"/>
              </a:rPr>
              <a:t>2</a:t>
            </a:r>
            <a:r>
              <a:rPr lang="zh-CN" altLang="en-US" sz="2800" dirty="0">
                <a:ea typeface="宋体" panose="02010600030101010101" pitchFamily="2" charset="-122"/>
              </a:rPr>
              <a:t>个部分</a:t>
            </a:r>
            <a:r>
              <a:rPr lang="en-US" altLang="zh-CN" sz="2800" dirty="0">
                <a:ea typeface="宋体" panose="02010600030101010101" pitchFamily="2" charset="-122"/>
              </a:rPr>
              <a:t>:</a:t>
            </a:r>
          </a:p>
          <a:p>
            <a:pPr lvl="1">
              <a:lnSpc>
                <a:spcPct val="80000"/>
              </a:lnSpc>
            </a:pPr>
            <a:r>
              <a:rPr lang="zh-CN" altLang="en-US" sz="2400" dirty="0">
                <a:ea typeface="宋体" panose="02010600030101010101" pitchFamily="2" charset="-122"/>
              </a:rPr>
              <a:t>客户端发送位置更新到新的</a:t>
            </a:r>
            <a:r>
              <a:rPr lang="en-US" altLang="zh-CN" sz="2400" dirty="0">
                <a:ea typeface="宋体" panose="02010600030101010101" pitchFamily="2" charset="-122"/>
              </a:rPr>
              <a:t>Entity: </a:t>
            </a:r>
            <a:r>
              <a:rPr lang="en-US" altLang="zh-CN" sz="2400" dirty="0" err="1">
                <a:latin typeface="Courier New" panose="02070309020205020404" pitchFamily="49" charset="0"/>
                <a:ea typeface="宋体" panose="02010600030101010101" pitchFamily="2" charset="-122"/>
              </a:rPr>
              <a:t>KBEngine.controlEntity</a:t>
            </a:r>
            <a:r>
              <a:rPr lang="en-US" altLang="zh-CN" sz="2400" dirty="0">
                <a:latin typeface="Courier New" panose="02070309020205020404" pitchFamily="49" charset="0"/>
                <a:ea typeface="宋体" panose="02010600030101010101" pitchFamily="2" charset="-122"/>
              </a:rPr>
              <a:t>()</a:t>
            </a:r>
            <a:r>
              <a:rPr lang="en-US" altLang="zh-CN" sz="2400" dirty="0">
                <a:ea typeface="宋体" panose="02010600030101010101" pitchFamily="2" charset="-122"/>
              </a:rPr>
              <a:t> </a:t>
            </a:r>
          </a:p>
          <a:p>
            <a:pPr lvl="1">
              <a:lnSpc>
                <a:spcPct val="80000"/>
              </a:lnSpc>
            </a:pPr>
            <a:r>
              <a:rPr lang="zh-CN" altLang="en-US" sz="2400" dirty="0">
                <a:ea typeface="宋体" panose="02010600030101010101" pitchFamily="2" charset="-122"/>
              </a:rPr>
              <a:t>服务器接受</a:t>
            </a:r>
            <a:r>
              <a:rPr lang="en-US" altLang="zh-CN" sz="2400" dirty="0">
                <a:ea typeface="宋体" panose="02010600030101010101" pitchFamily="2" charset="-122"/>
              </a:rPr>
              <a:t>Entity</a:t>
            </a:r>
            <a:r>
              <a:rPr lang="zh-CN" altLang="en-US" sz="2400" dirty="0">
                <a:ea typeface="宋体" panose="02010600030101010101" pitchFamily="2" charset="-122"/>
              </a:rPr>
              <a:t>的位置更新</a:t>
            </a:r>
            <a:r>
              <a:rPr lang="en-US" altLang="zh-CN" sz="2400" dirty="0">
                <a:ea typeface="宋体" panose="02010600030101010101" pitchFamily="2" charset="-122"/>
              </a:rPr>
              <a:t>: </a:t>
            </a:r>
            <a:r>
              <a:rPr lang="en-US" altLang="zh-CN" sz="2400" dirty="0" err="1">
                <a:solidFill>
                  <a:srgbClr val="00B0F0"/>
                </a:solidFill>
                <a:latin typeface="Courier New" panose="02070309020205020404" pitchFamily="49" charset="0"/>
                <a:ea typeface="宋体" panose="02010600030101010101" pitchFamily="2" charset="-122"/>
              </a:rPr>
              <a:t>Entity.controlledBy</a:t>
            </a:r>
            <a:endParaRPr lang="en-US" altLang="zh-CN" sz="2400" dirty="0">
              <a:latin typeface="Courier New" panose="02070309020205020404" pitchFamily="49" charset="0"/>
              <a:ea typeface="宋体" panose="02010600030101010101" pitchFamily="2" charset="-122"/>
            </a:endParaRPr>
          </a:p>
          <a:p>
            <a:pPr lvl="2">
              <a:lnSpc>
                <a:spcPct val="80000"/>
              </a:lnSpc>
            </a:pPr>
            <a:r>
              <a:rPr lang="zh-CN" altLang="en-US" sz="2000" dirty="0">
                <a:ea typeface="宋体" panose="02010600030101010101" pitchFamily="2" charset="-122"/>
              </a:rPr>
              <a:t>设置成控制该</a:t>
            </a:r>
            <a:r>
              <a:rPr lang="en-US" altLang="zh-CN" sz="2000" dirty="0">
                <a:ea typeface="宋体" panose="02010600030101010101" pitchFamily="2" charset="-122"/>
              </a:rPr>
              <a:t>Entity</a:t>
            </a:r>
            <a:r>
              <a:rPr lang="zh-CN" altLang="en-US" sz="2000" dirty="0">
                <a:ea typeface="宋体" panose="02010600030101010101" pitchFamily="2" charset="-122"/>
              </a:rPr>
              <a:t>的玩家的</a:t>
            </a:r>
            <a:r>
              <a:rPr lang="en-US" altLang="en-AU" sz="2000" dirty="0">
                <a:ea typeface="宋体" panose="02010600030101010101" pitchFamily="2" charset="-122"/>
                <a:sym typeface="+mn-ea"/>
              </a:rPr>
              <a:t>E</a:t>
            </a:r>
            <a:r>
              <a:rPr lang="en-AU" altLang="zh-CN" sz="2000" dirty="0">
                <a:sym typeface="+mn-ea"/>
              </a:rPr>
              <a:t>ntity</a:t>
            </a:r>
            <a:r>
              <a:rPr lang="en-US" altLang="en-AU" sz="2000" dirty="0">
                <a:sym typeface="+mn-ea"/>
              </a:rPr>
              <a:t>Call</a:t>
            </a:r>
            <a:endParaRPr lang="en-US" altLang="zh-CN" sz="2000" dirty="0">
              <a:ea typeface="宋体" panose="02010600030101010101" pitchFamily="2" charset="-122"/>
            </a:endParaRPr>
          </a:p>
          <a:p>
            <a:pPr>
              <a:lnSpc>
                <a:spcPct val="80000"/>
              </a:lnSpc>
            </a:pPr>
            <a:r>
              <a:rPr lang="zh-CN" altLang="en-US" sz="2800" dirty="0">
                <a:ea typeface="宋体" panose="02010600030101010101" pitchFamily="2" charset="-122"/>
              </a:rPr>
              <a:t>这个</a:t>
            </a:r>
            <a:r>
              <a:rPr lang="en-US" altLang="zh-CN" sz="2800" dirty="0">
                <a:ea typeface="宋体" panose="02010600030101010101" pitchFamily="2" charset="-122"/>
              </a:rPr>
              <a:t>Entity</a:t>
            </a:r>
            <a:r>
              <a:rPr lang="zh-CN" altLang="en-US" sz="2800" dirty="0">
                <a:ea typeface="宋体" panose="02010600030101010101" pitchFamily="2" charset="-122"/>
              </a:rPr>
              <a:t>不能超过控制玩家的</a:t>
            </a:r>
            <a:r>
              <a:rPr lang="en-US" altLang="zh-CN" sz="2800" dirty="0">
                <a:ea typeface="宋体" panose="02010600030101010101" pitchFamily="2" charset="-122"/>
              </a:rPr>
              <a:t>AOI</a:t>
            </a:r>
            <a:r>
              <a:rPr lang="zh-CN" altLang="en-US" sz="2800" dirty="0">
                <a:ea typeface="宋体" panose="02010600030101010101" pitchFamily="2" charset="-122"/>
              </a:rPr>
              <a:t>范围之外</a:t>
            </a:r>
            <a:r>
              <a:rPr lang="en-US" altLang="zh-CN" sz="2800" dirty="0">
                <a:ea typeface="宋体" panose="02010600030101010101" pitchFamily="2" charset="-122"/>
              </a:rPr>
              <a:t> (Proxy Entity)</a:t>
            </a:r>
          </a:p>
          <a:p>
            <a:pPr lvl="1">
              <a:lnSpc>
                <a:spcPct val="80000"/>
              </a:lnSpc>
            </a:pPr>
            <a:r>
              <a:rPr lang="zh-CN" altLang="en-US" sz="2400" dirty="0">
                <a:ea typeface="宋体" panose="02010600030101010101" pitchFamily="2" charset="-122"/>
              </a:rPr>
              <a:t>因此</a:t>
            </a:r>
            <a:r>
              <a:rPr lang="en-US" altLang="zh-CN" sz="2400" dirty="0">
                <a:ea typeface="宋体" panose="02010600030101010101" pitchFamily="2" charset="-122"/>
              </a:rPr>
              <a:t>, </a:t>
            </a:r>
            <a:r>
              <a:rPr lang="zh-CN" altLang="en-US" sz="2400" dirty="0">
                <a:solidFill>
                  <a:srgbClr val="00B0F0"/>
                </a:solidFill>
                <a:ea typeface="宋体" panose="02010600030101010101" pitchFamily="2" charset="-122"/>
              </a:rPr>
              <a:t>基本上仅适合于玩家坐骑的</a:t>
            </a:r>
            <a:r>
              <a:rPr lang="en-US" altLang="zh-CN" sz="2400" dirty="0">
                <a:solidFill>
                  <a:srgbClr val="00B0F0"/>
                </a:solidFill>
                <a:ea typeface="宋体" panose="02010600030101010101" pitchFamily="2" charset="-122"/>
              </a:rPr>
              <a:t>vehicle</a:t>
            </a:r>
            <a:endParaRPr lang="en-US" altLang="zh-CN" sz="2400" dirty="0">
              <a:ea typeface="宋体" panose="02010600030101010101" pitchFamily="2" charset="-122"/>
            </a:endParaRPr>
          </a:p>
          <a:p>
            <a:pPr>
              <a:lnSpc>
                <a:spcPct val="80000"/>
              </a:lnSpc>
            </a:pPr>
            <a:r>
              <a:rPr lang="zh-CN" altLang="en-US" sz="2800" dirty="0">
                <a:ea typeface="宋体" panose="02010600030101010101" pitchFamily="2" charset="-122"/>
              </a:rPr>
              <a:t>或者</a:t>
            </a:r>
            <a:r>
              <a:rPr lang="en-US" altLang="zh-CN" sz="2800" dirty="0">
                <a:ea typeface="宋体" panose="02010600030101010101" pitchFamily="2" charset="-122"/>
              </a:rPr>
              <a:t>, </a:t>
            </a:r>
            <a:r>
              <a:rPr lang="zh-CN" altLang="en-US" sz="2800" dirty="0">
                <a:ea typeface="宋体" panose="02010600030101010101" pitchFamily="2" charset="-122"/>
              </a:rPr>
              <a:t>可以从一个玩家转移控制到另一个玩家 </a:t>
            </a:r>
            <a:r>
              <a:rPr lang="en-US" altLang="zh-CN" sz="2800" dirty="0">
                <a:ea typeface="宋体" panose="02010600030101010101" pitchFamily="2" charset="-122"/>
              </a:rPr>
              <a:t>(</a:t>
            </a:r>
            <a:r>
              <a:rPr lang="zh-CN" altLang="en-US" sz="2800" dirty="0">
                <a:ea typeface="宋体" panose="02010600030101010101" pitchFamily="2" charset="-122"/>
              </a:rPr>
              <a:t>两者都应该有</a:t>
            </a:r>
            <a:r>
              <a:rPr lang="en-US" altLang="zh-CN" sz="2800" dirty="0">
                <a:ea typeface="宋体" panose="02010600030101010101" pitchFamily="2" charset="-122"/>
              </a:rPr>
              <a:t>Proxy base</a:t>
            </a:r>
            <a:r>
              <a:rPr lang="zh-CN" altLang="en-US" sz="2800" dirty="0">
                <a:ea typeface="宋体" panose="02010600030101010101" pitchFamily="2" charset="-122"/>
              </a:rPr>
              <a:t>部分</a:t>
            </a:r>
            <a:r>
              <a:rPr lang="en-US" altLang="zh-CN" sz="2800" dirty="0">
                <a:ea typeface="宋体" panose="02010600030101010101" pitchFamily="2" charset="-122"/>
              </a:rPr>
              <a:t>)</a:t>
            </a:r>
          </a:p>
          <a:p>
            <a:pPr lvl="1">
              <a:lnSpc>
                <a:spcPct val="80000"/>
              </a:lnSpc>
            </a:pPr>
            <a:r>
              <a:rPr lang="en-US" altLang="zh-CN" sz="2400" dirty="0" err="1">
                <a:latin typeface="Courier New" panose="02070309020205020404" pitchFamily="49" charset="0"/>
                <a:ea typeface="宋体" panose="02010600030101010101" pitchFamily="2" charset="-122"/>
              </a:rPr>
              <a:t>Proxy.giveClientTo</a:t>
            </a:r>
            <a:r>
              <a:rPr lang="en-US" altLang="zh-CN" sz="2400" dirty="0">
                <a:latin typeface="Courier New" panose="02070309020205020404" pitchFamily="49" charset="0"/>
                <a:ea typeface="宋体" panose="02010600030101010101" pitchFamily="2" charset="-122"/>
              </a:rPr>
              <a:t>()</a:t>
            </a:r>
          </a:p>
          <a:p>
            <a:pPr lvl="2">
              <a:lnSpc>
                <a:spcPct val="80000"/>
              </a:lnSpc>
            </a:pPr>
            <a:r>
              <a:rPr lang="en-US" altLang="zh-CN" sz="2000" dirty="0" err="1">
                <a:latin typeface="Courier New" panose="02070309020205020404" pitchFamily="49" charset="0"/>
                <a:ea typeface="宋体" panose="02010600030101010101" pitchFamily="2" charset="-122"/>
              </a:rPr>
              <a:t>Entity.controlledBy</a:t>
            </a:r>
            <a:r>
              <a:rPr lang="en-US" altLang="zh-CN" sz="2000" b="1" dirty="0">
                <a:ea typeface="宋体" panose="02010600030101010101" pitchFamily="2" charset="-122"/>
              </a:rPr>
              <a:t> </a:t>
            </a:r>
            <a:r>
              <a:rPr lang="zh-CN" altLang="en-US" sz="2000" dirty="0">
                <a:ea typeface="宋体" panose="02010600030101010101" pitchFamily="2" charset="-122"/>
              </a:rPr>
              <a:t> 会自动地设置给新的玩家</a:t>
            </a:r>
            <a:endParaRPr lang="en-US" altLang="zh-CN" sz="2000" b="1" dirty="0">
              <a:latin typeface="Courier New" panose="02070309020205020404" pitchFamily="49" charset="0"/>
              <a:ea typeface="宋体" panose="02010600030101010101" pitchFamily="2" charset="-122"/>
            </a:endParaRPr>
          </a:p>
          <a:p>
            <a:pPr lvl="1">
              <a:lnSpc>
                <a:spcPct val="80000"/>
              </a:lnSpc>
            </a:pPr>
            <a:r>
              <a:rPr lang="zh-CN" altLang="en-US" sz="2400" dirty="0">
                <a:ea typeface="宋体" panose="02010600030101010101" pitchFamily="2" charset="-122"/>
              </a:rPr>
              <a:t>分裂型的</a:t>
            </a:r>
            <a:r>
              <a:rPr lang="en-US" altLang="zh-CN" sz="2400" dirty="0">
                <a:ea typeface="宋体" panose="02010600030101010101" pitchFamily="2" charset="-122"/>
              </a:rPr>
              <a:t> – AOI</a:t>
            </a:r>
            <a:r>
              <a:rPr lang="zh-CN" altLang="en-US" sz="2400" dirty="0">
                <a:ea typeface="宋体" panose="02010600030101010101" pitchFamily="2" charset="-122"/>
              </a:rPr>
              <a:t>被销毁</a:t>
            </a:r>
            <a:r>
              <a:rPr lang="en-US" altLang="zh-CN" sz="2400" dirty="0">
                <a:ea typeface="宋体" panose="02010600030101010101" pitchFamily="2" charset="-122"/>
              </a:rPr>
              <a:t>, </a:t>
            </a:r>
            <a:r>
              <a:rPr lang="zh-CN" altLang="en-US" sz="2400" dirty="0">
                <a:ea typeface="宋体" panose="02010600030101010101" pitchFamily="2" charset="-122"/>
              </a:rPr>
              <a:t>重建，</a:t>
            </a:r>
            <a:r>
              <a:rPr lang="en-US" altLang="zh-CN" sz="2400" dirty="0">
                <a:ea typeface="宋体" panose="02010600030101010101" pitchFamily="2" charset="-122"/>
              </a:rPr>
              <a:t>Space</a:t>
            </a:r>
            <a:r>
              <a:rPr lang="zh-CN" altLang="en-US" sz="2400" dirty="0">
                <a:ea typeface="宋体" panose="02010600030101010101" pitchFamily="2" charset="-122"/>
              </a:rPr>
              <a:t>被重新加载</a:t>
            </a:r>
            <a:endParaRPr lang="en-US" altLang="zh-CN" sz="2400" dirty="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a:t>
            </a:r>
            <a:r>
              <a:rPr lang="zh-CN" altLang="en-US" b="1" dirty="0">
                <a:solidFill>
                  <a:schemeClr val="accent1"/>
                </a:solidFill>
                <a:latin typeface="+mn-ea"/>
              </a:rPr>
              <a:t>六</a:t>
            </a:r>
            <a:r>
              <a:rPr lang="zh-CN" altLang="en-US" b="1" dirty="0">
                <a:solidFill>
                  <a:schemeClr val="accent1"/>
                </a:solidFill>
                <a:latin typeface="+mn-ea"/>
                <a:ea typeface="+mn-ea"/>
              </a:rPr>
              <a:t>章</a:t>
            </a:r>
          </a:p>
        </p:txBody>
      </p:sp>
      <p:sp>
        <p:nvSpPr>
          <p:cNvPr id="12" name="TextBox 11"/>
          <p:cNvSpPr txBox="1"/>
          <p:nvPr/>
        </p:nvSpPr>
        <p:spPr>
          <a:xfrm>
            <a:off x="1763688" y="2904465"/>
            <a:ext cx="6696744" cy="707886"/>
          </a:xfrm>
          <a:prstGeom prst="rect">
            <a:avLst/>
          </a:prstGeom>
          <a:noFill/>
        </p:spPr>
        <p:txBody>
          <a:bodyPr wrap="square" rtlCol="0">
            <a:spAutoFit/>
          </a:bodyPr>
          <a:lstStyle/>
          <a:p>
            <a:pPr lvl="0"/>
            <a:r>
              <a:rPr lang="en-US" altLang="zh-CN" sz="4000" b="1" kern="0" dirty="0" err="1">
                <a:solidFill>
                  <a:schemeClr val="tx2"/>
                </a:solidFill>
                <a:latin typeface="Verdana" panose="020B0604030504040204"/>
                <a:ea typeface="宋体" panose="02010600030101010101" pitchFamily="2" charset="-122"/>
              </a:rPr>
              <a:t>KBEngine</a:t>
            </a:r>
            <a:r>
              <a:rPr lang="zh-CN" altLang="en-US" sz="4000" b="1" kern="0" dirty="0">
                <a:solidFill>
                  <a:schemeClr val="tx2"/>
                </a:solidFill>
                <a:latin typeface="Verdana" panose="020B0604030504040204"/>
                <a:ea typeface="宋体" panose="02010600030101010101" pitchFamily="2" charset="-122"/>
              </a:rPr>
              <a:t>服务器设定</a:t>
            </a:r>
            <a:endParaRPr lang="zh-CN" altLang="en-US" sz="3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服务器配置</a:t>
            </a:r>
          </a:p>
        </p:txBody>
      </p:sp>
      <p:sp>
        <p:nvSpPr>
          <p:cNvPr id="17" name="Rectangle 3"/>
          <p:cNvSpPr txBox="1">
            <a:spLocks noChangeArrowheads="1"/>
          </p:cNvSpPr>
          <p:nvPr/>
        </p:nvSpPr>
        <p:spPr bwMode="auto">
          <a:xfrm>
            <a:off x="89124" y="1196752"/>
            <a:ext cx="9054876" cy="566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90000"/>
              </a:lnSpc>
            </a:pPr>
            <a:r>
              <a:rPr lang="en-AU" altLang="zh-CN" sz="2800" b="1" dirty="0">
                <a:solidFill>
                  <a:srgbClr val="00B0F0"/>
                </a:solidFill>
                <a:latin typeface="Courier New" panose="02070309020205020404" pitchFamily="49" charset="0"/>
              </a:rPr>
              <a:t>kbengine.xml</a:t>
            </a:r>
            <a:r>
              <a:rPr lang="en-AU" altLang="zh-CN" sz="2800" dirty="0">
                <a:solidFill>
                  <a:srgbClr val="00B0F0"/>
                </a:solidFill>
              </a:rPr>
              <a:t> – Server</a:t>
            </a:r>
            <a:r>
              <a:rPr lang="zh-CN" altLang="en-AU" sz="2800" dirty="0">
                <a:solidFill>
                  <a:srgbClr val="00B0F0"/>
                </a:solidFill>
                <a:ea typeface="宋体" panose="02010600030101010101" pitchFamily="2" charset="-122"/>
              </a:rPr>
              <a:t>配置文件</a:t>
            </a:r>
            <a:endParaRPr lang="en-AU" altLang="zh-CN" sz="2800" dirty="0"/>
          </a:p>
          <a:p>
            <a:pPr marL="352425" lvl="1" indent="-170180">
              <a:lnSpc>
                <a:spcPct val="90000"/>
              </a:lnSpc>
              <a:spcBef>
                <a:spcPct val="30000"/>
              </a:spcBef>
            </a:pPr>
            <a:r>
              <a:rPr lang="zh-CN" altLang="en-AU" sz="2000" dirty="0">
                <a:ea typeface="宋体" panose="02010600030101010101" pitchFamily="2" charset="-122"/>
              </a:rPr>
              <a:t>指定许多</a:t>
            </a:r>
            <a:r>
              <a:rPr lang="en-AU" altLang="zh-CN" sz="2000" dirty="0">
                <a:ea typeface="宋体" panose="02010600030101010101" pitchFamily="2" charset="-122"/>
              </a:rPr>
              <a:t>server</a:t>
            </a:r>
            <a:r>
              <a:rPr lang="zh-CN" altLang="en-AU" sz="2000" dirty="0">
                <a:ea typeface="宋体" panose="02010600030101010101" pitchFamily="2" charset="-122"/>
              </a:rPr>
              <a:t>运行时刻的参数</a:t>
            </a:r>
            <a:endParaRPr lang="en-AU" altLang="zh-CN" sz="2000" dirty="0"/>
          </a:p>
          <a:p>
            <a:pPr marL="352425" lvl="1" indent="-170180">
              <a:lnSpc>
                <a:spcPct val="90000"/>
              </a:lnSpc>
              <a:spcBef>
                <a:spcPct val="30000"/>
              </a:spcBef>
            </a:pPr>
            <a:r>
              <a:rPr lang="zh-CN" altLang="en-AU" sz="2000" dirty="0">
                <a:ea typeface="宋体" panose="02010600030101010101" pitchFamily="2" charset="-122"/>
              </a:rPr>
              <a:t>在</a:t>
            </a:r>
            <a:r>
              <a:rPr lang="en-AU" altLang="zh-CN" sz="2000" dirty="0">
                <a:ea typeface="宋体" panose="02010600030101010101" pitchFamily="2" charset="-122"/>
              </a:rPr>
              <a:t>server</a:t>
            </a:r>
            <a:r>
              <a:rPr lang="zh-CN" altLang="en-AU" sz="2000" dirty="0">
                <a:ea typeface="宋体" panose="02010600030101010101" pitchFamily="2" charset="-122"/>
              </a:rPr>
              <a:t>资源路径下</a:t>
            </a:r>
            <a:endParaRPr lang="en-AU" altLang="zh-CN" sz="2000" dirty="0"/>
          </a:p>
          <a:p>
            <a:pPr marL="352425" lvl="1" indent="-170180">
              <a:lnSpc>
                <a:spcPct val="90000"/>
              </a:lnSpc>
              <a:spcBef>
                <a:spcPct val="30000"/>
              </a:spcBef>
            </a:pPr>
            <a:r>
              <a:rPr lang="zh-CN" altLang="en-AU" sz="2000" dirty="0">
                <a:ea typeface="宋体" panose="02010600030101010101" pitchFamily="2" charset="-122"/>
              </a:rPr>
              <a:t>完整的文档见</a:t>
            </a:r>
            <a:r>
              <a:rPr lang="en-AU" altLang="zh-CN" sz="2000" dirty="0"/>
              <a:t>http://www.kbengine.org/docs/configuration/kbengine.html</a:t>
            </a:r>
          </a:p>
          <a:p>
            <a:pPr>
              <a:lnSpc>
                <a:spcPct val="90000"/>
              </a:lnSpc>
              <a:spcBef>
                <a:spcPct val="70000"/>
              </a:spcBef>
            </a:pPr>
            <a:r>
              <a:rPr lang="en-AU" altLang="zh-CN" sz="2800" dirty="0"/>
              <a:t>Personality</a:t>
            </a:r>
            <a:r>
              <a:rPr lang="zh-CN" altLang="en-US" sz="2800" dirty="0"/>
              <a:t>个性化</a:t>
            </a:r>
            <a:r>
              <a:rPr lang="zh-CN" altLang="en-AU" sz="2800" dirty="0">
                <a:ea typeface="宋体" panose="02010600030101010101" pitchFamily="2" charset="-122"/>
              </a:rPr>
              <a:t>脚本</a:t>
            </a:r>
          </a:p>
          <a:p>
            <a:pPr marL="352425" lvl="1" indent="-170180">
              <a:lnSpc>
                <a:spcPct val="90000"/>
              </a:lnSpc>
              <a:spcBef>
                <a:spcPct val="70000"/>
              </a:spcBef>
            </a:pPr>
            <a:r>
              <a:rPr lang="zh-CN" altLang="en-AU" sz="2000" dirty="0">
                <a:ea typeface="宋体" panose="02010600030101010101" pitchFamily="2" charset="-122"/>
              </a:rPr>
              <a:t>实现全局的回调函数</a:t>
            </a:r>
            <a:endParaRPr lang="en-AU" altLang="zh-CN" sz="2000" dirty="0"/>
          </a:p>
          <a:p>
            <a:pPr marL="352425" lvl="1" indent="-170180">
              <a:lnSpc>
                <a:spcPct val="90000"/>
              </a:lnSpc>
              <a:spcBef>
                <a:spcPct val="30000"/>
              </a:spcBef>
            </a:pPr>
            <a:r>
              <a:rPr lang="zh-CN" altLang="en-AU" sz="2000" dirty="0">
                <a:ea typeface="宋体" panose="02010600030101010101" pitchFamily="2" charset="-122"/>
              </a:rPr>
              <a:t>用</a:t>
            </a:r>
            <a:r>
              <a:rPr lang="en-AU" altLang="zh-CN" sz="2000" dirty="0" err="1"/>
              <a:t>KBEngine</a:t>
            </a:r>
            <a:r>
              <a:rPr lang="en-AU" altLang="zh-CN" sz="2000" dirty="0"/>
              <a:t> Python</a:t>
            </a:r>
            <a:r>
              <a:rPr lang="zh-CN" altLang="en-AU" sz="2000" dirty="0">
                <a:ea typeface="宋体" panose="02010600030101010101" pitchFamily="2" charset="-122"/>
              </a:rPr>
              <a:t>接口处理系统级的消息事件</a:t>
            </a:r>
            <a:endParaRPr lang="en-AU" altLang="zh-CN" sz="2000" dirty="0">
              <a:ea typeface="宋体" panose="02010600030101010101" pitchFamily="2" charset="-122"/>
            </a:endParaRPr>
          </a:p>
          <a:p>
            <a:pPr marL="542925" lvl="2" indent="-180975">
              <a:lnSpc>
                <a:spcPct val="90000"/>
              </a:lnSpc>
              <a:spcBef>
                <a:spcPct val="30000"/>
              </a:spcBef>
            </a:pPr>
            <a:r>
              <a:rPr lang="zh-CN" altLang="en-AU" sz="2000" dirty="0">
                <a:ea typeface="宋体" panose="02010600030101010101" pitchFamily="2" charset="-122"/>
              </a:rPr>
              <a:t>例如</a:t>
            </a:r>
            <a:r>
              <a:rPr lang="en-AU" altLang="zh-CN" sz="2000" dirty="0">
                <a:ea typeface="宋体" panose="02010600030101010101" pitchFamily="2" charset="-122"/>
              </a:rPr>
              <a:t>:</a:t>
            </a:r>
            <a:r>
              <a:rPr lang="en-AU" altLang="zh-CN" sz="2000" dirty="0"/>
              <a:t> </a:t>
            </a:r>
            <a:r>
              <a:rPr lang="zh-CN" altLang="en-AU" sz="2000" dirty="0">
                <a:ea typeface="宋体" panose="02010600030101010101" pitchFamily="2" charset="-122"/>
              </a:rPr>
              <a:t>启动</a:t>
            </a:r>
            <a:r>
              <a:rPr lang="en-AU" altLang="zh-CN" sz="2000" dirty="0"/>
              <a:t>, </a:t>
            </a:r>
            <a:r>
              <a:rPr lang="zh-CN" altLang="en-AU" sz="2000" dirty="0">
                <a:ea typeface="宋体" panose="02010600030101010101" pitchFamily="2" charset="-122"/>
              </a:rPr>
              <a:t>恢复</a:t>
            </a:r>
            <a:r>
              <a:rPr lang="en-AU" altLang="zh-CN" sz="2000" dirty="0"/>
              <a:t>, </a:t>
            </a:r>
            <a:r>
              <a:rPr lang="zh-CN" altLang="en-AU" sz="2000" dirty="0">
                <a:ea typeface="宋体" panose="02010600030101010101" pitchFamily="2" charset="-122"/>
              </a:rPr>
              <a:t>关闭</a:t>
            </a:r>
          </a:p>
          <a:p>
            <a:pPr marL="352425" lvl="1" indent="-170180">
              <a:lnSpc>
                <a:spcPct val="90000"/>
              </a:lnSpc>
              <a:spcBef>
                <a:spcPct val="30000"/>
              </a:spcBef>
            </a:pPr>
            <a:r>
              <a:rPr lang="zh-CN" altLang="en-US" sz="2000" dirty="0">
                <a:ea typeface="宋体" panose="02010600030101010101" pitchFamily="2" charset="-122"/>
              </a:rPr>
              <a:t>可以理解为入口</a:t>
            </a:r>
            <a:r>
              <a:rPr lang="en-US" altLang="zh-CN" sz="2000" dirty="0">
                <a:ea typeface="宋体" panose="02010600030101010101" pitchFamily="2" charset="-122"/>
              </a:rPr>
              <a:t>(</a:t>
            </a:r>
            <a:r>
              <a:rPr lang="zh-CN" altLang="en-US" sz="2000" dirty="0">
                <a:ea typeface="宋体" panose="02010600030101010101" pitchFamily="2" charset="-122"/>
              </a:rPr>
              <a:t>在服务器启动后，服务器准备好了的</a:t>
            </a:r>
            <a:r>
              <a:rPr lang="zh-CN" altLang="en-US" sz="2000" dirty="0">
                <a:solidFill>
                  <a:srgbClr val="00B0F0"/>
                </a:solidFill>
                <a:ea typeface="宋体" panose="02010600030101010101" pitchFamily="2" charset="-122"/>
              </a:rPr>
              <a:t>回调里开始构建世界</a:t>
            </a:r>
            <a:r>
              <a:rPr lang="en-US" altLang="zh-CN" sz="2000" dirty="0">
                <a:ea typeface="宋体" panose="02010600030101010101" pitchFamily="2" charset="-122"/>
              </a:rPr>
              <a:t>)</a:t>
            </a:r>
          </a:p>
          <a:p>
            <a:pPr marL="352425" lvl="1" indent="-170180">
              <a:lnSpc>
                <a:spcPct val="90000"/>
              </a:lnSpc>
              <a:spcBef>
                <a:spcPct val="30000"/>
              </a:spcBef>
            </a:pPr>
            <a:r>
              <a:rPr lang="zh-CN" altLang="en-AU" sz="2000" dirty="0">
                <a:ea typeface="宋体" panose="02010600030101010101" pitchFamily="2" charset="-122"/>
              </a:rPr>
              <a:t>缺省情况下</a:t>
            </a:r>
            <a:r>
              <a:rPr lang="en-AU" altLang="zh-CN" sz="2000" dirty="0" err="1">
                <a:ea typeface="宋体" panose="02010600030101010101" pitchFamily="2" charset="-122"/>
              </a:rPr>
              <a:t>Cellapp</a:t>
            </a:r>
            <a:r>
              <a:rPr lang="zh-CN" altLang="en-AU" sz="2000" dirty="0">
                <a:ea typeface="宋体" panose="02010600030101010101" pitchFamily="2" charset="-122"/>
              </a:rPr>
              <a:t>和</a:t>
            </a:r>
            <a:r>
              <a:rPr lang="en-AU" altLang="zh-CN" sz="2000" dirty="0" err="1">
                <a:ea typeface="宋体" panose="02010600030101010101" pitchFamily="2" charset="-122"/>
              </a:rPr>
              <a:t>Baseapp</a:t>
            </a:r>
            <a:r>
              <a:rPr lang="zh-CN" altLang="en-AU" sz="2000" dirty="0">
                <a:ea typeface="宋体" panose="02010600030101010101" pitchFamily="2" charset="-122"/>
              </a:rPr>
              <a:t>脚本是分离的</a:t>
            </a:r>
            <a:r>
              <a:rPr lang="en-US" altLang="zh-CN" sz="2000" dirty="0">
                <a:ea typeface="宋体" panose="02010600030101010101" pitchFamily="2" charset="-122"/>
              </a:rPr>
              <a:t>(cell/kbengine.py, base/kbengine.py)</a:t>
            </a:r>
            <a:endParaRPr lang="en-AU" altLang="zh-CN" sz="2000" dirty="0"/>
          </a:p>
          <a:p>
            <a:pPr marL="352425" lvl="1" indent="-170180">
              <a:lnSpc>
                <a:spcPct val="90000"/>
              </a:lnSpc>
              <a:spcBef>
                <a:spcPct val="30000"/>
              </a:spcBef>
            </a:pPr>
            <a:r>
              <a:rPr lang="en-AU" altLang="zh-CN" sz="2000" dirty="0"/>
              <a:t>Personality</a:t>
            </a:r>
            <a:r>
              <a:rPr lang="zh-CN" altLang="en-AU" sz="2000" dirty="0">
                <a:ea typeface="宋体" panose="02010600030101010101" pitchFamily="2" charset="-122"/>
              </a:rPr>
              <a:t>脚本名在</a:t>
            </a:r>
            <a:r>
              <a:rPr lang="en-AU" altLang="zh-CN" sz="2000" b="1" dirty="0">
                <a:latin typeface="Courier New" panose="02070309020205020404" pitchFamily="49" charset="0"/>
              </a:rPr>
              <a:t>kbengine.xml</a:t>
            </a:r>
            <a:r>
              <a:rPr lang="zh-CN" altLang="en-AU" sz="2000" dirty="0">
                <a:latin typeface="Courier New" panose="02070309020205020404" pitchFamily="49" charset="0"/>
                <a:ea typeface="宋体" panose="02010600030101010101" pitchFamily="2" charset="-122"/>
              </a:rPr>
              <a:t>文件里</a:t>
            </a:r>
            <a:r>
              <a:rPr lang="zh-CN" altLang="en-AU" sz="2000" dirty="0">
                <a:ea typeface="宋体" panose="02010600030101010101" pitchFamily="2" charset="-122"/>
              </a:rPr>
              <a:t>指定</a:t>
            </a:r>
            <a:r>
              <a:rPr lang="zh-CN" altLang="en-AU" sz="2000" dirty="0">
                <a:latin typeface="Courier New" panose="02070309020205020404" pitchFamily="49" charset="0"/>
                <a:ea typeface="宋体" panose="02010600030101010101" pitchFamily="2" charset="-122"/>
              </a:rPr>
              <a:t>。缺省是</a:t>
            </a:r>
            <a:r>
              <a:rPr lang="en-AU" altLang="zh-CN" sz="2000" dirty="0" err="1">
                <a:latin typeface="Courier New" panose="02070309020205020404" pitchFamily="49" charset="0"/>
              </a:rPr>
              <a:t>kbengine</a:t>
            </a:r>
          </a:p>
          <a:p>
            <a:pPr marL="182245" lvl="1" indent="0">
              <a:lnSpc>
                <a:spcPct val="90000"/>
              </a:lnSpc>
              <a:spcBef>
                <a:spcPct val="30000"/>
              </a:spcBef>
              <a:buNone/>
            </a:pPr>
            <a:r>
              <a:rPr lang="en-US" altLang="zh-CN" sz="2000" dirty="0">
                <a:solidFill>
                  <a:srgbClr val="FF0000"/>
                </a:solidFill>
                <a:latin typeface="Courier New" panose="02070309020205020404" pitchFamily="49" charset="0"/>
              </a:rPr>
              <a:t>(</a:t>
            </a:r>
            <a:r>
              <a:rPr lang="zh-CN" altLang="en-AU" sz="2000" dirty="0">
                <a:solidFill>
                  <a:srgbClr val="FF0000"/>
                </a:solidFill>
                <a:latin typeface="Courier New" panose="02070309020205020404" pitchFamily="49" charset="0"/>
              </a:rPr>
              <a:t>当前项目下是</a:t>
            </a:r>
            <a:r>
              <a:rPr lang="en-US" altLang="zh-CN" sz="2000" dirty="0">
                <a:solidFill>
                  <a:srgbClr val="FF0000"/>
                </a:solidFill>
                <a:latin typeface="Courier New" panose="02070309020205020404" pitchFamily="49" charset="0"/>
              </a:rPr>
              <a:t>kbemain.py)</a:t>
            </a:r>
            <a:endParaRPr lang="en-AU" altLang="zh-CN" sz="2000" dirty="0">
              <a:solidFill>
                <a:srgbClr val="FF0000"/>
              </a:solidFill>
              <a:latin typeface="Courier New" panose="02070309020205020404" pitchFamily="49" charset="0"/>
            </a:endParaRPr>
          </a:p>
          <a:p>
            <a:pPr marL="182245" lvl="1" indent="0">
              <a:lnSpc>
                <a:spcPct val="90000"/>
              </a:lnSpc>
              <a:spcBef>
                <a:spcPct val="30000"/>
              </a:spcBef>
              <a:buNone/>
            </a:pPr>
            <a:endParaRPr lang="en-AU" altLang="zh-CN" sz="2000" dirty="0">
              <a:solidFill>
                <a:srgbClr val="FF0000"/>
              </a:solidFill>
              <a:latin typeface="Courier New" panose="02070309020205020404" pitchFamily="49"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Personality</a:t>
            </a:r>
            <a:r>
              <a:rPr lang="zh-CN" altLang="en-US" sz="4900" b="1" dirty="0">
                <a:solidFill>
                  <a:schemeClr val="accent1"/>
                </a:solidFill>
                <a:latin typeface="+mn-ea"/>
                <a:ea typeface="+mn-ea"/>
              </a:rPr>
              <a:t>个性化脚本</a:t>
            </a:r>
          </a:p>
        </p:txBody>
      </p:sp>
      <p:sp>
        <p:nvSpPr>
          <p:cNvPr id="17" name="Rectangle 3"/>
          <p:cNvSpPr txBox="1">
            <a:spLocks noChangeArrowheads="1"/>
          </p:cNvSpPr>
          <p:nvPr/>
        </p:nvSpPr>
        <p:spPr bwMode="auto">
          <a:xfrm>
            <a:off x="89124" y="1196752"/>
            <a:ext cx="9054876" cy="566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en-AU" altLang="zh-CN" sz="2000" dirty="0" err="1"/>
              <a:t>Cellapp</a:t>
            </a:r>
            <a:r>
              <a:rPr lang="en-AU" altLang="zh-CN" sz="2000" dirty="0"/>
              <a:t> Personality</a:t>
            </a:r>
            <a:r>
              <a:rPr lang="zh-CN" altLang="en-AU" sz="2000" dirty="0">
                <a:ea typeface="宋体" panose="02010600030101010101" pitchFamily="2" charset="-122"/>
              </a:rPr>
              <a:t>脚本可以在</a:t>
            </a:r>
            <a:r>
              <a:rPr lang="en-AU" altLang="zh-CN" sz="2000" dirty="0">
                <a:solidFill>
                  <a:srgbClr val="00B0F0"/>
                </a:solidFill>
                <a:ea typeface="宋体" panose="02010600030101010101" pitchFamily="2" charset="-122"/>
              </a:rPr>
              <a:t> </a:t>
            </a:r>
            <a:r>
              <a:rPr lang="en-AU" altLang="zh-CN" sz="2000" b="1" dirty="0" err="1">
                <a:solidFill>
                  <a:srgbClr val="00B0F0"/>
                </a:solidFill>
                <a:latin typeface="Courier New" panose="02070309020205020404" pitchFamily="49" charset="0"/>
              </a:rPr>
              <a:t>onCellAppReady</a:t>
            </a:r>
            <a:r>
              <a:rPr lang="zh-CN" altLang="en-AU" sz="2000" dirty="0">
                <a:latin typeface="Courier New" panose="02070309020205020404" pitchFamily="49" charset="0"/>
                <a:ea typeface="宋体" panose="02010600030101010101" pitchFamily="2" charset="-122"/>
              </a:rPr>
              <a:t>时设定游戏</a:t>
            </a:r>
            <a:endParaRPr lang="en-AU" altLang="zh-CN" sz="2000" dirty="0">
              <a:latin typeface="Courier New" panose="02070309020205020404" pitchFamily="49" charset="0"/>
              <a:ea typeface="宋体" panose="02010600030101010101" pitchFamily="2" charset="-122"/>
            </a:endParaRPr>
          </a:p>
          <a:p>
            <a:pPr marL="352425" lvl="1" indent="-170180">
              <a:lnSpc>
                <a:spcPct val="80000"/>
              </a:lnSpc>
              <a:spcBef>
                <a:spcPct val="30000"/>
              </a:spcBef>
            </a:pPr>
            <a:r>
              <a:rPr lang="zh-CN" altLang="en-AU" sz="2000" dirty="0">
                <a:ea typeface="宋体" panose="02010600030101010101" pitchFamily="2" charset="-122"/>
              </a:rPr>
              <a:t>用</a:t>
            </a:r>
            <a:r>
              <a:rPr lang="en-AU" altLang="zh-CN" sz="2000" dirty="0">
                <a:ea typeface="宋体" panose="02010600030101010101" pitchFamily="2" charset="-122"/>
              </a:rPr>
              <a:t>i</a:t>
            </a:r>
            <a:r>
              <a:rPr lang="en-AU" altLang="zh-CN" sz="2000" dirty="0"/>
              <a:t>mport </a:t>
            </a:r>
            <a:r>
              <a:rPr lang="en-AU" altLang="zh-CN" sz="2000" dirty="0" err="1"/>
              <a:t>KBEngine</a:t>
            </a:r>
            <a:r>
              <a:rPr lang="zh-CN" altLang="en-AU" sz="2000" dirty="0">
                <a:ea typeface="宋体" panose="02010600030101010101" pitchFamily="2" charset="-122"/>
              </a:rPr>
              <a:t>来使用</a:t>
            </a:r>
            <a:r>
              <a:rPr lang="en-AU" altLang="zh-CN" sz="2000" dirty="0" err="1"/>
              <a:t>KBEngine</a:t>
            </a:r>
            <a:r>
              <a:rPr lang="zh-CN" altLang="en-AU" sz="2000" dirty="0">
                <a:ea typeface="宋体" panose="02010600030101010101" pitchFamily="2" charset="-122"/>
              </a:rPr>
              <a:t>函数</a:t>
            </a:r>
          </a:p>
          <a:p>
            <a:pPr marL="352425" lvl="1" indent="-170180">
              <a:lnSpc>
                <a:spcPct val="80000"/>
              </a:lnSpc>
              <a:spcBef>
                <a:spcPct val="30000"/>
              </a:spcBef>
            </a:pPr>
            <a:r>
              <a:rPr lang="en-US" altLang="zh-CN" sz="2000" b="1" u="sng" dirty="0" err="1">
                <a:latin typeface="Courier New" panose="02070309020205020404" pitchFamily="49" charset="0"/>
                <a:ea typeface="宋体" panose="02010600030101010101" pitchFamily="2" charset="-122"/>
              </a:rPr>
              <a:t>KBEngine.addSpaceGeometryMapping</a:t>
            </a:r>
            <a:r>
              <a:rPr lang="en-US" altLang="zh-CN" sz="2000" b="1" u="sng" dirty="0">
                <a:latin typeface="Courier New" panose="02070309020205020404" pitchFamily="49" charset="0"/>
                <a:ea typeface="宋体" panose="02010600030101010101" pitchFamily="2" charset="-122"/>
              </a:rPr>
              <a:t>(</a:t>
            </a:r>
            <a:r>
              <a:rPr lang="en-US" altLang="zh-CN" sz="2000" b="1" u="sng" dirty="0" err="1">
                <a:latin typeface="Courier New" panose="02070309020205020404" pitchFamily="49" charset="0"/>
                <a:ea typeface="宋体" panose="02010600030101010101" pitchFamily="2" charset="-122"/>
              </a:rPr>
              <a:t>self.spaceID</a:t>
            </a:r>
            <a:r>
              <a:rPr lang="en-US" altLang="zh-CN" sz="2000" b="1" u="sng" dirty="0">
                <a:latin typeface="Courier New" panose="02070309020205020404" pitchFamily="49" charset="0"/>
                <a:ea typeface="宋体" panose="02010600030101010101" pitchFamily="2" charset="-122"/>
              </a:rPr>
              <a:t>, None, "spaces/demo")</a:t>
            </a:r>
            <a:endParaRPr lang="en-US" altLang="zh-CN" sz="2000" u="sng" dirty="0">
              <a:latin typeface="Courier New" panose="02070309020205020404" pitchFamily="49" charset="0"/>
              <a:ea typeface="宋体" panose="02010600030101010101" pitchFamily="2" charset="-122"/>
            </a:endParaRPr>
          </a:p>
          <a:p>
            <a:pPr marL="542925" lvl="2" indent="-189230">
              <a:lnSpc>
                <a:spcPct val="80000"/>
              </a:lnSpc>
            </a:pPr>
            <a:r>
              <a:rPr lang="zh-CN" altLang="en-US" sz="2000" dirty="0">
                <a:ea typeface="宋体" panose="02010600030101010101" pitchFamily="2" charset="-122"/>
              </a:rPr>
              <a:t>参考</a:t>
            </a:r>
            <a:r>
              <a:rPr lang="en-US" altLang="zh-CN" sz="2000" dirty="0">
                <a:ea typeface="宋体" panose="02010600030101010101" pitchFamily="2" charset="-122"/>
              </a:rPr>
              <a:t>API</a:t>
            </a:r>
            <a:r>
              <a:rPr lang="zh-CN" altLang="en-US" sz="2000" dirty="0">
                <a:ea typeface="宋体" panose="02010600030101010101" pitchFamily="2" charset="-122"/>
              </a:rPr>
              <a:t>文档</a:t>
            </a:r>
            <a:endParaRPr lang="en-AU" altLang="zh-CN" sz="2000" dirty="0"/>
          </a:p>
          <a:p>
            <a:pPr>
              <a:lnSpc>
                <a:spcPct val="80000"/>
              </a:lnSpc>
              <a:spcBef>
                <a:spcPct val="60000"/>
              </a:spcBef>
            </a:pPr>
            <a:r>
              <a:rPr lang="en-AU" altLang="zh-CN" sz="2000" dirty="0" err="1"/>
              <a:t>Baseapp</a:t>
            </a:r>
            <a:r>
              <a:rPr lang="en-AU" altLang="zh-CN" sz="2000" dirty="0"/>
              <a:t> Personality</a:t>
            </a:r>
            <a:r>
              <a:rPr lang="zh-CN" altLang="en-AU" sz="2000" dirty="0">
                <a:ea typeface="宋体" panose="02010600030101010101" pitchFamily="2" charset="-122"/>
              </a:rPr>
              <a:t>脚本可以在</a:t>
            </a:r>
            <a:r>
              <a:rPr lang="en-AU" altLang="zh-CN" sz="2000" dirty="0">
                <a:ea typeface="宋体" panose="02010600030101010101" pitchFamily="2" charset="-122"/>
              </a:rPr>
              <a:t> </a:t>
            </a:r>
            <a:r>
              <a:rPr lang="en-AU" altLang="zh-CN" sz="2000" b="1" dirty="0" err="1">
                <a:solidFill>
                  <a:srgbClr val="00B0F0"/>
                </a:solidFill>
                <a:latin typeface="Courier New" panose="02070309020205020404" pitchFamily="49" charset="0"/>
              </a:rPr>
              <a:t>onBaseAppReady</a:t>
            </a:r>
            <a:r>
              <a:rPr lang="zh-CN" altLang="en-AU" sz="2000" dirty="0">
                <a:latin typeface="Courier New" panose="02070309020205020404" pitchFamily="49" charset="0"/>
                <a:ea typeface="宋体" panose="02010600030101010101" pitchFamily="2" charset="-122"/>
              </a:rPr>
              <a:t>时设置游戏</a:t>
            </a:r>
            <a:endParaRPr lang="en-AU" altLang="zh-CN" sz="2000" dirty="0">
              <a:latin typeface="Courier New" panose="02070309020205020404" pitchFamily="49" charset="0"/>
              <a:ea typeface="宋体" panose="02010600030101010101" pitchFamily="2" charset="-122"/>
            </a:endParaRPr>
          </a:p>
          <a:p>
            <a:pPr marL="352425" lvl="1" indent="-170180">
              <a:lnSpc>
                <a:spcPct val="80000"/>
              </a:lnSpc>
              <a:spcBef>
                <a:spcPct val="30000"/>
              </a:spcBef>
            </a:pPr>
            <a:r>
              <a:rPr lang="zh-CN" altLang="en-AU" sz="2000" dirty="0">
                <a:ea typeface="宋体" panose="02010600030101010101" pitchFamily="2" charset="-122"/>
              </a:rPr>
              <a:t>如果要创建全局</a:t>
            </a:r>
            <a:r>
              <a:rPr lang="en-AU" altLang="zh-CN" sz="2000" dirty="0">
                <a:ea typeface="宋体" panose="02010600030101010101" pitchFamily="2" charset="-122"/>
              </a:rPr>
              <a:t>base</a:t>
            </a:r>
            <a:r>
              <a:rPr lang="zh-CN" altLang="en-AU" sz="2000" dirty="0">
                <a:ea typeface="宋体" panose="02010600030101010101" pitchFamily="2" charset="-122"/>
              </a:rPr>
              <a:t>的话，可以在这个时候创建</a:t>
            </a:r>
            <a:endParaRPr lang="en-AU" altLang="zh-CN" sz="2000" dirty="0"/>
          </a:p>
          <a:p>
            <a:pPr marL="352425" lvl="1" indent="-170180">
              <a:lnSpc>
                <a:spcPct val="80000"/>
              </a:lnSpc>
              <a:spcBef>
                <a:spcPct val="30000"/>
              </a:spcBef>
            </a:pPr>
            <a:r>
              <a:rPr lang="zh-CN" altLang="en-AU" sz="2000" dirty="0">
                <a:ea typeface="宋体" panose="02010600030101010101" pitchFamily="2" charset="-122"/>
              </a:rPr>
              <a:t>应该在这里创建新的</a:t>
            </a:r>
            <a:r>
              <a:rPr lang="en-AU" altLang="zh-CN" sz="2000" dirty="0">
                <a:ea typeface="宋体" panose="02010600030101010101" pitchFamily="2" charset="-122"/>
              </a:rPr>
              <a:t>space</a:t>
            </a:r>
          </a:p>
          <a:p>
            <a:pPr>
              <a:lnSpc>
                <a:spcPct val="80000"/>
              </a:lnSpc>
              <a:spcBef>
                <a:spcPct val="60000"/>
              </a:spcBef>
            </a:pPr>
            <a:r>
              <a:rPr lang="zh-CN" altLang="en-AU" sz="2000" dirty="0">
                <a:ea typeface="宋体" panose="02010600030101010101" pitchFamily="2" charset="-122"/>
              </a:rPr>
              <a:t>以上两个脚本必须都必须执行清理工作：</a:t>
            </a:r>
            <a:endParaRPr lang="en-AU" altLang="zh-CN" sz="2000" dirty="0"/>
          </a:p>
          <a:p>
            <a:pPr marL="352425" lvl="1" indent="-170180">
              <a:lnSpc>
                <a:spcPct val="80000"/>
              </a:lnSpc>
              <a:spcBef>
                <a:spcPct val="30000"/>
              </a:spcBef>
            </a:pPr>
            <a:r>
              <a:rPr lang="zh-CN" altLang="en-AU" sz="2000" dirty="0">
                <a:latin typeface="Courier New" panose="02070309020205020404" pitchFamily="49" charset="0"/>
                <a:ea typeface="宋体" panose="02010600030101010101" pitchFamily="2" charset="-122"/>
              </a:rPr>
              <a:t>在</a:t>
            </a:r>
            <a:r>
              <a:rPr lang="en-AU" altLang="zh-CN" sz="2000" b="1" dirty="0" err="1">
                <a:solidFill>
                  <a:srgbClr val="00B0F0"/>
                </a:solidFill>
                <a:latin typeface="Courier New" panose="02070309020205020404" pitchFamily="49" charset="0"/>
              </a:rPr>
              <a:t>onBaseAppShuttingDown</a:t>
            </a:r>
            <a:r>
              <a:rPr lang="en-AU" altLang="zh-CN" sz="2000" b="1" dirty="0">
                <a:latin typeface="Courier New" panose="02070309020205020404" pitchFamily="49" charset="0"/>
              </a:rPr>
              <a:t> </a:t>
            </a:r>
            <a:r>
              <a:rPr lang="zh-CN" altLang="en-AU" sz="2000" dirty="0">
                <a:latin typeface="Courier New" panose="02070309020205020404" pitchFamily="49" charset="0"/>
                <a:ea typeface="宋体" panose="02010600030101010101" pitchFamily="2" charset="-122"/>
              </a:rPr>
              <a:t>或</a:t>
            </a:r>
            <a:r>
              <a:rPr lang="zh-CN" altLang="en-AU" sz="2000" dirty="0">
                <a:ea typeface="宋体" panose="02010600030101010101" pitchFamily="2" charset="-122"/>
              </a:rPr>
              <a:t> </a:t>
            </a:r>
            <a:r>
              <a:rPr lang="en-AU" altLang="zh-CN" sz="2000" b="1" dirty="0" err="1">
                <a:solidFill>
                  <a:srgbClr val="00B0F0"/>
                </a:solidFill>
                <a:latin typeface="Courier New" panose="02070309020205020404" pitchFamily="49" charset="0"/>
              </a:rPr>
              <a:t>onCellAppShuttingDown</a:t>
            </a:r>
            <a:r>
              <a:rPr lang="zh-CN" altLang="en-AU" sz="2000" dirty="0">
                <a:latin typeface="Courier New" panose="02070309020205020404" pitchFamily="49" charset="0"/>
                <a:ea typeface="宋体" panose="02010600030101010101" pitchFamily="2" charset="-122"/>
              </a:rPr>
              <a:t>被调用的时候</a:t>
            </a:r>
            <a:endParaRPr lang="en-AU" altLang="zh-CN" sz="2000" dirty="0"/>
          </a:p>
          <a:p>
            <a:pPr marL="352425" lvl="1" indent="-170180">
              <a:lnSpc>
                <a:spcPct val="80000"/>
              </a:lnSpc>
              <a:spcBef>
                <a:spcPct val="30000"/>
              </a:spcBef>
            </a:pPr>
            <a:r>
              <a:rPr lang="en-AU" altLang="zh-CN" sz="2000" dirty="0" err="1"/>
              <a:t>Baseapps</a:t>
            </a:r>
            <a:r>
              <a:rPr lang="zh-CN" altLang="en-AU" sz="2000" dirty="0">
                <a:ea typeface="宋体" panose="02010600030101010101" pitchFamily="2" charset="-122"/>
              </a:rPr>
              <a:t>同时还在接近结束的时候接收到</a:t>
            </a:r>
            <a:r>
              <a:rPr lang="en-AU" altLang="zh-CN" sz="2000" b="1" dirty="0" err="1">
                <a:solidFill>
                  <a:srgbClr val="00B0F0"/>
                </a:solidFill>
                <a:latin typeface="Courier New" panose="02070309020205020404" pitchFamily="49" charset="0"/>
              </a:rPr>
              <a:t>onBaseAppShutDown</a:t>
            </a:r>
            <a:r>
              <a:rPr lang="zh-CN" altLang="en-AU" sz="2000" dirty="0">
                <a:latin typeface="Courier New" panose="02070309020205020404" pitchFamily="49" charset="0"/>
                <a:ea typeface="宋体" panose="02010600030101010101" pitchFamily="2" charset="-122"/>
              </a:rPr>
              <a:t>消息</a:t>
            </a:r>
            <a:endParaRPr lang="en-AU" altLang="zh-CN" sz="2000" dirty="0"/>
          </a:p>
          <a:p>
            <a:pPr>
              <a:lnSpc>
                <a:spcPct val="80000"/>
              </a:lnSpc>
              <a:spcBef>
                <a:spcPct val="60000"/>
              </a:spcBef>
            </a:pPr>
            <a:r>
              <a:rPr lang="en-AU" altLang="zh-CN" sz="2000" dirty="0"/>
              <a:t>Personalit</a:t>
            </a:r>
            <a:r>
              <a:rPr lang="en-AU" altLang="zh-CN" sz="2000" dirty="0">
                <a:ea typeface="宋体" panose="02010600030101010101" pitchFamily="2" charset="-122"/>
              </a:rPr>
              <a:t>y</a:t>
            </a:r>
            <a:r>
              <a:rPr lang="zh-CN" altLang="en-AU" sz="2000" dirty="0">
                <a:ea typeface="宋体" panose="02010600030101010101" pitchFamily="2" charset="-122"/>
              </a:rPr>
              <a:t>脚本可以根据需要执行其它的任务</a:t>
            </a:r>
            <a:endParaRPr lang="en-AU" altLang="zh-CN" sz="2000" dirty="0"/>
          </a:p>
          <a:p>
            <a:pPr marL="352425" lvl="1" indent="-170180">
              <a:lnSpc>
                <a:spcPct val="80000"/>
              </a:lnSpc>
              <a:spcBef>
                <a:spcPct val="30000"/>
              </a:spcBef>
            </a:pPr>
            <a:r>
              <a:rPr lang="zh-CN" altLang="en-AU" sz="2000" dirty="0">
                <a:ea typeface="宋体" panose="02010600030101010101" pitchFamily="2" charset="-122"/>
              </a:rPr>
              <a:t>是置放全局游戏脚本的地方，但不要把所有东西都放在里面</a:t>
            </a:r>
            <a:endParaRPr lang="en-AU" altLang="zh-CN" sz="2000" dirty="0"/>
          </a:p>
          <a:p>
            <a:pPr marL="352425" lvl="1" indent="-170180">
              <a:lnSpc>
                <a:spcPct val="80000"/>
              </a:lnSpc>
              <a:spcBef>
                <a:spcPct val="30000"/>
              </a:spcBef>
            </a:pPr>
            <a:r>
              <a:rPr lang="zh-CN" altLang="en-AU" sz="2000" dirty="0">
                <a:ea typeface="宋体" panose="02010600030101010101" pitchFamily="2" charset="-122"/>
              </a:rPr>
              <a:t>对每个逻辑部分用分开的脚本文件</a:t>
            </a:r>
            <a:endParaRPr lang="en-AU" altLang="zh-CN" sz="2000" dirty="0">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第七章</a:t>
            </a:r>
          </a:p>
        </p:txBody>
      </p:sp>
      <p:sp>
        <p:nvSpPr>
          <p:cNvPr id="12" name="TextBox 11"/>
          <p:cNvSpPr txBox="1"/>
          <p:nvPr/>
        </p:nvSpPr>
        <p:spPr>
          <a:xfrm>
            <a:off x="899592" y="2904465"/>
            <a:ext cx="669674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a:t>
            </a:r>
            <a:r>
              <a:rPr lang="zh-CN" altLang="en-US" sz="4000" b="1" kern="0" dirty="0">
                <a:solidFill>
                  <a:schemeClr val="tx2"/>
                </a:solidFill>
                <a:latin typeface="Verdana" panose="020B0604030504040204"/>
                <a:ea typeface="宋体" panose="02010600030101010101" pitchFamily="2" charset="-122"/>
              </a:rPr>
              <a:t>服务器调试</a:t>
            </a:r>
            <a:endParaRPr lang="zh-CN" altLang="en-US" sz="3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C++</a:t>
            </a:r>
            <a:r>
              <a:rPr lang="zh-CN" altLang="en-US" sz="4900" b="1" dirty="0">
                <a:solidFill>
                  <a:schemeClr val="accent1"/>
                </a:solidFill>
                <a:latin typeface="+mn-ea"/>
                <a:ea typeface="+mn-ea"/>
              </a:rPr>
              <a:t>断点调试</a:t>
            </a:r>
          </a:p>
        </p:txBody>
      </p:sp>
      <p:sp>
        <p:nvSpPr>
          <p:cNvPr id="17" name="Rectangle 3"/>
          <p:cNvSpPr txBox="1">
            <a:spLocks noChangeArrowheads="1"/>
          </p:cNvSpPr>
          <p:nvPr/>
        </p:nvSpPr>
        <p:spPr bwMode="auto">
          <a:xfrm>
            <a:off x="89124" y="980728"/>
            <a:ext cx="9054876" cy="5877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zh-CN" altLang="en-US" dirty="0"/>
              <a:t>尽可能的</a:t>
            </a:r>
            <a:r>
              <a:rPr lang="zh-CN" altLang="en-US" dirty="0">
                <a:solidFill>
                  <a:srgbClr val="00B0F0"/>
                </a:solidFill>
              </a:rPr>
              <a:t>使用</a:t>
            </a:r>
            <a:r>
              <a:rPr lang="en-US" altLang="zh-CN" dirty="0">
                <a:solidFill>
                  <a:srgbClr val="00B0F0"/>
                </a:solidFill>
              </a:rPr>
              <a:t>Log</a:t>
            </a:r>
            <a:r>
              <a:rPr lang="zh-CN" altLang="en-US" dirty="0">
                <a:solidFill>
                  <a:srgbClr val="00B0F0"/>
                </a:solidFill>
              </a:rPr>
              <a:t>追踪执行过程</a:t>
            </a:r>
            <a:endParaRPr lang="en-US" altLang="zh-CN" dirty="0"/>
          </a:p>
          <a:p>
            <a:pPr>
              <a:lnSpc>
                <a:spcPct val="80000"/>
              </a:lnSpc>
            </a:pPr>
            <a:r>
              <a:rPr lang="zh-CN" altLang="en-US" dirty="0">
                <a:ea typeface="宋体" panose="02010600030101010101" pitchFamily="2" charset="-122"/>
              </a:rPr>
              <a:t>服务端进程断点请启动完服务组后附加到进程</a:t>
            </a:r>
            <a:endParaRPr lang="en-US" altLang="zh-CN" dirty="0">
              <a:ea typeface="宋体" panose="02010600030101010101" pitchFamily="2" charset="-122"/>
            </a:endParaRPr>
          </a:p>
          <a:p>
            <a:pPr marL="0" indent="0">
              <a:lnSpc>
                <a:spcPct val="80000"/>
              </a:lnSpc>
              <a:buNone/>
            </a:pPr>
            <a:r>
              <a:rPr lang="en-US" altLang="zh-CN" sz="2000" dirty="0">
                <a:ea typeface="宋体" panose="02010600030101010101" pitchFamily="2" charset="-122"/>
              </a:rPr>
              <a:t>         </a:t>
            </a:r>
            <a:r>
              <a:rPr lang="zh-CN" altLang="en-US" sz="2000" dirty="0">
                <a:ea typeface="宋体" panose="02010600030101010101" pitchFamily="2" charset="-122"/>
              </a:rPr>
              <a:t>特殊情况请设置好系统环境变量，先启动好依赖进程之后使用</a:t>
            </a:r>
            <a:r>
              <a:rPr lang="en-US" altLang="zh-CN" sz="2000" dirty="0">
                <a:ea typeface="宋体" panose="02010600030101010101" pitchFamily="2" charset="-122"/>
              </a:rPr>
              <a:t>IDE</a:t>
            </a:r>
            <a:r>
              <a:rPr lang="zh-CN" altLang="en-US" sz="2000" dirty="0">
                <a:ea typeface="宋体" panose="02010600030101010101" pitchFamily="2" charset="-122"/>
              </a:rPr>
              <a:t>单独启动进程调试</a:t>
            </a:r>
            <a:endParaRPr lang="en-AU" altLang="zh-CN" sz="2000" dirty="0">
              <a:ea typeface="宋体" panose="02010600030101010101" pitchFamily="2"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工具与服务端交互调试</a:t>
            </a:r>
          </a:p>
        </p:txBody>
      </p:sp>
      <p:sp>
        <p:nvSpPr>
          <p:cNvPr id="17" name="Rectangle 3"/>
          <p:cNvSpPr txBox="1">
            <a:spLocks noChangeArrowheads="1"/>
          </p:cNvSpPr>
          <p:nvPr/>
        </p:nvSpPr>
        <p:spPr bwMode="auto">
          <a:xfrm>
            <a:off x="89124" y="980728"/>
            <a:ext cx="9054876" cy="5877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pPr>
            <a:r>
              <a:rPr lang="zh-CN" altLang="en-US" sz="2400" dirty="0">
                <a:ea typeface="宋体" panose="02010600030101010101" pitchFamily="2" charset="-122"/>
              </a:rPr>
              <a:t>使用</a:t>
            </a:r>
            <a:r>
              <a:rPr lang="en-US" altLang="zh-CN" sz="2400" dirty="0" err="1">
                <a:solidFill>
                  <a:srgbClr val="00B0F0"/>
                </a:solidFill>
                <a:ea typeface="宋体" panose="02010600030101010101" pitchFamily="2" charset="-122"/>
              </a:rPr>
              <a:t>GUIConsole</a:t>
            </a:r>
            <a:r>
              <a:rPr lang="en-US" altLang="zh-CN" sz="2400" dirty="0">
                <a:solidFill>
                  <a:srgbClr val="00B0F0"/>
                </a:solidFill>
                <a:ea typeface="宋体" panose="02010600030101010101" pitchFamily="2" charset="-122"/>
              </a:rPr>
              <a:t>-Debug</a:t>
            </a:r>
            <a:r>
              <a:rPr lang="zh-CN" altLang="en-US" sz="2400" dirty="0">
                <a:ea typeface="宋体" panose="02010600030101010101" pitchFamily="2" charset="-122"/>
              </a:rPr>
              <a:t>页能够在内存中与</a:t>
            </a:r>
            <a:r>
              <a:rPr lang="en-US" altLang="zh-CN" sz="2400" dirty="0" err="1">
                <a:ea typeface="宋体" panose="02010600030101010101" pitchFamily="2" charset="-122"/>
              </a:rPr>
              <a:t>Cellapp</a:t>
            </a:r>
            <a:r>
              <a:rPr lang="zh-CN" altLang="en-US" sz="2400" dirty="0">
                <a:ea typeface="宋体" panose="02010600030101010101" pitchFamily="2" charset="-122"/>
              </a:rPr>
              <a:t>或</a:t>
            </a:r>
            <a:r>
              <a:rPr lang="en-US" altLang="zh-CN" sz="2400" dirty="0" err="1">
                <a:ea typeface="宋体" panose="02010600030101010101" pitchFamily="2" charset="-122"/>
              </a:rPr>
              <a:t>Baseapp</a:t>
            </a:r>
            <a:r>
              <a:rPr lang="zh-CN" altLang="en-US" sz="2400" dirty="0">
                <a:ea typeface="宋体" panose="02010600030101010101" pitchFamily="2" charset="-122"/>
              </a:rPr>
              <a:t>的</a:t>
            </a:r>
            <a:r>
              <a:rPr lang="en-US" altLang="zh-CN" sz="2400" dirty="0">
                <a:ea typeface="宋体" panose="02010600030101010101" pitchFamily="2" charset="-122"/>
              </a:rPr>
              <a:t>Python</a:t>
            </a:r>
            <a:r>
              <a:rPr lang="zh-CN" altLang="en-US" sz="2400" dirty="0">
                <a:ea typeface="宋体" panose="02010600030101010101" pitchFamily="2" charset="-122"/>
              </a:rPr>
              <a:t>脚本交互</a:t>
            </a:r>
            <a:endParaRPr lang="en-US" altLang="zh-CN" sz="2400" dirty="0">
              <a:ea typeface="宋体" panose="02010600030101010101" pitchFamily="2" charset="-122"/>
            </a:endParaRPr>
          </a:p>
          <a:p>
            <a:pPr>
              <a:lnSpc>
                <a:spcPct val="80000"/>
              </a:lnSpc>
            </a:pPr>
            <a:r>
              <a:rPr lang="zh-CN" altLang="en-US" sz="2400" dirty="0">
                <a:ea typeface="宋体" panose="02010600030101010101" pitchFamily="2" charset="-122"/>
              </a:rPr>
              <a:t>使用</a:t>
            </a:r>
            <a:r>
              <a:rPr lang="en-US" altLang="zh-CN" sz="2400" dirty="0">
                <a:ea typeface="宋体" panose="02010600030101010101" pitchFamily="2" charset="-122"/>
              </a:rPr>
              <a:t>kbengine/kbe/tools/server/pycluster/</a:t>
            </a:r>
            <a:r>
              <a:rPr lang="en-US" altLang="zh-CN" sz="2400" dirty="0">
                <a:solidFill>
                  <a:srgbClr val="00B0F0"/>
                </a:solidFill>
                <a:ea typeface="宋体" panose="02010600030101010101" pitchFamily="2" charset="-122"/>
              </a:rPr>
              <a:t>cluster_controller.py</a:t>
            </a:r>
            <a:r>
              <a:rPr lang="zh-CN" altLang="en-US" sz="2400" dirty="0">
                <a:ea typeface="宋体" panose="02010600030101010101" pitchFamily="2" charset="-122"/>
              </a:rPr>
              <a:t>或命令能够</a:t>
            </a:r>
            <a:r>
              <a:rPr lang="en-US" altLang="zh-CN" sz="2400" dirty="0">
                <a:ea typeface="宋体" panose="02010600030101010101" pitchFamily="2" charset="-122"/>
              </a:rPr>
              <a:t>telnet</a:t>
            </a:r>
            <a:r>
              <a:rPr lang="zh-CN" altLang="en-US" sz="2400" dirty="0">
                <a:ea typeface="宋体" panose="02010600030101010101" pitchFamily="2" charset="-122"/>
              </a:rPr>
              <a:t>到服务端与</a:t>
            </a:r>
            <a:r>
              <a:rPr lang="en-US" altLang="zh-CN" sz="2400" dirty="0" err="1">
                <a:ea typeface="宋体" panose="02010600030101010101" pitchFamily="2" charset="-122"/>
              </a:rPr>
              <a:t>Cellapp</a:t>
            </a:r>
            <a:r>
              <a:rPr lang="zh-CN" altLang="en-US" sz="2400" dirty="0">
                <a:ea typeface="宋体" panose="02010600030101010101" pitchFamily="2" charset="-122"/>
              </a:rPr>
              <a:t>或</a:t>
            </a:r>
            <a:r>
              <a:rPr lang="en-US" altLang="zh-CN" sz="2400" dirty="0" err="1">
                <a:ea typeface="宋体" panose="02010600030101010101" pitchFamily="2" charset="-122"/>
              </a:rPr>
              <a:t>Baseapp</a:t>
            </a:r>
            <a:r>
              <a:rPr lang="zh-CN" altLang="en-US" sz="2400" dirty="0">
                <a:ea typeface="宋体" panose="02010600030101010101" pitchFamily="2" charset="-122"/>
              </a:rPr>
              <a:t>的</a:t>
            </a:r>
            <a:r>
              <a:rPr lang="en-US" altLang="zh-CN" sz="2400" dirty="0">
                <a:ea typeface="宋体" panose="02010600030101010101" pitchFamily="2" charset="-122"/>
              </a:rPr>
              <a:t>Python</a:t>
            </a:r>
            <a:r>
              <a:rPr lang="zh-CN" altLang="en-US" sz="2400" dirty="0">
                <a:ea typeface="宋体" panose="02010600030101010101" pitchFamily="2" charset="-122"/>
              </a:rPr>
              <a:t>脚本交互</a:t>
            </a:r>
            <a:endParaRPr lang="en-US" altLang="zh-CN" sz="2400" dirty="0">
              <a:ea typeface="宋体" panose="02010600030101010101" pitchFamily="2" charset="-122"/>
            </a:endParaRPr>
          </a:p>
          <a:p>
            <a:pPr>
              <a:lnSpc>
                <a:spcPct val="80000"/>
              </a:lnSpc>
            </a:pPr>
            <a:r>
              <a:rPr lang="zh-CN" altLang="en-US" sz="2400" dirty="0">
                <a:ea typeface="宋体" panose="02010600030101010101" pitchFamily="2" charset="-122"/>
              </a:rPr>
              <a:t>用</a:t>
            </a:r>
            <a:r>
              <a:rPr lang="en-US" altLang="zh-CN" sz="2400" dirty="0" err="1">
                <a:ea typeface="宋体" panose="02010600030101010101" pitchFamily="2" charset="-122"/>
              </a:rPr>
              <a:t>KBEngine</a:t>
            </a:r>
            <a:r>
              <a:rPr lang="en-US" altLang="zh-CN" sz="2400" dirty="0">
                <a:ea typeface="宋体" panose="02010600030101010101" pitchFamily="2" charset="-122"/>
              </a:rPr>
              <a:t> Python</a:t>
            </a:r>
            <a:r>
              <a:rPr lang="zh-CN" altLang="en-US" sz="2400" dirty="0">
                <a:ea typeface="宋体" panose="02010600030101010101" pitchFamily="2" charset="-122"/>
              </a:rPr>
              <a:t>接口来交互</a:t>
            </a:r>
            <a:endParaRPr lang="en-US" altLang="zh-CN" sz="2400" dirty="0">
              <a:ea typeface="宋体" panose="02010600030101010101" pitchFamily="2" charset="-122"/>
            </a:endParaRPr>
          </a:p>
          <a:p>
            <a:pPr marL="352425" lvl="1" indent="-170180">
              <a:lnSpc>
                <a:spcPct val="80000"/>
              </a:lnSpc>
            </a:pPr>
            <a:r>
              <a:rPr lang="zh-CN" altLang="en-US" sz="1600" b="1" dirty="0">
                <a:latin typeface="Courier New" panose="02070309020205020404" pitchFamily="49" charset="0"/>
              </a:rPr>
              <a:t>例如：在</a:t>
            </a:r>
            <a:r>
              <a:rPr lang="en-US" altLang="zh-CN" sz="1600" b="1" dirty="0" err="1">
                <a:latin typeface="Courier New" panose="02070309020205020404" pitchFamily="49" charset="0"/>
              </a:rPr>
              <a:t>Baseapp</a:t>
            </a:r>
            <a:r>
              <a:rPr lang="zh-CN" altLang="en-US" sz="1600" b="1" dirty="0">
                <a:latin typeface="Courier New" panose="02070309020205020404" pitchFamily="49" charset="0"/>
              </a:rPr>
              <a:t>上</a:t>
            </a:r>
            <a:endParaRPr lang="en-US" altLang="zh-CN" sz="1600" b="1" dirty="0">
              <a:latin typeface="Courier New" panose="02070309020205020404" pitchFamily="49" charset="0"/>
              <a:ea typeface="宋体" panose="02010600030101010101" pitchFamily="2" charset="-122"/>
            </a:endParaRPr>
          </a:p>
          <a:p>
            <a:pPr marL="352425" lvl="1" indent="-170180">
              <a:lnSpc>
                <a:spcPct val="80000"/>
              </a:lnSpc>
            </a:pPr>
            <a:r>
              <a:rPr lang="en-GB" altLang="zh-CN" sz="1800" b="1" dirty="0">
                <a:latin typeface="Courier New" panose="02070309020205020404" pitchFamily="49" charset="0"/>
              </a:rPr>
              <a:t>&gt;&gt;&gt;</a:t>
            </a:r>
            <a:r>
              <a:rPr lang="en-US" altLang="zh-CN" sz="1800" b="1" dirty="0">
                <a:latin typeface="Courier New" panose="02070309020205020404" pitchFamily="49" charset="0"/>
                <a:ea typeface="宋体" panose="02010600030101010101" pitchFamily="2" charset="-122"/>
              </a:rPr>
              <a:t> e = </a:t>
            </a:r>
            <a:r>
              <a:rPr lang="en-US" altLang="zh-CN" sz="1800" b="1" dirty="0" err="1">
                <a:latin typeface="Courier New" panose="02070309020205020404" pitchFamily="49" charset="0"/>
                <a:ea typeface="宋体" panose="02010600030101010101" pitchFamily="2" charset="-122"/>
              </a:rPr>
              <a:t>KBEngine.createEntity</a:t>
            </a:r>
            <a:r>
              <a:rPr lang="en-US" altLang="zh-CN" sz="1800" b="1" dirty="0">
                <a:latin typeface="Courier New" panose="02070309020205020404" pitchFamily="49" charset="0"/>
                <a:ea typeface="宋体" panose="02010600030101010101" pitchFamily="2" charset="-122"/>
              </a:rPr>
              <a:t>( “</a:t>
            </a:r>
            <a:r>
              <a:rPr lang="en-US" altLang="zh-CN" sz="1800" b="1" dirty="0" err="1">
                <a:latin typeface="Courier New" panose="02070309020205020404" pitchFamily="49" charset="0"/>
                <a:ea typeface="宋体" panose="02010600030101010101" pitchFamily="2" charset="-122"/>
              </a:rPr>
              <a:t>SpawnPoint</a:t>
            </a:r>
            <a:r>
              <a:rPr lang="en-US" altLang="zh-CN" sz="1800" b="1" dirty="0">
                <a:latin typeface="Courier New" panose="02070309020205020404" pitchFamily="49" charset="0"/>
                <a:ea typeface="宋体" panose="02010600030101010101" pitchFamily="2" charset="-122"/>
              </a:rPr>
              <a:t>", position = (2, 3, 5) )</a:t>
            </a:r>
            <a:endParaRPr lang="en-US" altLang="zh-CN" sz="1800" dirty="0">
              <a:latin typeface="Courier New" panose="02070309020205020404" pitchFamily="49" charset="0"/>
              <a:ea typeface="宋体" panose="02010600030101010101" pitchFamily="2" charset="-122"/>
            </a:endParaRPr>
          </a:p>
          <a:p>
            <a:pPr marL="352425" lvl="1" indent="-170180">
              <a:lnSpc>
                <a:spcPct val="80000"/>
              </a:lnSpc>
            </a:pPr>
            <a:r>
              <a:rPr lang="en-GB" altLang="zh-CN" sz="1400" b="1" u="sng" dirty="0">
                <a:latin typeface="Courier New" panose="02070309020205020404" pitchFamily="49" charset="0"/>
              </a:rPr>
              <a:t>&gt;&gt;&gt; e.id</a:t>
            </a:r>
          </a:p>
          <a:p>
            <a:pPr marL="352425" lvl="1" indent="-170180">
              <a:lnSpc>
                <a:spcPct val="80000"/>
              </a:lnSpc>
              <a:spcBef>
                <a:spcPts val="350"/>
              </a:spcBef>
              <a:buFont typeface="Wingdings" panose="05000000000000000000" pitchFamily="2" charset="2"/>
              <a:buChar char=""/>
            </a:pPr>
            <a:r>
              <a:rPr lang="en-GB" altLang="zh-CN" sz="1400" b="1" u="sng" dirty="0">
                <a:latin typeface="Courier New" panose="02070309020205020404" pitchFamily="49" charset="0"/>
              </a:rPr>
              <a:t>1234</a:t>
            </a:r>
          </a:p>
          <a:p>
            <a:pPr marL="352425" lvl="1" indent="-170180">
              <a:lnSpc>
                <a:spcPct val="80000"/>
              </a:lnSpc>
              <a:spcBef>
                <a:spcPts val="350"/>
              </a:spcBef>
              <a:buFont typeface="Wingdings" panose="05000000000000000000" pitchFamily="2" charset="2"/>
              <a:buChar char=""/>
            </a:pPr>
            <a:endParaRPr lang="en-GB" altLang="zh-CN" sz="1400" b="1" u="sng" dirty="0">
              <a:latin typeface="Courier New" panose="02070309020205020404" pitchFamily="49" charset="0"/>
              <a:ea typeface="宋体" panose="02010600030101010101" pitchFamily="2" charset="-122"/>
            </a:endParaRPr>
          </a:p>
          <a:p>
            <a:pPr marL="352425" lvl="1" indent="-170180">
              <a:lnSpc>
                <a:spcPct val="80000"/>
              </a:lnSpc>
              <a:spcBef>
                <a:spcPts val="350"/>
              </a:spcBef>
              <a:buFont typeface="Wingdings" panose="05000000000000000000" pitchFamily="2" charset="2"/>
              <a:buChar char=""/>
            </a:pPr>
            <a:r>
              <a:rPr lang="zh-CN" altLang="en-US" sz="1600" b="1" dirty="0">
                <a:latin typeface="Courier New" panose="02070309020205020404" pitchFamily="49" charset="0"/>
              </a:rPr>
              <a:t>例如：</a:t>
            </a:r>
            <a:r>
              <a:rPr lang="zh-CN" altLang="en-US" sz="1600" u="sng" dirty="0">
                <a:ea typeface="宋体" panose="02010600030101010101" pitchFamily="2" charset="-122"/>
              </a:rPr>
              <a:t>在</a:t>
            </a:r>
            <a:r>
              <a:rPr lang="en-US" altLang="zh-CN" sz="1600" u="sng" dirty="0" err="1">
                <a:ea typeface="宋体" panose="02010600030101010101" pitchFamily="2" charset="-122"/>
              </a:rPr>
              <a:t>Cellapp</a:t>
            </a:r>
            <a:r>
              <a:rPr lang="zh-CN" altLang="en-US" sz="1600" u="sng" dirty="0">
                <a:ea typeface="宋体" panose="02010600030101010101" pitchFamily="2" charset="-122"/>
              </a:rPr>
              <a:t>上</a:t>
            </a:r>
            <a:r>
              <a:rPr lang="en-US" altLang="zh-CN" sz="1600" u="sng" dirty="0">
                <a:ea typeface="宋体" panose="02010600030101010101" pitchFamily="2" charset="-122"/>
              </a:rPr>
              <a:t>:</a:t>
            </a:r>
          </a:p>
          <a:p>
            <a:pPr marL="466725" lvl="2" indent="-113030">
              <a:lnSpc>
                <a:spcPct val="80000"/>
              </a:lnSpc>
              <a:spcBef>
                <a:spcPts val="350"/>
              </a:spcBef>
              <a:buFont typeface="Wingdings" panose="05000000000000000000" pitchFamily="2" charset="2"/>
              <a:buChar char=""/>
            </a:pPr>
            <a:r>
              <a:rPr lang="en-GB" altLang="zh-CN" sz="1400" b="1" u="sng" dirty="0">
                <a:latin typeface="Courier New" panose="02070309020205020404" pitchFamily="49" charset="0"/>
              </a:rPr>
              <a:t>&gt;&gt;&gt; </a:t>
            </a:r>
            <a:r>
              <a:rPr lang="en-US" altLang="zh-CN" sz="1400" b="1" u="sng" dirty="0">
                <a:latin typeface="Courier New" panose="02070309020205020404" pitchFamily="49" charset="0"/>
              </a:rPr>
              <a:t>e</a:t>
            </a:r>
            <a:r>
              <a:rPr lang="en-GB" altLang="zh-CN" sz="1400" b="1" u="sng" dirty="0">
                <a:latin typeface="Courier New" panose="02070309020205020404" pitchFamily="49" charset="0"/>
              </a:rPr>
              <a:t> = </a:t>
            </a:r>
            <a:r>
              <a:rPr lang="en-GB" altLang="zh-CN" sz="1400" b="1" u="sng" dirty="0" err="1">
                <a:latin typeface="Courier New" panose="02070309020205020404" pitchFamily="49" charset="0"/>
              </a:rPr>
              <a:t>KBEngine.entities</a:t>
            </a:r>
            <a:r>
              <a:rPr lang="en-GB" altLang="zh-CN" sz="1400" b="1" u="sng" dirty="0">
                <a:latin typeface="Courier New" panose="02070309020205020404" pitchFamily="49" charset="0"/>
              </a:rPr>
              <a:t>[</a:t>
            </a:r>
            <a:r>
              <a:rPr lang="zh-CN" altLang="en-US" sz="1400" b="1" u="sng" dirty="0">
                <a:latin typeface="Courier New" panose="02070309020205020404" pitchFamily="49" charset="0"/>
              </a:rPr>
              <a:t>实体的</a:t>
            </a:r>
            <a:r>
              <a:rPr lang="en-US" altLang="zh-CN" sz="1400" b="1" u="sng" dirty="0">
                <a:latin typeface="Courier New" panose="02070309020205020404" pitchFamily="49" charset="0"/>
              </a:rPr>
              <a:t>ID</a:t>
            </a:r>
            <a:r>
              <a:rPr lang="en-GB" altLang="zh-CN" sz="1400" b="1" u="sng" dirty="0">
                <a:latin typeface="Courier New" panose="02070309020205020404" pitchFamily="49" charset="0"/>
              </a:rPr>
              <a:t>]</a:t>
            </a:r>
          </a:p>
          <a:p>
            <a:pPr marL="466725" lvl="2" indent="-113030">
              <a:lnSpc>
                <a:spcPct val="80000"/>
              </a:lnSpc>
              <a:spcBef>
                <a:spcPts val="350"/>
              </a:spcBef>
              <a:buFont typeface="Wingdings" panose="05000000000000000000" pitchFamily="2" charset="2"/>
              <a:buChar char=""/>
            </a:pPr>
            <a:r>
              <a:rPr lang="en-GB" altLang="zh-CN" sz="1400" b="1" u="sng" dirty="0">
                <a:latin typeface="Courier New" panose="02070309020205020404" pitchFamily="49" charset="0"/>
              </a:rPr>
              <a:t>&gt;&gt;&gt; </a:t>
            </a:r>
            <a:r>
              <a:rPr lang="en-GB" altLang="zh-CN" sz="1400" b="1" u="sng" dirty="0" err="1">
                <a:latin typeface="Courier New" panose="02070309020205020404" pitchFamily="49" charset="0"/>
              </a:rPr>
              <a:t>e.position</a:t>
            </a:r>
            <a:endParaRPr lang="en-GB" altLang="zh-CN" sz="1400" b="1" u="sng" dirty="0">
              <a:latin typeface="Courier New" panose="02070309020205020404" pitchFamily="49" charset="0"/>
            </a:endParaRPr>
          </a:p>
          <a:p>
            <a:pPr marL="466725" lvl="2" indent="-113030">
              <a:lnSpc>
                <a:spcPct val="80000"/>
              </a:lnSpc>
              <a:spcBef>
                <a:spcPts val="350"/>
              </a:spcBef>
              <a:buFont typeface="Wingdings" panose="05000000000000000000" pitchFamily="2" charset="2"/>
              <a:buChar char=""/>
            </a:pPr>
            <a:r>
              <a:rPr lang="en-GB" altLang="zh-CN" sz="1400" dirty="0"/>
              <a:t>(1.000000, 2.000000, 3.000000)</a:t>
            </a:r>
          </a:p>
          <a:p>
            <a:pPr marL="581025" lvl="3" indent="-113030">
              <a:lnSpc>
                <a:spcPct val="80000"/>
              </a:lnSpc>
            </a:pPr>
            <a:r>
              <a:rPr lang="zh-CN" altLang="en-US" sz="1200" dirty="0">
                <a:ea typeface="宋体" panose="02010600030101010101" pitchFamily="2" charset="-122"/>
              </a:rPr>
              <a:t>注意</a:t>
            </a:r>
            <a:r>
              <a:rPr lang="en-US" altLang="zh-CN" sz="1200" dirty="0">
                <a:ea typeface="宋体" panose="02010600030101010101" pitchFamily="2" charset="-122"/>
              </a:rPr>
              <a:t>y</a:t>
            </a:r>
            <a:r>
              <a:rPr lang="zh-CN" altLang="en-US" sz="1200" dirty="0">
                <a:ea typeface="宋体" panose="02010600030101010101" pitchFamily="2" charset="-122"/>
              </a:rPr>
              <a:t>是在</a:t>
            </a:r>
            <a:r>
              <a:rPr lang="en-US" altLang="zh-CN" sz="1200" dirty="0" err="1">
                <a:ea typeface="宋体" panose="02010600030101010101" pitchFamily="2" charset="-122"/>
              </a:rPr>
              <a:t>KBEngine</a:t>
            </a:r>
            <a:r>
              <a:rPr lang="zh-CN" altLang="en-US" sz="1200" dirty="0">
                <a:ea typeface="宋体" panose="02010600030101010101" pitchFamily="2" charset="-122"/>
              </a:rPr>
              <a:t>里的竖直高度</a:t>
            </a:r>
            <a:endParaRPr lang="en-US" altLang="zh-CN" sz="1200" dirty="0">
              <a:ea typeface="宋体" panose="02010600030101010101" pitchFamily="2" charset="-122"/>
            </a:endParaRPr>
          </a:p>
          <a:p>
            <a:pPr marL="466725" lvl="2" indent="-113030">
              <a:lnSpc>
                <a:spcPct val="80000"/>
              </a:lnSpc>
            </a:pPr>
            <a:r>
              <a:rPr lang="en-US" altLang="zh-CN" sz="1400" b="1" u="sng" dirty="0" err="1">
                <a:latin typeface="Courier New" panose="02070309020205020404" pitchFamily="49" charset="0"/>
                <a:ea typeface="宋体" panose="02010600030101010101" pitchFamily="2" charset="-122"/>
              </a:rPr>
              <a:t>dir</a:t>
            </a:r>
            <a:r>
              <a:rPr lang="en-US" altLang="zh-CN" sz="1400" b="1" u="sng" dirty="0">
                <a:latin typeface="Courier New" panose="02070309020205020404" pitchFamily="49" charset="0"/>
                <a:ea typeface="宋体" panose="02010600030101010101" pitchFamily="2" charset="-122"/>
              </a:rPr>
              <a:t>(e)</a:t>
            </a:r>
          </a:p>
          <a:p>
            <a:pPr marL="581025" lvl="3" indent="-113030">
              <a:lnSpc>
                <a:spcPct val="80000"/>
              </a:lnSpc>
            </a:pPr>
            <a:r>
              <a:rPr lang="zh-CN" altLang="en-US" sz="1200" dirty="0">
                <a:ea typeface="宋体" panose="02010600030101010101" pitchFamily="2" charset="-122"/>
              </a:rPr>
              <a:t>可以查看许多内建的属性，方法。还有在</a:t>
            </a:r>
            <a:r>
              <a:rPr lang="en-US" altLang="zh-CN" sz="1200" dirty="0">
                <a:ea typeface="宋体" panose="02010600030101010101" pitchFamily="2" charset="-122"/>
              </a:rPr>
              <a:t>entity</a:t>
            </a:r>
            <a:r>
              <a:rPr lang="zh-CN" altLang="en-US" sz="1200" dirty="0">
                <a:ea typeface="宋体" panose="02010600030101010101" pitchFamily="2" charset="-122"/>
              </a:rPr>
              <a:t>定义里的</a:t>
            </a:r>
            <a:r>
              <a:rPr lang="en-US" altLang="zh-CN" sz="1200" dirty="0">
                <a:ea typeface="宋体" panose="02010600030101010101" pitchFamily="2" charset="-122"/>
              </a:rPr>
              <a:t>entity</a:t>
            </a:r>
            <a:r>
              <a:rPr lang="zh-CN" altLang="en-US" sz="1200" dirty="0">
                <a:ea typeface="宋体" panose="02010600030101010101" pitchFamily="2" charset="-122"/>
              </a:rPr>
              <a:t>特定的属性和方法</a:t>
            </a:r>
            <a:endParaRPr lang="en-US" altLang="zh-CN" sz="1200" dirty="0">
              <a:ea typeface="宋体" panose="02010600030101010101" pitchFamily="2" charset="-122"/>
            </a:endParaRPr>
          </a:p>
          <a:p>
            <a:pPr marL="466725" lvl="2" indent="-113030">
              <a:lnSpc>
                <a:spcPct val="80000"/>
              </a:lnSpc>
            </a:pPr>
            <a:r>
              <a:rPr lang="en-US" altLang="zh-CN" sz="1400" b="1" u="sng" dirty="0" err="1">
                <a:latin typeface="Courier New" panose="02070309020205020404" pitchFamily="49" charset="0"/>
                <a:ea typeface="宋体" panose="02010600030101010101" pitchFamily="2" charset="-122"/>
              </a:rPr>
              <a:t>e.destroy</a:t>
            </a:r>
            <a:r>
              <a:rPr lang="en-US" altLang="zh-CN" sz="1400" b="1" u="sng" dirty="0">
                <a:latin typeface="Courier New" panose="02070309020205020404" pitchFamily="49" charset="0"/>
                <a:ea typeface="宋体" panose="02010600030101010101" pitchFamily="2" charset="-122"/>
              </a:rPr>
              <a:t>()</a:t>
            </a:r>
          </a:p>
          <a:p>
            <a:pPr marL="581025" lvl="3" indent="-113030">
              <a:lnSpc>
                <a:spcPct val="80000"/>
              </a:lnSpc>
            </a:pPr>
            <a:r>
              <a:rPr lang="zh-CN" altLang="en-US" sz="1200" dirty="0">
                <a:ea typeface="宋体" panose="02010600030101010101" pitchFamily="2" charset="-122"/>
              </a:rPr>
              <a:t>使得</a:t>
            </a:r>
            <a:r>
              <a:rPr lang="en-US" altLang="zh-CN" sz="1200" dirty="0">
                <a:ea typeface="宋体" panose="02010600030101010101" pitchFamily="2" charset="-122"/>
              </a:rPr>
              <a:t>Entity base</a:t>
            </a:r>
            <a:r>
              <a:rPr lang="zh-CN" altLang="en-US" sz="1200" dirty="0">
                <a:ea typeface="宋体" panose="02010600030101010101" pitchFamily="2" charset="-122"/>
              </a:rPr>
              <a:t>能够销毁自己</a:t>
            </a:r>
            <a:endParaRPr lang="en-US" altLang="zh-CN" sz="1200" dirty="0">
              <a:ea typeface="宋体" panose="02010600030101010101" pitchFamily="2" charset="-122"/>
            </a:endParaRPr>
          </a:p>
          <a:p>
            <a:pPr marL="467995" lvl="3" indent="0">
              <a:lnSpc>
                <a:spcPct val="80000"/>
              </a:lnSpc>
              <a:buNone/>
            </a:pPr>
            <a:endParaRPr lang="en-US" altLang="zh-CN" sz="1200" dirty="0">
              <a:ea typeface="宋体" panose="02010600030101010101" pitchFamily="2" charset="-122"/>
            </a:endParaRPr>
          </a:p>
          <a:p>
            <a:pPr marL="467995" lvl="3" indent="0">
              <a:lnSpc>
                <a:spcPct val="80000"/>
              </a:lnSpc>
              <a:buNone/>
            </a:pPr>
            <a:endParaRPr lang="en-US" altLang="zh-CN" sz="1200" dirty="0">
              <a:ea typeface="宋体" panose="02010600030101010101" pitchFamily="2" charset="-122"/>
            </a:endParaRPr>
          </a:p>
          <a:p>
            <a:pPr marL="467995" lvl="3" indent="0">
              <a:lnSpc>
                <a:spcPct val="80000"/>
              </a:lnSpc>
              <a:buNone/>
            </a:pPr>
            <a:r>
              <a:rPr lang="zh-CN" altLang="en-US" sz="1200" dirty="0">
                <a:solidFill>
                  <a:srgbClr val="FF0000"/>
                </a:solidFill>
                <a:ea typeface="宋体" panose="02010600030101010101" pitchFamily="2" charset="-122"/>
              </a:rPr>
              <a:t>更多参考</a:t>
            </a:r>
            <a:r>
              <a:rPr lang="en-US" altLang="zh-CN" sz="1200" dirty="0">
                <a:solidFill>
                  <a:srgbClr val="FF0000"/>
                </a:solidFill>
                <a:ea typeface="宋体" panose="02010600030101010101" pitchFamily="2" charset="-122"/>
              </a:rPr>
              <a:t>: http://www.kbengine.org/docs/documentations/onlinedebugging.html</a:t>
            </a:r>
          </a:p>
          <a:p>
            <a:pPr marL="0" indent="0">
              <a:lnSpc>
                <a:spcPct val="80000"/>
              </a:lnSpc>
              <a:buNone/>
            </a:pPr>
            <a:endParaRPr lang="en-AU" altLang="zh-CN" dirty="0">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1403648" y="2846367"/>
            <a:ext cx="6840760" cy="1063462"/>
          </a:xfrm>
          <a:prstGeom prst="irregularSeal2">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7056784" cy="650503"/>
          </a:xfrm>
        </p:spPr>
        <p:txBody>
          <a:bodyPr>
            <a:normAutofit fontScale="90000"/>
          </a:bodyPr>
          <a:lstStyle/>
          <a:p>
            <a:pPr algn="l"/>
            <a:r>
              <a:rPr lang="zh-CN" altLang="en-US" b="1" dirty="0">
                <a:solidFill>
                  <a:schemeClr val="accent1"/>
                </a:solidFill>
                <a:latin typeface="+mn-ea"/>
                <a:ea typeface="+mn-ea"/>
              </a:rPr>
              <a:t>第八章</a:t>
            </a:r>
          </a:p>
        </p:txBody>
      </p:sp>
      <p:sp>
        <p:nvSpPr>
          <p:cNvPr id="12" name="TextBox 11"/>
          <p:cNvSpPr txBox="1"/>
          <p:nvPr/>
        </p:nvSpPr>
        <p:spPr>
          <a:xfrm>
            <a:off x="899592" y="2904465"/>
            <a:ext cx="6696744" cy="707886"/>
          </a:xfrm>
          <a:prstGeom prst="rect">
            <a:avLst/>
          </a:prstGeom>
          <a:noFill/>
        </p:spPr>
        <p:txBody>
          <a:bodyPr wrap="square" rtlCol="0">
            <a:spAutoFit/>
          </a:bodyPr>
          <a:lstStyle/>
          <a:p>
            <a:pPr lvl="0"/>
            <a:r>
              <a:rPr lang="en-US" altLang="zh-CN" sz="4000" b="1" kern="0" dirty="0">
                <a:solidFill>
                  <a:schemeClr val="tx2"/>
                </a:solidFill>
                <a:latin typeface="Verdana" panose="020B0604030504040204"/>
                <a:ea typeface="宋体" panose="02010600030101010101" pitchFamily="2" charset="-122"/>
              </a:rPr>
              <a:t>        Profiling</a:t>
            </a:r>
            <a:r>
              <a:rPr lang="zh-CN" altLang="en-US" sz="4000" b="1" kern="0" dirty="0">
                <a:solidFill>
                  <a:schemeClr val="tx2"/>
                </a:solidFill>
                <a:latin typeface="Verdana" panose="020B0604030504040204"/>
                <a:ea typeface="宋体" panose="02010600030101010101" pitchFamily="2" charset="-122"/>
              </a:rPr>
              <a:t>和压力测试</a:t>
            </a:r>
            <a:endParaRPr lang="zh-CN" altLang="en-US" sz="3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用机器人做压力测试</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spcBef>
                <a:spcPts val="5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800" dirty="0">
                <a:ea typeface="宋体" panose="02010600030101010101" pitchFamily="2" charset="-122"/>
              </a:rPr>
              <a:t>模拟</a:t>
            </a:r>
            <a:r>
              <a:rPr lang="zh-CN" altLang="en-US" sz="2800" dirty="0">
                <a:solidFill>
                  <a:srgbClr val="00B0F0"/>
                </a:solidFill>
                <a:ea typeface="宋体" panose="02010600030101010101" pitchFamily="2" charset="-122"/>
              </a:rPr>
              <a:t>大量</a:t>
            </a:r>
            <a:r>
              <a:rPr lang="zh-CN" altLang="en-US" sz="2800" dirty="0">
                <a:ea typeface="宋体" panose="02010600030101010101" pitchFamily="2" charset="-122"/>
              </a:rPr>
              <a:t>的玩家</a:t>
            </a:r>
            <a:endParaRPr lang="en-GB" altLang="zh-CN" sz="2800" dirty="0"/>
          </a:p>
          <a:p>
            <a:pPr>
              <a:lnSpc>
                <a:spcPct val="80000"/>
              </a:lnSpc>
              <a:spcBef>
                <a:spcPts val="5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800" dirty="0">
                <a:ea typeface="宋体" panose="02010600030101010101" pitchFamily="2" charset="-122"/>
              </a:rPr>
              <a:t>强烈建议在</a:t>
            </a:r>
            <a:r>
              <a:rPr lang="zh-CN" altLang="en-US" sz="2800" dirty="0">
                <a:solidFill>
                  <a:srgbClr val="00B0F0"/>
                </a:solidFill>
                <a:ea typeface="宋体" panose="02010600030101010101" pitchFamily="2" charset="-122"/>
              </a:rPr>
              <a:t>大规模</a:t>
            </a:r>
            <a:r>
              <a:rPr lang="zh-CN" altLang="en-US" sz="2800" dirty="0">
                <a:ea typeface="宋体" panose="02010600030101010101" pitchFamily="2" charset="-122"/>
              </a:rPr>
              <a:t>玩家测试前进行压力测试</a:t>
            </a:r>
            <a:endParaRPr lang="en-GB" altLang="zh-CN" sz="2800" dirty="0"/>
          </a:p>
          <a:p>
            <a:pPr>
              <a:lnSpc>
                <a:spcPct val="80000"/>
              </a:lnSpc>
              <a:spcBef>
                <a:spcPts val="5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800" dirty="0">
                <a:solidFill>
                  <a:srgbClr val="00B0F0"/>
                </a:solidFill>
                <a:ea typeface="宋体" panose="02010600030101010101" pitchFamily="2" charset="-122"/>
              </a:rPr>
              <a:t>不要</a:t>
            </a:r>
            <a:r>
              <a:rPr lang="zh-CN" altLang="en-GB" sz="2800" dirty="0">
                <a:ea typeface="宋体" panose="02010600030101010101" pitchFamily="2" charset="-122"/>
              </a:rPr>
              <a:t>有地形的加载</a:t>
            </a:r>
            <a:endParaRPr lang="en-GB" altLang="zh-CN" sz="2800" dirty="0"/>
          </a:p>
          <a:p>
            <a:pPr>
              <a:lnSpc>
                <a:spcPct val="80000"/>
              </a:lnSpc>
              <a:spcBef>
                <a:spcPts val="5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sz="2800" dirty="0">
                <a:solidFill>
                  <a:srgbClr val="00B0F0"/>
                </a:solidFill>
                <a:ea typeface="宋体" panose="02010600030101010101" pitchFamily="2" charset="-122"/>
              </a:rPr>
              <a:t>不要</a:t>
            </a:r>
            <a:r>
              <a:rPr lang="zh-CN" altLang="en-GB" sz="2800" dirty="0">
                <a:ea typeface="宋体" panose="02010600030101010101" pitchFamily="2" charset="-122"/>
              </a:rPr>
              <a:t>有导航系统</a:t>
            </a:r>
            <a:endParaRPr lang="en-US" altLang="zh-CN" sz="2800" dirty="0">
              <a:ea typeface="宋体" panose="02010600030101010101" pitchFamily="2" charset="-122"/>
            </a:endParaRPr>
          </a:p>
          <a:p>
            <a:pPr>
              <a:lnSpc>
                <a:spcPct val="80000"/>
              </a:lnSpc>
              <a:spcBef>
                <a:spcPts val="5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800" dirty="0">
                <a:ea typeface="宋体" panose="02010600030101010101" pitchFamily="2" charset="-122"/>
              </a:rPr>
              <a:t>和空间有关的游戏</a:t>
            </a:r>
            <a:r>
              <a:rPr lang="zh-CN" altLang="en-US" sz="2800" dirty="0">
                <a:solidFill>
                  <a:srgbClr val="00B0F0"/>
                </a:solidFill>
                <a:ea typeface="宋体" panose="02010600030101010101" pitchFamily="2" charset="-122"/>
              </a:rPr>
              <a:t>不要</a:t>
            </a:r>
            <a:r>
              <a:rPr lang="zh-CN" altLang="en-US" sz="2800" dirty="0">
                <a:ea typeface="宋体" panose="02010600030101010101" pitchFamily="2" charset="-122"/>
              </a:rPr>
              <a:t>大量聚集到一个小范围</a:t>
            </a:r>
            <a:endParaRPr lang="en-GB" altLang="zh-CN" sz="2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Bot</a:t>
            </a:r>
            <a:r>
              <a:rPr lang="zh-CN" altLang="en-US" sz="4900" b="1" dirty="0">
                <a:solidFill>
                  <a:schemeClr val="accent1"/>
                </a:solidFill>
                <a:latin typeface="+mn-ea"/>
                <a:ea typeface="+mn-ea"/>
              </a:rPr>
              <a:t>脚本</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spcBef>
                <a:spcPts val="550"/>
              </a:spcBef>
            </a:pPr>
            <a:r>
              <a:rPr lang="zh-CN" altLang="en-US" sz="3100" dirty="0">
                <a:solidFill>
                  <a:srgbClr val="00B0F0"/>
                </a:solidFill>
                <a:ea typeface="宋体" panose="02010600030101010101" pitchFamily="2" charset="-122"/>
              </a:rPr>
              <a:t>每个类型的</a:t>
            </a:r>
            <a:r>
              <a:rPr lang="en-US" altLang="zh-CN" sz="3100" dirty="0">
                <a:solidFill>
                  <a:srgbClr val="00B0F0"/>
                </a:solidFill>
                <a:ea typeface="宋体" panose="02010600030101010101" pitchFamily="2" charset="-122"/>
              </a:rPr>
              <a:t>Entity</a:t>
            </a:r>
            <a:r>
              <a:rPr lang="zh-CN" altLang="en-US" sz="3100" dirty="0">
                <a:solidFill>
                  <a:srgbClr val="00B0F0"/>
                </a:solidFill>
                <a:ea typeface="宋体" panose="02010600030101010101" pitchFamily="2" charset="-122"/>
              </a:rPr>
              <a:t>在</a:t>
            </a:r>
            <a:r>
              <a:rPr lang="en-US" altLang="zh-CN" sz="3100" b="1" dirty="0">
                <a:solidFill>
                  <a:srgbClr val="00B0F0"/>
                </a:solidFill>
                <a:latin typeface="Courier New" panose="02070309020205020404" pitchFamily="49" charset="0"/>
                <a:ea typeface="宋体" panose="02010600030101010101" pitchFamily="2" charset="-122"/>
              </a:rPr>
              <a:t>&lt;assets&gt;/scripts/bot</a:t>
            </a:r>
            <a:r>
              <a:rPr lang="zh-CN" altLang="en-US" sz="3100" dirty="0">
                <a:solidFill>
                  <a:srgbClr val="00B0F0"/>
                </a:solidFill>
                <a:latin typeface="Courier New" panose="02070309020205020404" pitchFamily="49" charset="0"/>
                <a:ea typeface="宋体" panose="02010600030101010101" pitchFamily="2" charset="-122"/>
              </a:rPr>
              <a:t>下面都</a:t>
            </a:r>
            <a:r>
              <a:rPr lang="zh-CN" altLang="en-US" sz="3100" dirty="0">
                <a:solidFill>
                  <a:srgbClr val="00B0F0"/>
                </a:solidFill>
                <a:ea typeface="宋体" panose="02010600030101010101" pitchFamily="2" charset="-122"/>
              </a:rPr>
              <a:t>需要一个</a:t>
            </a:r>
            <a:r>
              <a:rPr lang="en-US" altLang="zh-CN" sz="3100" dirty="0">
                <a:solidFill>
                  <a:srgbClr val="00B0F0"/>
                </a:solidFill>
                <a:ea typeface="宋体" panose="02010600030101010101" pitchFamily="2" charset="-122"/>
              </a:rPr>
              <a:t>Python</a:t>
            </a:r>
            <a:r>
              <a:rPr lang="zh-CN" altLang="en-US" sz="3100" dirty="0">
                <a:solidFill>
                  <a:srgbClr val="00B0F0"/>
                </a:solidFill>
                <a:ea typeface="宋体" panose="02010600030101010101" pitchFamily="2" charset="-122"/>
              </a:rPr>
              <a:t>脚本</a:t>
            </a:r>
            <a:endParaRPr lang="en-GB" altLang="zh-CN" sz="2800" b="1" dirty="0">
              <a:latin typeface="Courier New" panose="02070309020205020404" pitchFamily="49" charset="0"/>
            </a:endParaRPr>
          </a:p>
          <a:p>
            <a:pPr lvl="1">
              <a:lnSpc>
                <a:spcPct val="80000"/>
              </a:lnSpc>
              <a:spcBef>
                <a:spcPts val="500"/>
              </a:spcBef>
            </a:pPr>
            <a:r>
              <a:rPr lang="en-US" altLang="zh-CN" dirty="0">
                <a:ea typeface="宋体" panose="02010600030101010101" pitchFamily="2" charset="-122"/>
              </a:rPr>
              <a:t>Bot</a:t>
            </a:r>
            <a:r>
              <a:rPr lang="zh-CN" altLang="en-US" dirty="0">
                <a:ea typeface="宋体" panose="02010600030101010101" pitchFamily="2" charset="-122"/>
              </a:rPr>
              <a:t>脚本应该实现</a:t>
            </a:r>
            <a:r>
              <a:rPr lang="en-US" altLang="zh-CN" dirty="0">
                <a:ea typeface="宋体" panose="02010600030101010101" pitchFamily="2" charset="-122"/>
              </a:rPr>
              <a:t>Entity</a:t>
            </a:r>
            <a:r>
              <a:rPr lang="zh-CN" altLang="en-US" dirty="0">
                <a:ea typeface="宋体" panose="02010600030101010101" pitchFamily="2" charset="-122"/>
              </a:rPr>
              <a:t>的</a:t>
            </a:r>
            <a:r>
              <a:rPr lang="en-US" altLang="zh-CN" dirty="0">
                <a:ea typeface="宋体" panose="02010600030101010101" pitchFamily="2" charset="-122"/>
              </a:rPr>
              <a:t>Client</a:t>
            </a:r>
            <a:r>
              <a:rPr lang="zh-CN" altLang="en-US" dirty="0">
                <a:ea typeface="宋体" panose="02010600030101010101" pitchFamily="2" charset="-122"/>
              </a:rPr>
              <a:t>部分</a:t>
            </a:r>
            <a:endParaRPr lang="en-GB" altLang="zh-CN" sz="2400" dirty="0"/>
          </a:p>
          <a:p>
            <a:pPr lvl="2">
              <a:lnSpc>
                <a:spcPct val="80000"/>
              </a:lnSpc>
              <a:spcBef>
                <a:spcPts val="450"/>
              </a:spcBef>
            </a:pPr>
            <a:r>
              <a:rPr lang="zh-CN" altLang="en-US" dirty="0">
                <a:ea typeface="宋体" panose="02010600030101010101" pitchFamily="2" charset="-122"/>
              </a:rPr>
              <a:t>但是因为</a:t>
            </a:r>
            <a:r>
              <a:rPr lang="en-US" altLang="zh-CN" dirty="0">
                <a:ea typeface="宋体" panose="02010600030101010101" pitchFamily="2" charset="-122"/>
              </a:rPr>
              <a:t>bots</a:t>
            </a:r>
            <a:r>
              <a:rPr lang="zh-CN" altLang="en-US" dirty="0">
                <a:ea typeface="宋体" panose="02010600030101010101" pitchFamily="2" charset="-122"/>
              </a:rPr>
              <a:t>脚本没有许多</a:t>
            </a:r>
            <a:r>
              <a:rPr lang="en-US" altLang="zh-CN" dirty="0">
                <a:ea typeface="宋体" panose="02010600030101010101" pitchFamily="2" charset="-122"/>
              </a:rPr>
              <a:t>Client</a:t>
            </a:r>
            <a:r>
              <a:rPr lang="zh-CN" altLang="en-US" dirty="0">
                <a:ea typeface="宋体" panose="02010600030101010101" pitchFamily="2" charset="-122"/>
              </a:rPr>
              <a:t>里用到的</a:t>
            </a:r>
            <a:r>
              <a:rPr lang="en-US" altLang="zh-CN" dirty="0">
                <a:ea typeface="宋体" panose="02010600030101010101" pitchFamily="2" charset="-122"/>
              </a:rPr>
              <a:t>UI</a:t>
            </a:r>
            <a:r>
              <a:rPr lang="zh-CN" altLang="en-US" dirty="0">
                <a:ea typeface="宋体" panose="02010600030101010101" pitchFamily="2" charset="-122"/>
              </a:rPr>
              <a:t>和</a:t>
            </a:r>
            <a:r>
              <a:rPr lang="en-US" altLang="zh-CN" dirty="0">
                <a:ea typeface="宋体" panose="02010600030101010101" pitchFamily="2" charset="-122"/>
              </a:rPr>
              <a:t>3D</a:t>
            </a:r>
            <a:r>
              <a:rPr lang="zh-CN" altLang="en-US" dirty="0">
                <a:ea typeface="宋体" panose="02010600030101010101" pitchFamily="2" charset="-122"/>
              </a:rPr>
              <a:t>的部分，所以简单的复制</a:t>
            </a:r>
            <a:r>
              <a:rPr lang="en-US" altLang="zh-CN" dirty="0">
                <a:ea typeface="宋体" panose="02010600030101010101" pitchFamily="2" charset="-122"/>
              </a:rPr>
              <a:t>client</a:t>
            </a:r>
            <a:r>
              <a:rPr lang="zh-CN" altLang="en-US" dirty="0">
                <a:ea typeface="宋体" panose="02010600030101010101" pitchFamily="2" charset="-122"/>
              </a:rPr>
              <a:t>脚本是不行的</a:t>
            </a:r>
            <a:endParaRPr lang="en-GB" altLang="zh-CN" sz="2000" dirty="0"/>
          </a:p>
          <a:p>
            <a:pPr lvl="1">
              <a:lnSpc>
                <a:spcPct val="81000"/>
              </a:lnSpc>
            </a:pPr>
            <a:r>
              <a:rPr lang="zh-CN" altLang="en-US" dirty="0">
                <a:ea typeface="宋体" panose="02010600030101010101" pitchFamily="2" charset="-122"/>
              </a:rPr>
              <a:t>对大多数</a:t>
            </a:r>
            <a:r>
              <a:rPr lang="en-US" altLang="zh-CN" dirty="0">
                <a:ea typeface="宋体" panose="02010600030101010101" pitchFamily="2" charset="-122"/>
              </a:rPr>
              <a:t>Entity</a:t>
            </a:r>
            <a:r>
              <a:rPr lang="zh-CN" altLang="en-US" dirty="0">
                <a:ea typeface="宋体" panose="02010600030101010101" pitchFamily="2" charset="-122"/>
              </a:rPr>
              <a:t>类型，实现一个空的</a:t>
            </a:r>
            <a:r>
              <a:rPr lang="en-US" altLang="zh-CN" dirty="0">
                <a:ea typeface="宋体" panose="02010600030101010101" pitchFamily="2" charset="-122"/>
              </a:rPr>
              <a:t>class</a:t>
            </a:r>
            <a:r>
              <a:rPr lang="zh-CN" altLang="en-US" dirty="0">
                <a:ea typeface="宋体" panose="02010600030101010101" pitchFamily="2" charset="-122"/>
              </a:rPr>
              <a:t>就可以</a:t>
            </a:r>
            <a:endParaRPr lang="en-US" altLang="zh-CN" dirty="0">
              <a:ea typeface="宋体" panose="02010600030101010101" pitchFamily="2" charset="-122"/>
            </a:endParaRPr>
          </a:p>
          <a:p>
            <a:pPr lvl="1">
              <a:lnSpc>
                <a:spcPct val="81000"/>
              </a:lnSpc>
            </a:pPr>
            <a:r>
              <a:rPr lang="zh-CN" altLang="en-US" dirty="0">
                <a:ea typeface="宋体" panose="02010600030101010101" pitchFamily="2" charset="-122"/>
              </a:rPr>
              <a:t>对</a:t>
            </a:r>
            <a:r>
              <a:rPr lang="en-US" altLang="zh-CN" dirty="0">
                <a:ea typeface="宋体" panose="02010600030101010101" pitchFamily="2" charset="-122"/>
              </a:rPr>
              <a:t>Account</a:t>
            </a:r>
            <a:r>
              <a:rPr lang="zh-CN" altLang="en-US" dirty="0">
                <a:ea typeface="宋体" panose="02010600030101010101" pitchFamily="2" charset="-122"/>
              </a:rPr>
              <a:t>和</a:t>
            </a:r>
            <a:r>
              <a:rPr lang="en-US" altLang="zh-CN" dirty="0">
                <a:ea typeface="宋体" panose="02010600030101010101" pitchFamily="2" charset="-122"/>
              </a:rPr>
              <a:t>Player entity</a:t>
            </a:r>
            <a:r>
              <a:rPr lang="zh-CN" altLang="en-US" dirty="0">
                <a:ea typeface="宋体" panose="02010600030101010101" pitchFamily="2" charset="-122"/>
              </a:rPr>
              <a:t>，需要编写登录的脚本和模拟玩家的脚本</a:t>
            </a:r>
            <a:endParaRPr lang="en-US" altLang="zh-CN" dirty="0">
              <a:ea typeface="宋体" panose="02010600030101010101" pitchFamily="2" charset="-122"/>
            </a:endParaRPr>
          </a:p>
          <a:p>
            <a:pPr lvl="1">
              <a:lnSpc>
                <a:spcPct val="81000"/>
              </a:lnSpc>
            </a:pPr>
            <a:r>
              <a:rPr lang="zh-CN" altLang="en-US" dirty="0">
                <a:ea typeface="宋体" panose="02010600030101010101" pitchFamily="2" charset="-122"/>
              </a:rPr>
              <a:t>编写</a:t>
            </a:r>
            <a:r>
              <a:rPr lang="en-US" altLang="zh-CN" dirty="0">
                <a:ea typeface="宋体" panose="02010600030101010101" pitchFamily="2" charset="-122"/>
              </a:rPr>
              <a:t>A.I.</a:t>
            </a:r>
            <a:r>
              <a:rPr lang="zh-CN" altLang="en-US" dirty="0">
                <a:ea typeface="宋体" panose="02010600030101010101" pitchFamily="2" charset="-122"/>
              </a:rPr>
              <a:t>来模拟一个玩家</a:t>
            </a:r>
            <a:endParaRPr lang="en-GB" altLang="zh-CN" sz="24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增加</a:t>
            </a:r>
            <a:r>
              <a:rPr lang="en-US" altLang="zh-CN" sz="4900" b="1" dirty="0">
                <a:solidFill>
                  <a:schemeClr val="accent1"/>
                </a:solidFill>
                <a:latin typeface="+mn-ea"/>
                <a:ea typeface="+mn-ea"/>
              </a:rPr>
              <a:t>bots</a:t>
            </a:r>
            <a:endParaRPr lang="zh-CN" altLang="en-US" sz="4900" b="1" dirty="0">
              <a:solidFill>
                <a:schemeClr val="accent1"/>
              </a:solidFill>
              <a:latin typeface="+mn-ea"/>
              <a:ea typeface="+mn-ea"/>
            </a:endParaRP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pPr>
              <a:lnSpc>
                <a:spcPct val="80000"/>
              </a:lnSpc>
              <a:spcBef>
                <a:spcPts val="500"/>
              </a:spcBef>
            </a:pPr>
            <a:r>
              <a:rPr lang="zh-CN" altLang="en-US" sz="2800" dirty="0">
                <a:ea typeface="宋体" panose="02010600030101010101" pitchFamily="2" charset="-122"/>
              </a:rPr>
              <a:t>运行</a:t>
            </a:r>
            <a:r>
              <a:rPr lang="en-US" altLang="zh-CN" sz="2800" dirty="0">
                <a:ea typeface="宋体" panose="02010600030101010101" pitchFamily="2" charset="-122"/>
              </a:rPr>
              <a:t>bot</a:t>
            </a:r>
            <a:r>
              <a:rPr lang="zh-CN" altLang="en-US" sz="2800" dirty="0">
                <a:ea typeface="宋体" panose="02010600030101010101" pitchFamily="2" charset="-122"/>
              </a:rPr>
              <a:t>进程</a:t>
            </a:r>
            <a:r>
              <a:rPr lang="zh-CN" altLang="en-US" sz="2800" dirty="0">
                <a:solidFill>
                  <a:srgbClr val="00B0F0"/>
                </a:solidFill>
                <a:ea typeface="宋体" panose="02010600030101010101" pitchFamily="2" charset="-122"/>
              </a:rPr>
              <a:t>再运用</a:t>
            </a:r>
            <a:r>
              <a:rPr lang="en-US" altLang="zh-CN" sz="2800" dirty="0" err="1">
                <a:solidFill>
                  <a:srgbClr val="00B0F0"/>
                </a:solidFill>
                <a:ea typeface="宋体" panose="02010600030101010101" pitchFamily="2" charset="-122"/>
              </a:rPr>
              <a:t>GUIConsole</a:t>
            </a:r>
            <a:r>
              <a:rPr lang="zh-CN" altLang="en-US" sz="2800" dirty="0">
                <a:ea typeface="宋体" panose="02010600030101010101" pitchFamily="2" charset="-122"/>
              </a:rPr>
              <a:t>来增加</a:t>
            </a:r>
            <a:r>
              <a:rPr lang="en-US" altLang="zh-CN" sz="2800" dirty="0">
                <a:ea typeface="宋体" panose="02010600030101010101" pitchFamily="2" charset="-122"/>
              </a:rPr>
              <a:t>bots</a:t>
            </a:r>
            <a:endParaRPr lang="en-GB" altLang="zh-CN" sz="2800" dirty="0"/>
          </a:p>
          <a:p>
            <a:pPr>
              <a:lnSpc>
                <a:spcPct val="80000"/>
              </a:lnSpc>
              <a:spcBef>
                <a:spcPts val="550"/>
              </a:spcBef>
            </a:pPr>
            <a:r>
              <a:rPr lang="zh-CN" altLang="en-US" sz="2800" dirty="0">
                <a:ea typeface="宋体" panose="02010600030101010101" pitchFamily="2" charset="-122"/>
              </a:rPr>
              <a:t>或者在</a:t>
            </a:r>
            <a:r>
              <a:rPr lang="en-US" altLang="zh-CN" sz="2800" b="1" dirty="0" err="1">
                <a:latin typeface="Courier New" panose="02070309020205020404" pitchFamily="49" charset="0"/>
                <a:ea typeface="宋体" panose="02010600030101010101" pitchFamily="2" charset="-122"/>
              </a:rPr>
              <a:t>kbengine</a:t>
            </a:r>
            <a:r>
              <a:rPr lang="en-US" altLang="zh-CN" sz="2800" b="1" dirty="0">
                <a:latin typeface="Courier New" panose="02070309020205020404" pitchFamily="49" charset="0"/>
                <a:ea typeface="宋体" panose="02010600030101010101" pitchFamily="2" charset="-122"/>
              </a:rPr>
              <a:t>/</a:t>
            </a:r>
            <a:r>
              <a:rPr lang="en-US" altLang="zh-CN" sz="2800" b="1" dirty="0" err="1">
                <a:latin typeface="Courier New" panose="02070309020205020404" pitchFamily="49" charset="0"/>
                <a:ea typeface="宋体" panose="02010600030101010101" pitchFamily="2" charset="-122"/>
              </a:rPr>
              <a:t>kbe</a:t>
            </a:r>
            <a:r>
              <a:rPr lang="en-US" altLang="zh-CN" sz="2800" b="1" dirty="0">
                <a:latin typeface="Courier New" panose="02070309020205020404" pitchFamily="49" charset="0"/>
                <a:ea typeface="宋体" panose="02010600030101010101" pitchFamily="2" charset="-122"/>
              </a:rPr>
              <a:t>/res/server/kbengine_defs.xml/bots</a:t>
            </a:r>
            <a:r>
              <a:rPr lang="en-US" altLang="zh-CN" sz="2800" dirty="0">
                <a:ea typeface="宋体" panose="02010600030101010101" pitchFamily="2" charset="-122"/>
              </a:rPr>
              <a:t> </a:t>
            </a:r>
            <a:r>
              <a:rPr lang="zh-CN" altLang="en-US" sz="2800" dirty="0">
                <a:ea typeface="宋体" panose="02010600030101010101" pitchFamily="2" charset="-122"/>
              </a:rPr>
              <a:t>中设置机器人初始数量和自增到最大数量的控制</a:t>
            </a:r>
            <a:endParaRPr lang="en-GB" altLang="zh-CN" sz="2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Profiling </a:t>
            </a:r>
            <a:r>
              <a:rPr lang="zh-CN" altLang="en-US" sz="4900" b="1" dirty="0">
                <a:solidFill>
                  <a:schemeClr val="accent1"/>
                </a:solidFill>
                <a:latin typeface="+mn-ea"/>
                <a:ea typeface="+mn-ea"/>
              </a:rPr>
              <a:t>工具</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sz="2800" dirty="0" err="1"/>
              <a:t>GUIConsole</a:t>
            </a:r>
            <a:r>
              <a:rPr lang="en-AU" altLang="zh-CN" sz="2800" dirty="0"/>
              <a:t> </a:t>
            </a:r>
            <a:r>
              <a:rPr lang="zh-CN" altLang="en-US" sz="2800" dirty="0"/>
              <a:t>的</a:t>
            </a:r>
            <a:r>
              <a:rPr lang="en-US" altLang="zh-CN" sz="2800" dirty="0">
                <a:solidFill>
                  <a:srgbClr val="00B0F0"/>
                </a:solidFill>
              </a:rPr>
              <a:t>profile</a:t>
            </a:r>
            <a:r>
              <a:rPr lang="zh-CN" altLang="en-US" sz="2800" dirty="0">
                <a:solidFill>
                  <a:srgbClr val="00B0F0"/>
                </a:solidFill>
              </a:rPr>
              <a:t>页面</a:t>
            </a:r>
            <a:r>
              <a:rPr lang="zh-CN" altLang="en-AU" sz="2800" dirty="0">
                <a:ea typeface="宋体" panose="02010600030101010101" pitchFamily="2" charset="-122"/>
              </a:rPr>
              <a:t>有很多可以用来</a:t>
            </a:r>
            <a:r>
              <a:rPr lang="en-AU" altLang="zh-CN" sz="2800" dirty="0">
                <a:ea typeface="宋体" panose="02010600030101010101" pitchFamily="2" charset="-122"/>
              </a:rPr>
              <a:t>profile</a:t>
            </a:r>
            <a:r>
              <a:rPr lang="zh-CN" altLang="en-AU" sz="2800" dirty="0">
                <a:ea typeface="宋体" panose="02010600030101010101" pitchFamily="2" charset="-122"/>
              </a:rPr>
              <a:t>一个运行的服务器群组的各个方面的指数</a:t>
            </a:r>
            <a:r>
              <a:rPr lang="en-US" altLang="zh-CN" sz="2800" dirty="0">
                <a:ea typeface="宋体" panose="02010600030101010101" pitchFamily="2" charset="-122"/>
              </a:rPr>
              <a:t>(</a:t>
            </a:r>
            <a:r>
              <a:rPr lang="zh-CN" altLang="en-US" sz="2800" dirty="0">
                <a:ea typeface="宋体" panose="02010600030101010101" pitchFamily="2" charset="-122"/>
              </a:rPr>
              <a:t>仅支持</a:t>
            </a:r>
            <a:r>
              <a:rPr lang="en-US" altLang="zh-CN" sz="2800" dirty="0">
                <a:ea typeface="宋体" panose="02010600030101010101" pitchFamily="2" charset="-122"/>
              </a:rPr>
              <a:t>Windows)</a:t>
            </a:r>
          </a:p>
          <a:p>
            <a:r>
              <a:rPr lang="zh-CN" altLang="en-US" sz="2800" dirty="0">
                <a:ea typeface="宋体" panose="02010600030101010101" pitchFamily="2" charset="-122"/>
              </a:rPr>
              <a:t>使用</a:t>
            </a:r>
            <a:r>
              <a:rPr lang="en-US" altLang="zh-CN" sz="2800" dirty="0">
                <a:ea typeface="宋体" panose="02010600030101010101" pitchFamily="2" charset="-122"/>
              </a:rPr>
              <a:t>kbengine/kbe/tools/server/pycluster/</a:t>
            </a:r>
            <a:r>
              <a:rPr lang="en-US" altLang="zh-CN" sz="2800" dirty="0">
                <a:solidFill>
                  <a:srgbClr val="00B0F0"/>
                </a:solidFill>
                <a:ea typeface="宋体" panose="02010600030101010101" pitchFamily="2" charset="-122"/>
              </a:rPr>
              <a:t>cluster_controller.py</a:t>
            </a:r>
            <a:r>
              <a:rPr lang="zh-CN" altLang="en-US" sz="2800" dirty="0">
                <a:ea typeface="宋体" panose="02010600030101010101" pitchFamily="2" charset="-122"/>
              </a:rPr>
              <a:t>也可以在命令行使用命令</a:t>
            </a:r>
            <a:r>
              <a:rPr lang="en-US" altLang="zh-CN" sz="2800" dirty="0">
                <a:ea typeface="宋体" panose="02010600030101010101" pitchFamily="2" charset="-122"/>
              </a:rPr>
              <a:t>profile</a:t>
            </a:r>
            <a:endParaRPr lang="zh-CN" altLang="en-AU" sz="2800" dirty="0">
              <a:ea typeface="宋体" panose="02010600030101010101" pitchFamily="2" charset="-122"/>
            </a:endParaRPr>
          </a:p>
          <a:p>
            <a:r>
              <a:rPr lang="en-AU" altLang="zh-CN" sz="2800" dirty="0">
                <a:solidFill>
                  <a:srgbClr val="00B0F0"/>
                </a:solidFill>
              </a:rPr>
              <a:t>Graphs </a:t>
            </a:r>
            <a:r>
              <a:rPr lang="zh-CN" altLang="en-AU" sz="2800" dirty="0">
                <a:ea typeface="宋体" panose="02010600030101010101" pitchFamily="2" charset="-122"/>
              </a:rPr>
              <a:t>可以为你显示每个</a:t>
            </a:r>
            <a:r>
              <a:rPr lang="en-AU" altLang="zh-CN" sz="2800" dirty="0">
                <a:ea typeface="宋体" panose="02010600030101010101" pitchFamily="2" charset="-122"/>
              </a:rPr>
              <a:t>server</a:t>
            </a:r>
            <a:r>
              <a:rPr lang="zh-CN" altLang="en-AU" sz="2800" dirty="0">
                <a:ea typeface="宋体" panose="02010600030101010101" pitchFamily="2" charset="-122"/>
              </a:rPr>
              <a:t>进程的负载</a:t>
            </a:r>
            <a:endParaRPr lang="en-AU" altLang="zh-CN" sz="2800" dirty="0"/>
          </a:p>
          <a:p>
            <a:r>
              <a:rPr lang="zh-CN" altLang="en-AU" sz="2800" dirty="0">
                <a:ea typeface="宋体" panose="02010600030101010101" pitchFamily="2" charset="-122"/>
              </a:rPr>
              <a:t>请注意应该</a:t>
            </a:r>
            <a:r>
              <a:rPr lang="zh-CN" altLang="en-AU" sz="2800" dirty="0">
                <a:solidFill>
                  <a:srgbClr val="00B0F0"/>
                </a:solidFill>
                <a:ea typeface="宋体" panose="02010600030101010101" pitchFamily="2" charset="-122"/>
              </a:rPr>
              <a:t>尽早的</a:t>
            </a:r>
            <a:r>
              <a:rPr lang="en-AU" altLang="zh-CN" sz="2800" dirty="0">
                <a:solidFill>
                  <a:srgbClr val="00B0F0"/>
                </a:solidFill>
                <a:ea typeface="宋体" panose="02010600030101010101" pitchFamily="2" charset="-122"/>
              </a:rPr>
              <a:t>profiling</a:t>
            </a:r>
            <a:r>
              <a:rPr lang="zh-CN" altLang="en-AU" sz="2800" dirty="0">
                <a:ea typeface="宋体" panose="02010600030101010101" pitchFamily="2" charset="-122"/>
              </a:rPr>
              <a:t>，注意你的内部的带宽和外部的带宽不会被复杂的方法调用占光了</a:t>
            </a:r>
            <a:endParaRPr lang="en-AU" altLang="zh-CN" sz="2800" dirty="0"/>
          </a:p>
          <a:p>
            <a:pPr lvl="1"/>
            <a:r>
              <a:rPr lang="zh-CN" altLang="en-AU" sz="2400" dirty="0">
                <a:ea typeface="宋体" panose="02010600030101010101" pitchFamily="2" charset="-122"/>
              </a:rPr>
              <a:t>同时推荐使用单独的网络硬件来用于监视工具，这样可以准确的判断出什么时候网络饱和了</a:t>
            </a:r>
            <a:endParaRPr lang="en-AU" altLang="zh-CN" sz="2400" dirty="0"/>
          </a:p>
          <a:p>
            <a:r>
              <a:rPr lang="zh-CN" altLang="en-AU" sz="2800" dirty="0">
                <a:ea typeface="宋体" panose="02010600030101010101" pitchFamily="2" charset="-122"/>
              </a:rPr>
              <a:t>使用</a:t>
            </a:r>
            <a:r>
              <a:rPr lang="en-AU" altLang="zh-CN" sz="2800" dirty="0"/>
              <a:t>profiling</a:t>
            </a:r>
            <a:r>
              <a:rPr lang="zh-CN" altLang="en-AU" sz="2800" dirty="0">
                <a:ea typeface="宋体" panose="02010600030101010101" pitchFamily="2" charset="-122"/>
              </a:rPr>
              <a:t>得到的数据来定位需要优化的部分</a:t>
            </a:r>
            <a:endParaRPr lang="en-AU" altLang="zh-CN" sz="2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en-US" altLang="zh-CN" sz="4900" b="1" dirty="0">
                <a:solidFill>
                  <a:schemeClr val="accent1"/>
                </a:solidFill>
                <a:latin typeface="+mn-ea"/>
                <a:ea typeface="+mn-ea"/>
              </a:rPr>
              <a:t>Profiling</a:t>
            </a:r>
            <a:r>
              <a:rPr lang="zh-CN" altLang="en-US" sz="4900" b="1" dirty="0">
                <a:solidFill>
                  <a:schemeClr val="accent1"/>
                </a:solidFill>
                <a:latin typeface="+mn-ea"/>
                <a:ea typeface="+mn-ea"/>
              </a:rPr>
              <a:t>命令</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sz="2800" dirty="0" err="1"/>
              <a:t>eventprofile</a:t>
            </a:r>
            <a:r>
              <a:rPr lang="en-AU" altLang="zh-CN" sz="2800" dirty="0"/>
              <a:t> </a:t>
            </a:r>
            <a:r>
              <a:rPr lang="en-AU" altLang="zh-CN" sz="2800" dirty="0">
                <a:ea typeface="宋体" panose="02010600030101010101" pitchFamily="2" charset="-122"/>
              </a:rPr>
              <a:t>–</a:t>
            </a:r>
            <a:r>
              <a:rPr lang="en-AU" altLang="zh-CN" sz="2800" dirty="0"/>
              <a:t> </a:t>
            </a:r>
            <a:r>
              <a:rPr lang="zh-CN" altLang="en-AU" sz="2800" dirty="0">
                <a:ea typeface="宋体" panose="02010600030101010101" pitchFamily="2" charset="-122"/>
              </a:rPr>
              <a:t>诊断出</a:t>
            </a:r>
            <a:r>
              <a:rPr lang="zh-CN" altLang="en-AU" sz="2800" dirty="0">
                <a:solidFill>
                  <a:srgbClr val="00B0F0"/>
                </a:solidFill>
                <a:ea typeface="宋体" panose="02010600030101010101" pitchFamily="2" charset="-122"/>
              </a:rPr>
              <a:t>消耗最大</a:t>
            </a:r>
            <a:r>
              <a:rPr lang="zh-CN" altLang="en-AU" sz="2800" dirty="0">
                <a:ea typeface="宋体" panose="02010600030101010101" pitchFamily="2" charset="-122"/>
              </a:rPr>
              <a:t>的方法调用和状态更新。</a:t>
            </a:r>
            <a:endParaRPr lang="en-AU" altLang="zh-CN" sz="2800" dirty="0"/>
          </a:p>
          <a:p>
            <a:r>
              <a:rPr lang="en-AU" altLang="zh-CN" sz="2800" dirty="0" err="1"/>
              <a:t>networkprofile</a:t>
            </a:r>
            <a:r>
              <a:rPr lang="en-AU" altLang="zh-CN" sz="2800" dirty="0"/>
              <a:t> </a:t>
            </a:r>
            <a:r>
              <a:rPr lang="en-AU" altLang="zh-CN" sz="2800" dirty="0">
                <a:ea typeface="宋体" panose="02010600030101010101" pitchFamily="2" charset="-122"/>
              </a:rPr>
              <a:t>–</a:t>
            </a:r>
            <a:r>
              <a:rPr lang="en-AU" altLang="zh-CN" sz="2800" dirty="0"/>
              <a:t> </a:t>
            </a:r>
            <a:r>
              <a:rPr lang="zh-CN" altLang="en-AU" sz="2800" dirty="0">
                <a:ea typeface="宋体" panose="02010600030101010101" pitchFamily="2" charset="-122"/>
              </a:rPr>
              <a:t>诊断出</a:t>
            </a:r>
            <a:r>
              <a:rPr lang="zh-CN" altLang="en-AU" sz="2800" dirty="0">
                <a:solidFill>
                  <a:srgbClr val="00B0F0"/>
                </a:solidFill>
                <a:ea typeface="宋体" panose="02010600030101010101" pitchFamily="2" charset="-122"/>
              </a:rPr>
              <a:t>占用带宽最大</a:t>
            </a:r>
            <a:r>
              <a:rPr lang="zh-CN" altLang="en-AU" sz="2800" dirty="0">
                <a:ea typeface="宋体" panose="02010600030101010101" pitchFamily="2" charset="-122"/>
              </a:rPr>
              <a:t>的消息。</a:t>
            </a:r>
            <a:endParaRPr lang="en-AU" altLang="zh-CN" sz="2800" dirty="0"/>
          </a:p>
          <a:p>
            <a:r>
              <a:rPr lang="en-AU" altLang="zh-CN" sz="2800" dirty="0" err="1"/>
              <a:t>pyprofile</a:t>
            </a:r>
            <a:r>
              <a:rPr lang="en-AU" altLang="zh-CN" sz="2800" dirty="0"/>
              <a:t> </a:t>
            </a:r>
            <a:r>
              <a:rPr lang="en-AU" altLang="zh-CN" sz="2800" dirty="0">
                <a:ea typeface="宋体" panose="02010600030101010101" pitchFamily="2" charset="-122"/>
              </a:rPr>
              <a:t>–</a:t>
            </a:r>
            <a:r>
              <a:rPr lang="en-AU" altLang="zh-CN" sz="2800" dirty="0"/>
              <a:t> </a:t>
            </a:r>
            <a:r>
              <a:rPr lang="zh-CN" altLang="en-AU" sz="2800" dirty="0">
                <a:ea typeface="宋体" panose="02010600030101010101" pitchFamily="2" charset="-122"/>
              </a:rPr>
              <a:t>诊断出</a:t>
            </a:r>
            <a:r>
              <a:rPr lang="zh-CN" altLang="en-AU" sz="2800" dirty="0">
                <a:solidFill>
                  <a:srgbClr val="00B0F0"/>
                </a:solidFill>
                <a:ea typeface="宋体" panose="02010600030101010101" pitchFamily="2" charset="-122"/>
              </a:rPr>
              <a:t>消耗</a:t>
            </a:r>
            <a:r>
              <a:rPr lang="en-AU" altLang="zh-CN" sz="2800" dirty="0" err="1">
                <a:solidFill>
                  <a:srgbClr val="00B0F0"/>
                </a:solidFill>
                <a:ea typeface="宋体" panose="02010600030101010101" pitchFamily="2" charset="-122"/>
              </a:rPr>
              <a:t>cpu</a:t>
            </a:r>
            <a:r>
              <a:rPr lang="zh-CN" altLang="en-AU" sz="2800" dirty="0">
                <a:solidFill>
                  <a:srgbClr val="00B0F0"/>
                </a:solidFill>
                <a:ea typeface="宋体" panose="02010600030101010101" pitchFamily="2" charset="-122"/>
              </a:rPr>
              <a:t>时间最多的</a:t>
            </a:r>
            <a:r>
              <a:rPr lang="en-AU" altLang="zh-CN" sz="2800" dirty="0">
                <a:solidFill>
                  <a:srgbClr val="00B0F0"/>
                </a:solidFill>
                <a:ea typeface="宋体" panose="02010600030101010101" pitchFamily="2" charset="-122"/>
              </a:rPr>
              <a:t>python</a:t>
            </a:r>
            <a:r>
              <a:rPr lang="zh-CN" altLang="en-AU" sz="2800" dirty="0">
                <a:solidFill>
                  <a:srgbClr val="00B0F0"/>
                </a:solidFill>
                <a:ea typeface="宋体" panose="02010600030101010101" pitchFamily="2" charset="-122"/>
              </a:rPr>
              <a:t>函数</a:t>
            </a:r>
            <a:r>
              <a:rPr lang="zh-CN" altLang="en-AU" sz="2800" dirty="0">
                <a:ea typeface="宋体" panose="02010600030101010101" pitchFamily="2" charset="-122"/>
              </a:rPr>
              <a:t>调用。</a:t>
            </a:r>
            <a:endParaRPr lang="en-AU" altLang="zh-CN" sz="2800" dirty="0"/>
          </a:p>
          <a:p>
            <a:r>
              <a:rPr lang="en-AU" altLang="zh-CN" sz="2800" dirty="0" err="1"/>
              <a:t>cprofile</a:t>
            </a:r>
            <a:r>
              <a:rPr lang="en-AU" altLang="zh-CN" sz="2800" dirty="0"/>
              <a:t> </a:t>
            </a:r>
            <a:r>
              <a:rPr lang="en-AU" altLang="zh-CN" sz="2800" dirty="0">
                <a:ea typeface="宋体" panose="02010600030101010101" pitchFamily="2" charset="-122"/>
              </a:rPr>
              <a:t>–</a:t>
            </a:r>
            <a:r>
              <a:rPr lang="en-AU" altLang="zh-CN" sz="2800" dirty="0"/>
              <a:t> </a:t>
            </a:r>
            <a:r>
              <a:rPr lang="zh-CN" altLang="en-AU" sz="2800" dirty="0">
                <a:ea typeface="宋体" panose="02010600030101010101" pitchFamily="2" charset="-122"/>
              </a:rPr>
              <a:t>诊断出</a:t>
            </a:r>
            <a:r>
              <a:rPr lang="zh-CN" altLang="en-AU" sz="2800" dirty="0">
                <a:solidFill>
                  <a:srgbClr val="00B0F0"/>
                </a:solidFill>
                <a:ea typeface="宋体" panose="02010600030101010101" pitchFamily="2" charset="-122"/>
              </a:rPr>
              <a:t>消耗</a:t>
            </a:r>
            <a:r>
              <a:rPr lang="en-AU" altLang="zh-CN" sz="2800" dirty="0" err="1">
                <a:solidFill>
                  <a:srgbClr val="00B0F0"/>
                </a:solidFill>
                <a:ea typeface="宋体" panose="02010600030101010101" pitchFamily="2" charset="-122"/>
              </a:rPr>
              <a:t>cpu</a:t>
            </a:r>
            <a:r>
              <a:rPr lang="zh-CN" altLang="en-AU" sz="2800" dirty="0">
                <a:solidFill>
                  <a:srgbClr val="00B0F0"/>
                </a:solidFill>
                <a:ea typeface="宋体" panose="02010600030101010101" pitchFamily="2" charset="-122"/>
              </a:rPr>
              <a:t>时间最多的引擎的</a:t>
            </a:r>
            <a:r>
              <a:rPr lang="en-AU" altLang="zh-CN" sz="2800" dirty="0" err="1">
                <a:solidFill>
                  <a:srgbClr val="00B0F0"/>
                </a:solidFill>
                <a:ea typeface="宋体" panose="02010600030101010101" pitchFamily="2" charset="-122"/>
              </a:rPr>
              <a:t>c++</a:t>
            </a:r>
            <a:r>
              <a:rPr lang="zh-CN" altLang="en-AU" sz="2800" dirty="0">
                <a:solidFill>
                  <a:srgbClr val="00B0F0"/>
                </a:solidFill>
                <a:ea typeface="宋体" panose="02010600030101010101" pitchFamily="2" charset="-122"/>
              </a:rPr>
              <a:t>函数</a:t>
            </a:r>
            <a:r>
              <a:rPr lang="zh-CN" altLang="en-AU" sz="2800" dirty="0">
                <a:ea typeface="宋体" panose="02010600030101010101" pitchFamily="2" charset="-122"/>
              </a:rPr>
              <a:t>调用。</a:t>
            </a:r>
            <a:endParaRPr lang="en-AU" altLang="zh-CN" sz="2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91440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179512" y="131948"/>
            <a:ext cx="8856984" cy="650503"/>
          </a:xfrm>
        </p:spPr>
        <p:txBody>
          <a:bodyPr>
            <a:normAutofit fontScale="90000"/>
          </a:bodyPr>
          <a:lstStyle/>
          <a:p>
            <a:pPr algn="l"/>
            <a:r>
              <a:rPr lang="zh-CN" altLang="en-US" sz="4900" b="1" dirty="0">
                <a:solidFill>
                  <a:schemeClr val="accent1"/>
                </a:solidFill>
                <a:latin typeface="+mn-ea"/>
                <a:ea typeface="+mn-ea"/>
              </a:rPr>
              <a:t>更多参考</a:t>
            </a:r>
          </a:p>
        </p:txBody>
      </p:sp>
      <p:sp>
        <p:nvSpPr>
          <p:cNvPr id="17" name="Rectangle 3"/>
          <p:cNvSpPr txBox="1">
            <a:spLocks noChangeArrowheads="1"/>
          </p:cNvSpPr>
          <p:nvPr/>
        </p:nvSpPr>
        <p:spPr bwMode="auto">
          <a:xfrm>
            <a:off x="89124" y="1196752"/>
            <a:ext cx="9054876"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4000" tIns="10800" rIns="36000" bIns="45720" numCol="1" anchor="t" anchorCtr="0" compatLnSpc="1"/>
          <a:lstStyle>
            <a:lvl1pPr marL="180975" indent="-180975" algn="l" rtl="0" fontAlgn="base">
              <a:spcBef>
                <a:spcPct val="20000"/>
              </a:spcBef>
              <a:spcAft>
                <a:spcPct val="0"/>
              </a:spcAft>
              <a:buClr>
                <a:srgbClr val="FF9933"/>
              </a:buClr>
              <a:buSzPct val="80000"/>
              <a:buFont typeface="Wingdings" panose="05000000000000000000" pitchFamily="2" charset="2"/>
              <a:buChar char="§"/>
              <a:defRPr sz="3200">
                <a:solidFill>
                  <a:srgbClr val="00007D"/>
                </a:solidFill>
                <a:latin typeface="+mn-lt"/>
                <a:ea typeface="+mn-ea"/>
                <a:cs typeface="+mn-cs"/>
              </a:defRPr>
            </a:lvl1pPr>
            <a:lvl2pPr marL="333375" indent="-151130" algn="l" rtl="0" fontAlgn="base">
              <a:spcBef>
                <a:spcPct val="20000"/>
              </a:spcBef>
              <a:spcAft>
                <a:spcPct val="0"/>
              </a:spcAft>
              <a:buClr>
                <a:srgbClr val="FF9933"/>
              </a:buClr>
              <a:buSzPct val="90000"/>
              <a:buFont typeface="Wingdings" panose="05000000000000000000" pitchFamily="2" charset="2"/>
              <a:buChar char="ú"/>
              <a:defRPr sz="2800">
                <a:solidFill>
                  <a:srgbClr val="00007D"/>
                </a:solidFill>
                <a:latin typeface="+mn-lt"/>
              </a:defRPr>
            </a:lvl2pPr>
            <a:lvl3pPr marL="581025" indent="-171450" algn="l" rtl="0" fontAlgn="base">
              <a:spcBef>
                <a:spcPct val="20000"/>
              </a:spcBef>
              <a:spcAft>
                <a:spcPct val="0"/>
              </a:spcAft>
              <a:buClr>
                <a:srgbClr val="FF9933"/>
              </a:buClr>
              <a:buSzPct val="80000"/>
              <a:buFont typeface="Wingdings" panose="05000000000000000000" pitchFamily="2" charset="2"/>
              <a:buChar char="§"/>
              <a:defRPr sz="2400">
                <a:solidFill>
                  <a:srgbClr val="00007D"/>
                </a:solidFill>
                <a:latin typeface="+mn-lt"/>
              </a:defRPr>
            </a:lvl3pPr>
            <a:lvl4pPr marL="762000" indent="-142875" algn="l" rtl="0" fontAlgn="base">
              <a:spcBef>
                <a:spcPct val="20000"/>
              </a:spcBef>
              <a:spcAft>
                <a:spcPct val="0"/>
              </a:spcAft>
              <a:buClr>
                <a:srgbClr val="FF9933"/>
              </a:buClr>
              <a:buSzPct val="90000"/>
              <a:buFont typeface="Wingdings" panose="05000000000000000000" pitchFamily="2" charset="2"/>
              <a:buChar char="§"/>
              <a:defRPr sz="2000">
                <a:solidFill>
                  <a:srgbClr val="00007D"/>
                </a:solidFill>
                <a:latin typeface="+mn-lt"/>
              </a:defRPr>
            </a:lvl4pPr>
            <a:lvl5pPr marL="9893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5pPr>
            <a:lvl6pPr marL="14465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6pPr>
            <a:lvl7pPr marL="19037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7pPr>
            <a:lvl8pPr marL="23609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8pPr>
            <a:lvl9pPr marL="2818130" indent="-141605" algn="l" rtl="0" fontAlgn="base">
              <a:spcBef>
                <a:spcPct val="20000"/>
              </a:spcBef>
              <a:spcAft>
                <a:spcPct val="0"/>
              </a:spcAft>
              <a:buClr>
                <a:srgbClr val="FF9933"/>
              </a:buClr>
              <a:buFont typeface="Wingdings" panose="05000000000000000000" pitchFamily="2" charset="2"/>
              <a:buChar char="§"/>
              <a:defRPr sz="2000">
                <a:solidFill>
                  <a:srgbClr val="00007D"/>
                </a:solidFill>
                <a:latin typeface="Arial" panose="020B0604020202020204" pitchFamily="34" charset="0"/>
              </a:defRPr>
            </a:lvl9pPr>
          </a:lstStyle>
          <a:p>
            <a:r>
              <a:rPr lang="en-AU" altLang="zh-CN" sz="2800" dirty="0"/>
              <a:t>https://github.com/kbengine/kbengine_docs</a:t>
            </a:r>
          </a:p>
          <a:p>
            <a:r>
              <a:rPr lang="en-AU" altLang="zh-CN" sz="2800" dirty="0"/>
              <a:t>http://www.kbengine.org/docs/</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1195</TotalTime>
  <Words>10185</Words>
  <Application>Microsoft Office PowerPoint</Application>
  <PresentationFormat>全屏显示(4:3)</PresentationFormat>
  <Paragraphs>1620</Paragraphs>
  <Slides>116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0</vt:i4>
      </vt:variant>
      <vt:variant>
        <vt:lpstr>幻灯片标题</vt:lpstr>
      </vt:variant>
      <vt:variant>
        <vt:i4>116</vt:i4>
      </vt:variant>
    </vt:vector>
  </HeadingPairs>
  <TitlesOfParts>
    <vt:vector size="127" baseType="lpstr">
      <vt:lpstr>Inter</vt:lpstr>
      <vt:lpstr>宋体</vt:lpstr>
      <vt:lpstr>微软雅黑</vt:lpstr>
      <vt:lpstr>新宋体</vt:lpstr>
      <vt:lpstr>Arial</vt:lpstr>
      <vt:lpstr>Arial Black</vt:lpstr>
      <vt:lpstr>Calibri</vt:lpstr>
      <vt:lpstr>Courier New</vt:lpstr>
      <vt:lpstr>Verdana</vt:lpstr>
      <vt:lpstr>Wingdings</vt:lpstr>
      <vt:lpstr>Office 主题​​</vt:lpstr>
      <vt:lpstr>KBEngine 技术概览  开源游戏服务端引擎                                               柯标                                                                                                   </vt:lpstr>
      <vt:lpstr>概要</vt:lpstr>
      <vt:lpstr>第一章</vt:lpstr>
      <vt:lpstr>KBEngine 服务器架构</vt:lpstr>
      <vt:lpstr>Loginapp进程</vt:lpstr>
      <vt:lpstr>Baseapp进程</vt:lpstr>
      <vt:lpstr>Base Entity(实体)</vt:lpstr>
      <vt:lpstr>Baseapp 容错处理</vt:lpstr>
      <vt:lpstr>Baseapp 容错处理</vt:lpstr>
      <vt:lpstr>Baseapp 容错处理</vt:lpstr>
      <vt:lpstr>Baseapp 容错处理</vt:lpstr>
      <vt:lpstr>Baseapp 的管理器(BaseappMgr)</vt:lpstr>
      <vt:lpstr>Cellapp进程</vt:lpstr>
      <vt:lpstr>Cells &amp; Spaces</vt:lpstr>
      <vt:lpstr>Cellapp主要负载的地方</vt:lpstr>
      <vt:lpstr>Entity与Cell</vt:lpstr>
      <vt:lpstr>Entity与Cell (本页跨Cell内容未实现)</vt:lpstr>
      <vt:lpstr>Entity: Real与Ghost</vt:lpstr>
      <vt:lpstr>Ghost Entity</vt:lpstr>
      <vt:lpstr>Entity的数据更新</vt:lpstr>
      <vt:lpstr>Cellapp管理器(CellappMgr)</vt:lpstr>
      <vt:lpstr>数据库管理器(DBMgr)</vt:lpstr>
      <vt:lpstr>Entity备份</vt:lpstr>
      <vt:lpstr>KBEngine的机器Daemon(machine)</vt:lpstr>
      <vt:lpstr>KBEngine服务端通常的操作</vt:lpstr>
      <vt:lpstr>登录过程</vt:lpstr>
      <vt:lpstr>PowerPoint 演示文稿</vt:lpstr>
      <vt:lpstr>第二章</vt:lpstr>
      <vt:lpstr>游戏项目资产库</vt:lpstr>
      <vt:lpstr>资产库文件夹结构</vt:lpstr>
      <vt:lpstr>资产库文件夹结构</vt:lpstr>
      <vt:lpstr>Entity的实现</vt:lpstr>
      <vt:lpstr>分布式的Entity</vt:lpstr>
      <vt:lpstr>分布式的Entity</vt:lpstr>
      <vt:lpstr>分布式的Entity-从Cellapp1来看</vt:lpstr>
      <vt:lpstr>分布式的Entity-从Cellapp2来看</vt:lpstr>
      <vt:lpstr>分布式的Entity-从Cellapp3来看</vt:lpstr>
      <vt:lpstr>简单的Entity</vt:lpstr>
      <vt:lpstr>Entity的继承</vt:lpstr>
      <vt:lpstr>Avatar的定义</vt:lpstr>
      <vt:lpstr>Entity的属性</vt:lpstr>
      <vt:lpstr>Entity属性</vt:lpstr>
      <vt:lpstr>Entity属性</vt:lpstr>
      <vt:lpstr>Entity定义数据类型</vt:lpstr>
      <vt:lpstr>Entity定义数据类型</vt:lpstr>
      <vt:lpstr>Entity定义数据类型</vt:lpstr>
      <vt:lpstr>Entity定义数据类型</vt:lpstr>
      <vt:lpstr>自定义类型</vt:lpstr>
      <vt:lpstr>Entity属性的发布</vt:lpstr>
      <vt:lpstr>Entity属性的发布</vt:lpstr>
      <vt:lpstr>Entity属性的发布 - BASE</vt:lpstr>
      <vt:lpstr>Entity属性的发布 - BASE_AND_CLIENT</vt:lpstr>
      <vt:lpstr>Entity属性的发布 – CELL_PRIVATE</vt:lpstr>
      <vt:lpstr>Entity属性的发布 – CELL_PUBLIC</vt:lpstr>
      <vt:lpstr>Entity属性的发布 – CELL_PUBLIC_AND_OWN</vt:lpstr>
      <vt:lpstr>Entity属性的发布 – ALL_CLIENTS</vt:lpstr>
      <vt:lpstr>Entity属性的发布 – OWN_CLIENT</vt:lpstr>
      <vt:lpstr>Entity属性的发布 – OTHER_CLIENTS</vt:lpstr>
      <vt:lpstr>Volatile属性</vt:lpstr>
      <vt:lpstr>属性Detail Level(未实现)</vt:lpstr>
      <vt:lpstr>属性Detail Level(未实现)</vt:lpstr>
      <vt:lpstr>Entity的数据保存</vt:lpstr>
      <vt:lpstr>Entity方法</vt:lpstr>
      <vt:lpstr>Entity方法</vt:lpstr>
      <vt:lpstr>Entity暴露方法（允许Client调用）</vt:lpstr>
      <vt:lpstr>Entity方法(本页未实现)</vt:lpstr>
      <vt:lpstr>Entity方法</vt:lpstr>
      <vt:lpstr>Entity分布式存在的例子</vt:lpstr>
      <vt:lpstr>脚本开发的指导</vt:lpstr>
      <vt:lpstr>第三章</vt:lpstr>
      <vt:lpstr>EntityCall</vt:lpstr>
      <vt:lpstr>EntityCall</vt:lpstr>
      <vt:lpstr>EntityCall</vt:lpstr>
      <vt:lpstr>EntityCall</vt:lpstr>
      <vt:lpstr>存储EntityCall</vt:lpstr>
      <vt:lpstr>存储EntityCall</vt:lpstr>
      <vt:lpstr>Cell到Client的通信</vt:lpstr>
      <vt:lpstr>Entity.ownClient 方法调用示例</vt:lpstr>
      <vt:lpstr>Entity.ownClient 方法调用示例</vt:lpstr>
      <vt:lpstr>Entity.allClients 方法调用示例</vt:lpstr>
      <vt:lpstr>Entity.allClients 方法调用示例</vt:lpstr>
      <vt:lpstr>Entity.otherClients 方法调用示例</vt:lpstr>
      <vt:lpstr>Entity.otherClients 方法调用示例</vt:lpstr>
      <vt:lpstr>Entity.clientEntity 方法调用示例</vt:lpstr>
      <vt:lpstr>第四章</vt:lpstr>
      <vt:lpstr>Baseapp上的Entity类型</vt:lpstr>
      <vt:lpstr>Baseapp上的Entity属性</vt:lpstr>
      <vt:lpstr>Baseapp上的Proxy属性</vt:lpstr>
      <vt:lpstr>Baseapp上的Entity方法</vt:lpstr>
      <vt:lpstr>Cellapp上的Entity属性</vt:lpstr>
      <vt:lpstr>Cellapp上的Entity方法</vt:lpstr>
      <vt:lpstr>Entity的典型生存周期</vt:lpstr>
      <vt:lpstr>Entity的创建</vt:lpstr>
      <vt:lpstr>Entity的创建</vt:lpstr>
      <vt:lpstr>Entity的销毁</vt:lpstr>
      <vt:lpstr>容错</vt:lpstr>
      <vt:lpstr>第五章</vt:lpstr>
      <vt:lpstr>Entity的cell部分的功能集</vt:lpstr>
      <vt:lpstr>Entity的Controller(每个Controller应该用于处理某一个功能)</vt:lpstr>
      <vt:lpstr>Entity的导航系统(Navigation)</vt:lpstr>
      <vt:lpstr>Entity的导航系统(方法)</vt:lpstr>
      <vt:lpstr>Entity Proximity</vt:lpstr>
      <vt:lpstr>控制其它的Entity</vt:lpstr>
      <vt:lpstr>第六章</vt:lpstr>
      <vt:lpstr>服务器配置</vt:lpstr>
      <vt:lpstr>Personality个性化脚本</vt:lpstr>
      <vt:lpstr>第七章</vt:lpstr>
      <vt:lpstr>C++断点调试</vt:lpstr>
      <vt:lpstr>工具与服务端交互调试</vt:lpstr>
      <vt:lpstr>第八章</vt:lpstr>
      <vt:lpstr>用机器人做压力测试</vt:lpstr>
      <vt:lpstr>Bot脚本</vt:lpstr>
      <vt:lpstr>增加bots</vt:lpstr>
      <vt:lpstr>Profiling 工具</vt:lpstr>
      <vt:lpstr>Profiling命令</vt:lpstr>
      <vt:lpstr>更多参考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KBEngine 技术培训  服务端 </dc:title>
  <dc:creator>Windows 用户</dc:creator>
  <cp:lastModifiedBy>天奇 祝</cp:lastModifiedBy>
  <cp:revision>651</cp:revision>
  <dcterms:created xsi:type="dcterms:W3CDTF">2015-01-23T05:56:00Z</dcterms:created>
  <dcterms:modified xsi:type="dcterms:W3CDTF">2025-02-26T02:09:45Z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BB0497E583CD4A538929C790210D6B7A_12</vt:lpwstr>
  </property>
</Properties>
</file>