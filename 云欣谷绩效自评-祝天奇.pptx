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8" r:id="rId3"/>
  </p:sldMasterIdLst>
  <p:notesMasterIdLst>
    <p:notesMasterId r:id="rId6"/>
  </p:notesMasterIdLst>
  <p:sldIdLst>
    <p:sldId id="317" r:id="rId4"/>
    <p:sldId id="262" r:id="rId5"/>
    <p:sldId id="314" r:id="rId7"/>
    <p:sldId id="354" r:id="rId8"/>
    <p:sldId id="342" r:id="rId9"/>
    <p:sldId id="343" r:id="rId10"/>
    <p:sldId id="365" r:id="rId11"/>
    <p:sldId id="366" r:id="rId12"/>
    <p:sldId id="344" r:id="rId13"/>
    <p:sldId id="360" r:id="rId14"/>
    <p:sldId id="362" r:id="rId15"/>
    <p:sldId id="361" r:id="rId16"/>
    <p:sldId id="345" r:id="rId17"/>
    <p:sldId id="364" r:id="rId18"/>
    <p:sldId id="355" r:id="rId19"/>
    <p:sldId id="346" r:id="rId20"/>
    <p:sldId id="347" r:id="rId21"/>
    <p:sldId id="304" r:id="rId22"/>
    <p:sldId id="359" r:id="rId23"/>
    <p:sldId id="356" r:id="rId24"/>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0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4A7B"/>
    <a:srgbClr val="17375E"/>
    <a:srgbClr val="48A2A0"/>
    <a:srgbClr val="436B9B"/>
    <a:srgbClr val="327270"/>
    <a:srgbClr val="6C92C0"/>
    <a:srgbClr val="4E7BB2"/>
    <a:srgbClr val="B0C4DD"/>
    <a:srgbClr val="A4D6D5"/>
    <a:srgbClr val="F05C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3" autoAdjust="0"/>
    <p:restoredTop sz="94660"/>
  </p:normalViewPr>
  <p:slideViewPr>
    <p:cSldViewPr snapToGrid="0" showGuides="1">
      <p:cViewPr>
        <p:scale>
          <a:sx n="25" d="100"/>
          <a:sy n="25" d="100"/>
        </p:scale>
        <p:origin x="1620" y="2064"/>
      </p:cViewPr>
      <p:guideLst>
        <p:guide pos="3840"/>
        <p:guide orient="horz" pos="2041"/>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8" Type="http://schemas.openxmlformats.org/officeDocument/2006/relationships/tags" Target="tags/tag59.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09EA2A-4C48-4C61-B30A-DAB1A3E93B2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B31000-9408-426B-B873-D4C066E48AF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B31000-9408-426B-B873-D4C066E48AF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6"/>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1"/>
            <a:ext cx="8534400" cy="1752599"/>
          </a:xfr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200" indent="0" algn="ctr">
              <a:buNone/>
              <a:defRPr>
                <a:solidFill>
                  <a:schemeClr val="tx1">
                    <a:tint val="75000"/>
                  </a:schemeClr>
                </a:solidFill>
              </a:defRPr>
            </a:lvl8pPr>
            <a:lvl9pPr marL="48768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65C0B0F-957D-4B21-995C-671B925970BC}"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4A86CF50-A36E-4027-A15B-F18594CC304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65C0B0F-957D-4B21-995C-671B925970BC}"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4A86CF50-A36E-4027-A15B-F18594CC304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2"/>
            <a:ext cx="10363200" cy="1362075"/>
          </a:xfr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5"/>
            <a:ext cx="10363200" cy="1500187"/>
          </a:xfr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8400" indent="0">
              <a:buNone/>
              <a:defRPr sz="1865">
                <a:solidFill>
                  <a:schemeClr val="tx1">
                    <a:tint val="75000"/>
                  </a:schemeClr>
                </a:solidFill>
              </a:defRPr>
            </a:lvl5pPr>
            <a:lvl6pPr marL="3048000" indent="0">
              <a:buNone/>
              <a:defRPr sz="1865">
                <a:solidFill>
                  <a:schemeClr val="tx1">
                    <a:tint val="75000"/>
                  </a:schemeClr>
                </a:solidFill>
              </a:defRPr>
            </a:lvl6pPr>
            <a:lvl7pPr marL="3657600" indent="0">
              <a:buNone/>
              <a:defRPr sz="1865">
                <a:solidFill>
                  <a:schemeClr val="tx1">
                    <a:tint val="75000"/>
                  </a:schemeClr>
                </a:solidFill>
              </a:defRPr>
            </a:lvl7pPr>
            <a:lvl8pPr marL="4267200" indent="0">
              <a:buNone/>
              <a:defRPr sz="1865">
                <a:solidFill>
                  <a:schemeClr val="tx1">
                    <a:tint val="75000"/>
                  </a:schemeClr>
                </a:solidFill>
              </a:defRPr>
            </a:lvl8pPr>
            <a:lvl9pPr marL="4876800"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B65C0B0F-957D-4B21-995C-671B925970BC}"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4A86CF50-A36E-4027-A15B-F18594CC304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200151"/>
            <a:ext cx="5384800" cy="3392488"/>
          </a:xfr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200151"/>
            <a:ext cx="5384800" cy="3392488"/>
          </a:xfr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65C0B0F-957D-4B21-995C-671B925970BC}"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4A86CF50-A36E-4027-A15B-F18594CC304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1"/>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5"/>
            <a:ext cx="5386917" cy="639761"/>
          </a:xfr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9" y="1535115"/>
            <a:ext cx="5389033" cy="639761"/>
          </a:xfr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9" y="2174875"/>
            <a:ext cx="5389033" cy="3951288"/>
          </a:xfr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65C0B0F-957D-4B21-995C-671B925970BC}" type="datetimeFigureOut">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4A86CF50-A36E-4027-A15B-F18594CC304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65C0B0F-957D-4B21-995C-671B925970BC}" type="datetimeFigureOut">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4A86CF50-A36E-4027-A15B-F18594CC304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65C0B0F-957D-4B21-995C-671B925970BC}" type="datetimeFigureOut">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4A86CF50-A36E-4027-A15B-F18594CC304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1"/>
          </a:xfr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4265"/>
            </a:lvl1pPr>
            <a:lvl2pPr>
              <a:defRPr sz="3735"/>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2" y="1435100"/>
            <a:ext cx="4011084" cy="4691063"/>
          </a:xfr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65C0B0F-957D-4B21-995C-671B925970BC}"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4A86CF50-A36E-4027-A15B-F18594CC304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4265"/>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endParaRPr lang="zh-CN" altLang="en-US"/>
          </a:p>
        </p:txBody>
      </p:sp>
      <p:sp>
        <p:nvSpPr>
          <p:cNvPr id="4" name="文本占位符 3"/>
          <p:cNvSpPr>
            <a:spLocks noGrp="1"/>
          </p:cNvSpPr>
          <p:nvPr>
            <p:ph type="body" sz="half" idx="2"/>
          </p:nvPr>
        </p:nvSpPr>
        <p:spPr>
          <a:xfrm>
            <a:off x="2389717" y="5367339"/>
            <a:ext cx="7315200" cy="804862"/>
          </a:xfr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65C0B0F-957D-4B21-995C-671B925970BC}"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4A86CF50-A36E-4027-A15B-F18594CC304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65C0B0F-957D-4B21-995C-671B925970BC}"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4A86CF50-A36E-4027-A15B-F18594CC304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06376"/>
            <a:ext cx="2743200" cy="438626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06376"/>
            <a:ext cx="8026400" cy="43862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65C0B0F-957D-4B21-995C-671B925970BC}"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4A86CF50-A36E-4027-A15B-F18594CC304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atin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smtClean="0"/>
              <a:t>Click to edit Master subtitle style</a:t>
            </a:r>
            <a:endParaRPr lang="id-ID"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a:defRPr>
                <a:latin typeface="微软雅黑" panose="020B0503020204020204" pitchFamily="34" charset="-122"/>
              </a:defRPr>
            </a:lvl1pPr>
          </a:lstStyle>
          <a:p>
            <a:fld id="{EB5C08A1-7713-47CE-97B4-863D833656A0}" type="datetimeFigureOut">
              <a:rPr lang="id-ID" smtClean="0"/>
            </a:fld>
            <a:endParaRPr lang="id-ID" dirty="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a:defRPr>
                <a:latin typeface="微软雅黑" panose="020B0503020204020204" pitchFamily="34" charset="-122"/>
              </a:defRPr>
            </a:lvl1pPr>
          </a:lstStyle>
          <a:p>
            <a:endParaRPr lang="id-ID" dirty="0"/>
          </a:p>
        </p:txBody>
      </p:sp>
      <p:sp>
        <p:nvSpPr>
          <p:cNvPr id="6" name="Slide Number Placeholder 5"/>
          <p:cNvSpPr>
            <a:spLocks noGrp="1"/>
          </p:cNvSpPr>
          <p:nvPr>
            <p:ph type="sldNum" sz="quarter" idx="12"/>
          </p:nvPr>
        </p:nvSpPr>
        <p:spPr>
          <a:xfrm>
            <a:off x="10858500" y="6356350"/>
            <a:ext cx="495300" cy="365125"/>
          </a:xfrm>
          <a:prstGeom prst="rect">
            <a:avLst/>
          </a:prstGeom>
        </p:spPr>
        <p:txBody>
          <a:bodyPr/>
          <a:lstStyle>
            <a:lvl1pPr>
              <a:defRPr sz="1050">
                <a:latin typeface="微软雅黑" panose="020B0503020204020204" pitchFamily="34" charset="-122"/>
              </a:defRPr>
            </a:lvl1pPr>
          </a:lstStyle>
          <a:p>
            <a:fld id="{BD3C9449-514E-4F2F-BDF6-E5528CC1E8B5}" type="slidenum">
              <a:rPr lang="id-ID" smtClean="0"/>
            </a:fld>
            <a:endParaRPr lang="id-ID" dirty="0"/>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4" name="图片占位符 3"/>
          <p:cNvSpPr>
            <a:spLocks noGrp="1"/>
          </p:cNvSpPr>
          <p:nvPr>
            <p:ph type="pic" sz="quarter" idx="10"/>
          </p:nvPr>
        </p:nvSpPr>
        <p:spPr>
          <a:xfrm>
            <a:off x="0" y="4122738"/>
            <a:ext cx="12192000" cy="2735262"/>
          </a:xfrm>
          <a:prstGeom prst="rect">
            <a:avLst/>
          </a:prstGeom>
          <a:ln>
            <a:noFill/>
          </a:ln>
        </p:spPr>
        <p:txBody>
          <a:bodyPr/>
          <a:lstStyle/>
          <a:p>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6" name="图片占位符 5"/>
          <p:cNvSpPr>
            <a:spLocks noGrp="1"/>
          </p:cNvSpPr>
          <p:nvPr>
            <p:ph type="pic" sz="quarter" idx="13"/>
          </p:nvPr>
        </p:nvSpPr>
        <p:spPr>
          <a:xfrm>
            <a:off x="0" y="0"/>
            <a:ext cx="12192000" cy="6858000"/>
          </a:xfrm>
          <a:prstGeom prst="rect">
            <a:avLst/>
          </a:prstGeom>
        </p:spPr>
        <p:txBody>
          <a:bodyPr/>
          <a:lstStyle/>
          <a:p>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ree 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ree Blank With Footer">
    <p:spTree>
      <p:nvGrpSpPr>
        <p:cNvPr id="1" name=""/>
        <p:cNvGrpSpPr/>
        <p:nvPr/>
      </p:nvGrpSpPr>
      <p:grpSpPr>
        <a:xfrm>
          <a:off x="0" y="0"/>
          <a:ext cx="0" cy="0"/>
          <a:chOff x="0" y="0"/>
          <a:chExt cx="0" cy="0"/>
        </a:xfrm>
      </p:grpSpPr>
      <p:grpSp>
        <p:nvGrpSpPr>
          <p:cNvPr id="16" name="Group 15"/>
          <p:cNvGrpSpPr/>
          <p:nvPr userDrawn="1"/>
        </p:nvGrpSpPr>
        <p:grpSpPr>
          <a:xfrm>
            <a:off x="0" y="6731802"/>
            <a:ext cx="12192000" cy="126199"/>
            <a:chOff x="0" y="2573904"/>
            <a:chExt cx="8767278" cy="44695"/>
          </a:xfrm>
        </p:grpSpPr>
        <p:grpSp>
          <p:nvGrpSpPr>
            <p:cNvPr id="17" name="Group 43"/>
            <p:cNvGrpSpPr/>
            <p:nvPr/>
          </p:nvGrpSpPr>
          <p:grpSpPr>
            <a:xfrm>
              <a:off x="0" y="2573904"/>
              <a:ext cx="3752335" cy="44695"/>
              <a:chOff x="0" y="2573904"/>
              <a:chExt cx="3752335" cy="44695"/>
            </a:xfrm>
          </p:grpSpPr>
          <p:sp>
            <p:nvSpPr>
              <p:cNvPr id="23" name="Rectangle 22"/>
              <p:cNvSpPr/>
              <p:nvPr/>
            </p:nvSpPr>
            <p:spPr>
              <a:xfrm>
                <a:off x="0" y="2573904"/>
                <a:ext cx="1262608" cy="446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dirty="0">
                  <a:solidFill>
                    <a:prstClr val="white"/>
                  </a:solidFill>
                  <a:latin typeface="微软雅黑" panose="020B0503020204020204" pitchFamily="34" charset="-122"/>
                </a:endParaRPr>
              </a:p>
            </p:txBody>
          </p:sp>
          <p:sp>
            <p:nvSpPr>
              <p:cNvPr id="24" name="Rectangle 23"/>
              <p:cNvSpPr/>
              <p:nvPr/>
            </p:nvSpPr>
            <p:spPr>
              <a:xfrm>
                <a:off x="1262608" y="2573904"/>
                <a:ext cx="1262608" cy="446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dirty="0">
                  <a:solidFill>
                    <a:prstClr val="white"/>
                  </a:solidFill>
                  <a:latin typeface="微软雅黑" panose="020B0503020204020204" pitchFamily="34" charset="-122"/>
                </a:endParaRPr>
              </a:p>
            </p:txBody>
          </p:sp>
          <p:sp>
            <p:nvSpPr>
              <p:cNvPr id="25" name="Rectangle 24"/>
              <p:cNvSpPr/>
              <p:nvPr/>
            </p:nvSpPr>
            <p:spPr>
              <a:xfrm>
                <a:off x="2489727" y="2573904"/>
                <a:ext cx="1262608" cy="4469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dirty="0">
                  <a:solidFill>
                    <a:prstClr val="white"/>
                  </a:solidFill>
                  <a:latin typeface="微软雅黑" panose="020B0503020204020204" pitchFamily="34" charset="-122"/>
                </a:endParaRPr>
              </a:p>
            </p:txBody>
          </p:sp>
        </p:grpSp>
        <p:grpSp>
          <p:nvGrpSpPr>
            <p:cNvPr id="18" name="Group 44"/>
            <p:cNvGrpSpPr/>
            <p:nvPr/>
          </p:nvGrpSpPr>
          <p:grpSpPr>
            <a:xfrm>
              <a:off x="3752335" y="2573904"/>
              <a:ext cx="5014943" cy="44695"/>
              <a:chOff x="0" y="2573904"/>
              <a:chExt cx="5014943" cy="44695"/>
            </a:xfrm>
          </p:grpSpPr>
          <p:sp>
            <p:nvSpPr>
              <p:cNvPr id="19" name="Rectangle 18"/>
              <p:cNvSpPr/>
              <p:nvPr/>
            </p:nvSpPr>
            <p:spPr>
              <a:xfrm>
                <a:off x="0" y="2573904"/>
                <a:ext cx="1262608" cy="446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dirty="0">
                  <a:solidFill>
                    <a:prstClr val="white"/>
                  </a:solidFill>
                  <a:latin typeface="微软雅黑" panose="020B0503020204020204" pitchFamily="34" charset="-122"/>
                </a:endParaRPr>
              </a:p>
            </p:txBody>
          </p:sp>
          <p:sp>
            <p:nvSpPr>
              <p:cNvPr id="20" name="Rectangle 19"/>
              <p:cNvSpPr/>
              <p:nvPr/>
            </p:nvSpPr>
            <p:spPr>
              <a:xfrm>
                <a:off x="1262608" y="2573904"/>
                <a:ext cx="1262608" cy="4469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dirty="0">
                  <a:solidFill>
                    <a:prstClr val="white"/>
                  </a:solidFill>
                  <a:latin typeface="微软雅黑" panose="020B0503020204020204" pitchFamily="34" charset="-122"/>
                </a:endParaRPr>
              </a:p>
            </p:txBody>
          </p:sp>
          <p:sp>
            <p:nvSpPr>
              <p:cNvPr id="21" name="Rectangle 20"/>
              <p:cNvSpPr/>
              <p:nvPr/>
            </p:nvSpPr>
            <p:spPr>
              <a:xfrm>
                <a:off x="2489727" y="2573904"/>
                <a:ext cx="1262608" cy="4469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dirty="0">
                  <a:solidFill>
                    <a:prstClr val="white"/>
                  </a:solidFill>
                  <a:latin typeface="微软雅黑" panose="020B0503020204020204" pitchFamily="34" charset="-122"/>
                </a:endParaRPr>
              </a:p>
            </p:txBody>
          </p:sp>
          <p:sp>
            <p:nvSpPr>
              <p:cNvPr id="22" name="Rectangle 21"/>
              <p:cNvSpPr/>
              <p:nvPr/>
            </p:nvSpPr>
            <p:spPr>
              <a:xfrm>
                <a:off x="3752335" y="2573904"/>
                <a:ext cx="1262608" cy="446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dirty="0">
                  <a:solidFill>
                    <a:prstClr val="white"/>
                  </a:solidFill>
                  <a:latin typeface="微软雅黑" panose="020B0503020204020204" pitchFamily="34" charset="-122"/>
                </a:endParaRPr>
              </a:p>
            </p:txBody>
          </p:sp>
        </p:grpSp>
      </p:grpSp>
    </p:spTree>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Main Title+ SubTitle_Foo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26584" y="356628"/>
            <a:ext cx="7518400" cy="471365"/>
          </a:xfrm>
          <a:prstGeom prst="rect">
            <a:avLst/>
          </a:prstGeom>
        </p:spPr>
        <p:txBody>
          <a:bodyPr wrap="none" lIns="0" tIns="0" rIns="0" bIns="0" anchor="ctr">
            <a:noAutofit/>
          </a:bodyPr>
          <a:lstStyle>
            <a:lvl1pPr algn="l">
              <a:defRPr sz="3200" b="1" baseline="0">
                <a:solidFill>
                  <a:schemeClr val="tx1">
                    <a:lumMod val="85000"/>
                    <a:lumOff val="15000"/>
                  </a:schemeClr>
                </a:solidFill>
                <a:latin typeface="微软雅黑" panose="020B0503020204020204" pitchFamily="34" charset="-122"/>
              </a:defRPr>
            </a:lvl1pPr>
          </a:lstStyle>
          <a:p>
            <a:r>
              <a:rPr lang="en-US" dirty="0" smtClean="0"/>
              <a:t>Click To Edit Master Title Style</a:t>
            </a:r>
            <a:endParaRPr lang="en-US" dirty="0"/>
          </a:p>
        </p:txBody>
      </p:sp>
      <p:sp>
        <p:nvSpPr>
          <p:cNvPr id="15" name="Text Placeholder 3"/>
          <p:cNvSpPr>
            <a:spLocks noGrp="1"/>
          </p:cNvSpPr>
          <p:nvPr>
            <p:ph type="body" sz="half" idx="2" hasCustomPrompt="1"/>
          </p:nvPr>
        </p:nvSpPr>
        <p:spPr>
          <a:xfrm>
            <a:off x="1026584" y="825950"/>
            <a:ext cx="5486400" cy="267661"/>
          </a:xfrm>
          <a:prstGeom prst="rect">
            <a:avLst/>
          </a:prstGeom>
        </p:spPr>
        <p:txBody>
          <a:bodyPr wrap="none" lIns="0" tIns="0" rIns="0" bIns="0" anchor="ctr">
            <a:noAutofit/>
          </a:bodyPr>
          <a:lstStyle>
            <a:lvl1pPr marL="0" indent="0" algn="l">
              <a:buNone/>
              <a:defRPr sz="1865" b="1" baseline="0">
                <a:solidFill>
                  <a:schemeClr val="tx1">
                    <a:lumMod val="65000"/>
                  </a:schemeClr>
                </a:solidFill>
                <a:latin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dirty="0" smtClean="0"/>
              <a:t>SUBTEXT GOES HERE</a:t>
            </a:r>
            <a:endParaRPr lang="en-US" dirty="0" smtClean="0"/>
          </a:p>
        </p:txBody>
      </p:sp>
      <p:grpSp>
        <p:nvGrpSpPr>
          <p:cNvPr id="8" name="Group 7"/>
          <p:cNvGrpSpPr/>
          <p:nvPr userDrawn="1"/>
        </p:nvGrpSpPr>
        <p:grpSpPr>
          <a:xfrm>
            <a:off x="0" y="6731802"/>
            <a:ext cx="12192000" cy="126199"/>
            <a:chOff x="0" y="2573904"/>
            <a:chExt cx="8767278" cy="44695"/>
          </a:xfrm>
        </p:grpSpPr>
        <p:grpSp>
          <p:nvGrpSpPr>
            <p:cNvPr id="9" name="Group 43"/>
            <p:cNvGrpSpPr/>
            <p:nvPr/>
          </p:nvGrpSpPr>
          <p:grpSpPr>
            <a:xfrm>
              <a:off x="0" y="2573904"/>
              <a:ext cx="3752335" cy="44695"/>
              <a:chOff x="0" y="2573904"/>
              <a:chExt cx="3752335" cy="44695"/>
            </a:xfrm>
          </p:grpSpPr>
          <p:sp>
            <p:nvSpPr>
              <p:cNvPr id="18" name="Rectangle 17"/>
              <p:cNvSpPr/>
              <p:nvPr/>
            </p:nvSpPr>
            <p:spPr>
              <a:xfrm>
                <a:off x="0" y="2573904"/>
                <a:ext cx="1262608" cy="446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dirty="0">
                  <a:solidFill>
                    <a:prstClr val="white"/>
                  </a:solidFill>
                  <a:latin typeface="微软雅黑" panose="020B0503020204020204" pitchFamily="34" charset="-122"/>
                </a:endParaRPr>
              </a:p>
            </p:txBody>
          </p:sp>
          <p:sp>
            <p:nvSpPr>
              <p:cNvPr id="19" name="Rectangle 18"/>
              <p:cNvSpPr/>
              <p:nvPr/>
            </p:nvSpPr>
            <p:spPr>
              <a:xfrm>
                <a:off x="1262608" y="2573904"/>
                <a:ext cx="1262608" cy="446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dirty="0">
                  <a:solidFill>
                    <a:prstClr val="white"/>
                  </a:solidFill>
                  <a:latin typeface="微软雅黑" panose="020B0503020204020204" pitchFamily="34" charset="-122"/>
                </a:endParaRPr>
              </a:p>
            </p:txBody>
          </p:sp>
          <p:sp>
            <p:nvSpPr>
              <p:cNvPr id="20" name="Rectangle 19"/>
              <p:cNvSpPr/>
              <p:nvPr/>
            </p:nvSpPr>
            <p:spPr>
              <a:xfrm>
                <a:off x="2489727" y="2573904"/>
                <a:ext cx="1262608" cy="4469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dirty="0">
                  <a:solidFill>
                    <a:prstClr val="white"/>
                  </a:solidFill>
                  <a:latin typeface="微软雅黑" panose="020B0503020204020204" pitchFamily="34" charset="-122"/>
                </a:endParaRPr>
              </a:p>
            </p:txBody>
          </p:sp>
        </p:grpSp>
        <p:grpSp>
          <p:nvGrpSpPr>
            <p:cNvPr id="10" name="Group 44"/>
            <p:cNvGrpSpPr/>
            <p:nvPr/>
          </p:nvGrpSpPr>
          <p:grpSpPr>
            <a:xfrm>
              <a:off x="3752335" y="2573904"/>
              <a:ext cx="5014943" cy="44695"/>
              <a:chOff x="0" y="2573904"/>
              <a:chExt cx="5014943" cy="44695"/>
            </a:xfrm>
          </p:grpSpPr>
          <p:sp>
            <p:nvSpPr>
              <p:cNvPr id="12" name="Rectangle 11"/>
              <p:cNvSpPr/>
              <p:nvPr/>
            </p:nvSpPr>
            <p:spPr>
              <a:xfrm>
                <a:off x="0" y="2573904"/>
                <a:ext cx="1262608" cy="446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dirty="0">
                  <a:solidFill>
                    <a:prstClr val="white"/>
                  </a:solidFill>
                  <a:latin typeface="微软雅黑" panose="020B0503020204020204" pitchFamily="34" charset="-122"/>
                </a:endParaRPr>
              </a:p>
            </p:txBody>
          </p:sp>
          <p:sp>
            <p:nvSpPr>
              <p:cNvPr id="13" name="Rectangle 12"/>
              <p:cNvSpPr/>
              <p:nvPr/>
            </p:nvSpPr>
            <p:spPr>
              <a:xfrm>
                <a:off x="1262608" y="2573904"/>
                <a:ext cx="1262608" cy="4469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dirty="0">
                  <a:solidFill>
                    <a:prstClr val="white"/>
                  </a:solidFill>
                  <a:latin typeface="微软雅黑" panose="020B0503020204020204" pitchFamily="34" charset="-122"/>
                </a:endParaRPr>
              </a:p>
            </p:txBody>
          </p:sp>
          <p:sp>
            <p:nvSpPr>
              <p:cNvPr id="14" name="Rectangle 13"/>
              <p:cNvSpPr/>
              <p:nvPr/>
            </p:nvSpPr>
            <p:spPr>
              <a:xfrm>
                <a:off x="2489727" y="2573904"/>
                <a:ext cx="1262608" cy="4469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dirty="0">
                  <a:solidFill>
                    <a:prstClr val="white"/>
                  </a:solidFill>
                  <a:latin typeface="微软雅黑" panose="020B0503020204020204" pitchFamily="34" charset="-122"/>
                </a:endParaRPr>
              </a:p>
            </p:txBody>
          </p:sp>
          <p:sp>
            <p:nvSpPr>
              <p:cNvPr id="16" name="Rectangle 15"/>
              <p:cNvSpPr/>
              <p:nvPr/>
            </p:nvSpPr>
            <p:spPr>
              <a:xfrm>
                <a:off x="3752335" y="2573904"/>
                <a:ext cx="1262608" cy="446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dirty="0">
                  <a:solidFill>
                    <a:prstClr val="white"/>
                  </a:solidFill>
                  <a:latin typeface="微软雅黑" panose="020B0503020204020204" pitchFamily="34"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animEffect transition="in" filter="fade">
                                      <p:cBhvr>
                                        <p:cTn id="11"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build="p">
        <p:tmplLst>
          <p:tmpl lvl="1">
            <p:tnLst>
              <p:par>
                <p:cTn presetID="10" presetClass="entr" presetSubtype="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ain Title+ Sub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26584" y="356628"/>
            <a:ext cx="7518400" cy="471365"/>
          </a:xfrm>
          <a:prstGeom prst="rect">
            <a:avLst/>
          </a:prstGeom>
        </p:spPr>
        <p:txBody>
          <a:bodyPr wrap="none" lIns="0" tIns="0" rIns="0" bIns="0" anchor="ctr">
            <a:noAutofit/>
          </a:bodyPr>
          <a:lstStyle>
            <a:lvl1pPr algn="l">
              <a:defRPr sz="3200" b="1" baseline="0">
                <a:solidFill>
                  <a:schemeClr val="tx1">
                    <a:lumMod val="85000"/>
                    <a:lumOff val="15000"/>
                  </a:schemeClr>
                </a:solidFill>
                <a:latin typeface="微软雅黑" panose="020B0503020204020204" pitchFamily="34" charset="-122"/>
              </a:defRPr>
            </a:lvl1pPr>
          </a:lstStyle>
          <a:p>
            <a:r>
              <a:rPr lang="en-US" dirty="0" smtClean="0"/>
              <a:t>Click To Edit Master Title Style</a:t>
            </a:r>
            <a:endParaRPr lang="en-US" dirty="0"/>
          </a:p>
        </p:txBody>
      </p:sp>
      <p:sp>
        <p:nvSpPr>
          <p:cNvPr id="15" name="Text Placeholder 3"/>
          <p:cNvSpPr>
            <a:spLocks noGrp="1"/>
          </p:cNvSpPr>
          <p:nvPr>
            <p:ph type="body" sz="half" idx="2" hasCustomPrompt="1"/>
          </p:nvPr>
        </p:nvSpPr>
        <p:spPr>
          <a:xfrm>
            <a:off x="1026584" y="825950"/>
            <a:ext cx="5486400" cy="267661"/>
          </a:xfrm>
          <a:prstGeom prst="rect">
            <a:avLst/>
          </a:prstGeom>
        </p:spPr>
        <p:txBody>
          <a:bodyPr wrap="none" lIns="0" tIns="0" rIns="0" bIns="0" anchor="ctr">
            <a:noAutofit/>
          </a:bodyPr>
          <a:lstStyle>
            <a:lvl1pPr marL="0" indent="0" algn="l">
              <a:buNone/>
              <a:defRPr sz="1865" b="1" baseline="0">
                <a:solidFill>
                  <a:schemeClr val="tx1">
                    <a:lumMod val="65000"/>
                  </a:schemeClr>
                </a:solidFill>
                <a:latin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dirty="0" smtClean="0"/>
              <a:t>SUBTEXT GOES HERE</a:t>
            </a:r>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animEffect transition="in" filter="fade">
                                      <p:cBhvr>
                                        <p:cTn id="11"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build="p">
        <p:tmplLst>
          <p:tmpl lvl="1">
            <p:tnLst>
              <p:par>
                <p:cTn presetID="10" presetClass="entr" presetSubtype="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609600" y="6356352"/>
            <a:ext cx="2844800" cy="365125"/>
          </a:xfrm>
          <a:prstGeom prst="rect">
            <a:avLst/>
          </a:prstGeom>
        </p:spPr>
        <p:txBody>
          <a:bodyPr/>
          <a:lstStyle/>
          <a:p>
            <a:pPr defTabSz="1375410"/>
            <a:fld id="{530820CF-B880-4189-942D-D702A7CBA730}" type="datetimeFigureOut">
              <a:rPr lang="zh-CN" altLang="en-US" sz="2665" smtClean="0">
                <a:solidFill>
                  <a:prstClr val="black">
                    <a:tint val="75000"/>
                  </a:prstClr>
                </a:solidFill>
              </a:rPr>
            </a:fld>
            <a:endParaRPr lang="zh-CN" altLang="en-US" sz="2665">
              <a:solidFill>
                <a:prstClr val="black">
                  <a:tint val="75000"/>
                </a:prstClr>
              </a:solidFill>
            </a:endParaRPr>
          </a:p>
        </p:txBody>
      </p:sp>
      <p:sp>
        <p:nvSpPr>
          <p:cNvPr id="5" name="页脚占位符 4"/>
          <p:cNvSpPr>
            <a:spLocks noGrp="1"/>
          </p:cNvSpPr>
          <p:nvPr>
            <p:ph type="ftr" sz="quarter" idx="11"/>
          </p:nvPr>
        </p:nvSpPr>
        <p:spPr>
          <a:xfrm>
            <a:off x="4165600" y="6356352"/>
            <a:ext cx="3860800" cy="365125"/>
          </a:xfrm>
          <a:prstGeom prst="rect">
            <a:avLst/>
          </a:prstGeom>
        </p:spPr>
        <p:txBody>
          <a:bodyPr/>
          <a:lstStyle/>
          <a:p>
            <a:pPr defTabSz="1375410"/>
            <a:endParaRPr lang="zh-CN" altLang="en-US" sz="2665">
              <a:solidFill>
                <a:prstClr val="black">
                  <a:tint val="75000"/>
                </a:prstClr>
              </a:solidFill>
            </a:endParaRPr>
          </a:p>
        </p:txBody>
      </p:sp>
      <p:sp>
        <p:nvSpPr>
          <p:cNvPr id="6" name="灯片编号占位符 5"/>
          <p:cNvSpPr>
            <a:spLocks noGrp="1"/>
          </p:cNvSpPr>
          <p:nvPr>
            <p:ph type="sldNum" sz="quarter" idx="12"/>
          </p:nvPr>
        </p:nvSpPr>
        <p:spPr>
          <a:xfrm>
            <a:off x="8737600" y="6356352"/>
            <a:ext cx="2844800" cy="365125"/>
          </a:xfrm>
          <a:prstGeom prst="rect">
            <a:avLst/>
          </a:prstGeom>
        </p:spPr>
        <p:txBody>
          <a:bodyPr/>
          <a:lstStyle/>
          <a:p>
            <a:pPr defTabSz="1375410"/>
            <a:fld id="{0C913308-F349-4B6D-A68A-DD1791B4A57B}" type="slidenum">
              <a:rPr lang="zh-CN" altLang="en-US" sz="2665" smtClean="0">
                <a:solidFill>
                  <a:prstClr val="black">
                    <a:tint val="75000"/>
                  </a:prstClr>
                </a:solidFill>
              </a:rPr>
            </a:fld>
            <a:endParaRPr lang="zh-CN" altLang="en-US" sz="2665">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1" y="0"/>
            <a:ext cx="12192000" cy="6858000"/>
          </a:xfrm>
          <a:prstGeom prst="rect">
            <a:avLst/>
          </a:prstGeom>
          <a:ln>
            <a:noFill/>
          </a:ln>
        </p:spPr>
        <p:txBody>
          <a:bodyPr>
            <a:normAutofit/>
          </a:bodyPr>
          <a:lstStyle>
            <a:lvl1pPr marL="0" indent="0" algn="ctr">
              <a:buNone/>
              <a:defRPr sz="1600"/>
            </a:lvl1pPr>
          </a:lstStyle>
          <a:p>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7" Type="http://schemas.openxmlformats.org/officeDocument/2006/relationships/theme" Target="../theme/theme2.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1"/>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latin typeface="微软雅黑" panose="020B0503020204020204" pitchFamily="34" charset="-122"/>
                <a:ea typeface="微软雅黑" panose="020B0503020204020204" pitchFamily="34" charset="-122"/>
              </a:defRPr>
            </a:lvl1pPr>
          </a:lstStyle>
          <a:p>
            <a:fld id="{B65C0B0F-957D-4B21-995C-671B925970BC}" type="datetimeFigureOut">
              <a:rPr lang="zh-CN" altLang="en-US" smtClean="0">
                <a:solidFill>
                  <a:prstClr val="black">
                    <a:tint val="75000"/>
                  </a:prstClr>
                </a:solidFill>
              </a:rPr>
            </a:fld>
            <a:endParaRPr lang="zh-CN" altLang="en-US" dirty="0">
              <a:solidFill>
                <a:prstClr val="black">
                  <a:tint val="75000"/>
                </a:prstClr>
              </a:solidFill>
            </a:endParaRPr>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solidFill>
                <a:prstClr val="black">
                  <a:tint val="75000"/>
                </a:prstClr>
              </a:solidFill>
            </a:endParaRPr>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latin typeface="微软雅黑" panose="020B0503020204020204" pitchFamily="34" charset="-122"/>
                <a:ea typeface="微软雅黑" panose="020B0503020204020204" pitchFamily="34" charset="-122"/>
              </a:defRPr>
            </a:lvl1pPr>
          </a:lstStyle>
          <a:p>
            <a:fld id="{4A86CF50-A36E-4027-A15B-F18594CC304E}" type="slidenum">
              <a:rPr lang="zh-CN" altLang="en-US" smtClean="0">
                <a:solidFill>
                  <a:prstClr val="black">
                    <a:tint val="75000"/>
                  </a:prstClr>
                </a:solidFill>
              </a:rPr>
            </a:fld>
            <a:endParaRPr lang="zh-CN" alt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ctr" defTabSz="1219200" rtl="0" eaLnBrk="1" latinLnBrk="0" hangingPunct="1">
        <a:spcBef>
          <a:spcPct val="0"/>
        </a:spcBef>
        <a:buNone/>
        <a:defRPr sz="5865" kern="1200">
          <a:solidFill>
            <a:schemeClr val="tx1"/>
          </a:solidFill>
          <a:latin typeface="微软雅黑" panose="020B0503020204020204" pitchFamily="34" charset="-122"/>
          <a:ea typeface="微软雅黑" panose="020B0503020204020204" pitchFamily="34" charset="-122"/>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微软雅黑" panose="020B0503020204020204" pitchFamily="34" charset="-122"/>
          <a:ea typeface="微软雅黑" panose="020B0503020204020204" pitchFamily="34" charset="-122"/>
          <a:cs typeface="+mn-cs"/>
        </a:defRPr>
      </a:lvl1pPr>
      <a:lvl2pPr marL="990600" indent="-381000" algn="l" defTabSz="1219200" rtl="0" eaLnBrk="1" latinLnBrk="0" hangingPunct="1">
        <a:spcBef>
          <a:spcPct val="20000"/>
        </a:spcBef>
        <a:buFont typeface="Arial" panose="020B0604020202020204" pitchFamily="34" charset="0"/>
        <a:buChar char="–"/>
        <a:defRPr sz="3735" kern="1200">
          <a:solidFill>
            <a:schemeClr val="tx1"/>
          </a:solidFill>
          <a:latin typeface="微软雅黑" panose="020B0503020204020204" pitchFamily="34" charset="-122"/>
          <a:ea typeface="微软雅黑" panose="020B0503020204020204" pitchFamily="34" charset="-122"/>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spcBef>
          <a:spcPct val="20000"/>
        </a:spcBef>
        <a:buFont typeface="Arial" panose="020B0604020202020204" pitchFamily="34" charset="0"/>
        <a:buChar char="–"/>
        <a:defRPr sz="2665" kern="1200">
          <a:solidFill>
            <a:schemeClr val="tx1"/>
          </a:solidFill>
          <a:latin typeface="微软雅黑" panose="020B0503020204020204" pitchFamily="34" charset="-122"/>
          <a:ea typeface="微软雅黑" panose="020B0503020204020204" pitchFamily="34" charset="-122"/>
          <a:cs typeface="+mn-cs"/>
        </a:defRPr>
      </a:lvl4pPr>
      <a:lvl5pPr marL="2743200" indent="-304800" algn="l" defTabSz="1219200" rtl="0" eaLnBrk="1" latinLnBrk="0" hangingPunct="1">
        <a:spcBef>
          <a:spcPct val="20000"/>
        </a:spcBef>
        <a:buFont typeface="Arial" panose="020B0604020202020204" pitchFamily="34" charset="0"/>
        <a:buChar char="»"/>
        <a:defRPr sz="2665" kern="1200">
          <a:solidFill>
            <a:schemeClr val="tx1"/>
          </a:solidFill>
          <a:latin typeface="微软雅黑" panose="020B0503020204020204" pitchFamily="34" charset="-122"/>
          <a:ea typeface="微软雅黑" panose="020B0503020204020204" pitchFamily="34" charset="-122"/>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Lst>
  <p:hf hdr="0" ftr="0" dt="0"/>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2" Type="http://schemas.openxmlformats.org/officeDocument/2006/relationships/notesSlide" Target="../notesSlides/notesSlide1.xml"/><Relationship Id="rId31" Type="http://schemas.openxmlformats.org/officeDocument/2006/relationships/slideLayout" Target="../slideLayouts/slideLayout14.xml"/><Relationship Id="rId30" Type="http://schemas.openxmlformats.org/officeDocument/2006/relationships/tags" Target="../tags/tag30.xml"/><Relationship Id="rId3" Type="http://schemas.openxmlformats.org/officeDocument/2006/relationships/tags" Target="../tags/tag3.xml"/><Relationship Id="rId29" Type="http://schemas.openxmlformats.org/officeDocument/2006/relationships/tags" Target="../tags/tag29.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5" Type="http://schemas.openxmlformats.org/officeDocument/2006/relationships/slideLayout" Target="../slideLayouts/slideLayout7.xml"/><Relationship Id="rId24" Type="http://schemas.openxmlformats.org/officeDocument/2006/relationships/tags" Target="../tags/tag54.xml"/><Relationship Id="rId23" Type="http://schemas.openxmlformats.org/officeDocument/2006/relationships/tags" Target="../tags/tag53.xml"/><Relationship Id="rId22" Type="http://schemas.openxmlformats.org/officeDocument/2006/relationships/tags" Target="../tags/tag52.xml"/><Relationship Id="rId21" Type="http://schemas.openxmlformats.org/officeDocument/2006/relationships/tags" Target="../tags/tag51.xml"/><Relationship Id="rId20" Type="http://schemas.openxmlformats.org/officeDocument/2006/relationships/tags" Target="../tags/tag50.xml"/><Relationship Id="rId2" Type="http://schemas.openxmlformats.org/officeDocument/2006/relationships/tags" Target="../tags/tag32.xml"/><Relationship Id="rId19" Type="http://schemas.openxmlformats.org/officeDocument/2006/relationships/tags" Target="../tags/tag49.xml"/><Relationship Id="rId18" Type="http://schemas.openxmlformats.org/officeDocument/2006/relationships/tags" Target="../tags/tag48.xml"/><Relationship Id="rId17" Type="http://schemas.openxmlformats.org/officeDocument/2006/relationships/tags" Target="../tags/tag47.xml"/><Relationship Id="rId16" Type="http://schemas.openxmlformats.org/officeDocument/2006/relationships/tags" Target="../tags/tag46.xml"/><Relationship Id="rId15" Type="http://schemas.openxmlformats.org/officeDocument/2006/relationships/tags" Target="../tags/tag45.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tags" Target="../tags/tag40.xml"/><Relationship Id="rId1" Type="http://schemas.openxmlformats.org/officeDocument/2006/relationships/tags" Target="../tags/tag3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15.xml"/><Relationship Id="rId6" Type="http://schemas.openxmlformats.org/officeDocument/2006/relationships/tags" Target="../tags/tag58.xml"/><Relationship Id="rId5" Type="http://schemas.openxmlformats.org/officeDocument/2006/relationships/image" Target="../media/image26.png"/><Relationship Id="rId4" Type="http://schemas.openxmlformats.org/officeDocument/2006/relationships/tags" Target="../tags/tag57.xml"/><Relationship Id="rId3" Type="http://schemas.openxmlformats.org/officeDocument/2006/relationships/image" Target="../media/image25.png"/><Relationship Id="rId2" Type="http://schemas.openxmlformats.org/officeDocument/2006/relationships/tags" Target="../tags/tag56.xml"/><Relationship Id="rId1" Type="http://schemas.openxmlformats.org/officeDocument/2006/relationships/tags" Target="../tags/tag55.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15.xml"/><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15.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15.xml"/><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40.png"/><Relationship Id="rId1"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占位符 2"/>
          <p:cNvPicPr>
            <a:picLocks noGrp="1" noChangeAspect="1"/>
          </p:cNvPicPr>
          <p:nvPr>
            <p:ph type="pic" sz="quarter" idx="13"/>
          </p:nvPr>
        </p:nvPicPr>
        <p:blipFill>
          <a:blip r:embed="rId1">
            <a:extLst>
              <a:ext uri="{28A0092B-C50C-407E-A947-70E740481C1C}">
                <a14:useLocalDpi xmlns:a14="http://schemas.microsoft.com/office/drawing/2010/main" val="0"/>
              </a:ext>
            </a:extLst>
          </a:blip>
          <a:srcRect/>
          <a:stretch>
            <a:fillRect/>
          </a:stretch>
        </p:blipFill>
        <p:spPr/>
      </p:pic>
      <p:sp>
        <p:nvSpPr>
          <p:cNvPr id="12" name="矩形 11"/>
          <p:cNvSpPr/>
          <p:nvPr/>
        </p:nvSpPr>
        <p:spPr>
          <a:xfrm>
            <a:off x="0" y="695"/>
            <a:ext cx="12192000" cy="6857306"/>
          </a:xfrm>
          <a:prstGeom prst="rect">
            <a:avLst/>
          </a:prstGeom>
          <a:gradFill>
            <a:gsLst>
              <a:gs pos="0">
                <a:srgbClr val="2C5777">
                  <a:alpha val="9000"/>
                </a:srgbClr>
              </a:gs>
              <a:gs pos="100000">
                <a:schemeClr val="accent4">
                  <a:lumMod val="75000"/>
                  <a:alpha val="59000"/>
                </a:schemeClr>
              </a:gs>
            </a:gsLst>
            <a:lin ang="16200000" scaled="0"/>
          </a:gradFill>
          <a:ln w="12700" cap="flat" cmpd="sng" algn="ctr">
            <a:noFill/>
            <a:prstDash val="solid"/>
            <a:miter lim="800000"/>
          </a:ln>
          <a:effectLst/>
        </p:spPr>
        <p:txBody>
          <a:bodyPr rtlCol="0" anchor="ctr"/>
          <a:lstStyle/>
          <a:p>
            <a:pPr algn="ctr" defTabSz="1371600">
              <a:defRPr/>
            </a:pPr>
            <a:endParaRPr lang="zh-CN" altLang="en-US" sz="2700" kern="0" smtClean="0">
              <a:solidFill>
                <a:prstClr val="white"/>
              </a:solidFill>
            </a:endParaRPr>
          </a:p>
        </p:txBody>
      </p:sp>
      <p:grpSp>
        <p:nvGrpSpPr>
          <p:cNvPr id="13" name="组合 12"/>
          <p:cNvGrpSpPr/>
          <p:nvPr/>
        </p:nvGrpSpPr>
        <p:grpSpPr>
          <a:xfrm>
            <a:off x="5200874" y="5295170"/>
            <a:ext cx="1800000" cy="418857"/>
            <a:chOff x="5261371" y="4450143"/>
            <a:chExt cx="1800000" cy="418857"/>
          </a:xfrm>
        </p:grpSpPr>
        <p:sp>
          <p:nvSpPr>
            <p:cNvPr id="14" name="文本框 13"/>
            <p:cNvSpPr txBox="1"/>
            <p:nvPr/>
          </p:nvSpPr>
          <p:spPr>
            <a:xfrm>
              <a:off x="5494671" y="4514735"/>
              <a:ext cx="1324924" cy="260350"/>
            </a:xfrm>
            <a:prstGeom prst="rect">
              <a:avLst/>
            </a:prstGeom>
            <a:noFill/>
          </p:spPr>
          <p:txBody>
            <a:bodyPr wrap="square" rtlCol="0">
              <a:spAutoFit/>
            </a:bodyPr>
            <a:lstStyle/>
            <a:p>
              <a:pPr algn="ctr" eaLnBrk="0" fontAlgn="base" hangingPunct="0">
                <a:spcBef>
                  <a:spcPct val="0"/>
                </a:spcBef>
                <a:spcAft>
                  <a:spcPct val="0"/>
                </a:spcAft>
              </a:pPr>
              <a:r>
                <a:rPr lang="zh-CN" altLang="en-US" sz="1100" b="1" spc="600" dirty="0" smtClean="0">
                  <a:solidFill>
                    <a:schemeClr val="bg1"/>
                  </a:solidFill>
                  <a:cs typeface="+mn-ea"/>
                  <a:sym typeface="+mn-lt"/>
                </a:rPr>
                <a:t>祝天奇</a:t>
              </a:r>
              <a:endParaRPr lang="en-US" altLang="zh-CN" sz="1100" b="1" spc="600" dirty="0" smtClean="0">
                <a:solidFill>
                  <a:schemeClr val="bg1"/>
                </a:solidFill>
                <a:cs typeface="+mn-ea"/>
                <a:sym typeface="+mn-lt"/>
              </a:endParaRPr>
            </a:p>
          </p:txBody>
        </p:sp>
        <p:grpSp>
          <p:nvGrpSpPr>
            <p:cNvPr id="15" name="组合 14"/>
            <p:cNvGrpSpPr/>
            <p:nvPr/>
          </p:nvGrpSpPr>
          <p:grpSpPr>
            <a:xfrm>
              <a:off x="5261371" y="4450143"/>
              <a:ext cx="1800000" cy="418857"/>
              <a:chOff x="5261371" y="4450143"/>
              <a:chExt cx="1800000" cy="418857"/>
            </a:xfrm>
          </p:grpSpPr>
          <p:sp>
            <p:nvSpPr>
              <p:cNvPr id="16" name="圆角矩形 15"/>
              <p:cNvSpPr/>
              <p:nvPr/>
            </p:nvSpPr>
            <p:spPr>
              <a:xfrm>
                <a:off x="5261371" y="4450143"/>
                <a:ext cx="1800000" cy="418857"/>
              </a:xfrm>
              <a:prstGeom prst="roundRect">
                <a:avLst>
                  <a:gd name="adj" fmla="val 50000"/>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2400" dirty="0">
                  <a:solidFill>
                    <a:schemeClr val="bg1"/>
                  </a:solidFill>
                  <a:cs typeface="+mn-ea"/>
                  <a:sym typeface="+mn-lt"/>
                </a:endParaRPr>
              </a:p>
            </p:txBody>
          </p:sp>
          <p:sp>
            <p:nvSpPr>
              <p:cNvPr id="17" name="矩形 16"/>
              <p:cNvSpPr/>
              <p:nvPr/>
            </p:nvSpPr>
            <p:spPr>
              <a:xfrm>
                <a:off x="5870756" y="4851000"/>
                <a:ext cx="540000" cy="18000"/>
              </a:xfrm>
              <a:prstGeom prst="rect">
                <a:avLst/>
              </a:prstGeom>
              <a:solidFill>
                <a:srgbClr val="6C92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2400" dirty="0">
                  <a:solidFill>
                    <a:schemeClr val="bg1"/>
                  </a:solidFill>
                  <a:cs typeface="+mn-ea"/>
                  <a:sym typeface="+mn-lt"/>
                </a:endParaRPr>
              </a:p>
            </p:txBody>
          </p:sp>
        </p:grpSp>
      </p:grpSp>
      <p:sp>
        <p:nvSpPr>
          <p:cNvPr id="18" name="矩形 17"/>
          <p:cNvSpPr/>
          <p:nvPr/>
        </p:nvSpPr>
        <p:spPr>
          <a:xfrm>
            <a:off x="5414757" y="2639213"/>
            <a:ext cx="1372235" cy="213995"/>
          </a:xfrm>
          <a:prstGeom prst="rect">
            <a:avLst/>
          </a:prstGeom>
        </p:spPr>
        <p:txBody>
          <a:bodyPr wrap="none">
            <a:spAutoFit/>
          </a:bodyPr>
          <a:lstStyle/>
          <a:p>
            <a:pPr algn="ctr" eaLnBrk="0" fontAlgn="base" hangingPunct="0">
              <a:spcBef>
                <a:spcPct val="0"/>
              </a:spcBef>
              <a:spcAft>
                <a:spcPct val="0"/>
              </a:spcAft>
            </a:pPr>
            <a:r>
              <a:rPr lang="en-US" altLang="zh-CN" sz="800" dirty="0" smtClean="0">
                <a:solidFill>
                  <a:schemeClr val="bg1"/>
                </a:solidFill>
                <a:cs typeface="+mn-ea"/>
                <a:sym typeface="+mn-lt"/>
              </a:rPr>
              <a:t>2025.02.19  </a:t>
            </a:r>
            <a:r>
              <a:rPr lang="en-US" altLang="zh-CN" sz="800" dirty="0">
                <a:solidFill>
                  <a:schemeClr val="bg1"/>
                </a:solidFill>
                <a:cs typeface="+mn-ea"/>
                <a:sym typeface="+mn-lt"/>
              </a:rPr>
              <a:t>-   </a:t>
            </a:r>
            <a:r>
              <a:rPr lang="en-US" altLang="zh-CN" sz="800" dirty="0" smtClean="0">
                <a:solidFill>
                  <a:schemeClr val="bg1"/>
                </a:solidFill>
                <a:cs typeface="+mn-ea"/>
                <a:sym typeface="+mn-lt"/>
              </a:rPr>
              <a:t>2026.01.23</a:t>
            </a:r>
            <a:endParaRPr lang="zh-CN" altLang="en-US" sz="800" dirty="0">
              <a:solidFill>
                <a:schemeClr val="bg1"/>
              </a:solidFill>
              <a:cs typeface="+mn-ea"/>
              <a:sym typeface="+mn-lt"/>
            </a:endParaRPr>
          </a:p>
        </p:txBody>
      </p:sp>
      <p:sp>
        <p:nvSpPr>
          <p:cNvPr id="20" name="矩形 259"/>
          <p:cNvSpPr>
            <a:spLocks noChangeArrowheads="1"/>
          </p:cNvSpPr>
          <p:nvPr/>
        </p:nvSpPr>
        <p:spPr bwMode="auto">
          <a:xfrm>
            <a:off x="2530526" y="2965293"/>
            <a:ext cx="7140696" cy="923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Font typeface="Arial" panose="020B0604020202020204" pitchFamily="34" charset="0"/>
              <a:buNone/>
            </a:pPr>
            <a:r>
              <a:rPr lang="zh-CN" altLang="en-US" sz="6000" b="1" cap="all" dirty="0" smtClean="0">
                <a:solidFill>
                  <a:schemeClr val="bg1"/>
                </a:solidFill>
                <a:latin typeface="+mn-lt"/>
                <a:ea typeface="+mn-ea"/>
                <a:cs typeface="+mn-ea"/>
                <a:sym typeface="+mn-lt"/>
              </a:rPr>
              <a:t>绩效自评</a:t>
            </a:r>
            <a:r>
              <a:rPr lang="en-US" altLang="zh-CN" sz="6000" b="1" cap="all" dirty="0" smtClean="0">
                <a:solidFill>
                  <a:schemeClr val="bg1"/>
                </a:solidFill>
                <a:latin typeface="+mn-lt"/>
                <a:ea typeface="+mn-ea"/>
                <a:cs typeface="+mn-ea"/>
                <a:sym typeface="+mn-lt"/>
              </a:rPr>
              <a:t>&amp;</a:t>
            </a:r>
            <a:r>
              <a:rPr lang="zh-CN" altLang="en-US" sz="6000" b="1" cap="all" dirty="0">
                <a:solidFill>
                  <a:schemeClr val="bg1"/>
                </a:solidFill>
                <a:latin typeface="+mn-lt"/>
                <a:ea typeface="+mn-ea"/>
                <a:cs typeface="+mn-ea"/>
                <a:sym typeface="+mn-lt"/>
              </a:rPr>
              <a:t>工作</a:t>
            </a:r>
            <a:r>
              <a:rPr lang="zh-CN" altLang="en-US" sz="6000" b="1" cap="all" dirty="0" smtClean="0">
                <a:solidFill>
                  <a:schemeClr val="bg1"/>
                </a:solidFill>
                <a:latin typeface="+mn-lt"/>
                <a:ea typeface="+mn-ea"/>
                <a:cs typeface="+mn-ea"/>
                <a:sym typeface="+mn-lt"/>
              </a:rPr>
              <a:t>汇报</a:t>
            </a:r>
            <a:endParaRPr lang="zh-CN" altLang="en-US" sz="6000" b="1" cap="all" dirty="0">
              <a:solidFill>
                <a:schemeClr val="bg1"/>
              </a:solidFill>
              <a:latin typeface="+mn-lt"/>
              <a:ea typeface="+mn-ea"/>
              <a:cs typeface="+mn-ea"/>
              <a:sym typeface="+mn-lt"/>
            </a:endParaRPr>
          </a:p>
        </p:txBody>
      </p:sp>
      <p:sp>
        <p:nvSpPr>
          <p:cNvPr id="21" name="矩形 20"/>
          <p:cNvSpPr/>
          <p:nvPr/>
        </p:nvSpPr>
        <p:spPr>
          <a:xfrm>
            <a:off x="2687044" y="3868159"/>
            <a:ext cx="6827660" cy="169276"/>
          </a:xfrm>
          <a:prstGeom prst="rect">
            <a:avLst/>
          </a:prstGeom>
        </p:spPr>
        <p:txBody>
          <a:bodyPr wrap="square">
            <a:spAutoFit/>
          </a:bodyPr>
          <a:lstStyle/>
          <a:p>
            <a:pPr algn="dist">
              <a:defRPr/>
            </a:pPr>
            <a:r>
              <a:rPr lang="zh-CN" altLang="en-US" sz="500" dirty="0">
                <a:solidFill>
                  <a:schemeClr val="bg1"/>
                </a:solidFill>
                <a:cs typeface="+mn-ea"/>
                <a:sym typeface="+mn-lt"/>
              </a:rPr>
              <a:t>WE HAVE MADE GREAT ACHIEVEMENTS</a:t>
            </a:r>
            <a:endParaRPr lang="zh-CN" altLang="en-US" sz="500" dirty="0">
              <a:solidFill>
                <a:schemeClr val="bg1"/>
              </a:solidFill>
              <a:cs typeface="+mn-ea"/>
              <a:sym typeface="+mn-lt"/>
            </a:endParaRPr>
          </a:p>
        </p:txBody>
      </p:sp>
      <p:grpSp>
        <p:nvGrpSpPr>
          <p:cNvPr id="23" name="组合 22"/>
          <p:cNvGrpSpPr/>
          <p:nvPr/>
        </p:nvGrpSpPr>
        <p:grpSpPr>
          <a:xfrm>
            <a:off x="5727480" y="4446827"/>
            <a:ext cx="746788" cy="76204"/>
            <a:chOff x="4843463" y="4520714"/>
            <a:chExt cx="2520286" cy="257175"/>
          </a:xfrm>
        </p:grpSpPr>
        <p:sp>
          <p:nvSpPr>
            <p:cNvPr id="24" name="椭圆 23"/>
            <p:cNvSpPr/>
            <p:nvPr/>
          </p:nvSpPr>
          <p:spPr>
            <a:xfrm>
              <a:off x="4843463"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cs typeface="+mn-ea"/>
                <a:sym typeface="+mn-lt"/>
              </a:endParaRPr>
            </a:p>
          </p:txBody>
        </p:sp>
        <p:sp>
          <p:nvSpPr>
            <p:cNvPr id="25" name="椭圆 24"/>
            <p:cNvSpPr/>
            <p:nvPr/>
          </p:nvSpPr>
          <p:spPr>
            <a:xfrm>
              <a:off x="5296085"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cs typeface="+mn-ea"/>
                <a:sym typeface="+mn-lt"/>
              </a:endParaRPr>
            </a:p>
          </p:txBody>
        </p:sp>
        <p:sp>
          <p:nvSpPr>
            <p:cNvPr id="26" name="椭圆 25"/>
            <p:cNvSpPr/>
            <p:nvPr/>
          </p:nvSpPr>
          <p:spPr>
            <a:xfrm>
              <a:off x="5748707"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cs typeface="+mn-ea"/>
                <a:sym typeface="+mn-lt"/>
              </a:endParaRPr>
            </a:p>
          </p:txBody>
        </p:sp>
        <p:sp>
          <p:nvSpPr>
            <p:cNvPr id="27" name="椭圆 26"/>
            <p:cNvSpPr/>
            <p:nvPr/>
          </p:nvSpPr>
          <p:spPr>
            <a:xfrm>
              <a:off x="6201329"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cs typeface="+mn-ea"/>
                <a:sym typeface="+mn-lt"/>
              </a:endParaRPr>
            </a:p>
          </p:txBody>
        </p:sp>
        <p:sp>
          <p:nvSpPr>
            <p:cNvPr id="28" name="椭圆 27"/>
            <p:cNvSpPr/>
            <p:nvPr/>
          </p:nvSpPr>
          <p:spPr>
            <a:xfrm>
              <a:off x="6653951"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cs typeface="+mn-ea"/>
                <a:sym typeface="+mn-lt"/>
              </a:endParaRPr>
            </a:p>
          </p:txBody>
        </p:sp>
        <p:sp>
          <p:nvSpPr>
            <p:cNvPr id="29" name="椭圆 28"/>
            <p:cNvSpPr/>
            <p:nvPr/>
          </p:nvSpPr>
          <p:spPr>
            <a:xfrm>
              <a:off x="7106574"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cs typeface="+mn-ea"/>
                <a:sym typeface="+mn-lt"/>
              </a:endParaRPr>
            </a:p>
          </p:txBody>
        </p:sp>
      </p:grpSp>
      <p:grpSp>
        <p:nvGrpSpPr>
          <p:cNvPr id="30" name="组合 29"/>
          <p:cNvGrpSpPr/>
          <p:nvPr/>
        </p:nvGrpSpPr>
        <p:grpSpPr>
          <a:xfrm>
            <a:off x="4072049" y="2747490"/>
            <a:ext cx="4057650" cy="0"/>
            <a:chOff x="4129088" y="2457450"/>
            <a:chExt cx="4057650" cy="0"/>
          </a:xfrm>
        </p:grpSpPr>
        <p:cxnSp>
          <p:nvCxnSpPr>
            <p:cNvPr id="31" name="直接连接符 30"/>
            <p:cNvCxnSpPr/>
            <p:nvPr/>
          </p:nvCxnSpPr>
          <p:spPr>
            <a:xfrm>
              <a:off x="4129088" y="2457450"/>
              <a:ext cx="971550" cy="0"/>
            </a:xfrm>
            <a:prstGeom prst="line">
              <a:avLst/>
            </a:prstGeom>
            <a:ln w="25400">
              <a:solidFill>
                <a:srgbClr val="6C92C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7215188" y="2457450"/>
              <a:ext cx="971550" cy="0"/>
            </a:xfrm>
            <a:prstGeom prst="line">
              <a:avLst/>
            </a:prstGeom>
            <a:ln w="25400">
              <a:solidFill>
                <a:srgbClr val="48A2A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arn(inVertical)">
                                      <p:cBhvr>
                                        <p:cTn id="7" dur="500"/>
                                        <p:tgtEl>
                                          <p:spTgt spid="30"/>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18"/>
                                        </p:tgtEl>
                                        <p:attrNameLst>
                                          <p:attrName>style.visibility</p:attrName>
                                        </p:attrNameLst>
                                      </p:cBhvr>
                                      <p:to>
                                        <p:strVal val="visible"/>
                                      </p:to>
                                    </p:set>
                                    <p:anim calcmode="lin" valueType="num">
                                      <p:cBhvr>
                                        <p:cTn id="11" dur="500" fill="hold"/>
                                        <p:tgtEl>
                                          <p:spTgt spid="18"/>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18"/>
                                        </p:tgtEl>
                                        <p:attrNameLst>
                                          <p:attrName>ppt_y</p:attrName>
                                        </p:attrNameLst>
                                      </p:cBhvr>
                                      <p:tavLst>
                                        <p:tav tm="0">
                                          <p:val>
                                            <p:strVal val="#ppt_y"/>
                                          </p:val>
                                        </p:tav>
                                        <p:tav tm="100000">
                                          <p:val>
                                            <p:strVal val="#ppt_y"/>
                                          </p:val>
                                        </p:tav>
                                      </p:tavLst>
                                    </p:anim>
                                    <p:anim calcmode="lin" valueType="num">
                                      <p:cBhvr>
                                        <p:cTn id="13" dur="500" fill="hold"/>
                                        <p:tgtEl>
                                          <p:spTgt spid="18"/>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18"/>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18"/>
                                        </p:tgtEl>
                                      </p:cBhvr>
                                    </p:animEffect>
                                  </p:childTnLst>
                                </p:cTn>
                              </p:par>
                            </p:childTnLst>
                          </p:cTn>
                        </p:par>
                        <p:par>
                          <p:cTn id="16" fill="hold">
                            <p:stCondLst>
                              <p:cond delay="2250"/>
                            </p:stCondLst>
                            <p:childTnLst>
                              <p:par>
                                <p:cTn id="17" presetID="26" presetClass="emph" presetSubtype="0" fill="hold" grpId="1" nodeType="afterEffect">
                                  <p:stCondLst>
                                    <p:cond delay="0"/>
                                  </p:stCondLst>
                                  <p:iterate type="lt">
                                    <p:tmPct val="0"/>
                                  </p:iterate>
                                  <p:childTnLst>
                                    <p:animEffect transition="out" filter="fade">
                                      <p:cBhvr>
                                        <p:cTn id="18" dur="500" tmFilter="0, 0; .2, .5; .8, .5; 1, 0"/>
                                        <p:tgtEl>
                                          <p:spTgt spid="18"/>
                                        </p:tgtEl>
                                      </p:cBhvr>
                                    </p:animEffect>
                                    <p:animScale>
                                      <p:cBhvr>
                                        <p:cTn id="19" dur="250" autoRev="1" fill="hold"/>
                                        <p:tgtEl>
                                          <p:spTgt spid="18"/>
                                        </p:tgtEl>
                                      </p:cBhvr>
                                      <p:by x="105000" y="105000"/>
                                    </p:animScale>
                                  </p:childTnLst>
                                </p:cTn>
                              </p:par>
                            </p:childTnLst>
                          </p:cTn>
                        </p:par>
                        <p:par>
                          <p:cTn id="20" fill="hold">
                            <p:stCondLst>
                              <p:cond delay="2750"/>
                            </p:stCondLst>
                            <p:childTnLst>
                              <p:par>
                                <p:cTn id="21" presetID="41" presetClass="entr" presetSubtype="0" fill="hold" grpId="0" nodeType="afterEffect">
                                  <p:stCondLst>
                                    <p:cond delay="0"/>
                                  </p:stCondLst>
                                  <p:iterate type="lt">
                                    <p:tmPct val="10000"/>
                                  </p:iterate>
                                  <p:childTnLst>
                                    <p:set>
                                      <p:cBhvr>
                                        <p:cTn id="22" dur="1" fill="hold">
                                          <p:stCondLst>
                                            <p:cond delay="0"/>
                                          </p:stCondLst>
                                        </p:cTn>
                                        <p:tgtEl>
                                          <p:spTgt spid="20"/>
                                        </p:tgtEl>
                                        <p:attrNameLst>
                                          <p:attrName>style.visibility</p:attrName>
                                        </p:attrNameLst>
                                      </p:cBhvr>
                                      <p:to>
                                        <p:strVal val="visible"/>
                                      </p:to>
                                    </p:set>
                                    <p:anim calcmode="lin" valueType="num">
                                      <p:cBhvr>
                                        <p:cTn id="23" dur="500" fill="hold"/>
                                        <p:tgtEl>
                                          <p:spTgt spid="20"/>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20"/>
                                        </p:tgtEl>
                                        <p:attrNameLst>
                                          <p:attrName>ppt_y</p:attrName>
                                        </p:attrNameLst>
                                      </p:cBhvr>
                                      <p:tavLst>
                                        <p:tav tm="0">
                                          <p:val>
                                            <p:strVal val="#ppt_y"/>
                                          </p:val>
                                        </p:tav>
                                        <p:tav tm="100000">
                                          <p:val>
                                            <p:strVal val="#ppt_y"/>
                                          </p:val>
                                        </p:tav>
                                      </p:tavLst>
                                    </p:anim>
                                    <p:anim calcmode="lin" valueType="num">
                                      <p:cBhvr>
                                        <p:cTn id="25" dur="500" fill="hold"/>
                                        <p:tgtEl>
                                          <p:spTgt spid="20"/>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20"/>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20"/>
                                        </p:tgtEl>
                                      </p:cBhvr>
                                    </p:animEffect>
                                  </p:childTnLst>
                                </p:cTn>
                              </p:par>
                            </p:childTnLst>
                          </p:cTn>
                        </p:par>
                        <p:par>
                          <p:cTn id="28" fill="hold">
                            <p:stCondLst>
                              <p:cond delay="3650"/>
                            </p:stCondLst>
                            <p:childTnLst>
                              <p:par>
                                <p:cTn id="29" presetID="26" presetClass="emph" presetSubtype="0" fill="hold" grpId="1" nodeType="afterEffect">
                                  <p:stCondLst>
                                    <p:cond delay="0"/>
                                  </p:stCondLst>
                                  <p:iterate type="lt">
                                    <p:tmPct val="0"/>
                                  </p:iterate>
                                  <p:childTnLst>
                                    <p:animEffect transition="out" filter="fade">
                                      <p:cBhvr>
                                        <p:cTn id="30" dur="500" tmFilter="0, 0; .2, .5; .8, .5; 1, 0"/>
                                        <p:tgtEl>
                                          <p:spTgt spid="20"/>
                                        </p:tgtEl>
                                      </p:cBhvr>
                                    </p:animEffect>
                                    <p:animScale>
                                      <p:cBhvr>
                                        <p:cTn id="31" dur="250" autoRev="1" fill="hold"/>
                                        <p:tgtEl>
                                          <p:spTgt spid="20"/>
                                        </p:tgtEl>
                                      </p:cBhvr>
                                      <p:by x="105000" y="105000"/>
                                    </p:animScale>
                                  </p:childTnLst>
                                </p:cTn>
                              </p:par>
                            </p:childTnLst>
                          </p:cTn>
                        </p:par>
                        <p:par>
                          <p:cTn id="32" fill="hold">
                            <p:stCondLst>
                              <p:cond delay="4150"/>
                            </p:stCondLst>
                            <p:childTnLst>
                              <p:par>
                                <p:cTn id="33" presetID="41" presetClass="entr" presetSubtype="0" fill="hold" grpId="0" nodeType="afterEffect">
                                  <p:stCondLst>
                                    <p:cond delay="0"/>
                                  </p:stCondLst>
                                  <p:iterate type="lt">
                                    <p:tmPct val="10000"/>
                                  </p:iterate>
                                  <p:childTnLst>
                                    <p:set>
                                      <p:cBhvr>
                                        <p:cTn id="34" dur="1" fill="hold">
                                          <p:stCondLst>
                                            <p:cond delay="0"/>
                                          </p:stCondLst>
                                        </p:cTn>
                                        <p:tgtEl>
                                          <p:spTgt spid="21"/>
                                        </p:tgtEl>
                                        <p:attrNameLst>
                                          <p:attrName>style.visibility</p:attrName>
                                        </p:attrNameLst>
                                      </p:cBhvr>
                                      <p:to>
                                        <p:strVal val="visible"/>
                                      </p:to>
                                    </p:set>
                                    <p:anim calcmode="lin" valueType="num">
                                      <p:cBhvr>
                                        <p:cTn id="35" dur="500" fill="hold"/>
                                        <p:tgtEl>
                                          <p:spTgt spid="21"/>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21"/>
                                        </p:tgtEl>
                                        <p:attrNameLst>
                                          <p:attrName>ppt_y</p:attrName>
                                        </p:attrNameLst>
                                      </p:cBhvr>
                                      <p:tavLst>
                                        <p:tav tm="0">
                                          <p:val>
                                            <p:strVal val="#ppt_y"/>
                                          </p:val>
                                        </p:tav>
                                        <p:tav tm="100000">
                                          <p:val>
                                            <p:strVal val="#ppt_y"/>
                                          </p:val>
                                        </p:tav>
                                      </p:tavLst>
                                    </p:anim>
                                    <p:anim calcmode="lin" valueType="num">
                                      <p:cBhvr>
                                        <p:cTn id="37" dur="500" fill="hold"/>
                                        <p:tgtEl>
                                          <p:spTgt spid="21"/>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21"/>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21"/>
                                        </p:tgtEl>
                                      </p:cBhvr>
                                    </p:animEffect>
                                  </p:childTnLst>
                                </p:cTn>
                              </p:par>
                            </p:childTnLst>
                          </p:cTn>
                        </p:par>
                        <p:par>
                          <p:cTn id="40" fill="hold">
                            <p:stCondLst>
                              <p:cond delay="6150"/>
                            </p:stCondLst>
                            <p:childTnLst>
                              <p:par>
                                <p:cTn id="41" presetID="26" presetClass="emph" presetSubtype="0" fill="hold" grpId="1" nodeType="afterEffect">
                                  <p:stCondLst>
                                    <p:cond delay="0"/>
                                  </p:stCondLst>
                                  <p:iterate type="lt">
                                    <p:tmPct val="0"/>
                                  </p:iterate>
                                  <p:childTnLst>
                                    <p:animEffect transition="out" filter="fade">
                                      <p:cBhvr>
                                        <p:cTn id="42" dur="500" tmFilter="0, 0; .2, .5; .8, .5; 1, 0"/>
                                        <p:tgtEl>
                                          <p:spTgt spid="21"/>
                                        </p:tgtEl>
                                      </p:cBhvr>
                                    </p:animEffect>
                                    <p:animScale>
                                      <p:cBhvr>
                                        <p:cTn id="43" dur="250" autoRev="1" fill="hold"/>
                                        <p:tgtEl>
                                          <p:spTgt spid="21"/>
                                        </p:tgtEl>
                                      </p:cBhvr>
                                      <p:by x="105000" y="105000"/>
                                    </p:animScale>
                                  </p:childTnLst>
                                </p:cTn>
                              </p:par>
                            </p:childTnLst>
                          </p:cTn>
                        </p:par>
                        <p:par>
                          <p:cTn id="44" fill="hold">
                            <p:stCondLst>
                              <p:cond delay="6650"/>
                            </p:stCondLst>
                            <p:childTnLst>
                              <p:par>
                                <p:cTn id="45" presetID="14" presetClass="entr" presetSubtype="5" fill="hold" nodeType="after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randombar(vertical)">
                                      <p:cBhvr>
                                        <p:cTn id="47" dur="500"/>
                                        <p:tgtEl>
                                          <p:spTgt spid="23"/>
                                        </p:tgtEl>
                                      </p:cBhvr>
                                    </p:animEffect>
                                  </p:childTnLst>
                                </p:cTn>
                              </p:par>
                            </p:childTnLst>
                          </p:cTn>
                        </p:par>
                        <p:par>
                          <p:cTn id="48" fill="hold">
                            <p:stCondLst>
                              <p:cond delay="7150"/>
                            </p:stCondLst>
                            <p:childTnLst>
                              <p:par>
                                <p:cTn id="49" presetID="16" presetClass="entr" presetSubtype="21" fill="hold" nodeType="after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barn(inVertical)">
                                      <p:cBhvr>
                                        <p:cTn id="5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8" grpId="1"/>
      <p:bldP spid="20" grpId="0"/>
      <p:bldP spid="20" grpId="1"/>
      <p:bldP spid="21" grpId="0"/>
      <p:bldP spid="21"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custDataLst>
              <p:tags r:id="rId1"/>
            </p:custDataLst>
          </p:nvPr>
        </p:nvSpPr>
        <p:spPr>
          <a:xfrm>
            <a:off x="1007532" y="1263016"/>
            <a:ext cx="2827867" cy="406400"/>
          </a:xfrm>
          <a:prstGeom prst="roundRect">
            <a:avLst>
              <a:gd name="adj" fmla="val 50000"/>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圆角矩形 2"/>
          <p:cNvSpPr/>
          <p:nvPr>
            <p:custDataLst>
              <p:tags r:id="rId2"/>
            </p:custDataLst>
          </p:nvPr>
        </p:nvSpPr>
        <p:spPr>
          <a:xfrm>
            <a:off x="1007745" y="1263015"/>
            <a:ext cx="596265" cy="406400"/>
          </a:xfrm>
          <a:prstGeom prst="roundRect">
            <a:avLst>
              <a:gd name="adj" fmla="val 50000"/>
            </a:avLst>
          </a:prstGeom>
          <a:solidFill>
            <a:srgbClr val="604A7B">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圆角矩形 5"/>
          <p:cNvSpPr/>
          <p:nvPr>
            <p:custDataLst>
              <p:tags r:id="rId3"/>
            </p:custDataLst>
          </p:nvPr>
        </p:nvSpPr>
        <p:spPr>
          <a:xfrm>
            <a:off x="4602932" y="1263016"/>
            <a:ext cx="2827867" cy="406400"/>
          </a:xfrm>
          <a:prstGeom prst="roundRect">
            <a:avLst>
              <a:gd name="adj" fmla="val 50000"/>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圆角矩形 6"/>
          <p:cNvSpPr/>
          <p:nvPr>
            <p:custDataLst>
              <p:tags r:id="rId4"/>
            </p:custDataLst>
          </p:nvPr>
        </p:nvSpPr>
        <p:spPr>
          <a:xfrm>
            <a:off x="4602932" y="1263016"/>
            <a:ext cx="2017324" cy="406400"/>
          </a:xfrm>
          <a:prstGeom prst="roundRect">
            <a:avLst>
              <a:gd name="adj" fmla="val 50000"/>
            </a:avLst>
          </a:prstGeom>
          <a:solidFill>
            <a:srgbClr val="604A7B">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 name="圆角矩形 9"/>
          <p:cNvSpPr/>
          <p:nvPr>
            <p:custDataLst>
              <p:tags r:id="rId5"/>
            </p:custDataLst>
          </p:nvPr>
        </p:nvSpPr>
        <p:spPr>
          <a:xfrm>
            <a:off x="8198332" y="1263016"/>
            <a:ext cx="2827867" cy="406400"/>
          </a:xfrm>
          <a:prstGeom prst="roundRect">
            <a:avLst>
              <a:gd name="adj" fmla="val 50000"/>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1" name="圆角矩形 10"/>
          <p:cNvSpPr/>
          <p:nvPr>
            <p:custDataLst>
              <p:tags r:id="rId6"/>
            </p:custDataLst>
          </p:nvPr>
        </p:nvSpPr>
        <p:spPr>
          <a:xfrm>
            <a:off x="8198332" y="1263016"/>
            <a:ext cx="1244251" cy="406400"/>
          </a:xfrm>
          <a:prstGeom prst="roundRect">
            <a:avLst>
              <a:gd name="adj" fmla="val 50000"/>
            </a:avLst>
          </a:prstGeom>
          <a:solidFill>
            <a:srgbClr val="604A7B">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4" name="圆角矩形 13"/>
          <p:cNvSpPr/>
          <p:nvPr>
            <p:custDataLst>
              <p:tags r:id="rId7"/>
            </p:custDataLst>
          </p:nvPr>
        </p:nvSpPr>
        <p:spPr>
          <a:xfrm>
            <a:off x="1007532" y="4478379"/>
            <a:ext cx="2827867" cy="406400"/>
          </a:xfrm>
          <a:prstGeom prst="roundRect">
            <a:avLst>
              <a:gd name="adj" fmla="val 50000"/>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5" name="圆角矩形 14"/>
          <p:cNvSpPr/>
          <p:nvPr>
            <p:custDataLst>
              <p:tags r:id="rId8"/>
            </p:custDataLst>
          </p:nvPr>
        </p:nvSpPr>
        <p:spPr>
          <a:xfrm>
            <a:off x="1007745" y="4478655"/>
            <a:ext cx="1376045" cy="406400"/>
          </a:xfrm>
          <a:prstGeom prst="roundRect">
            <a:avLst>
              <a:gd name="adj" fmla="val 50000"/>
            </a:avLst>
          </a:prstGeom>
          <a:solidFill>
            <a:srgbClr val="604A7B">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圆角矩形 17"/>
          <p:cNvSpPr/>
          <p:nvPr>
            <p:custDataLst>
              <p:tags r:id="rId9"/>
            </p:custDataLst>
          </p:nvPr>
        </p:nvSpPr>
        <p:spPr>
          <a:xfrm>
            <a:off x="4602932" y="4478379"/>
            <a:ext cx="2827867" cy="406400"/>
          </a:xfrm>
          <a:prstGeom prst="roundRect">
            <a:avLst>
              <a:gd name="adj" fmla="val 50000"/>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9" name="圆角矩形 18"/>
          <p:cNvSpPr/>
          <p:nvPr>
            <p:custDataLst>
              <p:tags r:id="rId10"/>
            </p:custDataLst>
          </p:nvPr>
        </p:nvSpPr>
        <p:spPr>
          <a:xfrm>
            <a:off x="4603115" y="4478655"/>
            <a:ext cx="594360" cy="406400"/>
          </a:xfrm>
          <a:prstGeom prst="roundRect">
            <a:avLst>
              <a:gd name="adj" fmla="val 50000"/>
            </a:avLst>
          </a:prstGeom>
          <a:solidFill>
            <a:srgbClr val="604A7B">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2" name="圆角矩形 21"/>
          <p:cNvSpPr/>
          <p:nvPr>
            <p:custDataLst>
              <p:tags r:id="rId11"/>
            </p:custDataLst>
          </p:nvPr>
        </p:nvSpPr>
        <p:spPr>
          <a:xfrm>
            <a:off x="8198332" y="4478379"/>
            <a:ext cx="2827867" cy="406400"/>
          </a:xfrm>
          <a:prstGeom prst="roundRect">
            <a:avLst>
              <a:gd name="adj" fmla="val 50000"/>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圆角矩形 22"/>
          <p:cNvSpPr/>
          <p:nvPr>
            <p:custDataLst>
              <p:tags r:id="rId12"/>
            </p:custDataLst>
          </p:nvPr>
        </p:nvSpPr>
        <p:spPr>
          <a:xfrm>
            <a:off x="8198485" y="4478655"/>
            <a:ext cx="367030" cy="406400"/>
          </a:xfrm>
          <a:prstGeom prst="roundRect">
            <a:avLst>
              <a:gd name="adj" fmla="val 50000"/>
            </a:avLst>
          </a:prstGeom>
          <a:solidFill>
            <a:srgbClr val="604A7B">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6" name="文本框 25"/>
          <p:cNvSpPr txBox="1"/>
          <p:nvPr>
            <p:custDataLst>
              <p:tags r:id="rId13"/>
            </p:custDataLst>
          </p:nvPr>
        </p:nvSpPr>
        <p:spPr>
          <a:xfrm>
            <a:off x="1044256" y="1286240"/>
            <a:ext cx="589915" cy="337185"/>
          </a:xfrm>
          <a:prstGeom prst="rect">
            <a:avLst/>
          </a:prstGeom>
          <a:noFill/>
        </p:spPr>
        <p:txBody>
          <a:bodyPr wrap="none" rtlCol="0">
            <a:spAutoFit/>
          </a:bodyPr>
          <a:lstStyle/>
          <a:p>
            <a:pPr algn="r"/>
            <a:r>
              <a:rPr lang="en-US" altLang="zh-CN" sz="1600" dirty="0">
                <a:solidFill>
                  <a:schemeClr val="bg1"/>
                </a:solidFill>
                <a:cs typeface="+mn-ea"/>
                <a:sym typeface="+mn-lt"/>
              </a:rPr>
              <a:t>10%</a:t>
            </a:r>
            <a:endParaRPr lang="zh-CN" altLang="en-US" sz="1600" dirty="0">
              <a:solidFill>
                <a:schemeClr val="bg1"/>
              </a:solidFill>
              <a:cs typeface="+mn-ea"/>
              <a:sym typeface="+mn-lt"/>
            </a:endParaRPr>
          </a:p>
        </p:txBody>
      </p:sp>
      <p:sp>
        <p:nvSpPr>
          <p:cNvPr id="27" name="文本框 26"/>
          <p:cNvSpPr txBox="1"/>
          <p:nvPr>
            <p:custDataLst>
              <p:tags r:id="rId14"/>
            </p:custDataLst>
          </p:nvPr>
        </p:nvSpPr>
        <p:spPr>
          <a:xfrm>
            <a:off x="5993131" y="1286240"/>
            <a:ext cx="589915" cy="337185"/>
          </a:xfrm>
          <a:prstGeom prst="rect">
            <a:avLst/>
          </a:prstGeom>
          <a:noFill/>
        </p:spPr>
        <p:txBody>
          <a:bodyPr wrap="none" rtlCol="0">
            <a:spAutoFit/>
          </a:bodyPr>
          <a:lstStyle/>
          <a:p>
            <a:pPr algn="r"/>
            <a:r>
              <a:rPr lang="en-US" altLang="zh-CN" sz="1600" dirty="0">
                <a:solidFill>
                  <a:schemeClr val="bg1"/>
                </a:solidFill>
                <a:cs typeface="+mn-ea"/>
                <a:sym typeface="+mn-lt"/>
              </a:rPr>
              <a:t>40%</a:t>
            </a:r>
            <a:endParaRPr lang="zh-CN" altLang="en-US" sz="1600" dirty="0">
              <a:solidFill>
                <a:schemeClr val="bg1"/>
              </a:solidFill>
              <a:cs typeface="+mn-ea"/>
              <a:sym typeface="+mn-lt"/>
            </a:endParaRPr>
          </a:p>
        </p:txBody>
      </p:sp>
      <p:sp>
        <p:nvSpPr>
          <p:cNvPr id="28" name="文本框 27"/>
          <p:cNvSpPr txBox="1"/>
          <p:nvPr>
            <p:custDataLst>
              <p:tags r:id="rId15"/>
            </p:custDataLst>
          </p:nvPr>
        </p:nvSpPr>
        <p:spPr>
          <a:xfrm>
            <a:off x="8820998" y="1286240"/>
            <a:ext cx="589915" cy="337185"/>
          </a:xfrm>
          <a:prstGeom prst="rect">
            <a:avLst/>
          </a:prstGeom>
          <a:noFill/>
        </p:spPr>
        <p:txBody>
          <a:bodyPr wrap="none" rtlCol="0">
            <a:spAutoFit/>
          </a:bodyPr>
          <a:lstStyle/>
          <a:p>
            <a:pPr algn="r"/>
            <a:r>
              <a:rPr lang="en-US" altLang="zh-CN" sz="1600" dirty="0">
                <a:solidFill>
                  <a:schemeClr val="bg1"/>
                </a:solidFill>
                <a:cs typeface="+mn-ea"/>
                <a:sym typeface="+mn-lt"/>
              </a:rPr>
              <a:t>15%</a:t>
            </a:r>
            <a:endParaRPr lang="zh-CN" altLang="en-US" sz="1600" dirty="0">
              <a:solidFill>
                <a:schemeClr val="bg1"/>
              </a:solidFill>
              <a:cs typeface="+mn-ea"/>
              <a:sym typeface="+mn-lt"/>
            </a:endParaRPr>
          </a:p>
        </p:txBody>
      </p:sp>
      <p:sp>
        <p:nvSpPr>
          <p:cNvPr id="29" name="文本框 28"/>
          <p:cNvSpPr txBox="1"/>
          <p:nvPr>
            <p:custDataLst>
              <p:tags r:id="rId16"/>
            </p:custDataLst>
          </p:nvPr>
        </p:nvSpPr>
        <p:spPr>
          <a:xfrm>
            <a:off x="1409620" y="4500203"/>
            <a:ext cx="589915" cy="337185"/>
          </a:xfrm>
          <a:prstGeom prst="rect">
            <a:avLst/>
          </a:prstGeom>
          <a:noFill/>
        </p:spPr>
        <p:txBody>
          <a:bodyPr wrap="none" rtlCol="0">
            <a:spAutoFit/>
          </a:bodyPr>
          <a:lstStyle/>
          <a:p>
            <a:pPr algn="r"/>
            <a:r>
              <a:rPr lang="en-US" altLang="zh-CN" sz="1600" dirty="0">
                <a:solidFill>
                  <a:schemeClr val="bg1"/>
                </a:solidFill>
                <a:cs typeface="+mn-ea"/>
                <a:sym typeface="+mn-lt"/>
              </a:rPr>
              <a:t>20%</a:t>
            </a:r>
            <a:endParaRPr lang="zh-CN" altLang="en-US" sz="1600" dirty="0">
              <a:solidFill>
                <a:schemeClr val="bg1"/>
              </a:solidFill>
              <a:cs typeface="+mn-ea"/>
              <a:sym typeface="+mn-lt"/>
            </a:endParaRPr>
          </a:p>
        </p:txBody>
      </p:sp>
      <p:sp>
        <p:nvSpPr>
          <p:cNvPr id="30" name="文本框 29"/>
          <p:cNvSpPr txBox="1"/>
          <p:nvPr>
            <p:custDataLst>
              <p:tags r:id="rId17"/>
            </p:custDataLst>
          </p:nvPr>
        </p:nvSpPr>
        <p:spPr>
          <a:xfrm>
            <a:off x="4607800" y="4500203"/>
            <a:ext cx="589915" cy="337185"/>
          </a:xfrm>
          <a:prstGeom prst="rect">
            <a:avLst/>
          </a:prstGeom>
          <a:noFill/>
        </p:spPr>
        <p:txBody>
          <a:bodyPr wrap="none" rtlCol="0">
            <a:spAutoFit/>
          </a:bodyPr>
          <a:lstStyle/>
          <a:p>
            <a:pPr algn="r"/>
            <a:r>
              <a:rPr lang="en-US" altLang="zh-CN" sz="1600" dirty="0">
                <a:solidFill>
                  <a:schemeClr val="bg1"/>
                </a:solidFill>
                <a:cs typeface="+mn-ea"/>
                <a:sym typeface="+mn-lt"/>
              </a:rPr>
              <a:t>10%</a:t>
            </a:r>
            <a:endParaRPr lang="zh-CN" altLang="en-US" sz="1600" dirty="0">
              <a:solidFill>
                <a:schemeClr val="bg1"/>
              </a:solidFill>
              <a:cs typeface="+mn-ea"/>
              <a:sym typeface="+mn-lt"/>
            </a:endParaRPr>
          </a:p>
        </p:txBody>
      </p:sp>
      <p:sp>
        <p:nvSpPr>
          <p:cNvPr id="31" name="文本框 30"/>
          <p:cNvSpPr txBox="1"/>
          <p:nvPr>
            <p:custDataLst>
              <p:tags r:id="rId18"/>
            </p:custDataLst>
          </p:nvPr>
        </p:nvSpPr>
        <p:spPr>
          <a:xfrm>
            <a:off x="8147253" y="4500203"/>
            <a:ext cx="476885" cy="337185"/>
          </a:xfrm>
          <a:prstGeom prst="rect">
            <a:avLst/>
          </a:prstGeom>
          <a:noFill/>
        </p:spPr>
        <p:txBody>
          <a:bodyPr wrap="none" rtlCol="0">
            <a:spAutoFit/>
          </a:bodyPr>
          <a:lstStyle/>
          <a:p>
            <a:pPr algn="r"/>
            <a:r>
              <a:rPr lang="en-US" altLang="zh-CN" sz="1600" dirty="0">
                <a:solidFill>
                  <a:schemeClr val="bg1"/>
                </a:solidFill>
                <a:cs typeface="+mn-ea"/>
                <a:sym typeface="+mn-lt"/>
              </a:rPr>
              <a:t>5%</a:t>
            </a:r>
            <a:endParaRPr lang="zh-CN" altLang="en-US" sz="1600" dirty="0">
              <a:solidFill>
                <a:schemeClr val="bg1"/>
              </a:solidFill>
              <a:cs typeface="+mn-ea"/>
              <a:sym typeface="+mn-lt"/>
            </a:endParaRPr>
          </a:p>
        </p:txBody>
      </p:sp>
      <p:sp>
        <p:nvSpPr>
          <p:cNvPr id="36" name="文本框 35"/>
          <p:cNvSpPr txBox="1"/>
          <p:nvPr>
            <p:custDataLst>
              <p:tags r:id="rId19"/>
            </p:custDataLst>
          </p:nvPr>
        </p:nvSpPr>
        <p:spPr>
          <a:xfrm>
            <a:off x="1025863" y="5107628"/>
            <a:ext cx="1300420" cy="398780"/>
          </a:xfrm>
          <a:prstGeom prst="rect">
            <a:avLst/>
          </a:prstGeom>
          <a:noFill/>
        </p:spPr>
        <p:txBody>
          <a:bodyPr wrap="square" rtlCol="0">
            <a:spAutoFit/>
          </a:bodyPr>
          <a:lstStyle/>
          <a:p>
            <a:r>
              <a:rPr lang="zh-CN" altLang="en-US" sz="2000" b="1" dirty="0">
                <a:solidFill>
                  <a:schemeClr val="tx1">
                    <a:lumMod val="65000"/>
                    <a:lumOff val="35000"/>
                  </a:schemeClr>
                </a:solidFill>
                <a:cs typeface="+mn-ea"/>
                <a:sym typeface="+mn-lt"/>
              </a:rPr>
              <a:t>工作</a:t>
            </a:r>
            <a:r>
              <a:rPr lang="zh-CN" altLang="en-US" sz="2000" b="1" dirty="0">
                <a:solidFill>
                  <a:schemeClr val="tx1">
                    <a:lumMod val="65000"/>
                    <a:lumOff val="35000"/>
                  </a:schemeClr>
                </a:solidFill>
                <a:cs typeface="+mn-ea"/>
                <a:sym typeface="+mn-lt"/>
              </a:rPr>
              <a:t>效率</a:t>
            </a:r>
            <a:endParaRPr lang="zh-CN" altLang="en-US" sz="2000" b="1" dirty="0">
              <a:solidFill>
                <a:schemeClr val="tx1">
                  <a:lumMod val="65000"/>
                  <a:lumOff val="35000"/>
                </a:schemeClr>
              </a:solidFill>
              <a:cs typeface="+mn-ea"/>
              <a:sym typeface="+mn-lt"/>
            </a:endParaRPr>
          </a:p>
        </p:txBody>
      </p:sp>
      <p:sp>
        <p:nvSpPr>
          <p:cNvPr id="37" name="矩形 36"/>
          <p:cNvSpPr/>
          <p:nvPr>
            <p:custDataLst>
              <p:tags r:id="rId20"/>
            </p:custDataLst>
          </p:nvPr>
        </p:nvSpPr>
        <p:spPr>
          <a:xfrm>
            <a:off x="1025863" y="5509295"/>
            <a:ext cx="2634083" cy="460375"/>
          </a:xfrm>
          <a:prstGeom prst="rect">
            <a:avLst/>
          </a:prstGeom>
        </p:spPr>
        <p:txBody>
          <a:bodyPr wrap="square">
            <a:spAutoFit/>
          </a:bodyPr>
          <a:lstStyle/>
          <a:p>
            <a:pPr>
              <a:lnSpc>
                <a:spcPct val="150000"/>
              </a:lnSpc>
            </a:pPr>
            <a:r>
              <a:rPr lang="zh-CN" altLang="en-US" sz="800" dirty="0">
                <a:solidFill>
                  <a:schemeClr val="bg1">
                    <a:lumMod val="50000"/>
                  </a:schemeClr>
                </a:solidFill>
                <a:cs typeface="+mn-ea"/>
                <a:sym typeface="+mn-lt"/>
              </a:rPr>
              <a:t>所负责任务工作效率的绩效表现。在追求任务质量的同时，不断地提升工作效率，高效保质地完成任务。</a:t>
            </a:r>
            <a:endParaRPr lang="zh-CN" altLang="en-US" sz="800" dirty="0">
              <a:solidFill>
                <a:schemeClr val="bg1">
                  <a:lumMod val="50000"/>
                </a:schemeClr>
              </a:solidFill>
              <a:cs typeface="+mn-ea"/>
              <a:sym typeface="+mn-lt"/>
            </a:endParaRPr>
          </a:p>
        </p:txBody>
      </p:sp>
      <p:sp>
        <p:nvSpPr>
          <p:cNvPr id="38" name="文本框 37"/>
          <p:cNvSpPr txBox="1"/>
          <p:nvPr>
            <p:custDataLst>
              <p:tags r:id="rId21"/>
            </p:custDataLst>
          </p:nvPr>
        </p:nvSpPr>
        <p:spPr>
          <a:xfrm>
            <a:off x="4699823" y="5107628"/>
            <a:ext cx="1300420" cy="398780"/>
          </a:xfrm>
          <a:prstGeom prst="rect">
            <a:avLst/>
          </a:prstGeom>
          <a:noFill/>
        </p:spPr>
        <p:txBody>
          <a:bodyPr wrap="square" rtlCol="0">
            <a:spAutoFit/>
          </a:bodyPr>
          <a:lstStyle/>
          <a:p>
            <a:r>
              <a:rPr lang="zh-CN" altLang="en-US" sz="2000" b="1" dirty="0">
                <a:solidFill>
                  <a:schemeClr val="tx1">
                    <a:lumMod val="65000"/>
                    <a:lumOff val="35000"/>
                  </a:schemeClr>
                </a:solidFill>
                <a:cs typeface="+mn-ea"/>
                <a:sym typeface="+mn-lt"/>
              </a:rPr>
              <a:t>工作</a:t>
            </a:r>
            <a:r>
              <a:rPr lang="zh-CN" altLang="en-US" sz="2000" b="1" dirty="0">
                <a:solidFill>
                  <a:schemeClr val="tx1">
                    <a:lumMod val="65000"/>
                    <a:lumOff val="35000"/>
                  </a:schemeClr>
                </a:solidFill>
                <a:cs typeface="+mn-ea"/>
                <a:sym typeface="+mn-lt"/>
              </a:rPr>
              <a:t>权重</a:t>
            </a:r>
            <a:endParaRPr lang="zh-CN" altLang="en-US" sz="2000" b="1" dirty="0">
              <a:solidFill>
                <a:schemeClr val="tx1">
                  <a:lumMod val="65000"/>
                  <a:lumOff val="35000"/>
                </a:schemeClr>
              </a:solidFill>
              <a:cs typeface="+mn-ea"/>
              <a:sym typeface="+mn-lt"/>
            </a:endParaRPr>
          </a:p>
        </p:txBody>
      </p:sp>
      <p:sp>
        <p:nvSpPr>
          <p:cNvPr id="39" name="矩形 38"/>
          <p:cNvSpPr/>
          <p:nvPr>
            <p:custDataLst>
              <p:tags r:id="rId22"/>
            </p:custDataLst>
          </p:nvPr>
        </p:nvSpPr>
        <p:spPr>
          <a:xfrm>
            <a:off x="4699823" y="5509295"/>
            <a:ext cx="2634083" cy="829945"/>
          </a:xfrm>
          <a:prstGeom prst="rect">
            <a:avLst/>
          </a:prstGeom>
        </p:spPr>
        <p:txBody>
          <a:bodyPr wrap="square">
            <a:spAutoFit/>
          </a:bodyPr>
          <a:lstStyle/>
          <a:p>
            <a:pPr>
              <a:lnSpc>
                <a:spcPct val="150000"/>
              </a:lnSpc>
            </a:pPr>
            <a:r>
              <a:rPr lang="zh-CN" altLang="en-US" sz="800" dirty="0">
                <a:solidFill>
                  <a:schemeClr val="bg1">
                    <a:lumMod val="50000"/>
                  </a:schemeClr>
                </a:solidFill>
                <a:cs typeface="+mn-ea"/>
                <a:sym typeface="+mn-lt"/>
              </a:rPr>
              <a:t>所负责任务难度和重要性的绩效表现。不断去突破自身的专业能力，在面对更高难度和重要性的任务时，能够很好的完成任务，从而获得更多高于自身专业级别的任务机会。</a:t>
            </a:r>
            <a:r>
              <a:rPr lang="en-US" altLang="zh-CN" sz="800" dirty="0">
                <a:solidFill>
                  <a:schemeClr val="bg1">
                    <a:lumMod val="50000"/>
                  </a:schemeClr>
                </a:solidFill>
                <a:cs typeface="+mn-ea"/>
                <a:sym typeface="+mn-lt"/>
              </a:rPr>
              <a:t> </a:t>
            </a:r>
            <a:endParaRPr lang="en-US" altLang="zh-CN" sz="800" dirty="0">
              <a:solidFill>
                <a:schemeClr val="bg1">
                  <a:lumMod val="50000"/>
                </a:schemeClr>
              </a:solidFill>
              <a:cs typeface="+mn-ea"/>
              <a:sym typeface="+mn-lt"/>
            </a:endParaRPr>
          </a:p>
        </p:txBody>
      </p:sp>
      <p:sp>
        <p:nvSpPr>
          <p:cNvPr id="40" name="文本框 39"/>
          <p:cNvSpPr txBox="1"/>
          <p:nvPr>
            <p:custDataLst>
              <p:tags r:id="rId23"/>
            </p:custDataLst>
          </p:nvPr>
        </p:nvSpPr>
        <p:spPr>
          <a:xfrm>
            <a:off x="8373783" y="5107628"/>
            <a:ext cx="1300420" cy="398780"/>
          </a:xfrm>
          <a:prstGeom prst="rect">
            <a:avLst/>
          </a:prstGeom>
          <a:noFill/>
        </p:spPr>
        <p:txBody>
          <a:bodyPr wrap="square" rtlCol="0">
            <a:spAutoFit/>
          </a:bodyPr>
          <a:lstStyle/>
          <a:p>
            <a:r>
              <a:rPr lang="zh-CN" altLang="en-US" sz="2000" b="1" dirty="0">
                <a:solidFill>
                  <a:schemeClr val="tx1">
                    <a:lumMod val="65000"/>
                    <a:lumOff val="35000"/>
                  </a:schemeClr>
                </a:solidFill>
                <a:cs typeface="+mn-ea"/>
                <a:sym typeface="+mn-lt"/>
              </a:rPr>
              <a:t>学习</a:t>
            </a:r>
            <a:r>
              <a:rPr lang="zh-CN" altLang="en-US" sz="2000" b="1" dirty="0">
                <a:solidFill>
                  <a:schemeClr val="tx1">
                    <a:lumMod val="65000"/>
                    <a:lumOff val="35000"/>
                  </a:schemeClr>
                </a:solidFill>
                <a:cs typeface="+mn-ea"/>
                <a:sym typeface="+mn-lt"/>
              </a:rPr>
              <a:t>分享</a:t>
            </a:r>
            <a:endParaRPr lang="zh-CN" altLang="en-US" sz="2000" b="1" dirty="0">
              <a:solidFill>
                <a:schemeClr val="tx1">
                  <a:lumMod val="65000"/>
                  <a:lumOff val="35000"/>
                </a:schemeClr>
              </a:solidFill>
              <a:cs typeface="+mn-ea"/>
              <a:sym typeface="+mn-lt"/>
            </a:endParaRPr>
          </a:p>
        </p:txBody>
      </p:sp>
      <p:sp>
        <p:nvSpPr>
          <p:cNvPr id="41" name="矩形 40"/>
          <p:cNvSpPr/>
          <p:nvPr>
            <p:custDataLst>
              <p:tags r:id="rId24"/>
            </p:custDataLst>
          </p:nvPr>
        </p:nvSpPr>
        <p:spPr>
          <a:xfrm>
            <a:off x="8373783" y="5509295"/>
            <a:ext cx="2634083" cy="645160"/>
          </a:xfrm>
          <a:prstGeom prst="rect">
            <a:avLst/>
          </a:prstGeom>
        </p:spPr>
        <p:txBody>
          <a:bodyPr wrap="square">
            <a:spAutoFit/>
          </a:bodyPr>
          <a:lstStyle/>
          <a:p>
            <a:pPr>
              <a:lnSpc>
                <a:spcPct val="150000"/>
              </a:lnSpc>
            </a:pPr>
            <a:r>
              <a:rPr lang="zh-CN" altLang="en-US" sz="800" dirty="0">
                <a:solidFill>
                  <a:schemeClr val="bg1">
                    <a:lumMod val="50000"/>
                  </a:schemeClr>
                </a:solidFill>
                <a:cs typeface="+mn-ea"/>
                <a:sym typeface="+mn-lt"/>
              </a:rPr>
              <a:t>主动学习业务知识，关注行业动态，改进工作方法，在业务成果中体现出改进效果；并能将与工作相关的知识、技能、经验在团队成员之间进行共享。</a:t>
            </a:r>
            <a:endParaRPr lang="zh-CN" altLang="en-US" sz="800" dirty="0">
              <a:solidFill>
                <a:schemeClr val="bg1">
                  <a:lumMod val="50000"/>
                </a:schemeClr>
              </a:solidFill>
              <a:cs typeface="+mn-ea"/>
              <a:sym typeface="+mn-lt"/>
            </a:endParaRPr>
          </a:p>
        </p:txBody>
      </p:sp>
      <p:sp>
        <p:nvSpPr>
          <p:cNvPr id="42" name="文本框 41"/>
          <p:cNvSpPr txBox="1"/>
          <p:nvPr>
            <p:custDataLst>
              <p:tags r:id="rId25"/>
            </p:custDataLst>
          </p:nvPr>
        </p:nvSpPr>
        <p:spPr>
          <a:xfrm>
            <a:off x="1026160" y="1847850"/>
            <a:ext cx="1800860" cy="398780"/>
          </a:xfrm>
          <a:prstGeom prst="rect">
            <a:avLst/>
          </a:prstGeom>
          <a:noFill/>
        </p:spPr>
        <p:txBody>
          <a:bodyPr wrap="square" rtlCol="0">
            <a:spAutoFit/>
          </a:bodyPr>
          <a:lstStyle/>
          <a:p>
            <a:pPr algn="l"/>
            <a:r>
              <a:rPr lang="zh-CN" altLang="en-US" sz="2000" b="1" dirty="0">
                <a:solidFill>
                  <a:schemeClr val="tx1">
                    <a:lumMod val="65000"/>
                    <a:lumOff val="35000"/>
                  </a:schemeClr>
                </a:solidFill>
                <a:cs typeface="+mn-ea"/>
                <a:sym typeface="+mn-lt"/>
              </a:rPr>
              <a:t>核心</a:t>
            </a:r>
            <a:r>
              <a:rPr lang="zh-CN" altLang="en-US" sz="2000" b="1" dirty="0">
                <a:solidFill>
                  <a:schemeClr val="tx1">
                    <a:lumMod val="65000"/>
                    <a:lumOff val="35000"/>
                  </a:schemeClr>
                </a:solidFill>
                <a:cs typeface="+mn-ea"/>
                <a:sym typeface="+mn-lt"/>
              </a:rPr>
              <a:t>价值观</a:t>
            </a:r>
            <a:endParaRPr lang="zh-CN" altLang="en-US" sz="2000" b="1" dirty="0">
              <a:solidFill>
                <a:schemeClr val="tx1">
                  <a:lumMod val="65000"/>
                  <a:lumOff val="35000"/>
                </a:schemeClr>
              </a:solidFill>
              <a:cs typeface="+mn-ea"/>
              <a:sym typeface="+mn-lt"/>
            </a:endParaRPr>
          </a:p>
        </p:txBody>
      </p:sp>
      <p:sp>
        <p:nvSpPr>
          <p:cNvPr id="43" name="矩形 42"/>
          <p:cNvSpPr/>
          <p:nvPr>
            <p:custDataLst>
              <p:tags r:id="rId26"/>
            </p:custDataLst>
          </p:nvPr>
        </p:nvSpPr>
        <p:spPr>
          <a:xfrm>
            <a:off x="1025863" y="2249310"/>
            <a:ext cx="2634083" cy="275590"/>
          </a:xfrm>
          <a:prstGeom prst="rect">
            <a:avLst/>
          </a:prstGeom>
        </p:spPr>
        <p:txBody>
          <a:bodyPr wrap="square">
            <a:spAutoFit/>
          </a:bodyPr>
          <a:lstStyle/>
          <a:p>
            <a:pPr>
              <a:lnSpc>
                <a:spcPct val="150000"/>
              </a:lnSpc>
            </a:pPr>
            <a:r>
              <a:rPr lang="zh-CN" altLang="en-US" sz="800" dirty="0">
                <a:solidFill>
                  <a:schemeClr val="bg1">
                    <a:lumMod val="50000"/>
                  </a:schemeClr>
                </a:solidFill>
                <a:cs typeface="+mn-ea"/>
                <a:sym typeface="+mn-lt"/>
              </a:rPr>
              <a:t>实现玩家、公司成员和公司共赢。</a:t>
            </a:r>
            <a:endParaRPr lang="zh-CN" altLang="en-US" sz="800" dirty="0">
              <a:solidFill>
                <a:schemeClr val="bg1">
                  <a:lumMod val="50000"/>
                </a:schemeClr>
              </a:solidFill>
              <a:cs typeface="+mn-ea"/>
              <a:sym typeface="+mn-lt"/>
            </a:endParaRPr>
          </a:p>
        </p:txBody>
      </p:sp>
      <p:sp>
        <p:nvSpPr>
          <p:cNvPr id="44" name="文本框 43"/>
          <p:cNvSpPr txBox="1"/>
          <p:nvPr>
            <p:custDataLst>
              <p:tags r:id="rId27"/>
            </p:custDataLst>
          </p:nvPr>
        </p:nvSpPr>
        <p:spPr>
          <a:xfrm>
            <a:off x="4699823" y="1847643"/>
            <a:ext cx="1300420" cy="398780"/>
          </a:xfrm>
          <a:prstGeom prst="rect">
            <a:avLst/>
          </a:prstGeom>
          <a:noFill/>
        </p:spPr>
        <p:txBody>
          <a:bodyPr wrap="square" rtlCol="0">
            <a:spAutoFit/>
          </a:bodyPr>
          <a:lstStyle/>
          <a:p>
            <a:pPr algn="l"/>
            <a:r>
              <a:rPr lang="zh-CN" altLang="en-US" sz="2000" b="1" dirty="0">
                <a:solidFill>
                  <a:schemeClr val="tx1">
                    <a:lumMod val="65000"/>
                    <a:lumOff val="35000"/>
                  </a:schemeClr>
                </a:solidFill>
                <a:cs typeface="+mn-ea"/>
                <a:sym typeface="+mn-lt"/>
              </a:rPr>
              <a:t>业务</a:t>
            </a:r>
            <a:r>
              <a:rPr lang="zh-CN" altLang="en-US" sz="2000" b="1" dirty="0">
                <a:solidFill>
                  <a:schemeClr val="tx1">
                    <a:lumMod val="65000"/>
                    <a:lumOff val="35000"/>
                  </a:schemeClr>
                </a:solidFill>
                <a:cs typeface="+mn-ea"/>
                <a:sym typeface="+mn-lt"/>
              </a:rPr>
              <a:t>质量</a:t>
            </a:r>
            <a:endParaRPr lang="zh-CN" altLang="en-US" sz="2000" b="1" dirty="0">
              <a:solidFill>
                <a:schemeClr val="tx1">
                  <a:lumMod val="65000"/>
                  <a:lumOff val="35000"/>
                </a:schemeClr>
              </a:solidFill>
              <a:cs typeface="+mn-ea"/>
              <a:sym typeface="+mn-lt"/>
            </a:endParaRPr>
          </a:p>
        </p:txBody>
      </p:sp>
      <p:sp>
        <p:nvSpPr>
          <p:cNvPr id="45" name="矩形 44"/>
          <p:cNvSpPr/>
          <p:nvPr>
            <p:custDataLst>
              <p:tags r:id="rId28"/>
            </p:custDataLst>
          </p:nvPr>
        </p:nvSpPr>
        <p:spPr>
          <a:xfrm>
            <a:off x="4699823" y="2249310"/>
            <a:ext cx="2634083" cy="645160"/>
          </a:xfrm>
          <a:prstGeom prst="rect">
            <a:avLst/>
          </a:prstGeom>
        </p:spPr>
        <p:txBody>
          <a:bodyPr wrap="square">
            <a:spAutoFit/>
          </a:bodyPr>
          <a:lstStyle/>
          <a:p>
            <a:pPr>
              <a:lnSpc>
                <a:spcPct val="150000"/>
              </a:lnSpc>
            </a:pPr>
            <a:r>
              <a:rPr lang="en-US" altLang="zh-CN" sz="800" dirty="0">
                <a:solidFill>
                  <a:schemeClr val="bg1">
                    <a:lumMod val="50000"/>
                  </a:schemeClr>
                </a:solidFill>
                <a:cs typeface="+mn-ea"/>
                <a:sym typeface="+mn-lt"/>
              </a:rPr>
              <a:t>1. </a:t>
            </a:r>
            <a:r>
              <a:rPr lang="zh-CN" altLang="en-US" sz="800" dirty="0">
                <a:solidFill>
                  <a:schemeClr val="bg1">
                    <a:lumMod val="50000"/>
                  </a:schemeClr>
                </a:solidFill>
                <a:cs typeface="+mn-ea"/>
                <a:sym typeface="+mn-lt"/>
              </a:rPr>
              <a:t>完成度：工作过程中与上下游环节的协助过程和结果表现。与上下游环节积极、高效沟通，达成高质量的最终效果。</a:t>
            </a:r>
            <a:endParaRPr lang="zh-CN" altLang="en-US" sz="800" dirty="0">
              <a:solidFill>
                <a:schemeClr val="bg1">
                  <a:lumMod val="50000"/>
                </a:schemeClr>
              </a:solidFill>
              <a:cs typeface="+mn-ea"/>
              <a:sym typeface="+mn-lt"/>
            </a:endParaRPr>
          </a:p>
        </p:txBody>
      </p:sp>
      <p:sp>
        <p:nvSpPr>
          <p:cNvPr id="46" name="文本框 45"/>
          <p:cNvSpPr txBox="1"/>
          <p:nvPr>
            <p:custDataLst>
              <p:tags r:id="rId29"/>
            </p:custDataLst>
          </p:nvPr>
        </p:nvSpPr>
        <p:spPr>
          <a:xfrm>
            <a:off x="8373783" y="1847643"/>
            <a:ext cx="1300420" cy="398780"/>
          </a:xfrm>
          <a:prstGeom prst="rect">
            <a:avLst/>
          </a:prstGeom>
          <a:noFill/>
        </p:spPr>
        <p:txBody>
          <a:bodyPr wrap="square" rtlCol="0">
            <a:spAutoFit/>
          </a:bodyPr>
          <a:lstStyle/>
          <a:p>
            <a:r>
              <a:rPr lang="zh-CN" altLang="en-US" sz="2000" b="1" dirty="0">
                <a:solidFill>
                  <a:schemeClr val="tx1">
                    <a:lumMod val="65000"/>
                    <a:lumOff val="35000"/>
                  </a:schemeClr>
                </a:solidFill>
                <a:cs typeface="+mn-ea"/>
                <a:sym typeface="+mn-lt"/>
              </a:rPr>
              <a:t>协作</a:t>
            </a:r>
            <a:r>
              <a:rPr lang="zh-CN" altLang="en-US" sz="2000" b="1" dirty="0">
                <a:solidFill>
                  <a:schemeClr val="tx1">
                    <a:lumMod val="65000"/>
                    <a:lumOff val="35000"/>
                  </a:schemeClr>
                </a:solidFill>
                <a:cs typeface="+mn-ea"/>
                <a:sym typeface="+mn-lt"/>
              </a:rPr>
              <a:t>质量</a:t>
            </a:r>
            <a:endParaRPr lang="zh-CN" altLang="en-US" sz="2000" b="1" dirty="0">
              <a:solidFill>
                <a:schemeClr val="tx1">
                  <a:lumMod val="65000"/>
                  <a:lumOff val="35000"/>
                </a:schemeClr>
              </a:solidFill>
              <a:cs typeface="+mn-ea"/>
              <a:sym typeface="+mn-lt"/>
            </a:endParaRPr>
          </a:p>
        </p:txBody>
      </p:sp>
      <p:sp>
        <p:nvSpPr>
          <p:cNvPr id="47" name="矩形 46"/>
          <p:cNvSpPr/>
          <p:nvPr>
            <p:custDataLst>
              <p:tags r:id="rId30"/>
            </p:custDataLst>
          </p:nvPr>
        </p:nvSpPr>
        <p:spPr>
          <a:xfrm>
            <a:off x="8373783" y="2249310"/>
            <a:ext cx="2634083" cy="2122805"/>
          </a:xfrm>
          <a:prstGeom prst="rect">
            <a:avLst/>
          </a:prstGeom>
        </p:spPr>
        <p:txBody>
          <a:bodyPr wrap="square">
            <a:spAutoFit/>
          </a:bodyPr>
          <a:lstStyle/>
          <a:p>
            <a:pPr>
              <a:lnSpc>
                <a:spcPct val="150000"/>
              </a:lnSpc>
            </a:pPr>
            <a:r>
              <a:rPr lang="en-US" altLang="zh-CN" sz="800" dirty="0">
                <a:solidFill>
                  <a:schemeClr val="bg1">
                    <a:lumMod val="50000"/>
                  </a:schemeClr>
                </a:solidFill>
                <a:cs typeface="+mn-ea"/>
                <a:sym typeface="+mn-lt"/>
              </a:rPr>
              <a:t>1</a:t>
            </a:r>
            <a:r>
              <a:rPr lang="zh-CN" altLang="en-US" sz="800" dirty="0">
                <a:solidFill>
                  <a:schemeClr val="bg1">
                    <a:lumMod val="50000"/>
                  </a:schemeClr>
                </a:solidFill>
                <a:cs typeface="+mn-ea"/>
                <a:sym typeface="+mn-lt"/>
              </a:rPr>
              <a:t>、积极参与团队活动，主动承担责任，为团队的成功贡献自己的力量。</a:t>
            </a:r>
            <a:endParaRPr lang="zh-CN" altLang="en-US" sz="800" dirty="0">
              <a:solidFill>
                <a:schemeClr val="bg1">
                  <a:lumMod val="50000"/>
                </a:schemeClr>
              </a:solidFill>
              <a:cs typeface="+mn-ea"/>
              <a:sym typeface="+mn-lt"/>
            </a:endParaRPr>
          </a:p>
          <a:p>
            <a:pPr>
              <a:lnSpc>
                <a:spcPct val="150000"/>
              </a:lnSpc>
            </a:pPr>
            <a:r>
              <a:rPr lang="en-US" altLang="zh-CN" sz="800" dirty="0">
                <a:solidFill>
                  <a:schemeClr val="bg1">
                    <a:lumMod val="50000"/>
                  </a:schemeClr>
                </a:solidFill>
                <a:cs typeface="+mn-ea"/>
                <a:sym typeface="+mn-lt"/>
              </a:rPr>
              <a:t>2</a:t>
            </a:r>
            <a:r>
              <a:rPr lang="zh-CN" altLang="en-US" sz="800" dirty="0">
                <a:solidFill>
                  <a:schemeClr val="bg1">
                    <a:lumMod val="50000"/>
                  </a:schemeClr>
                </a:solidFill>
                <a:cs typeface="+mn-ea"/>
                <a:sym typeface="+mn-lt"/>
              </a:rPr>
              <a:t>、与团队成员建立信任关系，形成良好的工作氛围。</a:t>
            </a:r>
            <a:endParaRPr lang="zh-CN" altLang="en-US" sz="800" dirty="0">
              <a:solidFill>
                <a:schemeClr val="bg1">
                  <a:lumMod val="50000"/>
                </a:schemeClr>
              </a:solidFill>
              <a:cs typeface="+mn-ea"/>
              <a:sym typeface="+mn-lt"/>
            </a:endParaRPr>
          </a:p>
          <a:p>
            <a:pPr>
              <a:lnSpc>
                <a:spcPct val="150000"/>
              </a:lnSpc>
            </a:pPr>
            <a:r>
              <a:rPr lang="en-US" altLang="zh-CN" sz="800" dirty="0">
                <a:solidFill>
                  <a:schemeClr val="bg1">
                    <a:lumMod val="50000"/>
                  </a:schemeClr>
                </a:solidFill>
                <a:cs typeface="+mn-ea"/>
                <a:sym typeface="+mn-lt"/>
              </a:rPr>
              <a:t>3</a:t>
            </a:r>
            <a:r>
              <a:rPr lang="zh-CN" altLang="en-US" sz="800" dirty="0">
                <a:solidFill>
                  <a:schemeClr val="bg1">
                    <a:lumMod val="50000"/>
                  </a:schemeClr>
                </a:solidFill>
                <a:cs typeface="+mn-ea"/>
                <a:sym typeface="+mn-lt"/>
              </a:rPr>
              <a:t>、与团队成员保持有效的沟通，及时交流工作进展、问题和建议，促进信息的共享和传递。</a:t>
            </a:r>
            <a:endParaRPr lang="zh-CN" altLang="en-US" sz="800" dirty="0">
              <a:solidFill>
                <a:schemeClr val="bg1">
                  <a:lumMod val="50000"/>
                </a:schemeClr>
              </a:solidFill>
              <a:cs typeface="+mn-ea"/>
              <a:sym typeface="+mn-lt"/>
            </a:endParaRPr>
          </a:p>
          <a:p>
            <a:pPr>
              <a:lnSpc>
                <a:spcPct val="150000"/>
              </a:lnSpc>
            </a:pPr>
            <a:r>
              <a:rPr lang="en-US" altLang="zh-CN" sz="800" dirty="0">
                <a:solidFill>
                  <a:schemeClr val="bg1">
                    <a:lumMod val="50000"/>
                  </a:schemeClr>
                </a:solidFill>
                <a:cs typeface="+mn-ea"/>
                <a:sym typeface="+mn-lt"/>
              </a:rPr>
              <a:t>4</a:t>
            </a:r>
            <a:r>
              <a:rPr lang="zh-CN" altLang="en-US" sz="800" dirty="0">
                <a:solidFill>
                  <a:schemeClr val="bg1">
                    <a:lumMod val="50000"/>
                  </a:schemeClr>
                </a:solidFill>
                <a:cs typeface="+mn-ea"/>
                <a:sym typeface="+mn-lt"/>
              </a:rPr>
              <a:t>、与团队成员协作配合，共同完成工作任务，发挥各自的优势，形成合力。</a:t>
            </a:r>
            <a:endParaRPr lang="zh-CN" altLang="en-US" sz="800" dirty="0">
              <a:solidFill>
                <a:schemeClr val="bg1">
                  <a:lumMod val="50000"/>
                </a:schemeClr>
              </a:solidFill>
              <a:cs typeface="+mn-ea"/>
              <a:sym typeface="+mn-lt"/>
            </a:endParaRPr>
          </a:p>
          <a:p>
            <a:pPr>
              <a:lnSpc>
                <a:spcPct val="150000"/>
              </a:lnSpc>
            </a:pPr>
            <a:r>
              <a:rPr lang="en-US" altLang="zh-CN" sz="800" dirty="0">
                <a:solidFill>
                  <a:schemeClr val="bg1">
                    <a:lumMod val="50000"/>
                  </a:schemeClr>
                </a:solidFill>
                <a:cs typeface="+mn-ea"/>
                <a:sym typeface="+mn-lt"/>
              </a:rPr>
              <a:t>5</a:t>
            </a:r>
            <a:r>
              <a:rPr lang="zh-CN" altLang="en-US" sz="800" dirty="0">
                <a:solidFill>
                  <a:schemeClr val="bg1">
                    <a:lumMod val="50000"/>
                  </a:schemeClr>
                </a:solidFill>
                <a:cs typeface="+mn-ea"/>
                <a:sym typeface="+mn-lt"/>
              </a:rPr>
              <a:t>、在面对问题和挑战时，能够积极寻找解决方案，提出建设性意见，为团队的成功贡献智慧。</a:t>
            </a:r>
            <a:endParaRPr lang="zh-CN" altLang="en-US" sz="800" dirty="0">
              <a:solidFill>
                <a:schemeClr val="bg1">
                  <a:lumMod val="50000"/>
                </a:schemeClr>
              </a:solidFill>
              <a:cs typeface="+mn-ea"/>
              <a:sym typeface="+mn-lt"/>
            </a:endParaRPr>
          </a:p>
          <a:p>
            <a:pPr>
              <a:lnSpc>
                <a:spcPct val="150000"/>
              </a:lnSpc>
            </a:pPr>
            <a:r>
              <a:rPr lang="en-US" altLang="zh-CN" sz="800" dirty="0">
                <a:solidFill>
                  <a:schemeClr val="bg1">
                    <a:lumMod val="50000"/>
                  </a:schemeClr>
                </a:solidFill>
                <a:cs typeface="+mn-ea"/>
                <a:sym typeface="+mn-lt"/>
              </a:rPr>
              <a:t>6</a:t>
            </a:r>
            <a:r>
              <a:rPr lang="zh-CN" altLang="en-US" sz="800" dirty="0">
                <a:solidFill>
                  <a:schemeClr val="bg1">
                    <a:lumMod val="50000"/>
                  </a:schemeClr>
                </a:solidFill>
                <a:cs typeface="+mn-ea"/>
                <a:sym typeface="+mn-lt"/>
              </a:rPr>
              <a:t>、具备团队合作意识，认识到团队的成功需要每个人的努力和贡献，愿意为团队的成功付出努力。</a:t>
            </a:r>
            <a:endParaRPr lang="zh-CN" altLang="en-US" sz="800" dirty="0">
              <a:solidFill>
                <a:schemeClr val="bg1">
                  <a:lumMod val="50000"/>
                </a:schemeClr>
              </a:solidFill>
              <a:cs typeface="+mn-ea"/>
              <a:sym typeface="+mn-lt"/>
            </a:endParaRPr>
          </a:p>
        </p:txBody>
      </p:sp>
      <p:cxnSp>
        <p:nvCxnSpPr>
          <p:cNvPr id="48" name="Straight Connector 5"/>
          <p:cNvCxnSpPr/>
          <p:nvPr/>
        </p:nvCxnSpPr>
        <p:spPr>
          <a:xfrm>
            <a:off x="5561428" y="1083778"/>
            <a:ext cx="1069144" cy="0"/>
          </a:xfrm>
          <a:prstGeom prst="line">
            <a:avLst/>
          </a:prstGeom>
          <a:ln w="41275">
            <a:solidFill>
              <a:srgbClr val="604A7B"/>
            </a:solidFill>
          </a:ln>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4988201" y="808289"/>
            <a:ext cx="2241443" cy="237490"/>
          </a:xfrm>
          <a:prstGeom prst="rect">
            <a:avLst/>
          </a:prstGeom>
        </p:spPr>
        <p:txBody>
          <a:bodyPr wrap="square">
            <a:spAutoFit/>
          </a:bodyPr>
          <a:lstStyle/>
          <a:p>
            <a:pPr algn="ctr">
              <a:lnSpc>
                <a:spcPct val="100000"/>
              </a:lnSpc>
            </a:pPr>
            <a:r>
              <a:rPr lang="en-US" altLang="zh-CN" sz="950" dirty="0">
                <a:solidFill>
                  <a:schemeClr val="tx1">
                    <a:lumMod val="65000"/>
                    <a:lumOff val="35000"/>
                  </a:schemeClr>
                </a:solidFill>
                <a:cs typeface="+mn-ea"/>
                <a:sym typeface="+mn-lt"/>
              </a:rPr>
              <a:t>Performance self-assessment</a:t>
            </a:r>
            <a:endParaRPr lang="en-US" altLang="zh-CN" sz="950" dirty="0">
              <a:solidFill>
                <a:schemeClr val="tx1">
                  <a:lumMod val="50000"/>
                  <a:lumOff val="50000"/>
                </a:schemeClr>
              </a:solidFill>
              <a:cs typeface="+mn-ea"/>
              <a:sym typeface="+mn-lt"/>
            </a:endParaRPr>
          </a:p>
        </p:txBody>
      </p:sp>
      <p:sp>
        <p:nvSpPr>
          <p:cNvPr id="50" name="文本框 49"/>
          <p:cNvSpPr txBox="1"/>
          <p:nvPr/>
        </p:nvSpPr>
        <p:spPr>
          <a:xfrm>
            <a:off x="4017010" y="342265"/>
            <a:ext cx="3999230" cy="546100"/>
          </a:xfrm>
          <a:prstGeom prst="rect">
            <a:avLst/>
          </a:prstGeom>
          <a:noFill/>
        </p:spPr>
        <p:txBody>
          <a:bodyPr wrap="square" rtlCol="0">
            <a:spAutoFit/>
          </a:bodyPr>
          <a:lstStyle/>
          <a:p>
            <a:pPr algn="ctr"/>
            <a:r>
              <a:rPr lang="zh-CN" altLang="en-US" sz="2955" b="1" dirty="0">
                <a:solidFill>
                  <a:schemeClr val="tx1">
                    <a:lumMod val="65000"/>
                    <a:lumOff val="35000"/>
                  </a:schemeClr>
                </a:solidFill>
                <a:cs typeface="+mn-ea"/>
                <a:sym typeface="+mn-lt"/>
              </a:rPr>
              <a:t>绩效自评关键词</a:t>
            </a:r>
            <a:r>
              <a:rPr lang="zh-CN" altLang="en-US" sz="2955" b="1" dirty="0">
                <a:solidFill>
                  <a:schemeClr val="tx1">
                    <a:lumMod val="65000"/>
                    <a:lumOff val="35000"/>
                  </a:schemeClr>
                </a:solidFill>
                <a:cs typeface="+mn-ea"/>
                <a:sym typeface="+mn-lt"/>
              </a:rPr>
              <a:t>解释</a:t>
            </a:r>
            <a:endParaRPr lang="zh-CN" altLang="en-US" sz="2955" b="1" dirty="0">
              <a:solidFill>
                <a:schemeClr val="tx1">
                  <a:lumMod val="65000"/>
                  <a:lumOff val="35000"/>
                </a:schemeClr>
              </a:solidFill>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p:cNvCxnSpPr/>
          <p:nvPr>
            <p:custDataLst>
              <p:tags r:id="rId1"/>
            </p:custDataLst>
          </p:nvPr>
        </p:nvCxnSpPr>
        <p:spPr>
          <a:xfrm>
            <a:off x="2381224" y="2249797"/>
            <a:ext cx="3333774" cy="2117"/>
          </a:xfrm>
          <a:prstGeom prst="line">
            <a:avLst/>
          </a:prstGeom>
          <a:ln w="571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custDataLst>
              <p:tags r:id="rId2"/>
            </p:custDataLst>
          </p:nvPr>
        </p:nvCxnSpPr>
        <p:spPr>
          <a:xfrm>
            <a:off x="2381224" y="2249797"/>
            <a:ext cx="2609850" cy="1270"/>
          </a:xfrm>
          <a:prstGeom prst="line">
            <a:avLst/>
          </a:prstGeom>
          <a:ln w="57150">
            <a:solidFill>
              <a:srgbClr val="604A7B"/>
            </a:solidFill>
            <a:tailEnd type="oval"/>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761963" y="2059295"/>
            <a:ext cx="863600" cy="297180"/>
          </a:xfrm>
          <a:prstGeom prst="rect">
            <a:avLst/>
          </a:prstGeom>
        </p:spPr>
        <p:txBody>
          <a:bodyPr wrap="none">
            <a:spAutoFit/>
          </a:bodyPr>
          <a:lstStyle/>
          <a:p>
            <a:pPr algn="l"/>
            <a:r>
              <a:rPr lang="zh-CN" altLang="en-US" sz="1335" dirty="0">
                <a:solidFill>
                  <a:srgbClr val="604A7B"/>
                </a:solidFill>
                <a:cs typeface="+mn-ea"/>
                <a:sym typeface="+mn-lt"/>
              </a:rPr>
              <a:t>业务质量</a:t>
            </a:r>
            <a:endParaRPr lang="zh-CN" altLang="en-US" sz="1335" dirty="0">
              <a:solidFill>
                <a:srgbClr val="604A7B"/>
              </a:solidFill>
              <a:cs typeface="+mn-ea"/>
              <a:sym typeface="+mn-lt"/>
            </a:endParaRPr>
          </a:p>
        </p:txBody>
      </p:sp>
      <p:sp>
        <p:nvSpPr>
          <p:cNvPr id="36" name="Rectangle 35"/>
          <p:cNvSpPr/>
          <p:nvPr>
            <p:custDataLst>
              <p:tags r:id="rId3"/>
            </p:custDataLst>
          </p:nvPr>
        </p:nvSpPr>
        <p:spPr>
          <a:xfrm>
            <a:off x="6096001" y="2059295"/>
            <a:ext cx="523240" cy="297180"/>
          </a:xfrm>
          <a:prstGeom prst="rect">
            <a:avLst/>
          </a:prstGeom>
        </p:spPr>
        <p:txBody>
          <a:bodyPr wrap="none">
            <a:spAutoFit/>
          </a:bodyPr>
          <a:lstStyle/>
          <a:p>
            <a:r>
              <a:rPr lang="en-US" sz="1335" dirty="0">
                <a:solidFill>
                  <a:srgbClr val="604A7B"/>
                </a:solidFill>
                <a:cs typeface="+mn-ea"/>
                <a:sym typeface="+mn-lt"/>
              </a:rPr>
              <a:t>40%</a:t>
            </a:r>
            <a:endParaRPr lang="en-US" sz="1335" dirty="0">
              <a:solidFill>
                <a:srgbClr val="604A7B"/>
              </a:solidFill>
              <a:cs typeface="+mn-ea"/>
              <a:sym typeface="+mn-lt"/>
            </a:endParaRPr>
          </a:p>
        </p:txBody>
      </p:sp>
      <p:cxnSp>
        <p:nvCxnSpPr>
          <p:cNvPr id="22" name="Straight Connector 21"/>
          <p:cNvCxnSpPr/>
          <p:nvPr>
            <p:custDataLst>
              <p:tags r:id="rId4"/>
            </p:custDataLst>
          </p:nvPr>
        </p:nvCxnSpPr>
        <p:spPr>
          <a:xfrm>
            <a:off x="2381224" y="2821301"/>
            <a:ext cx="3333774" cy="2117"/>
          </a:xfrm>
          <a:prstGeom prst="line">
            <a:avLst/>
          </a:prstGeom>
          <a:ln w="571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custDataLst>
              <p:tags r:id="rId5"/>
            </p:custDataLst>
          </p:nvPr>
        </p:nvCxnSpPr>
        <p:spPr>
          <a:xfrm>
            <a:off x="2381224" y="2821301"/>
            <a:ext cx="636905" cy="635"/>
          </a:xfrm>
          <a:prstGeom prst="line">
            <a:avLst/>
          </a:prstGeom>
          <a:ln w="57150">
            <a:solidFill>
              <a:srgbClr val="604A7B"/>
            </a:solidFill>
            <a:tailEnd type="ova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761963" y="2630799"/>
            <a:ext cx="863600" cy="297180"/>
          </a:xfrm>
          <a:prstGeom prst="rect">
            <a:avLst/>
          </a:prstGeom>
        </p:spPr>
        <p:txBody>
          <a:bodyPr wrap="none">
            <a:spAutoFit/>
          </a:bodyPr>
          <a:lstStyle/>
          <a:p>
            <a:pPr algn="l"/>
            <a:r>
              <a:rPr lang="zh-CN" altLang="en-US" sz="1335" dirty="0">
                <a:solidFill>
                  <a:srgbClr val="604A7B"/>
                </a:solidFill>
                <a:cs typeface="+mn-ea"/>
                <a:sym typeface="+mn-lt"/>
              </a:rPr>
              <a:t>协作质量</a:t>
            </a:r>
            <a:endParaRPr lang="zh-CN" altLang="en-US" sz="1335" dirty="0">
              <a:solidFill>
                <a:srgbClr val="604A7B"/>
              </a:solidFill>
              <a:cs typeface="+mn-ea"/>
              <a:sym typeface="+mn-lt"/>
            </a:endParaRPr>
          </a:p>
        </p:txBody>
      </p:sp>
      <p:sp>
        <p:nvSpPr>
          <p:cNvPr id="37" name="Rectangle 36"/>
          <p:cNvSpPr/>
          <p:nvPr>
            <p:custDataLst>
              <p:tags r:id="rId6"/>
            </p:custDataLst>
          </p:nvPr>
        </p:nvSpPr>
        <p:spPr>
          <a:xfrm>
            <a:off x="6096001" y="2630799"/>
            <a:ext cx="523240" cy="297180"/>
          </a:xfrm>
          <a:prstGeom prst="rect">
            <a:avLst/>
          </a:prstGeom>
        </p:spPr>
        <p:txBody>
          <a:bodyPr wrap="none">
            <a:spAutoFit/>
          </a:bodyPr>
          <a:lstStyle/>
          <a:p>
            <a:r>
              <a:rPr lang="en-US" sz="1335" dirty="0">
                <a:solidFill>
                  <a:srgbClr val="604A7B"/>
                </a:solidFill>
                <a:cs typeface="+mn-ea"/>
                <a:sym typeface="+mn-lt"/>
              </a:rPr>
              <a:t>15%</a:t>
            </a:r>
            <a:endParaRPr lang="en-US" sz="1335" dirty="0">
              <a:solidFill>
                <a:srgbClr val="604A7B"/>
              </a:solidFill>
              <a:cs typeface="+mn-ea"/>
              <a:sym typeface="+mn-lt"/>
            </a:endParaRPr>
          </a:p>
        </p:txBody>
      </p:sp>
      <p:cxnSp>
        <p:nvCxnSpPr>
          <p:cNvPr id="24" name="Straight Connector 23"/>
          <p:cNvCxnSpPr/>
          <p:nvPr>
            <p:custDataLst>
              <p:tags r:id="rId7"/>
            </p:custDataLst>
          </p:nvPr>
        </p:nvCxnSpPr>
        <p:spPr>
          <a:xfrm>
            <a:off x="2381224" y="3392805"/>
            <a:ext cx="3333774" cy="2117"/>
          </a:xfrm>
          <a:prstGeom prst="line">
            <a:avLst/>
          </a:prstGeom>
          <a:ln w="571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custDataLst>
              <p:tags r:id="rId8"/>
            </p:custDataLst>
          </p:nvPr>
        </p:nvCxnSpPr>
        <p:spPr>
          <a:xfrm>
            <a:off x="2381224" y="3392805"/>
            <a:ext cx="1083310" cy="0"/>
          </a:xfrm>
          <a:prstGeom prst="line">
            <a:avLst/>
          </a:prstGeom>
          <a:ln w="57150">
            <a:solidFill>
              <a:srgbClr val="604A7B"/>
            </a:solidFill>
            <a:tailEnd type="oval"/>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761963" y="3202303"/>
            <a:ext cx="863600" cy="297180"/>
          </a:xfrm>
          <a:prstGeom prst="rect">
            <a:avLst/>
          </a:prstGeom>
        </p:spPr>
        <p:txBody>
          <a:bodyPr wrap="none">
            <a:spAutoFit/>
          </a:bodyPr>
          <a:lstStyle/>
          <a:p>
            <a:pPr algn="l"/>
            <a:r>
              <a:rPr lang="zh-CN" altLang="en-US" sz="1335" dirty="0">
                <a:solidFill>
                  <a:srgbClr val="604A7B"/>
                </a:solidFill>
                <a:cs typeface="+mn-ea"/>
                <a:sym typeface="+mn-lt"/>
              </a:rPr>
              <a:t>工作效率</a:t>
            </a:r>
            <a:endParaRPr lang="zh-CN" altLang="en-US" sz="1335" dirty="0">
              <a:solidFill>
                <a:srgbClr val="604A7B"/>
              </a:solidFill>
              <a:cs typeface="+mn-ea"/>
              <a:sym typeface="+mn-lt"/>
            </a:endParaRPr>
          </a:p>
        </p:txBody>
      </p:sp>
      <p:sp>
        <p:nvSpPr>
          <p:cNvPr id="38" name="Rectangle 37"/>
          <p:cNvSpPr/>
          <p:nvPr>
            <p:custDataLst>
              <p:tags r:id="rId9"/>
            </p:custDataLst>
          </p:nvPr>
        </p:nvSpPr>
        <p:spPr>
          <a:xfrm>
            <a:off x="6096001" y="3202303"/>
            <a:ext cx="523240" cy="297180"/>
          </a:xfrm>
          <a:prstGeom prst="rect">
            <a:avLst/>
          </a:prstGeom>
        </p:spPr>
        <p:txBody>
          <a:bodyPr wrap="none">
            <a:spAutoFit/>
          </a:bodyPr>
          <a:lstStyle/>
          <a:p>
            <a:r>
              <a:rPr lang="en-US" sz="1335" dirty="0">
                <a:solidFill>
                  <a:srgbClr val="604A7B"/>
                </a:solidFill>
                <a:cs typeface="+mn-ea"/>
                <a:sym typeface="+mn-lt"/>
              </a:rPr>
              <a:t>20%</a:t>
            </a:r>
            <a:endParaRPr lang="en-US" sz="1335" dirty="0">
              <a:solidFill>
                <a:srgbClr val="604A7B"/>
              </a:solidFill>
              <a:cs typeface="+mn-ea"/>
              <a:sym typeface="+mn-lt"/>
            </a:endParaRPr>
          </a:p>
        </p:txBody>
      </p:sp>
      <p:cxnSp>
        <p:nvCxnSpPr>
          <p:cNvPr id="26" name="Straight Connector 25"/>
          <p:cNvCxnSpPr/>
          <p:nvPr>
            <p:custDataLst>
              <p:tags r:id="rId10"/>
            </p:custDataLst>
          </p:nvPr>
        </p:nvCxnSpPr>
        <p:spPr>
          <a:xfrm>
            <a:off x="2381224" y="3964308"/>
            <a:ext cx="3333774" cy="2117"/>
          </a:xfrm>
          <a:prstGeom prst="line">
            <a:avLst/>
          </a:prstGeom>
          <a:ln w="571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custDataLst>
              <p:tags r:id="rId11"/>
            </p:custDataLst>
          </p:nvPr>
        </p:nvCxnSpPr>
        <p:spPr>
          <a:xfrm>
            <a:off x="2381224" y="3964308"/>
            <a:ext cx="480060" cy="0"/>
          </a:xfrm>
          <a:prstGeom prst="line">
            <a:avLst/>
          </a:prstGeom>
          <a:ln w="57150">
            <a:solidFill>
              <a:srgbClr val="604A7B"/>
            </a:solidFill>
            <a:tailEnd type="oval"/>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761963" y="3773806"/>
            <a:ext cx="863600" cy="297180"/>
          </a:xfrm>
          <a:prstGeom prst="rect">
            <a:avLst/>
          </a:prstGeom>
        </p:spPr>
        <p:txBody>
          <a:bodyPr wrap="none">
            <a:spAutoFit/>
          </a:bodyPr>
          <a:lstStyle/>
          <a:p>
            <a:pPr algn="l"/>
            <a:r>
              <a:rPr lang="zh-CN" altLang="en-US" sz="1335" dirty="0">
                <a:solidFill>
                  <a:srgbClr val="604A7B"/>
                </a:solidFill>
                <a:cs typeface="+mn-ea"/>
                <a:sym typeface="+mn-lt"/>
              </a:rPr>
              <a:t>工作权重</a:t>
            </a:r>
            <a:endParaRPr lang="zh-CN" altLang="en-US" sz="1335" dirty="0">
              <a:solidFill>
                <a:srgbClr val="604A7B"/>
              </a:solidFill>
              <a:cs typeface="+mn-ea"/>
              <a:sym typeface="+mn-lt"/>
            </a:endParaRPr>
          </a:p>
        </p:txBody>
      </p:sp>
      <p:sp>
        <p:nvSpPr>
          <p:cNvPr id="39" name="Rectangle 38"/>
          <p:cNvSpPr/>
          <p:nvPr>
            <p:custDataLst>
              <p:tags r:id="rId12"/>
            </p:custDataLst>
          </p:nvPr>
        </p:nvSpPr>
        <p:spPr>
          <a:xfrm>
            <a:off x="6096001" y="3773806"/>
            <a:ext cx="523240" cy="297180"/>
          </a:xfrm>
          <a:prstGeom prst="rect">
            <a:avLst/>
          </a:prstGeom>
        </p:spPr>
        <p:txBody>
          <a:bodyPr wrap="none">
            <a:spAutoFit/>
          </a:bodyPr>
          <a:lstStyle/>
          <a:p>
            <a:r>
              <a:rPr lang="en-US" sz="1335" dirty="0">
                <a:solidFill>
                  <a:srgbClr val="604A7B"/>
                </a:solidFill>
                <a:cs typeface="+mn-ea"/>
                <a:sym typeface="+mn-lt"/>
              </a:rPr>
              <a:t>10%</a:t>
            </a:r>
            <a:endParaRPr lang="en-US" sz="1335" dirty="0">
              <a:solidFill>
                <a:srgbClr val="604A7B"/>
              </a:solidFill>
              <a:cs typeface="+mn-ea"/>
              <a:sym typeface="+mn-lt"/>
            </a:endParaRPr>
          </a:p>
        </p:txBody>
      </p:sp>
      <p:sp>
        <p:nvSpPr>
          <p:cNvPr id="53" name="矩形 52"/>
          <p:cNvSpPr/>
          <p:nvPr/>
        </p:nvSpPr>
        <p:spPr>
          <a:xfrm>
            <a:off x="5042313" y="808829"/>
            <a:ext cx="2107374" cy="229870"/>
          </a:xfrm>
          <a:prstGeom prst="rect">
            <a:avLst/>
          </a:prstGeom>
        </p:spPr>
        <p:txBody>
          <a:bodyPr wrap="square">
            <a:spAutoFit/>
          </a:bodyPr>
          <a:lstStyle/>
          <a:p>
            <a:pPr algn="ctr">
              <a:lnSpc>
                <a:spcPct val="100000"/>
              </a:lnSpc>
            </a:pPr>
            <a:r>
              <a:rPr lang="en-US" altLang="zh-CN" sz="900" dirty="0">
                <a:solidFill>
                  <a:schemeClr val="tx1">
                    <a:lumMod val="65000"/>
                    <a:lumOff val="35000"/>
                  </a:schemeClr>
                </a:solidFill>
                <a:cs typeface="+mn-ea"/>
                <a:sym typeface="+mn-lt"/>
              </a:rPr>
              <a:t>Performance self-assessment</a:t>
            </a:r>
            <a:endParaRPr lang="en-US" altLang="zh-CN" sz="900" dirty="0">
              <a:solidFill>
                <a:schemeClr val="tx1">
                  <a:lumMod val="65000"/>
                  <a:lumOff val="35000"/>
                </a:schemeClr>
              </a:solidFill>
              <a:cs typeface="+mn-ea"/>
              <a:sym typeface="+mn-lt"/>
            </a:endParaRPr>
          </a:p>
        </p:txBody>
      </p:sp>
      <p:sp>
        <p:nvSpPr>
          <p:cNvPr id="54" name="文本框 53"/>
          <p:cNvSpPr txBox="1"/>
          <p:nvPr/>
        </p:nvSpPr>
        <p:spPr>
          <a:xfrm>
            <a:off x="4729519" y="332748"/>
            <a:ext cx="2732964" cy="546100"/>
          </a:xfrm>
          <a:prstGeom prst="rect">
            <a:avLst/>
          </a:prstGeom>
          <a:noFill/>
        </p:spPr>
        <p:txBody>
          <a:bodyPr wrap="square" rtlCol="0">
            <a:spAutoFit/>
          </a:bodyPr>
          <a:lstStyle>
            <a:defPPr>
              <a:defRPr lang="zh-CN"/>
            </a:defPPr>
            <a:lvl1pPr algn="ctr">
              <a:defRPr sz="2955" b="1">
                <a:solidFill>
                  <a:schemeClr val="tx1">
                    <a:lumMod val="65000"/>
                    <a:lumOff val="35000"/>
                  </a:schemeClr>
                </a:solidFill>
                <a:cs typeface="+mn-ea"/>
              </a:defRPr>
            </a:lvl1pPr>
          </a:lstStyle>
          <a:p>
            <a:r>
              <a:rPr lang="zh-CN" altLang="en-US" dirty="0" smtClean="0">
                <a:sym typeface="+mn-lt"/>
              </a:rPr>
              <a:t>绩效自评</a:t>
            </a:r>
            <a:endParaRPr lang="zh-CN" altLang="en-US" dirty="0">
              <a:sym typeface="+mn-lt"/>
            </a:endParaRPr>
          </a:p>
        </p:txBody>
      </p:sp>
      <p:cxnSp>
        <p:nvCxnSpPr>
          <p:cNvPr id="55" name="Straight Connector 5"/>
          <p:cNvCxnSpPr/>
          <p:nvPr/>
        </p:nvCxnSpPr>
        <p:spPr>
          <a:xfrm>
            <a:off x="5561428" y="1065998"/>
            <a:ext cx="1069144" cy="0"/>
          </a:xfrm>
          <a:prstGeom prst="line">
            <a:avLst/>
          </a:prstGeom>
          <a:ln w="41275">
            <a:solidFill>
              <a:srgbClr val="604A7B"/>
            </a:solidFill>
          </a:ln>
        </p:spPr>
        <p:style>
          <a:lnRef idx="1">
            <a:schemeClr val="accent1"/>
          </a:lnRef>
          <a:fillRef idx="0">
            <a:schemeClr val="accent1"/>
          </a:fillRef>
          <a:effectRef idx="0">
            <a:schemeClr val="accent1"/>
          </a:effectRef>
          <a:fontRef idx="minor">
            <a:schemeClr val="tx1"/>
          </a:fontRef>
        </p:style>
      </p:cxnSp>
      <p:sp>
        <p:nvSpPr>
          <p:cNvPr id="2" name="Rectangle 34"/>
          <p:cNvSpPr/>
          <p:nvPr/>
        </p:nvSpPr>
        <p:spPr>
          <a:xfrm>
            <a:off x="761963" y="4423411"/>
            <a:ext cx="863600" cy="297180"/>
          </a:xfrm>
          <a:prstGeom prst="rect">
            <a:avLst/>
          </a:prstGeom>
        </p:spPr>
        <p:txBody>
          <a:bodyPr wrap="none">
            <a:spAutoFit/>
          </a:bodyPr>
          <a:p>
            <a:pPr algn="l"/>
            <a:r>
              <a:rPr lang="zh-CN" altLang="en-US" sz="1335" dirty="0">
                <a:solidFill>
                  <a:srgbClr val="604A7B"/>
                </a:solidFill>
                <a:cs typeface="+mn-ea"/>
                <a:sym typeface="+mn-lt"/>
              </a:rPr>
              <a:t>学习分享</a:t>
            </a:r>
            <a:endParaRPr lang="zh-CN" altLang="en-US" sz="1335" dirty="0">
              <a:solidFill>
                <a:srgbClr val="604A7B"/>
              </a:solidFill>
              <a:cs typeface="+mn-ea"/>
              <a:sym typeface="+mn-lt"/>
            </a:endParaRPr>
          </a:p>
        </p:txBody>
      </p:sp>
      <p:cxnSp>
        <p:nvCxnSpPr>
          <p:cNvPr id="3" name="Straight Connector 25"/>
          <p:cNvCxnSpPr/>
          <p:nvPr>
            <p:custDataLst>
              <p:tags r:id="rId13"/>
            </p:custDataLst>
          </p:nvPr>
        </p:nvCxnSpPr>
        <p:spPr>
          <a:xfrm>
            <a:off x="2381224" y="4575178"/>
            <a:ext cx="3333774" cy="2117"/>
          </a:xfrm>
          <a:prstGeom prst="line">
            <a:avLst/>
          </a:prstGeom>
          <a:ln w="571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26"/>
          <p:cNvCxnSpPr/>
          <p:nvPr>
            <p:custDataLst>
              <p:tags r:id="rId14"/>
            </p:custDataLst>
          </p:nvPr>
        </p:nvCxnSpPr>
        <p:spPr>
          <a:xfrm>
            <a:off x="2381224" y="4575178"/>
            <a:ext cx="311785" cy="0"/>
          </a:xfrm>
          <a:prstGeom prst="line">
            <a:avLst/>
          </a:prstGeom>
          <a:ln w="57150">
            <a:solidFill>
              <a:srgbClr val="604A7B"/>
            </a:solidFill>
            <a:tailEnd type="oval"/>
          </a:ln>
        </p:spPr>
        <p:style>
          <a:lnRef idx="1">
            <a:schemeClr val="accent1"/>
          </a:lnRef>
          <a:fillRef idx="0">
            <a:schemeClr val="accent1"/>
          </a:fillRef>
          <a:effectRef idx="0">
            <a:schemeClr val="accent1"/>
          </a:effectRef>
          <a:fontRef idx="minor">
            <a:schemeClr val="tx1"/>
          </a:fontRef>
        </p:style>
      </p:cxnSp>
      <p:sp>
        <p:nvSpPr>
          <p:cNvPr id="5" name="Rectangle 38"/>
          <p:cNvSpPr/>
          <p:nvPr>
            <p:custDataLst>
              <p:tags r:id="rId15"/>
            </p:custDataLst>
          </p:nvPr>
        </p:nvSpPr>
        <p:spPr>
          <a:xfrm>
            <a:off x="6096001" y="4423411"/>
            <a:ext cx="428625" cy="297180"/>
          </a:xfrm>
          <a:prstGeom prst="rect">
            <a:avLst/>
          </a:prstGeom>
        </p:spPr>
        <p:txBody>
          <a:bodyPr wrap="none">
            <a:spAutoFit/>
          </a:bodyPr>
          <a:p>
            <a:r>
              <a:rPr lang="en-US" sz="1335" dirty="0">
                <a:solidFill>
                  <a:srgbClr val="604A7B"/>
                </a:solidFill>
                <a:cs typeface="+mn-ea"/>
                <a:sym typeface="+mn-lt"/>
              </a:rPr>
              <a:t>5%</a:t>
            </a:r>
            <a:endParaRPr lang="en-US" sz="1335" dirty="0">
              <a:solidFill>
                <a:srgbClr val="604A7B"/>
              </a:solidFill>
              <a:cs typeface="+mn-ea"/>
              <a:sym typeface="+mn-lt"/>
            </a:endParaRPr>
          </a:p>
        </p:txBody>
      </p:sp>
      <p:cxnSp>
        <p:nvCxnSpPr>
          <p:cNvPr id="7" name="Straight Connector 18"/>
          <p:cNvCxnSpPr/>
          <p:nvPr>
            <p:custDataLst>
              <p:tags r:id="rId16"/>
            </p:custDataLst>
          </p:nvPr>
        </p:nvCxnSpPr>
        <p:spPr>
          <a:xfrm>
            <a:off x="2381224" y="1692902"/>
            <a:ext cx="3333774" cy="2117"/>
          </a:xfrm>
          <a:prstGeom prst="line">
            <a:avLst/>
          </a:prstGeom>
          <a:ln w="571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19"/>
          <p:cNvCxnSpPr/>
          <p:nvPr>
            <p:custDataLst>
              <p:tags r:id="rId17"/>
            </p:custDataLst>
          </p:nvPr>
        </p:nvCxnSpPr>
        <p:spPr>
          <a:xfrm>
            <a:off x="2381224" y="1692902"/>
            <a:ext cx="450850" cy="0"/>
          </a:xfrm>
          <a:prstGeom prst="line">
            <a:avLst/>
          </a:prstGeom>
          <a:ln w="57150">
            <a:solidFill>
              <a:srgbClr val="604A7B"/>
            </a:solidFill>
            <a:tailEnd type="oval"/>
          </a:ln>
        </p:spPr>
        <p:style>
          <a:lnRef idx="1">
            <a:schemeClr val="accent1"/>
          </a:lnRef>
          <a:fillRef idx="0">
            <a:schemeClr val="accent1"/>
          </a:fillRef>
          <a:effectRef idx="0">
            <a:schemeClr val="accent1"/>
          </a:effectRef>
          <a:fontRef idx="minor">
            <a:schemeClr val="tx1"/>
          </a:fontRef>
        </p:style>
      </p:cxnSp>
      <p:sp>
        <p:nvSpPr>
          <p:cNvPr id="9" name="Rectangle 31"/>
          <p:cNvSpPr/>
          <p:nvPr/>
        </p:nvSpPr>
        <p:spPr>
          <a:xfrm>
            <a:off x="761963" y="1502400"/>
            <a:ext cx="1033780" cy="297180"/>
          </a:xfrm>
          <a:prstGeom prst="rect">
            <a:avLst/>
          </a:prstGeom>
        </p:spPr>
        <p:txBody>
          <a:bodyPr wrap="none">
            <a:spAutoFit/>
          </a:bodyPr>
          <a:p>
            <a:pPr algn="l"/>
            <a:r>
              <a:rPr lang="zh-CN" altLang="en-US" sz="1335" dirty="0">
                <a:solidFill>
                  <a:srgbClr val="604A7B"/>
                </a:solidFill>
                <a:cs typeface="+mn-ea"/>
                <a:sym typeface="+mn-lt"/>
              </a:rPr>
              <a:t>核心价值观</a:t>
            </a:r>
            <a:endParaRPr lang="zh-CN" altLang="en-US" sz="1335" dirty="0">
              <a:solidFill>
                <a:srgbClr val="604A7B"/>
              </a:solidFill>
              <a:cs typeface="+mn-ea"/>
              <a:sym typeface="+mn-lt"/>
            </a:endParaRPr>
          </a:p>
        </p:txBody>
      </p:sp>
      <p:sp>
        <p:nvSpPr>
          <p:cNvPr id="10" name="Rectangle 35"/>
          <p:cNvSpPr/>
          <p:nvPr>
            <p:custDataLst>
              <p:tags r:id="rId18"/>
            </p:custDataLst>
          </p:nvPr>
        </p:nvSpPr>
        <p:spPr>
          <a:xfrm>
            <a:off x="6096001" y="1502400"/>
            <a:ext cx="523240" cy="297180"/>
          </a:xfrm>
          <a:prstGeom prst="rect">
            <a:avLst/>
          </a:prstGeom>
        </p:spPr>
        <p:txBody>
          <a:bodyPr wrap="none">
            <a:spAutoFit/>
          </a:bodyPr>
          <a:p>
            <a:r>
              <a:rPr lang="en-US" sz="1335" dirty="0">
                <a:solidFill>
                  <a:srgbClr val="604A7B"/>
                </a:solidFill>
                <a:cs typeface="+mn-ea"/>
                <a:sym typeface="+mn-lt"/>
              </a:rPr>
              <a:t>10%</a:t>
            </a:r>
            <a:endParaRPr lang="en-US" sz="1335" dirty="0">
              <a:solidFill>
                <a:srgbClr val="604A7B"/>
              </a:solidFill>
              <a:cs typeface="+mn-ea"/>
              <a:sym typeface="+mn-lt"/>
            </a:endParaRPr>
          </a:p>
        </p:txBody>
      </p:sp>
      <p:sp>
        <p:nvSpPr>
          <p:cNvPr id="18" name="Rectangle 35"/>
          <p:cNvSpPr/>
          <p:nvPr>
            <p:custDataLst>
              <p:tags r:id="rId19"/>
            </p:custDataLst>
          </p:nvPr>
        </p:nvSpPr>
        <p:spPr>
          <a:xfrm>
            <a:off x="9633586" y="2059295"/>
            <a:ext cx="277495" cy="297180"/>
          </a:xfrm>
          <a:prstGeom prst="rect">
            <a:avLst/>
          </a:prstGeom>
        </p:spPr>
        <p:txBody>
          <a:bodyPr wrap="none">
            <a:spAutoFit/>
          </a:bodyPr>
          <a:p>
            <a:r>
              <a:rPr lang="en-US" sz="1335" dirty="0">
                <a:solidFill>
                  <a:srgbClr val="604A7B"/>
                </a:solidFill>
                <a:cs typeface="+mn-ea"/>
                <a:sym typeface="+mn-lt"/>
              </a:rPr>
              <a:t>5</a:t>
            </a:r>
            <a:endParaRPr lang="en-US" sz="1335" dirty="0">
              <a:solidFill>
                <a:srgbClr val="604A7B"/>
              </a:solidFill>
              <a:cs typeface="+mn-ea"/>
              <a:sym typeface="+mn-lt"/>
            </a:endParaRPr>
          </a:p>
        </p:txBody>
      </p:sp>
      <p:sp>
        <p:nvSpPr>
          <p:cNvPr id="21" name="Rectangle 36"/>
          <p:cNvSpPr/>
          <p:nvPr>
            <p:custDataLst>
              <p:tags r:id="rId20"/>
            </p:custDataLst>
          </p:nvPr>
        </p:nvSpPr>
        <p:spPr>
          <a:xfrm>
            <a:off x="9633586" y="2630799"/>
            <a:ext cx="277495" cy="297180"/>
          </a:xfrm>
          <a:prstGeom prst="rect">
            <a:avLst/>
          </a:prstGeom>
        </p:spPr>
        <p:txBody>
          <a:bodyPr wrap="none">
            <a:spAutoFit/>
          </a:bodyPr>
          <a:p>
            <a:r>
              <a:rPr lang="en-US" sz="1335" dirty="0">
                <a:solidFill>
                  <a:srgbClr val="604A7B"/>
                </a:solidFill>
                <a:cs typeface="+mn-ea"/>
                <a:sym typeface="+mn-lt"/>
              </a:rPr>
              <a:t>4</a:t>
            </a:r>
            <a:endParaRPr lang="en-US" sz="1335" dirty="0">
              <a:solidFill>
                <a:srgbClr val="604A7B"/>
              </a:solidFill>
              <a:cs typeface="+mn-ea"/>
              <a:sym typeface="+mn-lt"/>
            </a:endParaRPr>
          </a:p>
        </p:txBody>
      </p:sp>
      <p:sp>
        <p:nvSpPr>
          <p:cNvPr id="28" name="Rectangle 37"/>
          <p:cNvSpPr/>
          <p:nvPr>
            <p:custDataLst>
              <p:tags r:id="rId21"/>
            </p:custDataLst>
          </p:nvPr>
        </p:nvSpPr>
        <p:spPr>
          <a:xfrm>
            <a:off x="9633586" y="3202303"/>
            <a:ext cx="277495" cy="297180"/>
          </a:xfrm>
          <a:prstGeom prst="rect">
            <a:avLst/>
          </a:prstGeom>
        </p:spPr>
        <p:txBody>
          <a:bodyPr wrap="none">
            <a:spAutoFit/>
          </a:bodyPr>
          <a:p>
            <a:r>
              <a:rPr lang="en-US" sz="1335" dirty="0">
                <a:solidFill>
                  <a:srgbClr val="604A7B"/>
                </a:solidFill>
                <a:cs typeface="+mn-ea"/>
                <a:sym typeface="+mn-lt"/>
              </a:rPr>
              <a:t>4</a:t>
            </a:r>
            <a:endParaRPr lang="en-US" sz="1335" dirty="0">
              <a:solidFill>
                <a:srgbClr val="604A7B"/>
              </a:solidFill>
              <a:cs typeface="+mn-ea"/>
              <a:sym typeface="+mn-lt"/>
            </a:endParaRPr>
          </a:p>
        </p:txBody>
      </p:sp>
      <p:sp>
        <p:nvSpPr>
          <p:cNvPr id="29" name="Rectangle 38"/>
          <p:cNvSpPr/>
          <p:nvPr>
            <p:custDataLst>
              <p:tags r:id="rId22"/>
            </p:custDataLst>
          </p:nvPr>
        </p:nvSpPr>
        <p:spPr>
          <a:xfrm>
            <a:off x="9633586" y="3773806"/>
            <a:ext cx="277495" cy="297180"/>
          </a:xfrm>
          <a:prstGeom prst="rect">
            <a:avLst/>
          </a:prstGeom>
        </p:spPr>
        <p:txBody>
          <a:bodyPr wrap="none">
            <a:spAutoFit/>
          </a:bodyPr>
          <a:p>
            <a:r>
              <a:rPr lang="en-US" sz="1335" dirty="0">
                <a:solidFill>
                  <a:srgbClr val="604A7B"/>
                </a:solidFill>
                <a:cs typeface="+mn-ea"/>
                <a:sym typeface="+mn-lt"/>
              </a:rPr>
              <a:t>4</a:t>
            </a:r>
            <a:endParaRPr lang="en-US" sz="1335" dirty="0">
              <a:solidFill>
                <a:srgbClr val="604A7B"/>
              </a:solidFill>
              <a:cs typeface="+mn-ea"/>
              <a:sym typeface="+mn-lt"/>
            </a:endParaRPr>
          </a:p>
        </p:txBody>
      </p:sp>
      <p:sp>
        <p:nvSpPr>
          <p:cNvPr id="30" name="Rectangle 38"/>
          <p:cNvSpPr/>
          <p:nvPr>
            <p:custDataLst>
              <p:tags r:id="rId23"/>
            </p:custDataLst>
          </p:nvPr>
        </p:nvSpPr>
        <p:spPr>
          <a:xfrm>
            <a:off x="9633586" y="4423411"/>
            <a:ext cx="277495" cy="297180"/>
          </a:xfrm>
          <a:prstGeom prst="rect">
            <a:avLst/>
          </a:prstGeom>
        </p:spPr>
        <p:txBody>
          <a:bodyPr wrap="none">
            <a:spAutoFit/>
          </a:bodyPr>
          <a:p>
            <a:r>
              <a:rPr lang="en-US" sz="1335" dirty="0">
                <a:solidFill>
                  <a:srgbClr val="604A7B"/>
                </a:solidFill>
                <a:cs typeface="+mn-ea"/>
                <a:sym typeface="+mn-lt"/>
              </a:rPr>
              <a:t>4</a:t>
            </a:r>
            <a:endParaRPr lang="en-US" sz="1335" dirty="0">
              <a:solidFill>
                <a:srgbClr val="604A7B"/>
              </a:solidFill>
              <a:cs typeface="+mn-ea"/>
              <a:sym typeface="+mn-lt"/>
            </a:endParaRPr>
          </a:p>
        </p:txBody>
      </p:sp>
      <p:sp>
        <p:nvSpPr>
          <p:cNvPr id="31" name="Rectangle 35"/>
          <p:cNvSpPr/>
          <p:nvPr>
            <p:custDataLst>
              <p:tags r:id="rId24"/>
            </p:custDataLst>
          </p:nvPr>
        </p:nvSpPr>
        <p:spPr>
          <a:xfrm>
            <a:off x="9633586" y="1502400"/>
            <a:ext cx="277495" cy="297180"/>
          </a:xfrm>
          <a:prstGeom prst="rect">
            <a:avLst/>
          </a:prstGeom>
        </p:spPr>
        <p:txBody>
          <a:bodyPr wrap="none">
            <a:spAutoFit/>
          </a:bodyPr>
          <a:p>
            <a:r>
              <a:rPr lang="en-US" sz="1335" dirty="0">
                <a:solidFill>
                  <a:srgbClr val="604A7B"/>
                </a:solidFill>
                <a:cs typeface="+mn-ea"/>
                <a:sym typeface="+mn-lt"/>
              </a:rPr>
              <a:t>4</a:t>
            </a:r>
            <a:endParaRPr lang="en-US" sz="1335" dirty="0">
              <a:solidFill>
                <a:srgbClr val="604A7B"/>
              </a:solidFill>
              <a:cs typeface="+mn-ea"/>
              <a:sym typeface="+mn-lt"/>
            </a:endParaRPr>
          </a:p>
        </p:txBody>
      </p:sp>
      <p:sp>
        <p:nvSpPr>
          <p:cNvPr id="40" name="Rectangle 31"/>
          <p:cNvSpPr/>
          <p:nvPr/>
        </p:nvSpPr>
        <p:spPr>
          <a:xfrm>
            <a:off x="9350375" y="702310"/>
            <a:ext cx="869950" cy="297180"/>
          </a:xfrm>
          <a:prstGeom prst="rect">
            <a:avLst/>
          </a:prstGeom>
        </p:spPr>
        <p:txBody>
          <a:bodyPr wrap="square">
            <a:spAutoFit/>
          </a:bodyPr>
          <a:p>
            <a:pPr algn="l"/>
            <a:r>
              <a:rPr lang="zh-CN" altLang="en-US" sz="1335" dirty="0">
                <a:solidFill>
                  <a:srgbClr val="604A7B"/>
                </a:solidFill>
                <a:cs typeface="+mn-ea"/>
                <a:sym typeface="+mn-lt"/>
              </a:rPr>
              <a:t>自我</a:t>
            </a:r>
            <a:r>
              <a:rPr lang="zh-CN" altLang="en-US" sz="1335" dirty="0">
                <a:solidFill>
                  <a:srgbClr val="604A7B"/>
                </a:solidFill>
                <a:cs typeface="+mn-ea"/>
                <a:sym typeface="+mn-lt"/>
              </a:rPr>
              <a:t>评分</a:t>
            </a:r>
            <a:endParaRPr lang="zh-CN" altLang="en-US" sz="1335" dirty="0">
              <a:solidFill>
                <a:srgbClr val="604A7B"/>
              </a:solidFill>
              <a:cs typeface="+mn-ea"/>
              <a:sym typeface="+mn-lt"/>
            </a:endParaRPr>
          </a:p>
        </p:txBody>
      </p:sp>
      <p:sp>
        <p:nvSpPr>
          <p:cNvPr id="41" name="Rectangle 31"/>
          <p:cNvSpPr/>
          <p:nvPr/>
        </p:nvSpPr>
        <p:spPr>
          <a:xfrm>
            <a:off x="8576273" y="999480"/>
            <a:ext cx="2411730" cy="368300"/>
          </a:xfrm>
          <a:prstGeom prst="rect">
            <a:avLst/>
          </a:prstGeom>
        </p:spPr>
        <p:txBody>
          <a:bodyPr wrap="none">
            <a:spAutoFit/>
          </a:bodyPr>
          <a:p>
            <a:pPr algn="l"/>
            <a:r>
              <a:rPr lang="zh-CN" altLang="en-US" sz="900" dirty="0">
                <a:solidFill>
                  <a:schemeClr val="tx1"/>
                </a:solidFill>
                <a:cs typeface="+mn-ea"/>
                <a:sym typeface="+mn-lt"/>
              </a:rPr>
              <a:t>远超过预期</a:t>
            </a:r>
            <a:r>
              <a:rPr lang="en-US" altLang="zh-CN" sz="900" dirty="0">
                <a:solidFill>
                  <a:schemeClr val="tx1"/>
                </a:solidFill>
                <a:cs typeface="+mn-ea"/>
                <a:sym typeface="+mn-lt"/>
              </a:rPr>
              <a:t>-5 </a:t>
            </a:r>
            <a:r>
              <a:rPr lang="zh-CN" altLang="en-US" sz="900" dirty="0">
                <a:solidFill>
                  <a:schemeClr val="tx1"/>
                </a:solidFill>
                <a:cs typeface="+mn-ea"/>
                <a:sym typeface="+mn-lt"/>
              </a:rPr>
              <a:t>超出预期</a:t>
            </a:r>
            <a:r>
              <a:rPr lang="en-US" altLang="zh-CN" sz="900" dirty="0">
                <a:solidFill>
                  <a:schemeClr val="tx1"/>
                </a:solidFill>
                <a:cs typeface="+mn-ea"/>
                <a:sym typeface="+mn-lt"/>
              </a:rPr>
              <a:t>-4 </a:t>
            </a:r>
            <a:r>
              <a:rPr lang="zh-CN" altLang="en-US" sz="900" dirty="0">
                <a:solidFill>
                  <a:schemeClr val="tx1"/>
                </a:solidFill>
                <a:cs typeface="+mn-ea"/>
                <a:sym typeface="+mn-lt"/>
              </a:rPr>
              <a:t>达到预期</a:t>
            </a:r>
            <a:r>
              <a:rPr lang="en-US" altLang="zh-CN" sz="900" dirty="0">
                <a:solidFill>
                  <a:schemeClr val="tx1"/>
                </a:solidFill>
                <a:cs typeface="+mn-ea"/>
                <a:sym typeface="+mn-lt"/>
              </a:rPr>
              <a:t>-3 </a:t>
            </a:r>
            <a:r>
              <a:rPr lang="zh-CN" altLang="en-US" sz="900" dirty="0">
                <a:solidFill>
                  <a:schemeClr val="tx1"/>
                </a:solidFill>
                <a:cs typeface="+mn-ea"/>
                <a:sym typeface="+mn-lt"/>
              </a:rPr>
              <a:t>低于预</a:t>
            </a:r>
            <a:endParaRPr lang="zh-CN" altLang="en-US" sz="900" dirty="0">
              <a:solidFill>
                <a:schemeClr val="tx1"/>
              </a:solidFill>
              <a:cs typeface="+mn-ea"/>
              <a:sym typeface="+mn-lt"/>
            </a:endParaRPr>
          </a:p>
          <a:p>
            <a:pPr algn="l"/>
            <a:r>
              <a:rPr lang="zh-CN" altLang="en-US" sz="900" dirty="0">
                <a:solidFill>
                  <a:schemeClr val="tx1"/>
                </a:solidFill>
                <a:cs typeface="+mn-ea"/>
                <a:sym typeface="+mn-lt"/>
              </a:rPr>
              <a:t>期</a:t>
            </a:r>
            <a:r>
              <a:rPr lang="en-US" altLang="zh-CN" sz="900" dirty="0">
                <a:solidFill>
                  <a:schemeClr val="tx1"/>
                </a:solidFill>
                <a:cs typeface="+mn-ea"/>
                <a:sym typeface="+mn-lt"/>
              </a:rPr>
              <a:t>-2 </a:t>
            </a:r>
            <a:r>
              <a:rPr lang="zh-CN" altLang="en-US" sz="900" dirty="0">
                <a:solidFill>
                  <a:schemeClr val="tx1"/>
                </a:solidFill>
                <a:cs typeface="+mn-ea"/>
                <a:sym typeface="+mn-lt"/>
              </a:rPr>
              <a:t>明显低于预期</a:t>
            </a:r>
            <a:r>
              <a:rPr lang="en-US" altLang="zh-CN" sz="900" dirty="0">
                <a:solidFill>
                  <a:schemeClr val="tx1"/>
                </a:solidFill>
                <a:cs typeface="+mn-ea"/>
                <a:sym typeface="+mn-lt"/>
              </a:rPr>
              <a:t>-1</a:t>
            </a:r>
            <a:r>
              <a:rPr lang="zh-CN" altLang="en-US" sz="900" dirty="0">
                <a:solidFill>
                  <a:schemeClr val="tx1"/>
                </a:solidFill>
                <a:cs typeface="+mn-ea"/>
                <a:sym typeface="+mn-lt"/>
              </a:rPr>
              <a:t>无任何进展</a:t>
            </a:r>
            <a:r>
              <a:rPr lang="en-US" altLang="zh-CN" sz="900" dirty="0">
                <a:solidFill>
                  <a:schemeClr val="tx1"/>
                </a:solidFill>
                <a:cs typeface="+mn-ea"/>
                <a:sym typeface="+mn-lt"/>
              </a:rPr>
              <a:t>-0</a:t>
            </a:r>
            <a:endParaRPr lang="en-US" altLang="zh-CN" sz="900" dirty="0">
              <a:solidFill>
                <a:schemeClr val="tx1"/>
              </a:solidFill>
              <a:cs typeface="+mn-ea"/>
              <a:sym typeface="+mn-lt"/>
            </a:endParaRPr>
          </a:p>
        </p:txBody>
      </p:sp>
      <p:sp>
        <p:nvSpPr>
          <p:cNvPr id="43" name="Rectangle 31"/>
          <p:cNvSpPr/>
          <p:nvPr/>
        </p:nvSpPr>
        <p:spPr>
          <a:xfrm>
            <a:off x="6041390" y="1205230"/>
            <a:ext cx="557530" cy="297180"/>
          </a:xfrm>
          <a:prstGeom prst="rect">
            <a:avLst/>
          </a:prstGeom>
        </p:spPr>
        <p:txBody>
          <a:bodyPr wrap="square">
            <a:spAutoFit/>
          </a:bodyPr>
          <a:p>
            <a:pPr algn="l"/>
            <a:r>
              <a:rPr lang="zh-CN" altLang="en-US" sz="1335" dirty="0">
                <a:solidFill>
                  <a:srgbClr val="604A7B"/>
                </a:solidFill>
                <a:cs typeface="+mn-ea"/>
                <a:sym typeface="+mn-lt"/>
              </a:rPr>
              <a:t>权重</a:t>
            </a:r>
            <a:endParaRPr lang="zh-CN" altLang="en-US" sz="1335" dirty="0">
              <a:solidFill>
                <a:srgbClr val="604A7B"/>
              </a:solidFill>
              <a:cs typeface="+mn-ea"/>
              <a:sym typeface="+mn-lt"/>
            </a:endParaRPr>
          </a:p>
        </p:txBody>
      </p:sp>
    </p:spTree>
  </p:cSld>
  <p:clrMapOvr>
    <a:masterClrMapping/>
  </p:clrMapOvr>
  <p:transition advClick="0">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p:cNvSpPr/>
          <p:nvPr/>
        </p:nvSpPr>
        <p:spPr>
          <a:xfrm>
            <a:off x="671195" y="1471930"/>
            <a:ext cx="11104245" cy="4930775"/>
          </a:xfrm>
          <a:prstGeom prst="rect">
            <a:avLst/>
          </a:prstGeom>
        </p:spPr>
        <p:txBody>
          <a:bodyPr wrap="square">
            <a:noAutofit/>
          </a:bodyPr>
          <a:lstStyle/>
          <a:p>
            <a:pPr>
              <a:lnSpc>
                <a:spcPct val="150000"/>
              </a:lnSpc>
            </a:pPr>
            <a:r>
              <a:rPr lang="zh-CN" altLang="en-US" sz="1400" dirty="0">
                <a:solidFill>
                  <a:prstClr val="white">
                    <a:lumMod val="65000"/>
                  </a:prstClr>
                </a:solidFill>
                <a:cs typeface="+mn-ea"/>
                <a:sym typeface="+mn-lt"/>
              </a:rPr>
              <a:t>本年度主要有以下几个功能</a:t>
            </a:r>
            <a:r>
              <a:rPr lang="zh-CN" altLang="en-US" sz="1400" dirty="0">
                <a:solidFill>
                  <a:prstClr val="white">
                    <a:lumMod val="65000"/>
                  </a:prstClr>
                </a:solidFill>
                <a:cs typeface="+mn-ea"/>
                <a:sym typeface="+mn-lt"/>
              </a:rPr>
              <a:t>模块的开发：</a:t>
            </a:r>
            <a:endParaRPr lang="zh-CN" altLang="en-US" sz="1400" dirty="0">
              <a:solidFill>
                <a:prstClr val="white">
                  <a:lumMod val="65000"/>
                </a:prstClr>
              </a:solidFill>
              <a:cs typeface="+mn-ea"/>
              <a:sym typeface="+mn-lt"/>
            </a:endParaRPr>
          </a:p>
          <a:p>
            <a:pPr>
              <a:lnSpc>
                <a:spcPct val="150000"/>
              </a:lnSpc>
            </a:pPr>
            <a:endParaRPr lang="zh-CN" altLang="en-US" sz="10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1.</a:t>
            </a:r>
            <a:r>
              <a:rPr lang="zh-CN" altLang="en-US" sz="1200" dirty="0">
                <a:solidFill>
                  <a:prstClr val="white">
                    <a:lumMod val="65000"/>
                  </a:prstClr>
                </a:solidFill>
                <a:cs typeface="+mn-ea"/>
                <a:sym typeface="+mn-lt"/>
              </a:rPr>
              <a:t>三方登录模块：</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支持客户端基于</a:t>
            </a:r>
            <a:r>
              <a:rPr lang="en-US" altLang="zh-CN" sz="1200" dirty="0">
                <a:solidFill>
                  <a:prstClr val="white">
                    <a:lumMod val="65000"/>
                  </a:prstClr>
                </a:solidFill>
                <a:cs typeface="+mn-ea"/>
                <a:sym typeface="+mn-lt"/>
              </a:rPr>
              <a:t>TapTap</a:t>
            </a:r>
            <a:r>
              <a:rPr lang="zh-CN" altLang="en-US" sz="1200" dirty="0">
                <a:solidFill>
                  <a:prstClr val="white">
                    <a:lumMod val="65000"/>
                  </a:prstClr>
                </a:solidFill>
                <a:cs typeface="+mn-ea"/>
                <a:sym typeface="+mn-lt"/>
              </a:rPr>
              <a:t>渠道和官方渠道的账号登录系统。</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2.</a:t>
            </a:r>
            <a:r>
              <a:rPr lang="zh-CN" altLang="en-US" sz="1200" dirty="0">
                <a:solidFill>
                  <a:prstClr val="white">
                    <a:lumMod val="65000"/>
                  </a:prstClr>
                </a:solidFill>
                <a:cs typeface="+mn-ea"/>
                <a:sym typeface="+mn-lt"/>
              </a:rPr>
              <a:t>防沉迷系统：</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实现基于国家未成年人游戏的防沉迷政策，实现只在指定时间段内向未成年账号提供游戏服务的功能模块。</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3.</a:t>
            </a:r>
            <a:r>
              <a:rPr lang="zh-CN" altLang="en-US" sz="1200" dirty="0">
                <a:solidFill>
                  <a:prstClr val="white">
                    <a:lumMod val="65000"/>
                  </a:prstClr>
                </a:solidFill>
                <a:cs typeface="+mn-ea"/>
                <a:sym typeface="+mn-lt"/>
              </a:rPr>
              <a:t>绑定手机号：</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基于</a:t>
            </a:r>
            <a:r>
              <a:rPr lang="en-US" altLang="zh-CN" sz="1200" dirty="0">
                <a:solidFill>
                  <a:prstClr val="white">
                    <a:lumMod val="65000"/>
                  </a:prstClr>
                </a:solidFill>
                <a:cs typeface="+mn-ea"/>
                <a:sym typeface="+mn-lt"/>
              </a:rPr>
              <a:t>TapTap</a:t>
            </a:r>
            <a:r>
              <a:rPr lang="zh-CN" altLang="en-US" sz="1200" dirty="0">
                <a:solidFill>
                  <a:prstClr val="white">
                    <a:lumMod val="65000"/>
                  </a:prstClr>
                </a:solidFill>
                <a:cs typeface="+mn-ea"/>
                <a:sym typeface="+mn-lt"/>
              </a:rPr>
              <a:t>平台账号登录无法获取账号信息的衍生功能。</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4.</a:t>
            </a:r>
            <a:r>
              <a:rPr lang="zh-CN" altLang="en-US" sz="1200" dirty="0">
                <a:solidFill>
                  <a:prstClr val="white">
                    <a:lumMod val="65000"/>
                  </a:prstClr>
                </a:solidFill>
                <a:cs typeface="+mn-ea"/>
                <a:sym typeface="+mn-lt"/>
              </a:rPr>
              <a:t>精灵抽卡系统：</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迭代和改版精灵抽卡系统，包括有支持单、十连和百连抽、翻牌和保底奖励，支持多卡池组和限时卡池、抽卡历史记录的查看。</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5.</a:t>
            </a:r>
            <a:r>
              <a:rPr lang="zh-CN" altLang="en-US" sz="1200" dirty="0">
                <a:solidFill>
                  <a:prstClr val="white">
                    <a:lumMod val="65000"/>
                  </a:prstClr>
                </a:solidFill>
                <a:cs typeface="+mn-ea"/>
                <a:sym typeface="+mn-lt"/>
              </a:rPr>
              <a:t>采集系统模块：</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维护原采集功能，包括有支持采集属性加成、支持连续采集、采集事件；开发新的采集功能分支，包括有个人宝箱、个人景观点。</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6.</a:t>
            </a:r>
            <a:r>
              <a:rPr lang="zh-CN" altLang="en-US" sz="1200" dirty="0">
                <a:solidFill>
                  <a:prstClr val="white">
                    <a:lumMod val="65000"/>
                  </a:prstClr>
                </a:solidFill>
                <a:cs typeface="+mn-ea"/>
                <a:sym typeface="+mn-lt"/>
              </a:rPr>
              <a:t>定时和限时刷新：通过地图编辑器配置，实现了可以基于指定时间点才刷新实体的定时刷新和基于指定时间段才生成和销毁的限时刷新功能。</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7.</a:t>
            </a:r>
            <a:r>
              <a:rPr lang="zh-CN" altLang="en-US" sz="1200" dirty="0">
                <a:solidFill>
                  <a:prstClr val="white">
                    <a:lumMod val="65000"/>
                  </a:prstClr>
                </a:solidFill>
                <a:cs typeface="+mn-ea"/>
                <a:sym typeface="+mn-lt"/>
              </a:rPr>
              <a:t>临时解锁技能：</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通过领取任务来临时解锁职业指定技能，在任务完成或者失败时移除以达到提前体验技能的功能。</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8.</a:t>
            </a:r>
            <a:r>
              <a:rPr lang="zh-CN" altLang="en-US" sz="1200" dirty="0">
                <a:solidFill>
                  <a:prstClr val="white">
                    <a:lumMod val="65000"/>
                  </a:prstClr>
                </a:solidFill>
                <a:cs typeface="+mn-ea"/>
                <a:sym typeface="+mn-lt"/>
              </a:rPr>
              <a:t>特殊</a:t>
            </a:r>
            <a:r>
              <a:rPr lang="en-US" altLang="zh-CN" sz="1200" dirty="0">
                <a:solidFill>
                  <a:prstClr val="white">
                    <a:lumMod val="65000"/>
                  </a:prstClr>
                </a:solidFill>
                <a:cs typeface="+mn-ea"/>
                <a:sym typeface="+mn-lt"/>
              </a:rPr>
              <a:t>AI</a:t>
            </a:r>
            <a:r>
              <a:rPr lang="zh-CN" altLang="en-US" sz="1200" dirty="0">
                <a:solidFill>
                  <a:prstClr val="white">
                    <a:lumMod val="65000"/>
                  </a:prstClr>
                </a:solidFill>
                <a:cs typeface="+mn-ea"/>
                <a:sym typeface="+mn-lt"/>
              </a:rPr>
              <a:t>逻辑：</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实现了某些包含特殊出生动画和重置动画，且期间无法被攻击的特殊</a:t>
            </a:r>
            <a:r>
              <a:rPr lang="en-US" altLang="zh-CN" sz="1200" dirty="0">
                <a:solidFill>
                  <a:prstClr val="white">
                    <a:lumMod val="65000"/>
                  </a:prstClr>
                </a:solidFill>
                <a:cs typeface="+mn-ea"/>
                <a:sym typeface="+mn-lt"/>
              </a:rPr>
              <a:t>AI Machine</a:t>
            </a:r>
            <a:r>
              <a:rPr lang="zh-CN" altLang="en-US" sz="1200" dirty="0">
                <a:solidFill>
                  <a:prstClr val="white">
                    <a:lumMod val="65000"/>
                  </a:prstClr>
                </a:solidFill>
                <a:cs typeface="+mn-ea"/>
                <a:sym typeface="+mn-lt"/>
              </a:rPr>
              <a:t>，包括有雕塑怪、巢虫和沙虫等，同时加速</a:t>
            </a:r>
            <a:r>
              <a:rPr lang="en-US" altLang="zh-CN" sz="1200" dirty="0">
                <a:solidFill>
                  <a:prstClr val="white">
                    <a:lumMod val="65000"/>
                  </a:prstClr>
                </a:solidFill>
                <a:cs typeface="+mn-ea"/>
                <a:sym typeface="+mn-lt"/>
              </a:rPr>
              <a:t>AI Tick</a:t>
            </a:r>
            <a:r>
              <a:rPr lang="zh-CN" altLang="en-US" sz="1200" dirty="0">
                <a:solidFill>
                  <a:prstClr val="white">
                    <a:lumMod val="65000"/>
                  </a:prstClr>
                </a:solidFill>
                <a:cs typeface="+mn-ea"/>
                <a:sym typeface="+mn-lt"/>
              </a:rPr>
              <a:t>的时间从而</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达到优化由于系统固定</a:t>
            </a:r>
            <a:r>
              <a:rPr lang="en-US" altLang="zh-CN" sz="1200" dirty="0">
                <a:solidFill>
                  <a:prstClr val="white">
                    <a:lumMod val="65000"/>
                  </a:prstClr>
                </a:solidFill>
                <a:cs typeface="+mn-ea"/>
                <a:sym typeface="+mn-lt"/>
              </a:rPr>
              <a:t>1</a:t>
            </a:r>
            <a:r>
              <a:rPr lang="zh-CN" altLang="en-US" sz="1200" dirty="0">
                <a:solidFill>
                  <a:prstClr val="white">
                    <a:lumMod val="65000"/>
                  </a:prstClr>
                </a:solidFill>
                <a:cs typeface="+mn-ea"/>
                <a:sym typeface="+mn-lt"/>
              </a:rPr>
              <a:t>秒</a:t>
            </a:r>
            <a:r>
              <a:rPr lang="en-US" altLang="zh-CN" sz="1200" dirty="0">
                <a:solidFill>
                  <a:prstClr val="white">
                    <a:lumMod val="65000"/>
                  </a:prstClr>
                </a:solidFill>
                <a:cs typeface="+mn-ea"/>
                <a:sym typeface="+mn-lt"/>
              </a:rPr>
              <a:t>Tick</a:t>
            </a:r>
            <a:r>
              <a:rPr lang="zh-CN" altLang="en-US" sz="1200" dirty="0">
                <a:solidFill>
                  <a:prstClr val="white">
                    <a:lumMod val="65000"/>
                  </a:prstClr>
                </a:solidFill>
                <a:cs typeface="+mn-ea"/>
                <a:sym typeface="+mn-lt"/>
              </a:rPr>
              <a:t>造成的延迟问题。</a:t>
            </a:r>
            <a:endParaRPr lang="en-US" altLang="zh-CN"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9.</a:t>
            </a:r>
            <a:r>
              <a:rPr lang="zh-CN" altLang="en-US" sz="1200" dirty="0">
                <a:solidFill>
                  <a:prstClr val="white">
                    <a:lumMod val="65000"/>
                  </a:prstClr>
                </a:solidFill>
                <a:cs typeface="+mn-ea"/>
                <a:sym typeface="+mn-lt"/>
              </a:rPr>
              <a:t>团队功能模块：</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迭代团队功能，主要包括添加副团长职位和相关权限，支持自由调整团员位置、职位转让和下线职位处理逻辑。</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10.</a:t>
            </a:r>
            <a:r>
              <a:rPr lang="zh-CN" altLang="en-US" sz="1200" dirty="0">
                <a:solidFill>
                  <a:prstClr val="white">
                    <a:lumMod val="65000"/>
                  </a:prstClr>
                </a:solidFill>
                <a:cs typeface="+mn-ea"/>
                <a:sym typeface="+mn-lt"/>
              </a:rPr>
              <a:t>福利系统模块</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开发基于每日登录签到即可领取对应奖励的福利；</a:t>
            </a:r>
            <a:r>
              <a:rPr lang="en-US" altLang="zh-CN" sz="1200" dirty="0">
                <a:solidFill>
                  <a:prstClr val="white">
                    <a:lumMod val="65000"/>
                  </a:prstClr>
                </a:solidFill>
                <a:cs typeface="+mn-ea"/>
                <a:sym typeface="+mn-lt"/>
              </a:rPr>
              <a:t>PC</a:t>
            </a:r>
            <a:r>
              <a:rPr lang="zh-CN" altLang="en-US" sz="1200" dirty="0">
                <a:solidFill>
                  <a:prstClr val="white">
                    <a:lumMod val="65000"/>
                  </a:prstClr>
                </a:solidFill>
                <a:cs typeface="+mn-ea"/>
                <a:sym typeface="+mn-lt"/>
              </a:rPr>
              <a:t>引流的登录领取</a:t>
            </a:r>
            <a:r>
              <a:rPr lang="zh-CN" altLang="en-US" sz="1200" dirty="0">
                <a:solidFill>
                  <a:prstClr val="white">
                    <a:lumMod val="65000"/>
                  </a:prstClr>
                </a:solidFill>
                <a:cs typeface="+mn-ea"/>
                <a:sym typeface="+mn-lt"/>
              </a:rPr>
              <a:t>奖励的</a:t>
            </a:r>
            <a:r>
              <a:rPr lang="zh-CN" altLang="en-US" sz="1200" dirty="0">
                <a:solidFill>
                  <a:prstClr val="white">
                    <a:lumMod val="65000"/>
                  </a:prstClr>
                </a:solidFill>
                <a:cs typeface="+mn-ea"/>
                <a:sym typeface="+mn-lt"/>
              </a:rPr>
              <a:t>福利。</a:t>
            </a:r>
            <a:endParaRPr lang="en-US" altLang="zh-CN"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11.</a:t>
            </a:r>
            <a:r>
              <a:rPr lang="zh-CN" altLang="en-US" sz="1200" dirty="0">
                <a:solidFill>
                  <a:prstClr val="white">
                    <a:lumMod val="65000"/>
                  </a:prstClr>
                </a:solidFill>
                <a:cs typeface="+mn-ea"/>
                <a:sym typeface="+mn-lt"/>
              </a:rPr>
              <a:t>大世界实体组：</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基于分组和权重，可以在大世界任何地图上创建和刷新组内预设的实体，从而区别于当前的地图编辑器只会在固定地图固定区域刷新的功能。</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12.</a:t>
            </a:r>
            <a:r>
              <a:rPr lang="zh-CN" altLang="en-US" sz="1200" dirty="0">
                <a:solidFill>
                  <a:prstClr val="white">
                    <a:lumMod val="65000"/>
                  </a:prstClr>
                </a:solidFill>
                <a:cs typeface="+mn-ea"/>
                <a:sym typeface="+mn-lt"/>
              </a:rPr>
              <a:t>附带实体：</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通过地图编辑器配置，实现基于主实体创建和销毁时，可创建和销毁附带的子实体，如世界</a:t>
            </a:r>
            <a:r>
              <a:rPr lang="en-US" altLang="zh-CN" sz="1200" dirty="0">
                <a:solidFill>
                  <a:prstClr val="white">
                    <a:lumMod val="65000"/>
                  </a:prstClr>
                </a:solidFill>
                <a:cs typeface="+mn-ea"/>
                <a:sym typeface="+mn-lt"/>
              </a:rPr>
              <a:t>Boss</a:t>
            </a:r>
            <a:r>
              <a:rPr lang="zh-CN" altLang="en-US" sz="1200" dirty="0">
                <a:solidFill>
                  <a:prstClr val="white">
                    <a:lumMod val="65000"/>
                  </a:prstClr>
                </a:solidFill>
                <a:cs typeface="+mn-ea"/>
                <a:sym typeface="+mn-lt"/>
              </a:rPr>
              <a:t>的动态空气墙</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和</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特殊采集物的守护怪。</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其他还包括：</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如奖励获得优化</a:t>
            </a:r>
            <a:r>
              <a:rPr lang="en-US" altLang="zh-CN" sz="1200" dirty="0">
                <a:solidFill>
                  <a:prstClr val="white">
                    <a:lumMod val="65000"/>
                  </a:prstClr>
                </a:solidFill>
                <a:cs typeface="+mn-ea"/>
                <a:sym typeface="+mn-lt"/>
              </a:rPr>
              <a:t>(</a:t>
            </a:r>
            <a:r>
              <a:rPr lang="zh-CN" altLang="en-US" sz="1200" dirty="0">
                <a:solidFill>
                  <a:prstClr val="white">
                    <a:lumMod val="65000"/>
                  </a:prstClr>
                </a:solidFill>
                <a:cs typeface="+mn-ea"/>
                <a:sym typeface="+mn-lt"/>
              </a:rPr>
              <a:t>一键领取任务、成就等的所有奖励汇总展示</a:t>
            </a:r>
            <a:r>
              <a:rPr lang="en-US" altLang="zh-CN" sz="1200" dirty="0">
                <a:solidFill>
                  <a:prstClr val="white">
                    <a:lumMod val="65000"/>
                  </a:prstClr>
                </a:solidFill>
                <a:cs typeface="+mn-ea"/>
                <a:sym typeface="+mn-lt"/>
              </a:rPr>
              <a:t>)</a:t>
            </a:r>
            <a:r>
              <a:rPr lang="zh-CN" altLang="en-US" sz="1200" dirty="0">
                <a:solidFill>
                  <a:prstClr val="white">
                    <a:lumMod val="65000"/>
                  </a:prstClr>
                </a:solidFill>
                <a:cs typeface="+mn-ea"/>
                <a:sym typeface="+mn-lt"/>
              </a:rPr>
              <a:t>，新增黑铁、帮会金币等货币，地图解锁开放限制，技能解锁、技能射程和升级</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限</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制，坐骑、收集和快捷提示功能的优化，精灵事件和精灵技能</a:t>
            </a:r>
            <a:r>
              <a:rPr lang="en-US" altLang="zh-CN" sz="1200" dirty="0">
                <a:solidFill>
                  <a:prstClr val="white">
                    <a:lumMod val="65000"/>
                  </a:prstClr>
                </a:solidFill>
                <a:cs typeface="+mn-ea"/>
                <a:sym typeface="+mn-lt"/>
              </a:rPr>
              <a:t>CD</a:t>
            </a:r>
            <a:r>
              <a:rPr lang="zh-CN" altLang="en-US" sz="1200" dirty="0">
                <a:solidFill>
                  <a:prstClr val="white">
                    <a:lumMod val="65000"/>
                  </a:prstClr>
                </a:solidFill>
                <a:cs typeface="+mn-ea"/>
                <a:sym typeface="+mn-lt"/>
              </a:rPr>
              <a:t>优化等。</a:t>
            </a:r>
            <a:endParaRPr lang="zh-CN" altLang="en-US" sz="1200" dirty="0">
              <a:solidFill>
                <a:prstClr val="white">
                  <a:lumMod val="65000"/>
                </a:prstClr>
              </a:solidFill>
              <a:cs typeface="+mn-ea"/>
              <a:sym typeface="+mn-lt"/>
            </a:endParaRPr>
          </a:p>
          <a:p>
            <a:pPr>
              <a:lnSpc>
                <a:spcPct val="150000"/>
              </a:lnSpc>
            </a:pPr>
            <a:endParaRPr lang="en-US" altLang="zh-CN" sz="1200" dirty="0">
              <a:solidFill>
                <a:prstClr val="white">
                  <a:lumMod val="65000"/>
                </a:prstClr>
              </a:solidFill>
              <a:cs typeface="+mn-ea"/>
              <a:sym typeface="+mn-lt"/>
            </a:endParaRPr>
          </a:p>
        </p:txBody>
      </p:sp>
      <p:sp>
        <p:nvSpPr>
          <p:cNvPr id="48" name="Rectangle 47"/>
          <p:cNvSpPr/>
          <p:nvPr/>
        </p:nvSpPr>
        <p:spPr>
          <a:xfrm>
            <a:off x="773393" y="1038867"/>
            <a:ext cx="1808480" cy="337185"/>
          </a:xfrm>
          <a:prstGeom prst="rect">
            <a:avLst/>
          </a:prstGeom>
        </p:spPr>
        <p:txBody>
          <a:bodyPr wrap="none">
            <a:spAutoFit/>
          </a:bodyPr>
          <a:lstStyle/>
          <a:p>
            <a:r>
              <a:rPr lang="zh-CN" altLang="en-US" sz="1600" b="1" dirty="0">
                <a:solidFill>
                  <a:srgbClr val="000000">
                    <a:lumMod val="85000"/>
                    <a:lumOff val="15000"/>
                  </a:srgbClr>
                </a:solidFill>
                <a:cs typeface="+mn-ea"/>
                <a:sym typeface="+mn-lt"/>
              </a:rPr>
              <a:t>主要工作成果概述</a:t>
            </a:r>
            <a:endParaRPr lang="en-US" sz="1600" b="1" dirty="0">
              <a:solidFill>
                <a:srgbClr val="000000">
                  <a:lumMod val="85000"/>
                  <a:lumOff val="15000"/>
                </a:srgbClr>
              </a:solidFill>
              <a:cs typeface="+mn-ea"/>
              <a:sym typeface="+mn-lt"/>
            </a:endParaRPr>
          </a:p>
        </p:txBody>
      </p:sp>
      <p:sp>
        <p:nvSpPr>
          <p:cNvPr id="53" name="矩形 52"/>
          <p:cNvSpPr/>
          <p:nvPr/>
        </p:nvSpPr>
        <p:spPr>
          <a:xfrm>
            <a:off x="5042313" y="808829"/>
            <a:ext cx="2107374" cy="229870"/>
          </a:xfrm>
          <a:prstGeom prst="rect">
            <a:avLst/>
          </a:prstGeom>
        </p:spPr>
        <p:txBody>
          <a:bodyPr wrap="square">
            <a:spAutoFit/>
          </a:bodyPr>
          <a:lstStyle/>
          <a:p>
            <a:pPr algn="ctr">
              <a:lnSpc>
                <a:spcPct val="100000"/>
              </a:lnSpc>
            </a:pPr>
            <a:r>
              <a:rPr lang="en-US" altLang="zh-CN" sz="900" dirty="0">
                <a:solidFill>
                  <a:schemeClr val="tx1">
                    <a:lumMod val="65000"/>
                    <a:lumOff val="35000"/>
                  </a:schemeClr>
                </a:solidFill>
                <a:cs typeface="+mn-ea"/>
                <a:sym typeface="+mn-lt"/>
              </a:rPr>
              <a:t>Performance self-assessment</a:t>
            </a:r>
            <a:endParaRPr lang="en-US" altLang="zh-CN" sz="900" dirty="0">
              <a:solidFill>
                <a:schemeClr val="tx1">
                  <a:lumMod val="65000"/>
                  <a:lumOff val="35000"/>
                </a:schemeClr>
              </a:solidFill>
              <a:cs typeface="+mn-ea"/>
              <a:sym typeface="+mn-lt"/>
            </a:endParaRPr>
          </a:p>
        </p:txBody>
      </p:sp>
      <p:sp>
        <p:nvSpPr>
          <p:cNvPr id="54" name="文本框 53"/>
          <p:cNvSpPr txBox="1"/>
          <p:nvPr/>
        </p:nvSpPr>
        <p:spPr>
          <a:xfrm>
            <a:off x="4729519" y="332748"/>
            <a:ext cx="2732964" cy="546100"/>
          </a:xfrm>
          <a:prstGeom prst="rect">
            <a:avLst/>
          </a:prstGeom>
          <a:noFill/>
        </p:spPr>
        <p:txBody>
          <a:bodyPr wrap="square" rtlCol="0">
            <a:spAutoFit/>
          </a:bodyPr>
          <a:lstStyle>
            <a:defPPr>
              <a:defRPr lang="zh-CN"/>
            </a:defPPr>
            <a:lvl1pPr algn="ctr">
              <a:defRPr sz="2955" b="1">
                <a:solidFill>
                  <a:schemeClr val="tx1">
                    <a:lumMod val="65000"/>
                    <a:lumOff val="35000"/>
                  </a:schemeClr>
                </a:solidFill>
                <a:cs typeface="+mn-ea"/>
              </a:defRPr>
            </a:lvl1pPr>
          </a:lstStyle>
          <a:p>
            <a:r>
              <a:rPr lang="zh-CN" altLang="en-US" dirty="0" smtClean="0">
                <a:sym typeface="+mn-lt"/>
              </a:rPr>
              <a:t>绩效自评</a:t>
            </a:r>
            <a:endParaRPr lang="zh-CN" altLang="en-US" dirty="0">
              <a:sym typeface="+mn-lt"/>
            </a:endParaRPr>
          </a:p>
        </p:txBody>
      </p:sp>
    </p:spTree>
  </p:cSld>
  <p:clrMapOvr>
    <a:masterClrMapping/>
  </p:clrMapOvr>
  <p:transition advClick="0">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p:cNvSpPr/>
          <p:nvPr/>
        </p:nvSpPr>
        <p:spPr>
          <a:xfrm>
            <a:off x="762000" y="1740535"/>
            <a:ext cx="10843895" cy="4612640"/>
          </a:xfrm>
          <a:prstGeom prst="rect">
            <a:avLst/>
          </a:prstGeom>
        </p:spPr>
        <p:txBody>
          <a:bodyPr wrap="square">
            <a:noAutofit/>
          </a:bodyPr>
          <a:lstStyle/>
          <a:p>
            <a:pPr>
              <a:lnSpc>
                <a:spcPct val="150000"/>
              </a:lnSpc>
            </a:pP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入职以来，我始终围绕</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以玩家为中心、与团队共成长、与公司同发展</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的观念工作。</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面对工作，注重代码服务的稳定性与体验优化，通过持续的性能调优、问题排查和机制改进，让服务器运行压力更小、更流畅、更可靠。</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面对同事，坚持透明沟通、主动协作，在技术方案、代码评审和</a:t>
            </a:r>
            <a:r>
              <a:rPr lang="en-US" altLang="zh-CN" sz="1200" dirty="0">
                <a:solidFill>
                  <a:prstClr val="white">
                    <a:lumMod val="65000"/>
                  </a:prstClr>
                </a:solidFill>
                <a:cs typeface="+mn-ea"/>
                <a:sym typeface="+mn-lt"/>
              </a:rPr>
              <a:t>bug</a:t>
            </a:r>
            <a:r>
              <a:rPr lang="zh-CN" altLang="en-US" sz="1200" dirty="0">
                <a:solidFill>
                  <a:prstClr val="white">
                    <a:lumMod val="65000"/>
                  </a:prstClr>
                </a:solidFill>
                <a:cs typeface="+mn-ea"/>
                <a:sym typeface="+mn-lt"/>
              </a:rPr>
              <a:t>处理中积极参与和讨论，和团队成员一起提升整体效率。</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面对公司，以结果为导向，在保证质量的前提下实现功能的落地，</a:t>
            </a:r>
            <a:r>
              <a:rPr lang="zh-CN" altLang="en-US" sz="1200" dirty="0">
                <a:solidFill>
                  <a:prstClr val="white">
                    <a:lumMod val="65000"/>
                  </a:prstClr>
                </a:solidFill>
                <a:cs typeface="+mn-ea"/>
                <a:sym typeface="+mn-lt"/>
              </a:rPr>
              <a:t>为模块长期稳定运行贡献技术支持</a:t>
            </a:r>
            <a:r>
              <a:rPr lang="zh-CN" altLang="en-US" sz="1200" dirty="0">
                <a:solidFill>
                  <a:prstClr val="white">
                    <a:lumMod val="65000"/>
                  </a:prstClr>
                </a:solidFill>
                <a:cs typeface="+mn-ea"/>
                <a:sym typeface="+mn-lt"/>
              </a:rPr>
              <a:t>。</a:t>
            </a:r>
            <a:r>
              <a:rPr lang="zh-CN" altLang="en-US" sz="1200" dirty="0">
                <a:solidFill>
                  <a:prstClr val="white">
                    <a:lumMod val="65000"/>
                  </a:prstClr>
                </a:solidFill>
                <a:cs typeface="+mn-ea"/>
                <a:sym typeface="+mn-lt"/>
              </a:rPr>
              <a:t>在项目进度紧张的情况下，主动加班，按时完成功能预期时间。</a:t>
            </a:r>
            <a:r>
              <a:rPr lang="zh-CN" altLang="en-US" sz="1200" dirty="0">
                <a:solidFill>
                  <a:prstClr val="white">
                    <a:lumMod val="65000"/>
                  </a:prstClr>
                </a:solidFill>
                <a:cs typeface="+mn-ea"/>
                <a:sym typeface="+mn-lt"/>
              </a:rPr>
              <a:t>积极参与公司每周的跑测、内侧，提供自己的缺陷意见等</a:t>
            </a:r>
            <a:r>
              <a:rPr lang="zh-CN" altLang="en-US" sz="1200" dirty="0">
                <a:solidFill>
                  <a:prstClr val="white">
                    <a:lumMod val="65000"/>
                  </a:prstClr>
                </a:solidFill>
                <a:cs typeface="+mn-ea"/>
                <a:sym typeface="+mn-lt"/>
              </a:rPr>
              <a:t>。</a:t>
            </a:r>
            <a:endParaRPr lang="zh-CN" altLang="en-US" sz="1200" dirty="0">
              <a:solidFill>
                <a:prstClr val="white">
                  <a:lumMod val="65000"/>
                </a:prstClr>
              </a:solidFill>
              <a:cs typeface="+mn-ea"/>
              <a:sym typeface="+mn-lt"/>
            </a:endParaRPr>
          </a:p>
        </p:txBody>
      </p:sp>
      <p:sp>
        <p:nvSpPr>
          <p:cNvPr id="53" name="矩形 52"/>
          <p:cNvSpPr/>
          <p:nvPr/>
        </p:nvSpPr>
        <p:spPr>
          <a:xfrm>
            <a:off x="5042313" y="808829"/>
            <a:ext cx="2107374" cy="229870"/>
          </a:xfrm>
          <a:prstGeom prst="rect">
            <a:avLst/>
          </a:prstGeom>
        </p:spPr>
        <p:txBody>
          <a:bodyPr wrap="square">
            <a:spAutoFit/>
          </a:bodyPr>
          <a:lstStyle/>
          <a:p>
            <a:pPr algn="ctr">
              <a:lnSpc>
                <a:spcPct val="100000"/>
              </a:lnSpc>
            </a:pPr>
            <a:r>
              <a:rPr lang="en-US" altLang="zh-CN" sz="900" dirty="0">
                <a:solidFill>
                  <a:schemeClr val="tx1">
                    <a:lumMod val="65000"/>
                    <a:lumOff val="35000"/>
                  </a:schemeClr>
                </a:solidFill>
                <a:cs typeface="+mn-ea"/>
                <a:sym typeface="+mn-lt"/>
              </a:rPr>
              <a:t>Performance self-assessment</a:t>
            </a:r>
            <a:endParaRPr lang="en-US" altLang="zh-CN" sz="900" dirty="0">
              <a:solidFill>
                <a:schemeClr val="tx1">
                  <a:lumMod val="65000"/>
                  <a:lumOff val="35000"/>
                </a:schemeClr>
              </a:solidFill>
              <a:cs typeface="+mn-ea"/>
              <a:sym typeface="+mn-lt"/>
            </a:endParaRPr>
          </a:p>
        </p:txBody>
      </p:sp>
      <p:sp>
        <p:nvSpPr>
          <p:cNvPr id="54" name="文本框 53"/>
          <p:cNvSpPr txBox="1"/>
          <p:nvPr/>
        </p:nvSpPr>
        <p:spPr>
          <a:xfrm>
            <a:off x="4729519" y="332748"/>
            <a:ext cx="2732964" cy="546100"/>
          </a:xfrm>
          <a:prstGeom prst="rect">
            <a:avLst/>
          </a:prstGeom>
          <a:noFill/>
        </p:spPr>
        <p:txBody>
          <a:bodyPr wrap="square" rtlCol="0">
            <a:spAutoFit/>
          </a:bodyPr>
          <a:lstStyle>
            <a:defPPr>
              <a:defRPr lang="zh-CN"/>
            </a:defPPr>
            <a:lvl1pPr algn="ctr">
              <a:defRPr sz="2955" b="1">
                <a:solidFill>
                  <a:schemeClr val="tx1">
                    <a:lumMod val="65000"/>
                    <a:lumOff val="35000"/>
                  </a:schemeClr>
                </a:solidFill>
                <a:cs typeface="+mn-ea"/>
              </a:defRPr>
            </a:lvl1pPr>
          </a:lstStyle>
          <a:p>
            <a:r>
              <a:rPr lang="zh-CN" altLang="en-US" dirty="0" smtClean="0">
                <a:sym typeface="+mn-lt"/>
              </a:rPr>
              <a:t>绩效自评</a:t>
            </a:r>
            <a:endParaRPr lang="zh-CN" altLang="en-US" dirty="0">
              <a:sym typeface="+mn-lt"/>
            </a:endParaRPr>
          </a:p>
        </p:txBody>
      </p:sp>
      <p:cxnSp>
        <p:nvCxnSpPr>
          <p:cNvPr id="55" name="Straight Connector 5"/>
          <p:cNvCxnSpPr/>
          <p:nvPr/>
        </p:nvCxnSpPr>
        <p:spPr>
          <a:xfrm>
            <a:off x="5561428" y="1065998"/>
            <a:ext cx="1069144" cy="0"/>
          </a:xfrm>
          <a:prstGeom prst="line">
            <a:avLst/>
          </a:prstGeom>
          <a:ln w="41275">
            <a:solidFill>
              <a:srgbClr val="604A7B"/>
            </a:solidFill>
          </a:ln>
        </p:spPr>
        <p:style>
          <a:lnRef idx="1">
            <a:schemeClr val="accent1"/>
          </a:lnRef>
          <a:fillRef idx="0">
            <a:schemeClr val="accent1"/>
          </a:fillRef>
          <a:effectRef idx="0">
            <a:schemeClr val="accent1"/>
          </a:effectRef>
          <a:fontRef idx="minor">
            <a:schemeClr val="tx1"/>
          </a:fontRef>
        </p:style>
      </p:cxnSp>
      <p:cxnSp>
        <p:nvCxnSpPr>
          <p:cNvPr id="7" name="Straight Connector 18"/>
          <p:cNvCxnSpPr/>
          <p:nvPr/>
        </p:nvCxnSpPr>
        <p:spPr>
          <a:xfrm>
            <a:off x="2381224" y="1487162"/>
            <a:ext cx="3333774" cy="2117"/>
          </a:xfrm>
          <a:prstGeom prst="line">
            <a:avLst/>
          </a:prstGeom>
          <a:ln w="571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19"/>
          <p:cNvCxnSpPr/>
          <p:nvPr/>
        </p:nvCxnSpPr>
        <p:spPr>
          <a:xfrm>
            <a:off x="2381224" y="1487162"/>
            <a:ext cx="450850" cy="0"/>
          </a:xfrm>
          <a:prstGeom prst="line">
            <a:avLst/>
          </a:prstGeom>
          <a:ln w="57150">
            <a:solidFill>
              <a:srgbClr val="604A7B"/>
            </a:solidFill>
            <a:tailEnd type="oval"/>
          </a:ln>
        </p:spPr>
        <p:style>
          <a:lnRef idx="1">
            <a:schemeClr val="accent1"/>
          </a:lnRef>
          <a:fillRef idx="0">
            <a:schemeClr val="accent1"/>
          </a:fillRef>
          <a:effectRef idx="0">
            <a:schemeClr val="accent1"/>
          </a:effectRef>
          <a:fontRef idx="minor">
            <a:schemeClr val="tx1"/>
          </a:fontRef>
        </p:style>
      </p:cxnSp>
      <p:sp>
        <p:nvSpPr>
          <p:cNvPr id="9" name="Rectangle 31"/>
          <p:cNvSpPr/>
          <p:nvPr/>
        </p:nvSpPr>
        <p:spPr>
          <a:xfrm>
            <a:off x="761963" y="1296660"/>
            <a:ext cx="1033780" cy="297180"/>
          </a:xfrm>
          <a:prstGeom prst="rect">
            <a:avLst/>
          </a:prstGeom>
        </p:spPr>
        <p:txBody>
          <a:bodyPr wrap="none">
            <a:spAutoFit/>
          </a:bodyPr>
          <a:p>
            <a:pPr algn="l"/>
            <a:r>
              <a:rPr lang="zh-CN" altLang="en-US" sz="1335" dirty="0">
                <a:solidFill>
                  <a:srgbClr val="604A7B"/>
                </a:solidFill>
                <a:cs typeface="+mn-ea"/>
                <a:sym typeface="+mn-lt"/>
              </a:rPr>
              <a:t>核心价值观</a:t>
            </a:r>
            <a:endParaRPr lang="zh-CN" altLang="en-US" sz="1335" dirty="0">
              <a:solidFill>
                <a:srgbClr val="604A7B"/>
              </a:solidFill>
              <a:cs typeface="+mn-ea"/>
              <a:sym typeface="+mn-lt"/>
            </a:endParaRPr>
          </a:p>
        </p:txBody>
      </p:sp>
      <p:sp>
        <p:nvSpPr>
          <p:cNvPr id="10" name="Rectangle 35"/>
          <p:cNvSpPr/>
          <p:nvPr/>
        </p:nvSpPr>
        <p:spPr>
          <a:xfrm>
            <a:off x="6096001" y="1296660"/>
            <a:ext cx="523240" cy="297180"/>
          </a:xfrm>
          <a:prstGeom prst="rect">
            <a:avLst/>
          </a:prstGeom>
        </p:spPr>
        <p:txBody>
          <a:bodyPr wrap="none">
            <a:spAutoFit/>
          </a:bodyPr>
          <a:p>
            <a:r>
              <a:rPr lang="en-US" sz="1335" dirty="0">
                <a:solidFill>
                  <a:srgbClr val="604A7B"/>
                </a:solidFill>
                <a:cs typeface="+mn-ea"/>
                <a:sym typeface="+mn-lt"/>
              </a:rPr>
              <a:t>10%</a:t>
            </a:r>
            <a:endParaRPr lang="en-US" sz="1335" dirty="0">
              <a:solidFill>
                <a:srgbClr val="604A7B"/>
              </a:solidFill>
              <a:cs typeface="+mn-ea"/>
              <a:sym typeface="+mn-lt"/>
            </a:endParaRPr>
          </a:p>
        </p:txBody>
      </p:sp>
    </p:spTree>
  </p:cSld>
  <p:clrMapOvr>
    <a:masterClrMapping/>
  </p:clrMapOvr>
  <p:transition advClick="0">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p:cNvSpPr/>
          <p:nvPr/>
        </p:nvSpPr>
        <p:spPr>
          <a:xfrm>
            <a:off x="762000" y="1740535"/>
            <a:ext cx="10843895" cy="4892040"/>
          </a:xfrm>
          <a:prstGeom prst="rect">
            <a:avLst/>
          </a:prstGeom>
        </p:spPr>
        <p:txBody>
          <a:bodyPr wrap="square">
            <a:noAutofit/>
          </a:bodyPr>
          <a:lstStyle/>
          <a:p>
            <a:pPr>
              <a:lnSpc>
                <a:spcPct val="150000"/>
              </a:lnSpc>
            </a:pP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始终重视与策划和客户端的协作，保持积极、高效的沟通</a:t>
            </a:r>
            <a:r>
              <a:rPr lang="en-US" altLang="zh-CN" sz="1200" dirty="0">
                <a:solidFill>
                  <a:prstClr val="white">
                    <a:lumMod val="65000"/>
                  </a:prstClr>
                </a:solidFill>
                <a:cs typeface="+mn-ea"/>
                <a:sym typeface="+mn-lt"/>
              </a:rPr>
              <a:t>(</a:t>
            </a:r>
            <a:r>
              <a:rPr lang="zh-CN" altLang="en-US" sz="1200" dirty="0">
                <a:solidFill>
                  <a:prstClr val="white">
                    <a:lumMod val="65000"/>
                  </a:prstClr>
                </a:solidFill>
                <a:cs typeface="+mn-ea"/>
                <a:sym typeface="+mn-lt"/>
              </a:rPr>
              <a:t>个人喜欢当面沟通，感觉效率更高</a:t>
            </a:r>
            <a:r>
              <a:rPr lang="en-US" altLang="zh-CN" sz="1200" dirty="0">
                <a:solidFill>
                  <a:prstClr val="white">
                    <a:lumMod val="65000"/>
                  </a:prstClr>
                </a:solidFill>
                <a:cs typeface="+mn-ea"/>
                <a:sym typeface="+mn-lt"/>
              </a:rPr>
              <a:t>)</a:t>
            </a:r>
            <a:r>
              <a:rPr lang="zh-CN" altLang="en-US" sz="1200" dirty="0">
                <a:solidFill>
                  <a:prstClr val="white">
                    <a:lumMod val="65000"/>
                  </a:prstClr>
                </a:solidFill>
                <a:cs typeface="+mn-ea"/>
                <a:sym typeface="+mn-lt"/>
              </a:rPr>
              <a:t>，及时对齐需求、解决问题，确保整个流程顺畅推进。通过与策划、客户端、测试的紧密配合，能够在保证技术质量的前提下，快速响应功能变化，采取对应的实现方案，最终达成高质量、稳定可靠的效果。</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坚持系统功能的模块化用例测试，包括通过现有的日志工具的打印分析、附加调试、</a:t>
            </a:r>
            <a:r>
              <a:rPr lang="en-US" altLang="zh-CN" sz="1200" dirty="0">
                <a:solidFill>
                  <a:prstClr val="white">
                    <a:lumMod val="65000"/>
                  </a:prstClr>
                </a:solidFill>
                <a:cs typeface="+mn-ea"/>
                <a:sym typeface="+mn-lt"/>
              </a:rPr>
              <a:t>hotreload</a:t>
            </a:r>
            <a:r>
              <a:rPr lang="zh-CN" altLang="en-US" sz="1200" dirty="0">
                <a:solidFill>
                  <a:prstClr val="white">
                    <a:lumMod val="65000"/>
                  </a:prstClr>
                </a:solidFill>
                <a:cs typeface="+mn-ea"/>
                <a:sym typeface="+mn-lt"/>
              </a:rPr>
              <a:t>热更调试，</a:t>
            </a:r>
            <a:r>
              <a:rPr lang="en-US" altLang="zh-CN" sz="1200" dirty="0">
                <a:solidFill>
                  <a:prstClr val="white">
                    <a:lumMod val="65000"/>
                  </a:prstClr>
                </a:solidFill>
                <a:cs typeface="+mn-ea"/>
                <a:sym typeface="+mn-lt"/>
              </a:rPr>
              <a:t>gm</a:t>
            </a:r>
            <a:r>
              <a:rPr lang="zh-CN" altLang="en-US" sz="1200" dirty="0">
                <a:solidFill>
                  <a:prstClr val="white">
                    <a:lumMod val="65000"/>
                  </a:prstClr>
                </a:solidFill>
                <a:cs typeface="+mn-ea"/>
                <a:sym typeface="+mn-lt"/>
              </a:rPr>
              <a:t>等实现用例自测，减少交付后的</a:t>
            </a:r>
            <a:r>
              <a:rPr lang="en-US" altLang="zh-CN" sz="1200" dirty="0">
                <a:solidFill>
                  <a:prstClr val="white">
                    <a:lumMod val="65000"/>
                  </a:prstClr>
                </a:solidFill>
                <a:cs typeface="+mn-ea"/>
                <a:sym typeface="+mn-lt"/>
              </a:rPr>
              <a:t>bug</a:t>
            </a:r>
            <a:r>
              <a:rPr lang="zh-CN" altLang="en-US" sz="1200" dirty="0">
                <a:solidFill>
                  <a:prstClr val="white">
                    <a:lumMod val="65000"/>
                  </a:prstClr>
                </a:solidFill>
                <a:cs typeface="+mn-ea"/>
                <a:sym typeface="+mn-lt"/>
              </a:rPr>
              <a:t>产出，实现业务的高质量完成。</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期间一共处理了</a:t>
            </a:r>
            <a:r>
              <a:rPr lang="en-US" sz="1200" dirty="0">
                <a:solidFill>
                  <a:prstClr val="white">
                    <a:lumMod val="65000"/>
                  </a:prstClr>
                </a:solidFill>
                <a:cs typeface="+mn-ea"/>
                <a:sym typeface="+mn-lt"/>
              </a:rPr>
              <a:t>114</a:t>
            </a:r>
            <a:r>
              <a:rPr lang="zh-CN" altLang="en-US" sz="1200" dirty="0">
                <a:solidFill>
                  <a:prstClr val="white">
                    <a:lumMod val="65000"/>
                  </a:prstClr>
                </a:solidFill>
                <a:cs typeface="+mn-ea"/>
                <a:sym typeface="+mn-lt"/>
              </a:rPr>
              <a:t>条总单，其中需求总单为</a:t>
            </a:r>
            <a:r>
              <a:rPr lang="en-US" altLang="zh-CN" sz="1200" dirty="0">
                <a:solidFill>
                  <a:prstClr val="white">
                    <a:lumMod val="65000"/>
                  </a:prstClr>
                </a:solidFill>
                <a:cs typeface="+mn-ea"/>
                <a:sym typeface="+mn-lt"/>
              </a:rPr>
              <a:t>59</a:t>
            </a:r>
            <a:r>
              <a:rPr lang="zh-CN" altLang="en-US" sz="1200" dirty="0">
                <a:solidFill>
                  <a:prstClr val="white">
                    <a:lumMod val="65000"/>
                  </a:prstClr>
                </a:solidFill>
                <a:cs typeface="+mn-ea"/>
                <a:sym typeface="+mn-lt"/>
              </a:rPr>
              <a:t>条，</a:t>
            </a:r>
            <a:r>
              <a:rPr lang="en-US" altLang="zh-CN" sz="1200" dirty="0">
                <a:solidFill>
                  <a:prstClr val="white">
                    <a:lumMod val="65000"/>
                  </a:prstClr>
                </a:solidFill>
                <a:cs typeface="+mn-ea"/>
                <a:sym typeface="+mn-lt"/>
              </a:rPr>
              <a:t>bug</a:t>
            </a:r>
            <a:r>
              <a:rPr lang="zh-CN" altLang="en-US" sz="1200" dirty="0">
                <a:solidFill>
                  <a:prstClr val="white">
                    <a:lumMod val="65000"/>
                  </a:prstClr>
                </a:solidFill>
                <a:cs typeface="+mn-ea"/>
                <a:sym typeface="+mn-lt"/>
              </a:rPr>
              <a:t>总单为</a:t>
            </a:r>
            <a:r>
              <a:rPr lang="en-US" altLang="zh-CN" sz="1200" dirty="0">
                <a:solidFill>
                  <a:prstClr val="white">
                    <a:lumMod val="65000"/>
                  </a:prstClr>
                </a:solidFill>
                <a:cs typeface="+mn-ea"/>
                <a:sym typeface="+mn-lt"/>
              </a:rPr>
              <a:t>55</a:t>
            </a:r>
            <a:r>
              <a:rPr lang="zh-CN" altLang="en-US" sz="1200" dirty="0">
                <a:solidFill>
                  <a:prstClr val="white">
                    <a:lumMod val="65000"/>
                  </a:prstClr>
                </a:solidFill>
                <a:cs typeface="+mn-ea"/>
                <a:sym typeface="+mn-lt"/>
              </a:rPr>
              <a:t>条，其中属于自己需求产出的功能性</a:t>
            </a:r>
            <a:r>
              <a:rPr lang="zh-CN" altLang="en-US" sz="1200" dirty="0">
                <a:solidFill>
                  <a:prstClr val="white">
                    <a:lumMod val="65000"/>
                  </a:prstClr>
                </a:solidFill>
                <a:cs typeface="+mn-ea"/>
                <a:sym typeface="+mn-lt"/>
              </a:rPr>
              <a:t>缺陷</a:t>
            </a:r>
            <a:r>
              <a:rPr lang="en-US" altLang="zh-CN" sz="1200" dirty="0">
                <a:solidFill>
                  <a:prstClr val="white">
                    <a:lumMod val="65000"/>
                  </a:prstClr>
                </a:solidFill>
                <a:cs typeface="+mn-ea"/>
                <a:sym typeface="+mn-lt"/>
              </a:rPr>
              <a:t>bug</a:t>
            </a:r>
            <a:r>
              <a:rPr lang="zh-CN" altLang="en-US" sz="1200" dirty="0">
                <a:solidFill>
                  <a:prstClr val="white">
                    <a:lumMod val="65000"/>
                  </a:prstClr>
                </a:solidFill>
                <a:cs typeface="+mn-ea"/>
                <a:sym typeface="+mn-lt"/>
              </a:rPr>
              <a:t>为</a:t>
            </a:r>
            <a:r>
              <a:rPr lang="en-US" altLang="zh-CN" sz="1200" dirty="0">
                <a:solidFill>
                  <a:prstClr val="white">
                    <a:lumMod val="65000"/>
                  </a:prstClr>
                </a:solidFill>
                <a:cs typeface="+mn-ea"/>
                <a:sym typeface="+mn-lt"/>
              </a:rPr>
              <a:t>8</a:t>
            </a:r>
            <a:r>
              <a:rPr lang="zh-CN" altLang="en-US" sz="1200" dirty="0">
                <a:solidFill>
                  <a:prstClr val="white">
                    <a:lumMod val="65000"/>
                  </a:prstClr>
                </a:solidFill>
                <a:cs typeface="+mn-ea"/>
                <a:sym typeface="+mn-lt"/>
              </a:rPr>
              <a:t>条，占比为</a:t>
            </a:r>
            <a:r>
              <a:rPr lang="en-US" altLang="zh-CN" sz="1200" dirty="0">
                <a:solidFill>
                  <a:prstClr val="white">
                    <a:lumMod val="65000"/>
                  </a:prstClr>
                </a:solidFill>
                <a:cs typeface="+mn-ea"/>
                <a:sym typeface="+mn-lt"/>
              </a:rPr>
              <a:t>14%</a:t>
            </a:r>
            <a:r>
              <a:rPr lang="zh-CN" altLang="en-US" sz="1200" dirty="0">
                <a:solidFill>
                  <a:prstClr val="white">
                    <a:lumMod val="65000"/>
                  </a:prstClr>
                </a:solidFill>
                <a:cs typeface="+mn-ea"/>
                <a:sym typeface="+mn-lt"/>
              </a:rPr>
              <a:t>，被分配修复的</a:t>
            </a:r>
            <a:r>
              <a:rPr lang="en-US" altLang="zh-CN" sz="1200" dirty="0">
                <a:solidFill>
                  <a:prstClr val="white">
                    <a:lumMod val="65000"/>
                  </a:prstClr>
                </a:solidFill>
                <a:cs typeface="+mn-ea"/>
                <a:sym typeface="+mn-lt"/>
              </a:rPr>
              <a:t>bug</a:t>
            </a:r>
            <a:r>
              <a:rPr lang="zh-CN" altLang="en-US" sz="1200" dirty="0">
                <a:solidFill>
                  <a:prstClr val="white">
                    <a:lumMod val="65000"/>
                  </a:prstClr>
                </a:solidFill>
                <a:cs typeface="+mn-ea"/>
                <a:sym typeface="+mn-lt"/>
              </a:rPr>
              <a:t>单为</a:t>
            </a:r>
            <a:r>
              <a:rPr lang="en-US" altLang="zh-CN" sz="1200" dirty="0">
                <a:solidFill>
                  <a:prstClr val="white">
                    <a:lumMod val="65000"/>
                  </a:prstClr>
                </a:solidFill>
                <a:cs typeface="+mn-ea"/>
                <a:sym typeface="+mn-lt"/>
              </a:rPr>
              <a:t>16</a:t>
            </a:r>
            <a:r>
              <a:rPr lang="zh-CN" altLang="en-US" sz="1200" dirty="0">
                <a:solidFill>
                  <a:prstClr val="white">
                    <a:lumMod val="65000"/>
                  </a:prstClr>
                </a:solidFill>
                <a:cs typeface="+mn-ea"/>
                <a:sym typeface="+mn-lt"/>
              </a:rPr>
              <a:t>条，占比为</a:t>
            </a:r>
            <a:r>
              <a:rPr lang="en-US" altLang="zh-CN" sz="1200" dirty="0">
                <a:solidFill>
                  <a:prstClr val="white">
                    <a:lumMod val="65000"/>
                  </a:prstClr>
                </a:solidFill>
                <a:cs typeface="+mn-ea"/>
                <a:sym typeface="+mn-lt"/>
              </a:rPr>
              <a:t>29%</a:t>
            </a:r>
            <a:r>
              <a:rPr lang="zh-CN" altLang="en-US" sz="1200" dirty="0">
                <a:solidFill>
                  <a:prstClr val="white">
                    <a:lumMod val="65000"/>
                  </a:prstClr>
                </a:solidFill>
                <a:cs typeface="+mn-ea"/>
                <a:sym typeface="+mn-lt"/>
              </a:rPr>
              <a:t>，其余为优化</a:t>
            </a:r>
            <a:r>
              <a:rPr lang="en-US" altLang="zh-CN" sz="1200" dirty="0">
                <a:solidFill>
                  <a:prstClr val="white">
                    <a:lumMod val="65000"/>
                  </a:prstClr>
                </a:solidFill>
                <a:cs typeface="+mn-ea"/>
                <a:sym typeface="+mn-lt"/>
              </a:rPr>
              <a:t>bug</a:t>
            </a:r>
            <a:r>
              <a:rPr lang="zh-CN" altLang="en-US" sz="1200" dirty="0">
                <a:solidFill>
                  <a:prstClr val="white">
                    <a:lumMod val="65000"/>
                  </a:prstClr>
                </a:solidFill>
                <a:cs typeface="+mn-ea"/>
                <a:sym typeface="+mn-lt"/>
              </a:rPr>
              <a:t>单占比约</a:t>
            </a:r>
            <a:r>
              <a:rPr lang="en-US" altLang="zh-CN" sz="1200" dirty="0">
                <a:solidFill>
                  <a:prstClr val="white">
                    <a:lumMod val="65000"/>
                  </a:prstClr>
                </a:solidFill>
                <a:cs typeface="+mn-ea"/>
                <a:sym typeface="+mn-lt"/>
              </a:rPr>
              <a:t>57%</a:t>
            </a:r>
            <a:r>
              <a:rPr lang="zh-CN" altLang="en-US" sz="1200" dirty="0">
                <a:solidFill>
                  <a:prstClr val="white">
                    <a:lumMod val="65000"/>
                  </a:prstClr>
                </a:solidFill>
                <a:cs typeface="+mn-ea"/>
                <a:sym typeface="+mn-lt"/>
              </a:rPr>
              <a:t>。</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希望后续能再接再厉，更加稳定高效，减少</a:t>
            </a:r>
            <a:r>
              <a:rPr lang="en-US" altLang="zh-CN" sz="1200" dirty="0">
                <a:solidFill>
                  <a:prstClr val="white">
                    <a:lumMod val="65000"/>
                  </a:prstClr>
                </a:solidFill>
                <a:cs typeface="+mn-ea"/>
                <a:sym typeface="+mn-lt"/>
              </a:rPr>
              <a:t>bug</a:t>
            </a:r>
            <a:r>
              <a:rPr lang="zh-CN" altLang="en-US" sz="1200" dirty="0">
                <a:solidFill>
                  <a:prstClr val="white">
                    <a:lumMod val="65000"/>
                  </a:prstClr>
                </a:solidFill>
                <a:cs typeface="+mn-ea"/>
                <a:sym typeface="+mn-lt"/>
              </a:rPr>
              <a:t>的产出。</a:t>
            </a:r>
            <a:endParaRPr lang="zh-CN" altLang="en-US" sz="1200" dirty="0">
              <a:solidFill>
                <a:prstClr val="white">
                  <a:lumMod val="65000"/>
                </a:prstClr>
              </a:solidFill>
              <a:cs typeface="+mn-ea"/>
              <a:sym typeface="+mn-lt"/>
            </a:endParaRPr>
          </a:p>
          <a:p>
            <a:pPr>
              <a:lnSpc>
                <a:spcPct val="150000"/>
              </a:lnSpc>
            </a:pPr>
            <a:endParaRPr lang="en-US" altLang="zh-CN" sz="800" dirty="0">
              <a:solidFill>
                <a:prstClr val="white">
                  <a:lumMod val="65000"/>
                </a:prstClr>
              </a:solidFill>
              <a:cs typeface="+mn-ea"/>
              <a:sym typeface="+mn-lt"/>
            </a:endParaRPr>
          </a:p>
        </p:txBody>
      </p:sp>
      <p:sp>
        <p:nvSpPr>
          <p:cNvPr id="53" name="矩形 52"/>
          <p:cNvSpPr/>
          <p:nvPr/>
        </p:nvSpPr>
        <p:spPr>
          <a:xfrm>
            <a:off x="5042313" y="808829"/>
            <a:ext cx="2107374" cy="229870"/>
          </a:xfrm>
          <a:prstGeom prst="rect">
            <a:avLst/>
          </a:prstGeom>
        </p:spPr>
        <p:txBody>
          <a:bodyPr wrap="square">
            <a:spAutoFit/>
          </a:bodyPr>
          <a:lstStyle/>
          <a:p>
            <a:pPr algn="ctr">
              <a:lnSpc>
                <a:spcPct val="100000"/>
              </a:lnSpc>
            </a:pPr>
            <a:r>
              <a:rPr lang="en-US" altLang="zh-CN" sz="900" dirty="0">
                <a:solidFill>
                  <a:schemeClr val="tx1">
                    <a:lumMod val="65000"/>
                    <a:lumOff val="35000"/>
                  </a:schemeClr>
                </a:solidFill>
                <a:cs typeface="+mn-ea"/>
                <a:sym typeface="+mn-lt"/>
              </a:rPr>
              <a:t>Performance self-assessment</a:t>
            </a:r>
            <a:endParaRPr lang="en-US" altLang="zh-CN" sz="900" dirty="0">
              <a:solidFill>
                <a:schemeClr val="tx1">
                  <a:lumMod val="65000"/>
                  <a:lumOff val="35000"/>
                </a:schemeClr>
              </a:solidFill>
              <a:cs typeface="+mn-ea"/>
              <a:sym typeface="+mn-lt"/>
            </a:endParaRPr>
          </a:p>
        </p:txBody>
      </p:sp>
      <p:sp>
        <p:nvSpPr>
          <p:cNvPr id="54" name="文本框 53"/>
          <p:cNvSpPr txBox="1"/>
          <p:nvPr/>
        </p:nvSpPr>
        <p:spPr>
          <a:xfrm>
            <a:off x="4729519" y="332748"/>
            <a:ext cx="2732964" cy="546100"/>
          </a:xfrm>
          <a:prstGeom prst="rect">
            <a:avLst/>
          </a:prstGeom>
          <a:noFill/>
        </p:spPr>
        <p:txBody>
          <a:bodyPr wrap="square" rtlCol="0">
            <a:spAutoFit/>
          </a:bodyPr>
          <a:lstStyle>
            <a:defPPr>
              <a:defRPr lang="zh-CN"/>
            </a:defPPr>
            <a:lvl1pPr algn="ctr">
              <a:defRPr sz="2955" b="1">
                <a:solidFill>
                  <a:schemeClr val="tx1">
                    <a:lumMod val="65000"/>
                    <a:lumOff val="35000"/>
                  </a:schemeClr>
                </a:solidFill>
                <a:cs typeface="+mn-ea"/>
              </a:defRPr>
            </a:lvl1pPr>
          </a:lstStyle>
          <a:p>
            <a:r>
              <a:rPr lang="zh-CN" altLang="en-US" dirty="0" smtClean="0">
                <a:sym typeface="+mn-lt"/>
              </a:rPr>
              <a:t>绩效自评</a:t>
            </a:r>
            <a:endParaRPr lang="zh-CN" altLang="en-US" dirty="0">
              <a:sym typeface="+mn-lt"/>
            </a:endParaRPr>
          </a:p>
        </p:txBody>
      </p:sp>
      <p:cxnSp>
        <p:nvCxnSpPr>
          <p:cNvPr id="55" name="Straight Connector 5"/>
          <p:cNvCxnSpPr/>
          <p:nvPr/>
        </p:nvCxnSpPr>
        <p:spPr>
          <a:xfrm>
            <a:off x="5561428" y="1065998"/>
            <a:ext cx="1069144" cy="0"/>
          </a:xfrm>
          <a:prstGeom prst="line">
            <a:avLst/>
          </a:prstGeom>
          <a:ln w="41275">
            <a:solidFill>
              <a:srgbClr val="604A7B"/>
            </a:solidFill>
          </a:ln>
        </p:spPr>
        <p:style>
          <a:lnRef idx="1">
            <a:schemeClr val="accent1"/>
          </a:lnRef>
          <a:fillRef idx="0">
            <a:schemeClr val="accent1"/>
          </a:fillRef>
          <a:effectRef idx="0">
            <a:schemeClr val="accent1"/>
          </a:effectRef>
          <a:fontRef idx="minor">
            <a:schemeClr val="tx1"/>
          </a:fontRef>
        </p:style>
      </p:cxnSp>
      <p:cxnSp>
        <p:nvCxnSpPr>
          <p:cNvPr id="7" name="Straight Connector 18"/>
          <p:cNvCxnSpPr/>
          <p:nvPr/>
        </p:nvCxnSpPr>
        <p:spPr>
          <a:xfrm>
            <a:off x="2381224" y="1487162"/>
            <a:ext cx="3333774" cy="2117"/>
          </a:xfrm>
          <a:prstGeom prst="line">
            <a:avLst/>
          </a:prstGeom>
          <a:ln w="571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19"/>
          <p:cNvCxnSpPr/>
          <p:nvPr/>
        </p:nvCxnSpPr>
        <p:spPr>
          <a:xfrm>
            <a:off x="2381224" y="1487162"/>
            <a:ext cx="2664460" cy="0"/>
          </a:xfrm>
          <a:prstGeom prst="line">
            <a:avLst/>
          </a:prstGeom>
          <a:ln w="57150">
            <a:solidFill>
              <a:srgbClr val="604A7B"/>
            </a:solidFill>
            <a:tailEnd type="oval"/>
          </a:ln>
        </p:spPr>
        <p:style>
          <a:lnRef idx="1">
            <a:schemeClr val="accent1"/>
          </a:lnRef>
          <a:fillRef idx="0">
            <a:schemeClr val="accent1"/>
          </a:fillRef>
          <a:effectRef idx="0">
            <a:schemeClr val="accent1"/>
          </a:effectRef>
          <a:fontRef idx="minor">
            <a:schemeClr val="tx1"/>
          </a:fontRef>
        </p:style>
      </p:cxnSp>
      <p:sp>
        <p:nvSpPr>
          <p:cNvPr id="9" name="Rectangle 31"/>
          <p:cNvSpPr/>
          <p:nvPr/>
        </p:nvSpPr>
        <p:spPr>
          <a:xfrm>
            <a:off x="761963" y="1296660"/>
            <a:ext cx="863600" cy="297180"/>
          </a:xfrm>
          <a:prstGeom prst="rect">
            <a:avLst/>
          </a:prstGeom>
        </p:spPr>
        <p:txBody>
          <a:bodyPr wrap="none">
            <a:spAutoFit/>
          </a:bodyPr>
          <a:p>
            <a:pPr algn="l"/>
            <a:r>
              <a:rPr lang="zh-CN" altLang="en-US" sz="1335" dirty="0">
                <a:solidFill>
                  <a:srgbClr val="604A7B"/>
                </a:solidFill>
                <a:cs typeface="+mn-ea"/>
                <a:sym typeface="+mn-lt"/>
              </a:rPr>
              <a:t>业务质量</a:t>
            </a:r>
            <a:endParaRPr lang="zh-CN" altLang="en-US" sz="1335" dirty="0">
              <a:solidFill>
                <a:srgbClr val="604A7B"/>
              </a:solidFill>
              <a:cs typeface="+mn-ea"/>
              <a:sym typeface="+mn-lt"/>
            </a:endParaRPr>
          </a:p>
        </p:txBody>
      </p:sp>
      <p:sp>
        <p:nvSpPr>
          <p:cNvPr id="10" name="Rectangle 35"/>
          <p:cNvSpPr/>
          <p:nvPr/>
        </p:nvSpPr>
        <p:spPr>
          <a:xfrm>
            <a:off x="6096001" y="1296660"/>
            <a:ext cx="523240" cy="297180"/>
          </a:xfrm>
          <a:prstGeom prst="rect">
            <a:avLst/>
          </a:prstGeom>
        </p:spPr>
        <p:txBody>
          <a:bodyPr wrap="none">
            <a:spAutoFit/>
          </a:bodyPr>
          <a:p>
            <a:r>
              <a:rPr lang="en-US" sz="1335" dirty="0">
                <a:solidFill>
                  <a:srgbClr val="604A7B"/>
                </a:solidFill>
                <a:cs typeface="+mn-ea"/>
                <a:sym typeface="+mn-lt"/>
              </a:rPr>
              <a:t>40%</a:t>
            </a:r>
            <a:endParaRPr lang="en-US" sz="1335" dirty="0">
              <a:solidFill>
                <a:srgbClr val="604A7B"/>
              </a:solidFill>
              <a:cs typeface="+mn-ea"/>
              <a:sym typeface="+mn-lt"/>
            </a:endParaRPr>
          </a:p>
        </p:txBody>
      </p:sp>
      <p:pic>
        <p:nvPicPr>
          <p:cNvPr id="5" name="图片 4"/>
          <p:cNvPicPr>
            <a:picLocks noChangeAspect="1"/>
          </p:cNvPicPr>
          <p:nvPr/>
        </p:nvPicPr>
        <p:blipFill>
          <a:blip r:embed="rId1"/>
          <a:stretch>
            <a:fillRect/>
          </a:stretch>
        </p:blipFill>
        <p:spPr>
          <a:xfrm>
            <a:off x="652145" y="3730625"/>
            <a:ext cx="4764405" cy="2778125"/>
          </a:xfrm>
          <a:prstGeom prst="rect">
            <a:avLst/>
          </a:prstGeom>
        </p:spPr>
      </p:pic>
      <p:pic>
        <p:nvPicPr>
          <p:cNvPr id="6" name="图片 5"/>
          <p:cNvPicPr>
            <a:picLocks noChangeAspect="1"/>
          </p:cNvPicPr>
          <p:nvPr/>
        </p:nvPicPr>
        <p:blipFill>
          <a:blip r:embed="rId2"/>
          <a:stretch>
            <a:fillRect/>
          </a:stretch>
        </p:blipFill>
        <p:spPr>
          <a:xfrm>
            <a:off x="6304280" y="3623310"/>
            <a:ext cx="5187950" cy="2906395"/>
          </a:xfrm>
          <a:prstGeom prst="rect">
            <a:avLst/>
          </a:prstGeom>
        </p:spPr>
      </p:pic>
    </p:spTree>
  </p:cSld>
  <p:clrMapOvr>
    <a:masterClrMapping/>
  </p:clrMapOvr>
  <p:transition advClick="0">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607060" y="1205230"/>
            <a:ext cx="6185535" cy="2649855"/>
          </a:xfrm>
          <a:prstGeom prst="rect">
            <a:avLst/>
          </a:prstGeom>
        </p:spPr>
      </p:pic>
      <p:pic>
        <p:nvPicPr>
          <p:cNvPr id="3" name="图片 2"/>
          <p:cNvPicPr>
            <a:picLocks noChangeAspect="1"/>
          </p:cNvPicPr>
          <p:nvPr/>
        </p:nvPicPr>
        <p:blipFill>
          <a:blip r:embed="rId2"/>
          <a:stretch>
            <a:fillRect/>
          </a:stretch>
        </p:blipFill>
        <p:spPr>
          <a:xfrm>
            <a:off x="589915" y="3932555"/>
            <a:ext cx="6289675" cy="2792095"/>
          </a:xfrm>
          <a:prstGeom prst="rect">
            <a:avLst/>
          </a:prstGeom>
        </p:spPr>
      </p:pic>
      <p:sp>
        <p:nvSpPr>
          <p:cNvPr id="10" name="矩形 9"/>
          <p:cNvSpPr/>
          <p:nvPr/>
        </p:nvSpPr>
        <p:spPr>
          <a:xfrm>
            <a:off x="607060" y="765175"/>
            <a:ext cx="1873250" cy="275590"/>
          </a:xfrm>
          <a:prstGeom prst="rect">
            <a:avLst/>
          </a:prstGeom>
        </p:spPr>
        <p:txBody>
          <a:bodyPr wrap="square">
            <a:spAutoFit/>
          </a:bodyPr>
          <a:p>
            <a:pPr algn="ctr">
              <a:lnSpc>
                <a:spcPct val="100000"/>
              </a:lnSpc>
            </a:pPr>
            <a:r>
              <a:rPr lang="zh-CN" altLang="en-US" sz="1200" dirty="0">
                <a:solidFill>
                  <a:schemeClr val="tx1">
                    <a:lumMod val="50000"/>
                    <a:lumOff val="50000"/>
                  </a:schemeClr>
                </a:solidFill>
                <a:cs typeface="+mn-ea"/>
                <a:sym typeface="+mn-lt"/>
              </a:rPr>
              <a:t>定、限时刷新的测试用例</a:t>
            </a:r>
            <a:endParaRPr lang="zh-CN" altLang="en-US" sz="1200" dirty="0">
              <a:solidFill>
                <a:schemeClr val="tx1">
                  <a:lumMod val="50000"/>
                  <a:lumOff val="50000"/>
                </a:schemeClr>
              </a:solidFill>
              <a:cs typeface="+mn-ea"/>
              <a:sym typeface="+mn-lt"/>
            </a:endParaRPr>
          </a:p>
        </p:txBody>
      </p:sp>
      <p:sp>
        <p:nvSpPr>
          <p:cNvPr id="4" name="文本框 3"/>
          <p:cNvSpPr txBox="1"/>
          <p:nvPr/>
        </p:nvSpPr>
        <p:spPr>
          <a:xfrm>
            <a:off x="5087620" y="229870"/>
            <a:ext cx="2016125" cy="368300"/>
          </a:xfrm>
          <a:prstGeom prst="rect">
            <a:avLst/>
          </a:prstGeom>
          <a:noFill/>
        </p:spPr>
        <p:txBody>
          <a:bodyPr wrap="square" rtlCol="0" anchor="t">
            <a:spAutoFit/>
          </a:bodyPr>
          <a:p>
            <a:r>
              <a:rPr lang="zh-CN" altLang="en-US" dirty="0" smtClean="0">
                <a:sym typeface="+mn-lt"/>
              </a:rPr>
              <a:t>部分测试用例</a:t>
            </a:r>
            <a:endParaRPr lang="zh-CN" altLang="en-US" dirty="0" smtClean="0">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p:nvSpPr>
        <p:spPr>
          <a:xfrm>
            <a:off x="822960" y="176530"/>
            <a:ext cx="1873250" cy="275590"/>
          </a:xfrm>
          <a:prstGeom prst="rect">
            <a:avLst/>
          </a:prstGeom>
        </p:spPr>
        <p:txBody>
          <a:bodyPr wrap="square">
            <a:spAutoFit/>
          </a:bodyPr>
          <a:p>
            <a:pPr algn="ctr">
              <a:lnSpc>
                <a:spcPct val="100000"/>
              </a:lnSpc>
            </a:pPr>
            <a:r>
              <a:rPr lang="zh-CN" altLang="en-US" sz="1200" dirty="0">
                <a:solidFill>
                  <a:schemeClr val="tx1">
                    <a:lumMod val="50000"/>
                    <a:lumOff val="50000"/>
                  </a:schemeClr>
                </a:solidFill>
                <a:cs typeface="+mn-ea"/>
                <a:sym typeface="+mn-lt"/>
              </a:rPr>
              <a:t>防沉迷的测试用例</a:t>
            </a:r>
            <a:endParaRPr lang="zh-CN" altLang="en-US" sz="1200" dirty="0">
              <a:solidFill>
                <a:schemeClr val="tx1">
                  <a:lumMod val="50000"/>
                  <a:lumOff val="50000"/>
                </a:schemeClr>
              </a:solidFill>
              <a:cs typeface="+mn-ea"/>
              <a:sym typeface="+mn-lt"/>
            </a:endParaRPr>
          </a:p>
        </p:txBody>
      </p:sp>
      <p:pic>
        <p:nvPicPr>
          <p:cNvPr id="2" name="图片 1"/>
          <p:cNvPicPr>
            <a:picLocks noChangeAspect="1"/>
          </p:cNvPicPr>
          <p:nvPr/>
        </p:nvPicPr>
        <p:blipFill>
          <a:blip r:embed="rId1"/>
          <a:stretch>
            <a:fillRect/>
          </a:stretch>
        </p:blipFill>
        <p:spPr>
          <a:xfrm>
            <a:off x="3046095" y="95885"/>
            <a:ext cx="5462905" cy="2766695"/>
          </a:xfrm>
          <a:prstGeom prst="rect">
            <a:avLst/>
          </a:prstGeom>
        </p:spPr>
      </p:pic>
      <p:pic>
        <p:nvPicPr>
          <p:cNvPr id="3" name="图片 2"/>
          <p:cNvPicPr>
            <a:picLocks noChangeAspect="1"/>
          </p:cNvPicPr>
          <p:nvPr/>
        </p:nvPicPr>
        <p:blipFill>
          <a:blip r:embed="rId2"/>
          <a:stretch>
            <a:fillRect/>
          </a:stretch>
        </p:blipFill>
        <p:spPr>
          <a:xfrm>
            <a:off x="1936750" y="2929255"/>
            <a:ext cx="7879080" cy="37604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p:cNvSpPr/>
          <p:nvPr/>
        </p:nvSpPr>
        <p:spPr>
          <a:xfrm>
            <a:off x="762000" y="1740535"/>
            <a:ext cx="10843895" cy="4612640"/>
          </a:xfrm>
          <a:prstGeom prst="rect">
            <a:avLst/>
          </a:prstGeom>
        </p:spPr>
        <p:txBody>
          <a:bodyPr wrap="square">
            <a:noAutofit/>
          </a:bodyPr>
          <a:lstStyle/>
          <a:p>
            <a:pPr>
              <a:lnSpc>
                <a:spcPct val="150000"/>
              </a:lnSpc>
            </a:pP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注重与团队成员保持良好的沟通与信任关系，能够主动分享信息、向同事解析自己实现的功能模块的细节和注意事项，如定时刷新功能的实现逻辑、不同类型采集物</a:t>
            </a:r>
            <a:r>
              <a:rPr lang="zh-CN" altLang="en-US" sz="1200" dirty="0">
                <a:solidFill>
                  <a:prstClr val="white">
                    <a:lumMod val="65000"/>
                  </a:prstClr>
                </a:solidFill>
                <a:cs typeface="+mn-ea"/>
                <a:sym typeface="+mn-lt"/>
              </a:rPr>
              <a:t>的配置注意事项等。</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愿意倾听意见，在实现较为复杂或者有性能要求的功能上主动向同事寻求意见，以达到相对较优的实现方案。如在实现定时刷新的功能上，通过讨论实现按同一定时器</a:t>
            </a:r>
            <a:r>
              <a:rPr lang="en-US" altLang="zh-CN" sz="1200" dirty="0">
                <a:solidFill>
                  <a:prstClr val="white">
                    <a:lumMod val="65000"/>
                  </a:prstClr>
                </a:solidFill>
                <a:cs typeface="+mn-ea"/>
                <a:sym typeface="+mn-lt"/>
              </a:rPr>
              <a:t>id</a:t>
            </a:r>
            <a:r>
              <a:rPr lang="zh-CN" altLang="en-US" sz="1200" dirty="0">
                <a:solidFill>
                  <a:prstClr val="white">
                    <a:lumMod val="65000"/>
                  </a:prstClr>
                </a:solidFill>
                <a:cs typeface="+mn-ea"/>
                <a:sym typeface="+mn-lt"/>
              </a:rPr>
              <a:t>分组，大大减少了实体定时器的创建数量，减少服务器的压力。</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在日常工作中，参与问题的讨论，愿意为团队提供自己的想法，希望有助于提升方案质量。</a:t>
            </a:r>
            <a:r>
              <a:rPr lang="zh-CN" altLang="en-US" sz="1200" dirty="0">
                <a:solidFill>
                  <a:prstClr val="white">
                    <a:lumMod val="65000"/>
                  </a:prstClr>
                </a:solidFill>
                <a:cs typeface="+mn-ea"/>
                <a:sym typeface="+mn-lt"/>
              </a:rPr>
              <a:t>保持与</a:t>
            </a:r>
            <a:r>
              <a:rPr lang="zh-CN" altLang="en-US" sz="1200" dirty="0">
                <a:solidFill>
                  <a:prstClr val="white">
                    <a:lumMod val="65000"/>
                  </a:prstClr>
                </a:solidFill>
                <a:cs typeface="+mn-ea"/>
                <a:sym typeface="+mn-lt"/>
              </a:rPr>
              <a:t>同事之间良好的协作氛围，共同推进任务，确保团队目标顺利达成。</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帮助策划定义配置文件的结构、阐述相关改动可能影响的功能模块和潜在的问题、提供自己的开发意见和优化建议，及时向</a:t>
            </a:r>
            <a:r>
              <a:rPr lang="en-US" altLang="zh-CN" sz="1200" dirty="0">
                <a:solidFill>
                  <a:prstClr val="white">
                    <a:lumMod val="65000"/>
                  </a:prstClr>
                </a:solidFill>
                <a:cs typeface="+mn-ea"/>
                <a:sym typeface="+mn-lt"/>
              </a:rPr>
              <a:t>QA</a:t>
            </a:r>
            <a:r>
              <a:rPr lang="zh-CN" altLang="en-US" sz="1200" dirty="0">
                <a:solidFill>
                  <a:prstClr val="white">
                    <a:lumMod val="65000"/>
                  </a:prstClr>
                </a:solidFill>
                <a:cs typeface="+mn-ea"/>
                <a:sym typeface="+mn-lt"/>
              </a:rPr>
              <a:t>同学说明功能的测试重点和容易遗漏的测试用例，间接推进模块更加完善。</a:t>
            </a:r>
            <a:endParaRPr lang="zh-CN" altLang="en-US" sz="1200" dirty="0">
              <a:solidFill>
                <a:prstClr val="white">
                  <a:lumMod val="65000"/>
                </a:prstClr>
              </a:solidFill>
              <a:cs typeface="+mn-ea"/>
              <a:sym typeface="+mn-lt"/>
            </a:endParaRPr>
          </a:p>
          <a:p>
            <a:pPr>
              <a:lnSpc>
                <a:spcPct val="150000"/>
              </a:lnSpc>
            </a:pPr>
            <a:endParaRPr lang="zh-CN" altLang="en-US" sz="800" dirty="0">
              <a:solidFill>
                <a:prstClr val="white">
                  <a:lumMod val="65000"/>
                </a:prstClr>
              </a:solidFill>
              <a:cs typeface="+mn-ea"/>
              <a:sym typeface="+mn-lt"/>
            </a:endParaRPr>
          </a:p>
          <a:p>
            <a:pPr>
              <a:lnSpc>
                <a:spcPct val="150000"/>
              </a:lnSpc>
            </a:pPr>
            <a:endParaRPr lang="zh-CN" altLang="en-US" sz="800" dirty="0">
              <a:solidFill>
                <a:prstClr val="white">
                  <a:lumMod val="65000"/>
                </a:prstClr>
              </a:solidFill>
              <a:cs typeface="+mn-ea"/>
              <a:sym typeface="+mn-lt"/>
            </a:endParaRPr>
          </a:p>
          <a:p>
            <a:pPr>
              <a:lnSpc>
                <a:spcPct val="150000"/>
              </a:lnSpc>
            </a:pPr>
            <a:endParaRPr lang="zh-CN" altLang="en-US" sz="800" dirty="0">
              <a:solidFill>
                <a:prstClr val="white">
                  <a:lumMod val="65000"/>
                </a:prstClr>
              </a:solidFill>
              <a:cs typeface="+mn-ea"/>
              <a:sym typeface="+mn-lt"/>
            </a:endParaRPr>
          </a:p>
        </p:txBody>
      </p:sp>
      <p:sp>
        <p:nvSpPr>
          <p:cNvPr id="53" name="矩形 52"/>
          <p:cNvSpPr/>
          <p:nvPr/>
        </p:nvSpPr>
        <p:spPr>
          <a:xfrm>
            <a:off x="5042313" y="808829"/>
            <a:ext cx="2107374" cy="229870"/>
          </a:xfrm>
          <a:prstGeom prst="rect">
            <a:avLst/>
          </a:prstGeom>
        </p:spPr>
        <p:txBody>
          <a:bodyPr wrap="square">
            <a:spAutoFit/>
          </a:bodyPr>
          <a:lstStyle/>
          <a:p>
            <a:pPr algn="ctr">
              <a:lnSpc>
                <a:spcPct val="100000"/>
              </a:lnSpc>
            </a:pPr>
            <a:r>
              <a:rPr lang="en-US" altLang="zh-CN" sz="900" dirty="0">
                <a:solidFill>
                  <a:schemeClr val="tx1">
                    <a:lumMod val="65000"/>
                    <a:lumOff val="35000"/>
                  </a:schemeClr>
                </a:solidFill>
                <a:cs typeface="+mn-ea"/>
                <a:sym typeface="+mn-lt"/>
              </a:rPr>
              <a:t>Performance self-assessment</a:t>
            </a:r>
            <a:endParaRPr lang="en-US" altLang="zh-CN" sz="900" dirty="0">
              <a:solidFill>
                <a:schemeClr val="tx1">
                  <a:lumMod val="65000"/>
                  <a:lumOff val="35000"/>
                </a:schemeClr>
              </a:solidFill>
              <a:cs typeface="+mn-ea"/>
              <a:sym typeface="+mn-lt"/>
            </a:endParaRPr>
          </a:p>
        </p:txBody>
      </p:sp>
      <p:sp>
        <p:nvSpPr>
          <p:cNvPr id="54" name="文本框 53"/>
          <p:cNvSpPr txBox="1"/>
          <p:nvPr/>
        </p:nvSpPr>
        <p:spPr>
          <a:xfrm>
            <a:off x="4729519" y="332748"/>
            <a:ext cx="2732964" cy="546100"/>
          </a:xfrm>
          <a:prstGeom prst="rect">
            <a:avLst/>
          </a:prstGeom>
          <a:noFill/>
        </p:spPr>
        <p:txBody>
          <a:bodyPr wrap="square" rtlCol="0">
            <a:spAutoFit/>
          </a:bodyPr>
          <a:lstStyle>
            <a:defPPr>
              <a:defRPr lang="zh-CN"/>
            </a:defPPr>
            <a:lvl1pPr algn="ctr">
              <a:defRPr sz="2955" b="1">
                <a:solidFill>
                  <a:schemeClr val="tx1">
                    <a:lumMod val="65000"/>
                    <a:lumOff val="35000"/>
                  </a:schemeClr>
                </a:solidFill>
                <a:cs typeface="+mn-ea"/>
              </a:defRPr>
            </a:lvl1pPr>
          </a:lstStyle>
          <a:p>
            <a:r>
              <a:rPr lang="zh-CN" altLang="en-US" dirty="0" smtClean="0">
                <a:sym typeface="+mn-lt"/>
              </a:rPr>
              <a:t>绩效自评</a:t>
            </a:r>
            <a:endParaRPr lang="zh-CN" altLang="en-US" dirty="0">
              <a:sym typeface="+mn-lt"/>
            </a:endParaRPr>
          </a:p>
        </p:txBody>
      </p:sp>
      <p:cxnSp>
        <p:nvCxnSpPr>
          <p:cNvPr id="55" name="Straight Connector 5"/>
          <p:cNvCxnSpPr/>
          <p:nvPr/>
        </p:nvCxnSpPr>
        <p:spPr>
          <a:xfrm>
            <a:off x="5561428" y="1065998"/>
            <a:ext cx="1069144" cy="0"/>
          </a:xfrm>
          <a:prstGeom prst="line">
            <a:avLst/>
          </a:prstGeom>
          <a:ln w="41275">
            <a:solidFill>
              <a:srgbClr val="604A7B"/>
            </a:solidFill>
          </a:ln>
        </p:spPr>
        <p:style>
          <a:lnRef idx="1">
            <a:schemeClr val="accent1"/>
          </a:lnRef>
          <a:fillRef idx="0">
            <a:schemeClr val="accent1"/>
          </a:fillRef>
          <a:effectRef idx="0">
            <a:schemeClr val="accent1"/>
          </a:effectRef>
          <a:fontRef idx="minor">
            <a:schemeClr val="tx1"/>
          </a:fontRef>
        </p:style>
      </p:cxnSp>
      <p:cxnSp>
        <p:nvCxnSpPr>
          <p:cNvPr id="7" name="Straight Connector 18"/>
          <p:cNvCxnSpPr/>
          <p:nvPr/>
        </p:nvCxnSpPr>
        <p:spPr>
          <a:xfrm>
            <a:off x="2381224" y="1487162"/>
            <a:ext cx="3333774" cy="2117"/>
          </a:xfrm>
          <a:prstGeom prst="line">
            <a:avLst/>
          </a:prstGeom>
          <a:ln w="571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19"/>
          <p:cNvCxnSpPr/>
          <p:nvPr/>
        </p:nvCxnSpPr>
        <p:spPr>
          <a:xfrm>
            <a:off x="2381224" y="1487162"/>
            <a:ext cx="770255" cy="0"/>
          </a:xfrm>
          <a:prstGeom prst="line">
            <a:avLst/>
          </a:prstGeom>
          <a:ln w="57150">
            <a:solidFill>
              <a:srgbClr val="604A7B"/>
            </a:solidFill>
            <a:tailEnd type="oval"/>
          </a:ln>
        </p:spPr>
        <p:style>
          <a:lnRef idx="1">
            <a:schemeClr val="accent1"/>
          </a:lnRef>
          <a:fillRef idx="0">
            <a:schemeClr val="accent1"/>
          </a:fillRef>
          <a:effectRef idx="0">
            <a:schemeClr val="accent1"/>
          </a:effectRef>
          <a:fontRef idx="minor">
            <a:schemeClr val="tx1"/>
          </a:fontRef>
        </p:style>
      </p:cxnSp>
      <p:sp>
        <p:nvSpPr>
          <p:cNvPr id="9" name="Rectangle 31"/>
          <p:cNvSpPr/>
          <p:nvPr/>
        </p:nvSpPr>
        <p:spPr>
          <a:xfrm>
            <a:off x="761963" y="1296660"/>
            <a:ext cx="863600" cy="297180"/>
          </a:xfrm>
          <a:prstGeom prst="rect">
            <a:avLst/>
          </a:prstGeom>
        </p:spPr>
        <p:txBody>
          <a:bodyPr wrap="none">
            <a:spAutoFit/>
          </a:bodyPr>
          <a:p>
            <a:pPr algn="l"/>
            <a:r>
              <a:rPr lang="zh-CN" altLang="en-US" sz="1335" dirty="0">
                <a:solidFill>
                  <a:srgbClr val="604A7B"/>
                </a:solidFill>
                <a:cs typeface="+mn-ea"/>
                <a:sym typeface="+mn-lt"/>
              </a:rPr>
              <a:t>协作质量</a:t>
            </a:r>
            <a:endParaRPr lang="zh-CN" altLang="en-US" sz="1335" dirty="0">
              <a:solidFill>
                <a:srgbClr val="604A7B"/>
              </a:solidFill>
              <a:cs typeface="+mn-ea"/>
              <a:sym typeface="+mn-lt"/>
            </a:endParaRPr>
          </a:p>
        </p:txBody>
      </p:sp>
      <p:sp>
        <p:nvSpPr>
          <p:cNvPr id="10" name="Rectangle 35"/>
          <p:cNvSpPr/>
          <p:nvPr/>
        </p:nvSpPr>
        <p:spPr>
          <a:xfrm>
            <a:off x="6096001" y="1296660"/>
            <a:ext cx="523240" cy="297180"/>
          </a:xfrm>
          <a:prstGeom prst="rect">
            <a:avLst/>
          </a:prstGeom>
        </p:spPr>
        <p:txBody>
          <a:bodyPr wrap="none">
            <a:spAutoFit/>
          </a:bodyPr>
          <a:p>
            <a:r>
              <a:rPr lang="en-US" sz="1335" dirty="0">
                <a:solidFill>
                  <a:srgbClr val="604A7B"/>
                </a:solidFill>
                <a:cs typeface="+mn-ea"/>
                <a:sym typeface="+mn-lt"/>
              </a:rPr>
              <a:t>15%</a:t>
            </a:r>
            <a:endParaRPr lang="en-US" sz="1335" dirty="0">
              <a:solidFill>
                <a:srgbClr val="604A7B"/>
              </a:solidFill>
              <a:cs typeface="+mn-ea"/>
              <a:sym typeface="+mn-lt"/>
            </a:endParaRPr>
          </a:p>
        </p:txBody>
      </p:sp>
    </p:spTree>
  </p:cSld>
  <p:clrMapOvr>
    <a:masterClrMapping/>
  </p:clrMapOvr>
  <p:transition advClick="0">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690245" y="1149350"/>
            <a:ext cx="2775585" cy="2740660"/>
          </a:xfrm>
          <a:prstGeom prst="rect">
            <a:avLst/>
          </a:prstGeom>
        </p:spPr>
      </p:pic>
      <p:pic>
        <p:nvPicPr>
          <p:cNvPr id="3" name="图片 2"/>
          <p:cNvPicPr/>
          <p:nvPr/>
        </p:nvPicPr>
        <p:blipFill>
          <a:blip r:embed="rId2"/>
          <a:stretch>
            <a:fillRect/>
          </a:stretch>
        </p:blipFill>
        <p:spPr>
          <a:xfrm>
            <a:off x="4565650" y="1168400"/>
            <a:ext cx="2727960" cy="2721610"/>
          </a:xfrm>
          <a:prstGeom prst="rect">
            <a:avLst/>
          </a:prstGeom>
        </p:spPr>
      </p:pic>
      <p:pic>
        <p:nvPicPr>
          <p:cNvPr id="4" name="图片 3"/>
          <p:cNvPicPr/>
          <p:nvPr/>
        </p:nvPicPr>
        <p:blipFill>
          <a:blip r:embed="rId3"/>
          <a:stretch>
            <a:fillRect/>
          </a:stretch>
        </p:blipFill>
        <p:spPr>
          <a:xfrm>
            <a:off x="-102870" y="4258945"/>
            <a:ext cx="4032250" cy="2148840"/>
          </a:xfrm>
          <a:prstGeom prst="rect">
            <a:avLst/>
          </a:prstGeom>
        </p:spPr>
      </p:pic>
      <p:pic>
        <p:nvPicPr>
          <p:cNvPr id="7" name="图片 6"/>
          <p:cNvPicPr/>
          <p:nvPr/>
        </p:nvPicPr>
        <p:blipFill>
          <a:blip r:embed="rId4"/>
          <a:stretch>
            <a:fillRect/>
          </a:stretch>
        </p:blipFill>
        <p:spPr>
          <a:xfrm>
            <a:off x="8105775" y="533400"/>
            <a:ext cx="2985770" cy="2038350"/>
          </a:xfrm>
          <a:prstGeom prst="rect">
            <a:avLst/>
          </a:prstGeom>
        </p:spPr>
      </p:pic>
      <p:pic>
        <p:nvPicPr>
          <p:cNvPr id="8" name="图片 7"/>
          <p:cNvPicPr/>
          <p:nvPr/>
        </p:nvPicPr>
        <p:blipFill>
          <a:blip r:embed="rId5"/>
          <a:stretch>
            <a:fillRect/>
          </a:stretch>
        </p:blipFill>
        <p:spPr>
          <a:xfrm>
            <a:off x="4729480" y="4070350"/>
            <a:ext cx="2732405" cy="2710815"/>
          </a:xfrm>
          <a:prstGeom prst="rect">
            <a:avLst/>
          </a:prstGeom>
        </p:spPr>
      </p:pic>
      <p:sp>
        <p:nvSpPr>
          <p:cNvPr id="10" name="矩形 9"/>
          <p:cNvSpPr/>
          <p:nvPr/>
        </p:nvSpPr>
        <p:spPr>
          <a:xfrm>
            <a:off x="529590" y="766445"/>
            <a:ext cx="1873250" cy="275590"/>
          </a:xfrm>
          <a:prstGeom prst="rect">
            <a:avLst/>
          </a:prstGeom>
        </p:spPr>
        <p:txBody>
          <a:bodyPr wrap="square">
            <a:spAutoFit/>
          </a:bodyPr>
          <a:p>
            <a:pPr algn="ctr">
              <a:lnSpc>
                <a:spcPct val="100000"/>
              </a:lnSpc>
            </a:pPr>
            <a:r>
              <a:rPr lang="zh-CN" sz="1200" dirty="0">
                <a:solidFill>
                  <a:schemeClr val="tx1">
                    <a:lumMod val="50000"/>
                    <a:lumOff val="50000"/>
                  </a:schemeClr>
                </a:solidFill>
                <a:cs typeface="+mn-ea"/>
                <a:sym typeface="+mn-lt"/>
              </a:rPr>
              <a:t>与</a:t>
            </a:r>
            <a:r>
              <a:rPr lang="en-US" altLang="zh-CN" sz="1200" dirty="0">
                <a:solidFill>
                  <a:schemeClr val="tx1">
                    <a:lumMod val="50000"/>
                    <a:lumOff val="50000"/>
                  </a:schemeClr>
                </a:solidFill>
                <a:cs typeface="+mn-ea"/>
                <a:sym typeface="+mn-lt"/>
              </a:rPr>
              <a:t>QA</a:t>
            </a:r>
            <a:r>
              <a:rPr lang="zh-CN" altLang="en-US" sz="1200" dirty="0">
                <a:solidFill>
                  <a:schemeClr val="tx1">
                    <a:lumMod val="50000"/>
                    <a:lumOff val="50000"/>
                  </a:schemeClr>
                </a:solidFill>
                <a:cs typeface="+mn-ea"/>
                <a:sym typeface="+mn-lt"/>
              </a:rPr>
              <a:t>的协作和沟通</a:t>
            </a:r>
            <a:endParaRPr lang="zh-CN" altLang="en-US" sz="1200" dirty="0">
              <a:solidFill>
                <a:schemeClr val="tx1">
                  <a:lumMod val="50000"/>
                  <a:lumOff val="50000"/>
                </a:schemeClr>
              </a:solidFill>
              <a:cs typeface="+mn-ea"/>
              <a:sym typeface="+mn-lt"/>
            </a:endParaRPr>
          </a:p>
        </p:txBody>
      </p:sp>
      <p:pic>
        <p:nvPicPr>
          <p:cNvPr id="11" name="图片 10"/>
          <p:cNvPicPr/>
          <p:nvPr/>
        </p:nvPicPr>
        <p:blipFill>
          <a:blip r:embed="rId6"/>
          <a:stretch>
            <a:fillRect/>
          </a:stretch>
        </p:blipFill>
        <p:spPr>
          <a:xfrm>
            <a:off x="7884795" y="2722245"/>
            <a:ext cx="3428365" cy="3962400"/>
          </a:xfrm>
          <a:prstGeom prst="rect">
            <a:avLst/>
          </a:prstGeom>
        </p:spPr>
      </p:pic>
      <p:sp>
        <p:nvSpPr>
          <p:cNvPr id="2" name="文本框 1"/>
          <p:cNvSpPr txBox="1"/>
          <p:nvPr/>
        </p:nvSpPr>
        <p:spPr>
          <a:xfrm>
            <a:off x="5087620" y="229870"/>
            <a:ext cx="2016125" cy="368300"/>
          </a:xfrm>
          <a:prstGeom prst="rect">
            <a:avLst/>
          </a:prstGeom>
          <a:noFill/>
        </p:spPr>
        <p:txBody>
          <a:bodyPr wrap="square" rtlCol="0" anchor="t">
            <a:spAutoFit/>
          </a:bodyPr>
          <a:p>
            <a:r>
              <a:rPr lang="zh-CN" altLang="en-US" dirty="0" smtClean="0">
                <a:sym typeface="+mn-lt"/>
              </a:rPr>
              <a:t>部分沟通内容</a:t>
            </a:r>
            <a:endParaRPr lang="zh-CN" altLang="en-US" dirty="0" smtClean="0">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p:nvSpPr>
        <p:spPr>
          <a:xfrm>
            <a:off x="607060" y="155575"/>
            <a:ext cx="1873250" cy="275590"/>
          </a:xfrm>
          <a:prstGeom prst="rect">
            <a:avLst/>
          </a:prstGeom>
        </p:spPr>
        <p:txBody>
          <a:bodyPr wrap="square">
            <a:spAutoFit/>
          </a:bodyPr>
          <a:p>
            <a:pPr algn="ctr">
              <a:lnSpc>
                <a:spcPct val="100000"/>
              </a:lnSpc>
            </a:pPr>
            <a:r>
              <a:rPr lang="zh-CN" sz="1200" dirty="0">
                <a:solidFill>
                  <a:schemeClr val="tx1">
                    <a:lumMod val="50000"/>
                    <a:lumOff val="50000"/>
                  </a:schemeClr>
                </a:solidFill>
                <a:cs typeface="+mn-ea"/>
                <a:sym typeface="+mn-lt"/>
              </a:rPr>
              <a:t>与</a:t>
            </a:r>
            <a:r>
              <a:rPr lang="zh-CN" altLang="en-US" sz="1200" dirty="0">
                <a:solidFill>
                  <a:schemeClr val="tx1">
                    <a:lumMod val="50000"/>
                    <a:lumOff val="50000"/>
                  </a:schemeClr>
                </a:solidFill>
                <a:cs typeface="+mn-ea"/>
                <a:sym typeface="+mn-lt"/>
              </a:rPr>
              <a:t>策划的协作和沟通</a:t>
            </a:r>
            <a:endParaRPr lang="zh-CN" altLang="en-US" sz="1200" dirty="0">
              <a:solidFill>
                <a:schemeClr val="tx1">
                  <a:lumMod val="50000"/>
                  <a:lumOff val="50000"/>
                </a:schemeClr>
              </a:solidFill>
              <a:cs typeface="+mn-ea"/>
              <a:sym typeface="+mn-lt"/>
            </a:endParaRPr>
          </a:p>
        </p:txBody>
      </p:sp>
      <p:pic>
        <p:nvPicPr>
          <p:cNvPr id="6" name="图片 5"/>
          <p:cNvPicPr/>
          <p:nvPr/>
        </p:nvPicPr>
        <p:blipFill>
          <a:blip r:embed="rId1"/>
          <a:stretch>
            <a:fillRect/>
          </a:stretch>
        </p:blipFill>
        <p:spPr>
          <a:xfrm>
            <a:off x="682625" y="431165"/>
            <a:ext cx="2485390" cy="2970530"/>
          </a:xfrm>
          <a:prstGeom prst="rect">
            <a:avLst/>
          </a:prstGeom>
        </p:spPr>
      </p:pic>
      <p:pic>
        <p:nvPicPr>
          <p:cNvPr id="9" name="图片 8"/>
          <p:cNvPicPr/>
          <p:nvPr/>
        </p:nvPicPr>
        <p:blipFill>
          <a:blip r:embed="rId2"/>
          <a:stretch>
            <a:fillRect/>
          </a:stretch>
        </p:blipFill>
        <p:spPr>
          <a:xfrm>
            <a:off x="4053205" y="537210"/>
            <a:ext cx="3276600" cy="2639060"/>
          </a:xfrm>
          <a:prstGeom prst="rect">
            <a:avLst/>
          </a:prstGeom>
        </p:spPr>
      </p:pic>
      <p:pic>
        <p:nvPicPr>
          <p:cNvPr id="3" name="图片 2"/>
          <p:cNvPicPr/>
          <p:nvPr/>
        </p:nvPicPr>
        <p:blipFill>
          <a:blip r:embed="rId3"/>
          <a:stretch>
            <a:fillRect/>
          </a:stretch>
        </p:blipFill>
        <p:spPr>
          <a:xfrm>
            <a:off x="3981450" y="3411220"/>
            <a:ext cx="4229100" cy="3100070"/>
          </a:xfrm>
          <a:prstGeom prst="rect">
            <a:avLst/>
          </a:prstGeom>
        </p:spPr>
      </p:pic>
      <p:pic>
        <p:nvPicPr>
          <p:cNvPr id="4" name="图片 3"/>
          <p:cNvPicPr/>
          <p:nvPr/>
        </p:nvPicPr>
        <p:blipFill>
          <a:blip r:embed="rId4"/>
          <a:stretch>
            <a:fillRect/>
          </a:stretch>
        </p:blipFill>
        <p:spPr>
          <a:xfrm>
            <a:off x="1012825" y="3601720"/>
            <a:ext cx="2599690" cy="2909570"/>
          </a:xfrm>
          <a:prstGeom prst="rect">
            <a:avLst/>
          </a:prstGeom>
        </p:spPr>
      </p:pic>
      <p:pic>
        <p:nvPicPr>
          <p:cNvPr id="5" name="图片 4"/>
          <p:cNvPicPr/>
          <p:nvPr/>
        </p:nvPicPr>
        <p:blipFill>
          <a:blip r:embed="rId5"/>
          <a:stretch>
            <a:fillRect/>
          </a:stretch>
        </p:blipFill>
        <p:spPr>
          <a:xfrm>
            <a:off x="8409940" y="356870"/>
            <a:ext cx="3304540" cy="45053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p:nvPr/>
        </p:nvPicPr>
        <p:blipFill>
          <a:blip r:embed="rId1"/>
          <a:stretch>
            <a:fillRect/>
          </a:stretch>
        </p:blipFill>
        <p:spPr>
          <a:xfrm>
            <a:off x="425450" y="628650"/>
            <a:ext cx="3605530" cy="2379345"/>
          </a:xfrm>
          <a:prstGeom prst="rect">
            <a:avLst/>
          </a:prstGeom>
        </p:spPr>
      </p:pic>
      <p:pic>
        <p:nvPicPr>
          <p:cNvPr id="3" name="图片 2"/>
          <p:cNvPicPr/>
          <p:nvPr/>
        </p:nvPicPr>
        <p:blipFill>
          <a:blip r:embed="rId2"/>
          <a:stretch>
            <a:fillRect/>
          </a:stretch>
        </p:blipFill>
        <p:spPr>
          <a:xfrm>
            <a:off x="4274820" y="560705"/>
            <a:ext cx="3506470" cy="2837815"/>
          </a:xfrm>
          <a:prstGeom prst="rect">
            <a:avLst/>
          </a:prstGeom>
        </p:spPr>
      </p:pic>
      <p:sp>
        <p:nvSpPr>
          <p:cNvPr id="10" name="矩形 9"/>
          <p:cNvSpPr/>
          <p:nvPr/>
        </p:nvSpPr>
        <p:spPr>
          <a:xfrm>
            <a:off x="626745" y="353060"/>
            <a:ext cx="2951480" cy="275590"/>
          </a:xfrm>
          <a:prstGeom prst="rect">
            <a:avLst/>
          </a:prstGeom>
        </p:spPr>
        <p:txBody>
          <a:bodyPr wrap="square">
            <a:spAutoFit/>
          </a:bodyPr>
          <a:p>
            <a:pPr algn="ctr">
              <a:lnSpc>
                <a:spcPct val="100000"/>
              </a:lnSpc>
            </a:pPr>
            <a:r>
              <a:rPr lang="zh-CN" sz="1200" dirty="0">
                <a:solidFill>
                  <a:schemeClr val="tx1">
                    <a:lumMod val="50000"/>
                    <a:lumOff val="50000"/>
                  </a:schemeClr>
                </a:solidFill>
                <a:cs typeface="+mn-ea"/>
                <a:sym typeface="+mn-lt"/>
              </a:rPr>
              <a:t>与</a:t>
            </a:r>
            <a:r>
              <a:rPr lang="zh-CN" altLang="en-US" sz="1200" dirty="0">
                <a:solidFill>
                  <a:schemeClr val="tx1">
                    <a:lumMod val="50000"/>
                    <a:lumOff val="50000"/>
                  </a:schemeClr>
                </a:solidFill>
                <a:cs typeface="+mn-ea"/>
                <a:sym typeface="+mn-lt"/>
              </a:rPr>
              <a:t>客户端、</a:t>
            </a:r>
            <a:r>
              <a:rPr lang="en-US" altLang="zh-CN" sz="1200" dirty="0">
                <a:solidFill>
                  <a:schemeClr val="tx1">
                    <a:lumMod val="50000"/>
                    <a:lumOff val="50000"/>
                  </a:schemeClr>
                </a:solidFill>
                <a:cs typeface="+mn-ea"/>
                <a:sym typeface="+mn-lt"/>
              </a:rPr>
              <a:t>web</a:t>
            </a:r>
            <a:r>
              <a:rPr lang="zh-CN" altLang="en-US" sz="1200" dirty="0">
                <a:solidFill>
                  <a:schemeClr val="tx1">
                    <a:lumMod val="50000"/>
                    <a:lumOff val="50000"/>
                  </a:schemeClr>
                </a:solidFill>
                <a:cs typeface="+mn-ea"/>
                <a:sym typeface="+mn-lt"/>
              </a:rPr>
              <a:t>端的协作和沟通</a:t>
            </a:r>
            <a:endParaRPr lang="zh-CN" altLang="en-US" sz="1200" dirty="0">
              <a:solidFill>
                <a:schemeClr val="tx1">
                  <a:lumMod val="50000"/>
                  <a:lumOff val="50000"/>
                </a:schemeClr>
              </a:solidFill>
              <a:cs typeface="+mn-ea"/>
              <a:sym typeface="+mn-lt"/>
            </a:endParaRPr>
          </a:p>
        </p:txBody>
      </p:sp>
      <p:pic>
        <p:nvPicPr>
          <p:cNvPr id="4" name="图片 3"/>
          <p:cNvPicPr/>
          <p:nvPr/>
        </p:nvPicPr>
        <p:blipFill>
          <a:blip r:embed="rId3"/>
          <a:stretch>
            <a:fillRect/>
          </a:stretch>
        </p:blipFill>
        <p:spPr>
          <a:xfrm>
            <a:off x="425450" y="3148965"/>
            <a:ext cx="3505835" cy="3568065"/>
          </a:xfrm>
          <a:prstGeom prst="rect">
            <a:avLst/>
          </a:prstGeom>
        </p:spPr>
      </p:pic>
      <p:pic>
        <p:nvPicPr>
          <p:cNvPr id="5" name="图片 4"/>
          <p:cNvPicPr>
            <a:picLocks noChangeAspect="1"/>
          </p:cNvPicPr>
          <p:nvPr/>
        </p:nvPicPr>
        <p:blipFill>
          <a:blip r:embed="rId4"/>
          <a:stretch>
            <a:fillRect/>
          </a:stretch>
        </p:blipFill>
        <p:spPr>
          <a:xfrm>
            <a:off x="8025130" y="1162050"/>
            <a:ext cx="3775710" cy="4110355"/>
          </a:xfrm>
          <a:prstGeom prst="rect">
            <a:avLst/>
          </a:prstGeom>
        </p:spPr>
      </p:pic>
      <p:pic>
        <p:nvPicPr>
          <p:cNvPr id="6" name="图片 5"/>
          <p:cNvPicPr/>
          <p:nvPr/>
        </p:nvPicPr>
        <p:blipFill>
          <a:blip r:embed="rId5"/>
          <a:stretch>
            <a:fillRect/>
          </a:stretch>
        </p:blipFill>
        <p:spPr>
          <a:xfrm>
            <a:off x="4429125" y="3398520"/>
            <a:ext cx="3198495" cy="3300095"/>
          </a:xfrm>
          <a:prstGeom prst="rect">
            <a:avLst/>
          </a:prstGeom>
        </p:spPr>
      </p:pic>
      <p:pic>
        <p:nvPicPr>
          <p:cNvPr id="7" name="图片 6"/>
          <p:cNvPicPr/>
          <p:nvPr/>
        </p:nvPicPr>
        <p:blipFill>
          <a:blip r:embed="rId6"/>
          <a:stretch>
            <a:fillRect/>
          </a:stretch>
        </p:blipFill>
        <p:spPr>
          <a:xfrm>
            <a:off x="4585335" y="12012930"/>
            <a:ext cx="3225165" cy="33280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p:cNvSpPr/>
          <p:nvPr/>
        </p:nvSpPr>
        <p:spPr>
          <a:xfrm>
            <a:off x="762000" y="1740535"/>
            <a:ext cx="10843895" cy="4612640"/>
          </a:xfrm>
          <a:prstGeom prst="rect">
            <a:avLst/>
          </a:prstGeom>
        </p:spPr>
        <p:txBody>
          <a:bodyPr wrap="square">
            <a:noAutofit/>
          </a:bodyPr>
          <a:lstStyle/>
          <a:p>
            <a:pPr>
              <a:lnSpc>
                <a:spcPct val="150000"/>
              </a:lnSpc>
            </a:pP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从以前C++</a:t>
            </a:r>
            <a:r>
              <a:rPr lang="en-US" altLang="zh-CN" sz="1200" dirty="0">
                <a:solidFill>
                  <a:prstClr val="white">
                    <a:lumMod val="65000"/>
                  </a:prstClr>
                </a:solidFill>
                <a:cs typeface="+mn-ea"/>
                <a:sym typeface="+mn-lt"/>
              </a:rPr>
              <a:t>/Lua</a:t>
            </a:r>
            <a:r>
              <a:rPr lang="zh-CN" altLang="en-US" sz="1200" dirty="0">
                <a:solidFill>
                  <a:prstClr val="white">
                    <a:lumMod val="65000"/>
                  </a:prstClr>
                </a:solidFill>
                <a:cs typeface="+mn-ea"/>
                <a:sym typeface="+mn-lt"/>
              </a:rPr>
              <a:t>环境开发到现在的Python、Go环境开发，再加上初次接触kbe引擎，确实在刚接收任务的时候有点手足无措，效率不高。但是经过自主学习和向同事寻求帮助，逐渐从开始的接手第一个团队功能的需10个工作日，到现在稍复杂的如精灵抽卡、采集系统模块和防沉迷等只需要2-3天，有些稍简单的1天甚至当天就能完成。说明自己在逐步提升和完全掌握业务开的发能力。</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主动通过学习kbe引擎的api函数、底层实现、参考其他业务模块实现、与同事的讨论以及AI的帮助，加速对引擎和服务端代码的掌握，加深对各个模块的了解，从而减少失误成本，来达到加快开发的实现。</a:t>
            </a:r>
            <a:endParaRPr lang="zh-CN" altLang="en-US" sz="1200" dirty="0">
              <a:solidFill>
                <a:prstClr val="white">
                  <a:lumMod val="65000"/>
                </a:prstClr>
              </a:solidFill>
              <a:cs typeface="+mn-ea"/>
              <a:sym typeface="+mn-lt"/>
            </a:endParaRPr>
          </a:p>
          <a:p>
            <a:pPr>
              <a:lnSpc>
                <a:spcPct val="150000"/>
              </a:lnSpc>
            </a:pPr>
            <a:r>
              <a:rPr lang="zh-CN" altLang="en-US" sz="1200" dirty="0">
                <a:solidFill>
                  <a:prstClr val="white">
                    <a:lumMod val="65000"/>
                  </a:prstClr>
                </a:solidFill>
                <a:cs typeface="+mn-ea"/>
                <a:sym typeface="+mn-lt"/>
              </a:rPr>
              <a:t> </a:t>
            </a: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掌握日志、代码调试，</a:t>
            </a:r>
            <a:r>
              <a:rPr lang="en-US" altLang="zh-CN" sz="1200" dirty="0">
                <a:solidFill>
                  <a:prstClr val="white">
                    <a:lumMod val="65000"/>
                  </a:prstClr>
                </a:solidFill>
                <a:cs typeface="+mn-ea"/>
                <a:sym typeface="+mn-lt"/>
              </a:rPr>
              <a:t>GM</a:t>
            </a:r>
            <a:r>
              <a:rPr lang="zh-CN" altLang="en-US" sz="1200" dirty="0">
                <a:solidFill>
                  <a:prstClr val="white">
                    <a:lumMod val="65000"/>
                  </a:prstClr>
                </a:solidFill>
                <a:cs typeface="+mn-ea"/>
                <a:sym typeface="+mn-lt"/>
              </a:rPr>
              <a:t>工具和代码热更，第一时间掌握代码运行流程。开发与热更同步，提升开发和修复问题的速度，减少不必要的时间浪费。</a:t>
            </a:r>
            <a:endParaRPr lang="zh-CN" altLang="en-US" sz="1200" dirty="0">
              <a:solidFill>
                <a:prstClr val="white">
                  <a:lumMod val="65000"/>
                </a:prstClr>
              </a:solidFill>
              <a:cs typeface="+mn-ea"/>
              <a:sym typeface="+mn-lt"/>
            </a:endParaRPr>
          </a:p>
          <a:p>
            <a:pPr>
              <a:lnSpc>
                <a:spcPct val="150000"/>
              </a:lnSpc>
            </a:pPr>
            <a:r>
              <a:rPr lang="zh-CN" altLang="en-US" sz="1200" dirty="0">
                <a:solidFill>
                  <a:prstClr val="white">
                    <a:lumMod val="65000"/>
                  </a:prstClr>
                </a:solidFill>
                <a:cs typeface="+mn-ea"/>
                <a:sym typeface="+mn-lt"/>
              </a:rPr>
              <a:t>同时通过自己习惯的开发模式如通过</a:t>
            </a:r>
            <a:r>
              <a:rPr lang="en-US" altLang="zh-CN" sz="1200" dirty="0">
                <a:solidFill>
                  <a:prstClr val="white">
                    <a:lumMod val="65000"/>
                  </a:prstClr>
                </a:solidFill>
                <a:cs typeface="+mn-ea"/>
                <a:sym typeface="+mn-lt"/>
              </a:rPr>
              <a:t>git</a:t>
            </a:r>
            <a:r>
              <a:rPr lang="zh-CN" altLang="en-US" sz="1200" dirty="0">
                <a:solidFill>
                  <a:prstClr val="white">
                    <a:lumMod val="65000"/>
                  </a:prstClr>
                </a:solidFill>
                <a:cs typeface="+mn-ea"/>
                <a:sym typeface="+mn-lt"/>
              </a:rPr>
              <a:t>控制代码版本</a:t>
            </a:r>
            <a:r>
              <a:rPr lang="zh-CN" altLang="en-US" sz="1200" dirty="0">
                <a:solidFill>
                  <a:prstClr val="white">
                    <a:lumMod val="65000"/>
                  </a:prstClr>
                </a:solidFill>
                <a:cs typeface="+mn-ea"/>
                <a:sym typeface="+mn-lt"/>
              </a:rPr>
              <a:t>的更新和切换</a:t>
            </a:r>
            <a:r>
              <a:rPr lang="zh-CN" altLang="en-US" sz="1200" dirty="0">
                <a:solidFill>
                  <a:prstClr val="white">
                    <a:lumMod val="65000"/>
                  </a:prstClr>
                </a:solidFill>
                <a:cs typeface="+mn-ea"/>
                <a:sym typeface="+mn-lt"/>
              </a:rPr>
              <a:t>，减少</a:t>
            </a:r>
            <a:r>
              <a:rPr lang="en-US" altLang="zh-CN" sz="1200" dirty="0">
                <a:solidFill>
                  <a:prstClr val="white">
                    <a:lumMod val="65000"/>
                  </a:prstClr>
                </a:solidFill>
                <a:cs typeface="+mn-ea"/>
                <a:sym typeface="+mn-lt"/>
              </a:rPr>
              <a:t>svn</a:t>
            </a:r>
            <a:r>
              <a:rPr lang="zh-CN" altLang="en-US" sz="1200" dirty="0">
                <a:solidFill>
                  <a:prstClr val="white">
                    <a:lumMod val="65000"/>
                  </a:prstClr>
                </a:solidFill>
                <a:cs typeface="+mn-ea"/>
                <a:sym typeface="+mn-lt"/>
              </a:rPr>
              <a:t>的提交审核次数，来提升自己的</a:t>
            </a:r>
            <a:r>
              <a:rPr lang="zh-CN" altLang="en-US" sz="1200" dirty="0">
                <a:solidFill>
                  <a:prstClr val="white">
                    <a:lumMod val="65000"/>
                  </a:prstClr>
                </a:solidFill>
                <a:cs typeface="+mn-ea"/>
                <a:sym typeface="+mn-lt"/>
              </a:rPr>
              <a:t>开发效率</a:t>
            </a:r>
            <a:r>
              <a:rPr lang="zh-CN" altLang="en-US" sz="1200" dirty="0">
                <a:solidFill>
                  <a:prstClr val="white">
                    <a:lumMod val="65000"/>
                  </a:prstClr>
                </a:solidFill>
                <a:cs typeface="+mn-ea"/>
                <a:sym typeface="+mn-lt"/>
              </a:rPr>
              <a:t>和他人的时间成本。</a:t>
            </a:r>
            <a:endParaRPr lang="zh-CN" altLang="en-US" sz="1200" dirty="0">
              <a:solidFill>
                <a:prstClr val="white">
                  <a:lumMod val="65000"/>
                </a:prstClr>
              </a:solidFill>
              <a:cs typeface="+mn-ea"/>
              <a:sym typeface="+mn-lt"/>
            </a:endParaRPr>
          </a:p>
          <a:p>
            <a:pPr>
              <a:lnSpc>
                <a:spcPct val="150000"/>
              </a:lnSpc>
            </a:pP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至今，在确保功能模块质量的前提，依旧坚持自测转单。同时努力提升效率，合理的规划时间，了解各个模块的核心，如此在分类相关任务时，可</a:t>
            </a:r>
            <a:r>
              <a:rPr lang="zh-CN" altLang="en-US" sz="1200" dirty="0">
                <a:solidFill>
                  <a:prstClr val="white">
                    <a:lumMod val="65000"/>
                  </a:prstClr>
                </a:solidFill>
                <a:cs typeface="+mn-ea"/>
                <a:sym typeface="+mn-lt"/>
              </a:rPr>
              <a:t>以第一时间定位并解决问题</a:t>
            </a:r>
            <a:r>
              <a:rPr lang="zh-CN" altLang="en-US" sz="1200" dirty="0">
                <a:solidFill>
                  <a:prstClr val="white">
                    <a:lumMod val="65000"/>
                  </a:prstClr>
                </a:solidFill>
                <a:cs typeface="+mn-ea"/>
                <a:sym typeface="+mn-lt"/>
              </a:rPr>
              <a:t>。最后通过自己习惯的开发、调试模式、提升对工具的使用，持续总结和积累项目经验，积蓄以完成后续可能面对的更复杂的需求和更烧脑的问题。</a:t>
            </a:r>
            <a:endParaRPr lang="zh-CN" altLang="en-US" sz="1200" dirty="0">
              <a:solidFill>
                <a:prstClr val="white">
                  <a:lumMod val="65000"/>
                </a:prstClr>
              </a:solidFill>
              <a:cs typeface="+mn-ea"/>
              <a:sym typeface="+mn-lt"/>
            </a:endParaRPr>
          </a:p>
        </p:txBody>
      </p:sp>
      <p:sp>
        <p:nvSpPr>
          <p:cNvPr id="53" name="矩形 52"/>
          <p:cNvSpPr/>
          <p:nvPr/>
        </p:nvSpPr>
        <p:spPr>
          <a:xfrm>
            <a:off x="5042313" y="808829"/>
            <a:ext cx="2107374" cy="229870"/>
          </a:xfrm>
          <a:prstGeom prst="rect">
            <a:avLst/>
          </a:prstGeom>
        </p:spPr>
        <p:txBody>
          <a:bodyPr wrap="square">
            <a:spAutoFit/>
          </a:bodyPr>
          <a:lstStyle/>
          <a:p>
            <a:pPr algn="ctr">
              <a:lnSpc>
                <a:spcPct val="100000"/>
              </a:lnSpc>
            </a:pPr>
            <a:r>
              <a:rPr lang="en-US" altLang="zh-CN" sz="900" dirty="0">
                <a:solidFill>
                  <a:schemeClr val="tx1">
                    <a:lumMod val="65000"/>
                    <a:lumOff val="35000"/>
                  </a:schemeClr>
                </a:solidFill>
                <a:cs typeface="+mn-ea"/>
                <a:sym typeface="+mn-lt"/>
              </a:rPr>
              <a:t>Performance self-assessment</a:t>
            </a:r>
            <a:endParaRPr lang="en-US" altLang="zh-CN" sz="900" dirty="0">
              <a:solidFill>
                <a:schemeClr val="tx1">
                  <a:lumMod val="65000"/>
                  <a:lumOff val="35000"/>
                </a:schemeClr>
              </a:solidFill>
              <a:cs typeface="+mn-ea"/>
              <a:sym typeface="+mn-lt"/>
            </a:endParaRPr>
          </a:p>
        </p:txBody>
      </p:sp>
      <p:sp>
        <p:nvSpPr>
          <p:cNvPr id="54" name="文本框 53"/>
          <p:cNvSpPr txBox="1"/>
          <p:nvPr/>
        </p:nvSpPr>
        <p:spPr>
          <a:xfrm>
            <a:off x="4729519" y="332748"/>
            <a:ext cx="2732964" cy="546100"/>
          </a:xfrm>
          <a:prstGeom prst="rect">
            <a:avLst/>
          </a:prstGeom>
          <a:noFill/>
        </p:spPr>
        <p:txBody>
          <a:bodyPr wrap="square" rtlCol="0">
            <a:spAutoFit/>
          </a:bodyPr>
          <a:lstStyle>
            <a:defPPr>
              <a:defRPr lang="zh-CN"/>
            </a:defPPr>
            <a:lvl1pPr algn="ctr">
              <a:defRPr sz="2955" b="1">
                <a:solidFill>
                  <a:schemeClr val="tx1">
                    <a:lumMod val="65000"/>
                    <a:lumOff val="35000"/>
                  </a:schemeClr>
                </a:solidFill>
                <a:cs typeface="+mn-ea"/>
              </a:defRPr>
            </a:lvl1pPr>
          </a:lstStyle>
          <a:p>
            <a:r>
              <a:rPr lang="zh-CN" altLang="en-US" dirty="0" smtClean="0">
                <a:sym typeface="+mn-lt"/>
              </a:rPr>
              <a:t>绩效自评</a:t>
            </a:r>
            <a:endParaRPr lang="zh-CN" altLang="en-US" dirty="0">
              <a:sym typeface="+mn-lt"/>
            </a:endParaRPr>
          </a:p>
        </p:txBody>
      </p:sp>
      <p:cxnSp>
        <p:nvCxnSpPr>
          <p:cNvPr id="55" name="Straight Connector 5"/>
          <p:cNvCxnSpPr/>
          <p:nvPr/>
        </p:nvCxnSpPr>
        <p:spPr>
          <a:xfrm>
            <a:off x="5561428" y="1065998"/>
            <a:ext cx="1069144" cy="0"/>
          </a:xfrm>
          <a:prstGeom prst="line">
            <a:avLst/>
          </a:prstGeom>
          <a:ln w="41275">
            <a:solidFill>
              <a:srgbClr val="604A7B"/>
            </a:solidFill>
          </a:ln>
        </p:spPr>
        <p:style>
          <a:lnRef idx="1">
            <a:schemeClr val="accent1"/>
          </a:lnRef>
          <a:fillRef idx="0">
            <a:schemeClr val="accent1"/>
          </a:fillRef>
          <a:effectRef idx="0">
            <a:schemeClr val="accent1"/>
          </a:effectRef>
          <a:fontRef idx="minor">
            <a:schemeClr val="tx1"/>
          </a:fontRef>
        </p:style>
      </p:cxnSp>
      <p:cxnSp>
        <p:nvCxnSpPr>
          <p:cNvPr id="7" name="Straight Connector 18"/>
          <p:cNvCxnSpPr/>
          <p:nvPr/>
        </p:nvCxnSpPr>
        <p:spPr>
          <a:xfrm>
            <a:off x="2381224" y="1487162"/>
            <a:ext cx="3333774" cy="2117"/>
          </a:xfrm>
          <a:prstGeom prst="line">
            <a:avLst/>
          </a:prstGeom>
          <a:ln w="571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19"/>
          <p:cNvCxnSpPr/>
          <p:nvPr/>
        </p:nvCxnSpPr>
        <p:spPr>
          <a:xfrm>
            <a:off x="2381224" y="1487162"/>
            <a:ext cx="1271270" cy="0"/>
          </a:xfrm>
          <a:prstGeom prst="line">
            <a:avLst/>
          </a:prstGeom>
          <a:ln w="57150">
            <a:solidFill>
              <a:srgbClr val="604A7B"/>
            </a:solidFill>
            <a:tailEnd type="oval"/>
          </a:ln>
        </p:spPr>
        <p:style>
          <a:lnRef idx="1">
            <a:schemeClr val="accent1"/>
          </a:lnRef>
          <a:fillRef idx="0">
            <a:schemeClr val="accent1"/>
          </a:fillRef>
          <a:effectRef idx="0">
            <a:schemeClr val="accent1"/>
          </a:effectRef>
          <a:fontRef idx="minor">
            <a:schemeClr val="tx1"/>
          </a:fontRef>
        </p:style>
      </p:cxnSp>
      <p:sp>
        <p:nvSpPr>
          <p:cNvPr id="9" name="Rectangle 31"/>
          <p:cNvSpPr/>
          <p:nvPr/>
        </p:nvSpPr>
        <p:spPr>
          <a:xfrm>
            <a:off x="761963" y="1296660"/>
            <a:ext cx="863600" cy="297180"/>
          </a:xfrm>
          <a:prstGeom prst="rect">
            <a:avLst/>
          </a:prstGeom>
        </p:spPr>
        <p:txBody>
          <a:bodyPr wrap="none">
            <a:spAutoFit/>
          </a:bodyPr>
          <a:p>
            <a:pPr algn="l"/>
            <a:r>
              <a:rPr lang="zh-CN" altLang="en-US" sz="1335" dirty="0">
                <a:solidFill>
                  <a:srgbClr val="604A7B"/>
                </a:solidFill>
                <a:cs typeface="+mn-ea"/>
                <a:sym typeface="+mn-lt"/>
              </a:rPr>
              <a:t>工作</a:t>
            </a:r>
            <a:r>
              <a:rPr lang="zh-CN" altLang="en-US" sz="1335" dirty="0">
                <a:solidFill>
                  <a:srgbClr val="604A7B"/>
                </a:solidFill>
                <a:cs typeface="+mn-ea"/>
                <a:sym typeface="+mn-lt"/>
              </a:rPr>
              <a:t>效率</a:t>
            </a:r>
            <a:endParaRPr lang="zh-CN" altLang="en-US" sz="1335" dirty="0">
              <a:solidFill>
                <a:srgbClr val="604A7B"/>
              </a:solidFill>
              <a:cs typeface="+mn-ea"/>
              <a:sym typeface="+mn-lt"/>
            </a:endParaRPr>
          </a:p>
        </p:txBody>
      </p:sp>
      <p:sp>
        <p:nvSpPr>
          <p:cNvPr id="10" name="Rectangle 35"/>
          <p:cNvSpPr/>
          <p:nvPr/>
        </p:nvSpPr>
        <p:spPr>
          <a:xfrm>
            <a:off x="6096001" y="1296660"/>
            <a:ext cx="523240" cy="297180"/>
          </a:xfrm>
          <a:prstGeom prst="rect">
            <a:avLst/>
          </a:prstGeom>
        </p:spPr>
        <p:txBody>
          <a:bodyPr wrap="none">
            <a:spAutoFit/>
          </a:bodyPr>
          <a:p>
            <a:r>
              <a:rPr lang="en-US" sz="1335" dirty="0">
                <a:solidFill>
                  <a:srgbClr val="604A7B"/>
                </a:solidFill>
                <a:cs typeface="+mn-ea"/>
                <a:sym typeface="+mn-lt"/>
              </a:rPr>
              <a:t>20%</a:t>
            </a:r>
            <a:endParaRPr lang="en-US" sz="1335" dirty="0">
              <a:solidFill>
                <a:srgbClr val="604A7B"/>
              </a:solidFill>
              <a:cs typeface="+mn-ea"/>
              <a:sym typeface="+mn-lt"/>
            </a:endParaRPr>
          </a:p>
        </p:txBody>
      </p:sp>
    </p:spTree>
  </p:cSld>
  <p:clrMapOvr>
    <a:masterClrMapping/>
  </p:clrMapOvr>
  <p:transition advClick="0">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custDataLst>
              <p:tags r:id="rId1"/>
            </p:custDataLst>
          </p:nvPr>
        </p:nvSpPr>
        <p:spPr>
          <a:xfrm>
            <a:off x="551815" y="1299845"/>
            <a:ext cx="2926080" cy="275590"/>
          </a:xfrm>
          <a:prstGeom prst="rect">
            <a:avLst/>
          </a:prstGeom>
        </p:spPr>
        <p:txBody>
          <a:bodyPr wrap="square">
            <a:spAutoFit/>
          </a:bodyPr>
          <a:p>
            <a:pPr algn="ctr">
              <a:lnSpc>
                <a:spcPct val="100000"/>
              </a:lnSpc>
            </a:pPr>
            <a:r>
              <a:rPr lang="zh-CN" altLang="en-US" sz="1200" dirty="0">
                <a:solidFill>
                  <a:schemeClr val="tx1">
                    <a:lumMod val="50000"/>
                    <a:lumOff val="50000"/>
                  </a:schemeClr>
                </a:solidFill>
                <a:cs typeface="+mn-ea"/>
                <a:sym typeface="+mn-lt"/>
              </a:rPr>
              <a:t>通过</a:t>
            </a:r>
            <a:r>
              <a:rPr lang="en-US" altLang="zh-CN" sz="1200" dirty="0">
                <a:solidFill>
                  <a:schemeClr val="tx1">
                    <a:lumMod val="50000"/>
                    <a:lumOff val="50000"/>
                  </a:schemeClr>
                </a:solidFill>
                <a:cs typeface="+mn-ea"/>
                <a:sym typeface="+mn-lt"/>
              </a:rPr>
              <a:t>git</a:t>
            </a:r>
            <a:r>
              <a:rPr lang="zh-CN" altLang="en-US" sz="1200" dirty="0">
                <a:solidFill>
                  <a:schemeClr val="tx1">
                    <a:lumMod val="50000"/>
                    <a:lumOff val="50000"/>
                  </a:schemeClr>
                </a:solidFill>
                <a:cs typeface="+mn-ea"/>
                <a:sym typeface="+mn-lt"/>
              </a:rPr>
              <a:t>控制本地代码版本进行开发</a:t>
            </a:r>
            <a:endParaRPr lang="zh-CN" altLang="en-US" sz="1200" dirty="0">
              <a:solidFill>
                <a:schemeClr val="tx1">
                  <a:lumMod val="50000"/>
                  <a:lumOff val="50000"/>
                </a:schemeClr>
              </a:solidFill>
              <a:cs typeface="+mn-ea"/>
              <a:sym typeface="+mn-lt"/>
            </a:endParaRPr>
          </a:p>
        </p:txBody>
      </p:sp>
      <p:pic>
        <p:nvPicPr>
          <p:cNvPr id="7" name="图片 6"/>
          <p:cNvPicPr>
            <a:picLocks noChangeAspect="1"/>
          </p:cNvPicPr>
          <p:nvPr>
            <p:custDataLst>
              <p:tags r:id="rId2"/>
            </p:custDataLst>
          </p:nvPr>
        </p:nvPicPr>
        <p:blipFill>
          <a:blip r:embed="rId3"/>
          <a:stretch>
            <a:fillRect/>
          </a:stretch>
        </p:blipFill>
        <p:spPr>
          <a:xfrm>
            <a:off x="551815" y="1675765"/>
            <a:ext cx="5429250" cy="3116580"/>
          </a:xfrm>
          <a:prstGeom prst="rect">
            <a:avLst/>
          </a:prstGeom>
        </p:spPr>
      </p:pic>
      <p:sp>
        <p:nvSpPr>
          <p:cNvPr id="4" name="文本框 3"/>
          <p:cNvSpPr txBox="1"/>
          <p:nvPr/>
        </p:nvSpPr>
        <p:spPr>
          <a:xfrm>
            <a:off x="5087620" y="229870"/>
            <a:ext cx="2016125" cy="368300"/>
          </a:xfrm>
          <a:prstGeom prst="rect">
            <a:avLst/>
          </a:prstGeom>
          <a:noFill/>
        </p:spPr>
        <p:txBody>
          <a:bodyPr wrap="square" rtlCol="0" anchor="t">
            <a:spAutoFit/>
          </a:bodyPr>
          <a:p>
            <a:r>
              <a:rPr lang="zh-CN" altLang="en-US" dirty="0" smtClean="0">
                <a:sym typeface="+mn-lt"/>
              </a:rPr>
              <a:t>部分开发工具</a:t>
            </a:r>
            <a:endParaRPr lang="zh-CN" altLang="en-US" dirty="0" smtClean="0">
              <a:sym typeface="+mn-lt"/>
            </a:endParaRPr>
          </a:p>
        </p:txBody>
      </p:sp>
      <p:pic>
        <p:nvPicPr>
          <p:cNvPr id="2" name="图片 1"/>
          <p:cNvPicPr>
            <a:picLocks noChangeAspect="1"/>
          </p:cNvPicPr>
          <p:nvPr>
            <p:custDataLst>
              <p:tags r:id="rId4"/>
            </p:custDataLst>
          </p:nvPr>
        </p:nvPicPr>
        <p:blipFill>
          <a:blip r:embed="rId5"/>
          <a:stretch>
            <a:fillRect/>
          </a:stretch>
        </p:blipFill>
        <p:spPr>
          <a:xfrm>
            <a:off x="6403975" y="1757045"/>
            <a:ext cx="5404485" cy="3035300"/>
          </a:xfrm>
          <a:prstGeom prst="rect">
            <a:avLst/>
          </a:prstGeom>
        </p:spPr>
      </p:pic>
      <p:sp>
        <p:nvSpPr>
          <p:cNvPr id="3" name="矩形 2"/>
          <p:cNvSpPr/>
          <p:nvPr>
            <p:custDataLst>
              <p:tags r:id="rId6"/>
            </p:custDataLst>
          </p:nvPr>
        </p:nvSpPr>
        <p:spPr>
          <a:xfrm>
            <a:off x="6009640" y="1380490"/>
            <a:ext cx="2311400" cy="275590"/>
          </a:xfrm>
          <a:prstGeom prst="rect">
            <a:avLst/>
          </a:prstGeom>
        </p:spPr>
        <p:txBody>
          <a:bodyPr wrap="square">
            <a:spAutoFit/>
          </a:bodyPr>
          <a:p>
            <a:pPr algn="ctr">
              <a:lnSpc>
                <a:spcPct val="100000"/>
              </a:lnSpc>
            </a:pPr>
            <a:r>
              <a:rPr lang="en-US" sz="1200" dirty="0">
                <a:solidFill>
                  <a:schemeClr val="tx1">
                    <a:lumMod val="50000"/>
                    <a:lumOff val="50000"/>
                  </a:schemeClr>
                </a:solidFill>
                <a:cs typeface="+mn-ea"/>
                <a:sym typeface="+mn-lt"/>
              </a:rPr>
              <a:t>web</a:t>
            </a:r>
            <a:r>
              <a:rPr lang="zh-CN" altLang="en-US" sz="1200" dirty="0">
                <a:solidFill>
                  <a:schemeClr val="tx1">
                    <a:lumMod val="50000"/>
                    <a:lumOff val="50000"/>
                  </a:schemeClr>
                </a:solidFill>
                <a:cs typeface="+mn-ea"/>
                <a:sym typeface="+mn-lt"/>
              </a:rPr>
              <a:t>协助开发工具</a:t>
            </a:r>
            <a:endParaRPr lang="zh-CN" altLang="en-US" sz="1200" dirty="0">
              <a:solidFill>
                <a:schemeClr val="tx1">
                  <a:lumMod val="50000"/>
                  <a:lumOff val="50000"/>
                </a:schemeClr>
              </a:solidFill>
              <a:cs typeface="+mn-ea"/>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716280" y="570865"/>
            <a:ext cx="1192530" cy="275590"/>
          </a:xfrm>
          <a:prstGeom prst="rect">
            <a:avLst/>
          </a:prstGeom>
        </p:spPr>
        <p:txBody>
          <a:bodyPr wrap="square">
            <a:spAutoFit/>
          </a:bodyPr>
          <a:p>
            <a:pPr algn="ctr">
              <a:lnSpc>
                <a:spcPct val="100000"/>
              </a:lnSpc>
            </a:pPr>
            <a:r>
              <a:rPr lang="zh-CN" altLang="en-US" sz="1200" dirty="0">
                <a:solidFill>
                  <a:schemeClr val="tx1">
                    <a:lumMod val="50000"/>
                    <a:lumOff val="50000"/>
                  </a:schemeClr>
                </a:solidFill>
                <a:cs typeface="+mn-ea"/>
                <a:sym typeface="+mn-lt"/>
              </a:rPr>
              <a:t>性能检测</a:t>
            </a:r>
            <a:endParaRPr lang="en-US" altLang="zh-CN" sz="1200" dirty="0">
              <a:solidFill>
                <a:schemeClr val="tx1">
                  <a:lumMod val="50000"/>
                  <a:lumOff val="50000"/>
                </a:schemeClr>
              </a:solidFill>
              <a:cs typeface="+mn-ea"/>
              <a:sym typeface="+mn-lt"/>
            </a:endParaRPr>
          </a:p>
        </p:txBody>
      </p:sp>
      <p:pic>
        <p:nvPicPr>
          <p:cNvPr id="4" name="图片 3"/>
          <p:cNvPicPr>
            <a:picLocks noChangeAspect="1"/>
          </p:cNvPicPr>
          <p:nvPr/>
        </p:nvPicPr>
        <p:blipFill>
          <a:blip r:embed="rId1"/>
          <a:stretch>
            <a:fillRect/>
          </a:stretch>
        </p:blipFill>
        <p:spPr>
          <a:xfrm>
            <a:off x="716280" y="918210"/>
            <a:ext cx="4315460" cy="2286635"/>
          </a:xfrm>
          <a:prstGeom prst="rect">
            <a:avLst/>
          </a:prstGeom>
        </p:spPr>
      </p:pic>
      <p:pic>
        <p:nvPicPr>
          <p:cNvPr id="5" name="图片 4"/>
          <p:cNvPicPr>
            <a:picLocks noChangeAspect="1"/>
          </p:cNvPicPr>
          <p:nvPr/>
        </p:nvPicPr>
        <p:blipFill>
          <a:blip r:embed="rId2"/>
          <a:stretch>
            <a:fillRect/>
          </a:stretch>
        </p:blipFill>
        <p:spPr>
          <a:xfrm>
            <a:off x="707390" y="4020820"/>
            <a:ext cx="4314825" cy="2136140"/>
          </a:xfrm>
          <a:prstGeom prst="rect">
            <a:avLst/>
          </a:prstGeom>
        </p:spPr>
      </p:pic>
      <p:pic>
        <p:nvPicPr>
          <p:cNvPr id="6" name="图片 5"/>
          <p:cNvPicPr>
            <a:picLocks noChangeAspect="1"/>
          </p:cNvPicPr>
          <p:nvPr/>
        </p:nvPicPr>
        <p:blipFill>
          <a:blip r:embed="rId3"/>
          <a:stretch>
            <a:fillRect/>
          </a:stretch>
        </p:blipFill>
        <p:spPr>
          <a:xfrm>
            <a:off x="6024245" y="802005"/>
            <a:ext cx="3887470" cy="2682875"/>
          </a:xfrm>
          <a:prstGeom prst="rect">
            <a:avLst/>
          </a:prstGeom>
        </p:spPr>
      </p:pic>
      <p:pic>
        <p:nvPicPr>
          <p:cNvPr id="7" name="图片 6"/>
          <p:cNvPicPr>
            <a:picLocks noChangeAspect="1"/>
          </p:cNvPicPr>
          <p:nvPr/>
        </p:nvPicPr>
        <p:blipFill>
          <a:blip r:embed="rId4"/>
          <a:stretch>
            <a:fillRect/>
          </a:stretch>
        </p:blipFill>
        <p:spPr>
          <a:xfrm>
            <a:off x="5922645" y="4296410"/>
            <a:ext cx="4406900" cy="1745615"/>
          </a:xfrm>
          <a:prstGeom prst="rect">
            <a:avLst/>
          </a:prstGeom>
        </p:spPr>
      </p:pic>
      <p:sp>
        <p:nvSpPr>
          <p:cNvPr id="8" name="矩形 7"/>
          <p:cNvSpPr/>
          <p:nvPr/>
        </p:nvSpPr>
        <p:spPr>
          <a:xfrm>
            <a:off x="208280" y="3724910"/>
            <a:ext cx="1700530" cy="275590"/>
          </a:xfrm>
          <a:prstGeom prst="rect">
            <a:avLst/>
          </a:prstGeom>
        </p:spPr>
        <p:txBody>
          <a:bodyPr wrap="square">
            <a:spAutoFit/>
          </a:bodyPr>
          <a:p>
            <a:pPr algn="ctr">
              <a:lnSpc>
                <a:spcPct val="100000"/>
              </a:lnSpc>
            </a:pPr>
            <a:r>
              <a:rPr lang="zh-CN" altLang="en-US" sz="1200" dirty="0">
                <a:solidFill>
                  <a:schemeClr val="tx1">
                    <a:lumMod val="50000"/>
                    <a:lumOff val="50000"/>
                  </a:schemeClr>
                </a:solidFill>
                <a:cs typeface="+mn-ea"/>
                <a:sym typeface="+mn-lt"/>
              </a:rPr>
              <a:t>服务端调试</a:t>
            </a:r>
            <a:endParaRPr lang="en-US" altLang="zh-CN" sz="1200" dirty="0">
              <a:solidFill>
                <a:schemeClr val="tx1">
                  <a:lumMod val="50000"/>
                  <a:lumOff val="50000"/>
                </a:schemeClr>
              </a:solidFill>
              <a:cs typeface="+mn-ea"/>
              <a:sym typeface="+mn-lt"/>
            </a:endParaRPr>
          </a:p>
        </p:txBody>
      </p:sp>
      <p:sp>
        <p:nvSpPr>
          <p:cNvPr id="9" name="矩形 8"/>
          <p:cNvSpPr/>
          <p:nvPr/>
        </p:nvSpPr>
        <p:spPr>
          <a:xfrm>
            <a:off x="5641975" y="526415"/>
            <a:ext cx="1725930" cy="275590"/>
          </a:xfrm>
          <a:prstGeom prst="rect">
            <a:avLst/>
          </a:prstGeom>
        </p:spPr>
        <p:txBody>
          <a:bodyPr wrap="square">
            <a:spAutoFit/>
          </a:bodyPr>
          <a:p>
            <a:pPr algn="ctr">
              <a:lnSpc>
                <a:spcPct val="100000"/>
              </a:lnSpc>
            </a:pPr>
            <a:r>
              <a:rPr lang="en-US" altLang="zh-CN" sz="1200" dirty="0">
                <a:solidFill>
                  <a:schemeClr val="tx1">
                    <a:lumMod val="50000"/>
                    <a:lumOff val="50000"/>
                  </a:schemeClr>
                </a:solidFill>
                <a:cs typeface="+mn-ea"/>
                <a:sym typeface="+mn-lt"/>
              </a:rPr>
              <a:t>GM</a:t>
            </a:r>
            <a:r>
              <a:rPr lang="zh-CN" altLang="en-US" sz="1200" dirty="0">
                <a:solidFill>
                  <a:schemeClr val="tx1">
                    <a:lumMod val="50000"/>
                    <a:lumOff val="50000"/>
                  </a:schemeClr>
                </a:solidFill>
                <a:cs typeface="+mn-ea"/>
                <a:sym typeface="+mn-lt"/>
              </a:rPr>
              <a:t>工具</a:t>
            </a:r>
            <a:endParaRPr lang="en-US" altLang="zh-CN" sz="1200" dirty="0">
              <a:solidFill>
                <a:schemeClr val="tx1">
                  <a:lumMod val="50000"/>
                  <a:lumOff val="50000"/>
                </a:schemeClr>
              </a:solidFill>
              <a:cs typeface="+mn-ea"/>
              <a:sym typeface="+mn-lt"/>
            </a:endParaRPr>
          </a:p>
        </p:txBody>
      </p:sp>
      <p:sp>
        <p:nvSpPr>
          <p:cNvPr id="10" name="矩形 9"/>
          <p:cNvSpPr/>
          <p:nvPr/>
        </p:nvSpPr>
        <p:spPr>
          <a:xfrm>
            <a:off x="5641975" y="3869690"/>
            <a:ext cx="1673860" cy="275590"/>
          </a:xfrm>
          <a:prstGeom prst="rect">
            <a:avLst/>
          </a:prstGeom>
        </p:spPr>
        <p:txBody>
          <a:bodyPr wrap="square">
            <a:spAutoFit/>
          </a:bodyPr>
          <a:p>
            <a:pPr algn="ctr">
              <a:lnSpc>
                <a:spcPct val="100000"/>
              </a:lnSpc>
            </a:pPr>
            <a:r>
              <a:rPr lang="zh-CN" sz="1200" dirty="0">
                <a:solidFill>
                  <a:schemeClr val="tx1">
                    <a:lumMod val="50000"/>
                    <a:lumOff val="50000"/>
                  </a:schemeClr>
                </a:solidFill>
                <a:cs typeface="+mn-ea"/>
                <a:sym typeface="+mn-lt"/>
              </a:rPr>
              <a:t>客户端调试</a:t>
            </a:r>
            <a:endParaRPr lang="zh-CN" sz="1200" dirty="0">
              <a:solidFill>
                <a:schemeClr val="tx1">
                  <a:lumMod val="50000"/>
                  <a:lumOff val="50000"/>
                </a:schemeClr>
              </a:solidFill>
              <a:cs typeface="+mn-ea"/>
              <a:sym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p:cNvSpPr/>
          <p:nvPr/>
        </p:nvSpPr>
        <p:spPr>
          <a:xfrm>
            <a:off x="762000" y="1740535"/>
            <a:ext cx="10843895" cy="4612640"/>
          </a:xfrm>
          <a:prstGeom prst="rect">
            <a:avLst/>
          </a:prstGeom>
        </p:spPr>
        <p:txBody>
          <a:bodyPr wrap="square">
            <a:noAutofit/>
          </a:bodyPr>
          <a:lstStyle/>
          <a:p>
            <a:pPr algn="l">
              <a:lnSpc>
                <a:spcPct val="150000"/>
              </a:lnSpc>
              <a:buClrTx/>
              <a:buSzTx/>
              <a:buNone/>
            </a:pPr>
            <a:r>
              <a:rPr lang="en-US" altLang="zh-CN" sz="1200" dirty="0">
                <a:solidFill>
                  <a:prstClr val="white">
                    <a:lumMod val="65000"/>
                  </a:prstClr>
                </a:solidFill>
                <a:cs typeface="+mn-ea"/>
                <a:sym typeface="+mn-lt"/>
              </a:rPr>
              <a:t>        积极逐步承担更高难度和更具重要性的任务，从刚入职时处理完善简单的模块功能，补充代码逻辑和漏洞，到独立实现如福利系统、精灵抽卡系统等模块，再到后面负责修复最复杂的技能模块的bug</a:t>
            </a:r>
            <a:r>
              <a:rPr lang="zh-CN" altLang="en-US" sz="1200" dirty="0">
                <a:solidFill>
                  <a:prstClr val="white">
                    <a:lumMod val="65000"/>
                  </a:prstClr>
                </a:solidFill>
                <a:cs typeface="+mn-ea"/>
                <a:sym typeface="+mn-lt"/>
              </a:rPr>
              <a:t>。</a:t>
            </a:r>
            <a:r>
              <a:rPr lang="en-US" altLang="zh-CN" sz="1200" dirty="0">
                <a:solidFill>
                  <a:prstClr val="white">
                    <a:lumMod val="65000"/>
                  </a:prstClr>
                </a:solidFill>
                <a:cs typeface="+mn-ea"/>
                <a:sym typeface="+mn-lt"/>
              </a:rPr>
              <a:t>靠自己以往</a:t>
            </a:r>
            <a:r>
              <a:rPr lang="zh-CN" altLang="en-US" sz="1200" dirty="0">
                <a:solidFill>
                  <a:prstClr val="white">
                    <a:lumMod val="65000"/>
                  </a:prstClr>
                </a:solidFill>
                <a:cs typeface="+mn-ea"/>
                <a:sym typeface="+mn-lt"/>
              </a:rPr>
              <a:t>的</a:t>
            </a:r>
            <a:r>
              <a:rPr lang="en-US" altLang="zh-CN" sz="1200" dirty="0">
                <a:solidFill>
                  <a:prstClr val="white">
                    <a:lumMod val="65000"/>
                  </a:prstClr>
                </a:solidFill>
                <a:cs typeface="+mn-ea"/>
                <a:sym typeface="+mn-lt"/>
              </a:rPr>
              <a:t>经验，负责接手并实现三方登录、防沉迷、手机号绑定等，</a:t>
            </a:r>
            <a:r>
              <a:rPr lang="zh-CN" altLang="en-US" sz="1200" dirty="0">
                <a:solidFill>
                  <a:prstClr val="white">
                    <a:lumMod val="65000"/>
                  </a:prstClr>
                </a:solidFill>
                <a:cs typeface="+mn-ea"/>
                <a:sym typeface="+mn-lt"/>
              </a:rPr>
              <a:t>都是自己</a:t>
            </a:r>
            <a:r>
              <a:rPr lang="en-US" altLang="zh-CN" sz="1200" dirty="0">
                <a:solidFill>
                  <a:prstClr val="white">
                    <a:lumMod val="65000"/>
                  </a:prstClr>
                </a:solidFill>
                <a:cs typeface="+mn-ea"/>
                <a:sym typeface="+mn-lt"/>
              </a:rPr>
              <a:t>逐步</a:t>
            </a:r>
            <a:r>
              <a:rPr lang="zh-CN" altLang="en-US" sz="1200" dirty="0">
                <a:solidFill>
                  <a:prstClr val="white">
                    <a:lumMod val="65000"/>
                  </a:prstClr>
                </a:solidFill>
                <a:cs typeface="+mn-ea"/>
                <a:sym typeface="+mn-lt"/>
              </a:rPr>
              <a:t>的</a:t>
            </a:r>
            <a:r>
              <a:rPr lang="en-US" altLang="zh-CN" sz="1200" dirty="0">
                <a:solidFill>
                  <a:prstClr val="white">
                    <a:lumMod val="65000"/>
                  </a:prstClr>
                </a:solidFill>
                <a:cs typeface="+mn-ea"/>
                <a:sym typeface="+mn-lt"/>
              </a:rPr>
              <a:t>提升和</a:t>
            </a:r>
            <a:r>
              <a:rPr lang="zh-CN" altLang="en-US" sz="1200" dirty="0">
                <a:solidFill>
                  <a:prstClr val="white">
                    <a:lumMod val="65000"/>
                  </a:prstClr>
                </a:solidFill>
                <a:cs typeface="+mn-ea"/>
                <a:sym typeface="+mn-lt"/>
              </a:rPr>
              <a:t>有能力</a:t>
            </a:r>
            <a:r>
              <a:rPr lang="en-US" altLang="zh-CN" sz="1200" dirty="0">
                <a:solidFill>
                  <a:prstClr val="white">
                    <a:lumMod val="65000"/>
                  </a:prstClr>
                </a:solidFill>
                <a:cs typeface="+mn-ea"/>
                <a:sym typeface="+mn-lt"/>
              </a:rPr>
              <a:t>接手重要模块的开发</a:t>
            </a:r>
            <a:r>
              <a:rPr lang="zh-CN" altLang="en-US" sz="1200" dirty="0">
                <a:solidFill>
                  <a:prstClr val="white">
                    <a:lumMod val="65000"/>
                  </a:prstClr>
                </a:solidFill>
                <a:cs typeface="+mn-ea"/>
                <a:sym typeface="+mn-lt"/>
              </a:rPr>
              <a:t>的表现</a:t>
            </a:r>
            <a:r>
              <a:rPr lang="en-US" altLang="zh-CN" sz="1200" dirty="0">
                <a:solidFill>
                  <a:prstClr val="white">
                    <a:lumMod val="65000"/>
                  </a:prstClr>
                </a:solidFill>
                <a:cs typeface="+mn-ea"/>
                <a:sym typeface="+mn-lt"/>
              </a:rPr>
              <a:t>。</a:t>
            </a:r>
            <a:endParaRPr lang="en-US" altLang="zh-CN" sz="1200" dirty="0">
              <a:solidFill>
                <a:prstClr val="white">
                  <a:lumMod val="65000"/>
                </a:prstClr>
              </a:solidFill>
              <a:cs typeface="+mn-ea"/>
              <a:sym typeface="+mn-lt"/>
            </a:endParaRPr>
          </a:p>
          <a:p>
            <a:pPr algn="l">
              <a:lnSpc>
                <a:spcPct val="150000"/>
              </a:lnSpc>
              <a:buClrTx/>
              <a:buSzTx/>
              <a:buNone/>
            </a:pPr>
            <a:r>
              <a:rPr lang="en-US" altLang="zh-CN" sz="1200" dirty="0">
                <a:solidFill>
                  <a:prstClr val="white">
                    <a:lumMod val="65000"/>
                  </a:prstClr>
                </a:solidFill>
                <a:cs typeface="+mn-ea"/>
                <a:sym typeface="+mn-lt"/>
              </a:rPr>
              <a:t>        又如定时、限时和大世界实体刷新等功能，需要完全了解副本编辑器的使用、地图配置的细节、实体完整的创建流程以及刷新逻辑。添加新功能的同时兼容和不印象老功能的正常运行。</a:t>
            </a:r>
            <a:r>
              <a:rPr lang="zh-CN" altLang="en-US" sz="1200" dirty="0">
                <a:solidFill>
                  <a:prstClr val="white">
                    <a:lumMod val="65000"/>
                  </a:prstClr>
                </a:solidFill>
                <a:cs typeface="+mn-ea"/>
                <a:sym typeface="+mn-lt"/>
              </a:rPr>
              <a:t>同时保证性能问题减少定时器的创建，通过分组分类实现同一定时器控制相关实体的创建和销毁</a:t>
            </a:r>
            <a:r>
              <a:rPr lang="en-US" altLang="zh-CN" sz="1200" dirty="0">
                <a:solidFill>
                  <a:prstClr val="white">
                    <a:lumMod val="65000"/>
                  </a:prstClr>
                </a:solidFill>
                <a:cs typeface="+mn-ea"/>
                <a:sym typeface="+mn-lt"/>
              </a:rPr>
              <a:t>,</a:t>
            </a:r>
            <a:r>
              <a:rPr lang="zh-CN" altLang="en-US" sz="1200" dirty="0">
                <a:solidFill>
                  <a:prstClr val="white">
                    <a:lumMod val="65000"/>
                  </a:prstClr>
                </a:solidFill>
                <a:cs typeface="+mn-ea"/>
                <a:sym typeface="+mn-lt"/>
              </a:rPr>
              <a:t>减少服务器压力。</a:t>
            </a:r>
            <a:endParaRPr lang="en-US" altLang="zh-CN" sz="1200" dirty="0">
              <a:solidFill>
                <a:prstClr val="white">
                  <a:lumMod val="65000"/>
                </a:prstClr>
              </a:solidFill>
              <a:cs typeface="+mn-ea"/>
              <a:sym typeface="+mn-lt"/>
            </a:endParaRPr>
          </a:p>
          <a:p>
            <a:pPr algn="l">
              <a:lnSpc>
                <a:spcPct val="150000"/>
              </a:lnSpc>
              <a:buClrTx/>
              <a:buSzTx/>
              <a:buNone/>
            </a:pP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又如</a:t>
            </a:r>
            <a:r>
              <a:rPr lang="en-US" altLang="zh-CN" sz="1200" dirty="0">
                <a:solidFill>
                  <a:prstClr val="white">
                    <a:lumMod val="65000"/>
                  </a:prstClr>
                </a:solidFill>
                <a:cs typeface="+mn-ea"/>
                <a:sym typeface="+mn-lt"/>
              </a:rPr>
              <a:t>三方登录、防沉迷等需要掌握客户端、web</a:t>
            </a:r>
            <a:r>
              <a:rPr lang="zh-CN" altLang="en-US" sz="1200" dirty="0">
                <a:solidFill>
                  <a:prstClr val="white">
                    <a:lumMod val="65000"/>
                  </a:prstClr>
                </a:solidFill>
                <a:cs typeface="+mn-ea"/>
                <a:sym typeface="+mn-lt"/>
              </a:rPr>
              <a:t>端</a:t>
            </a:r>
            <a:r>
              <a:rPr lang="en-US" altLang="zh-CN" sz="1200" dirty="0">
                <a:solidFill>
                  <a:prstClr val="white">
                    <a:lumMod val="65000"/>
                  </a:prstClr>
                </a:solidFill>
                <a:cs typeface="+mn-ea"/>
                <a:sym typeface="+mn-lt"/>
              </a:rPr>
              <a:t>、中心服、游戏服等</a:t>
            </a:r>
            <a:r>
              <a:rPr lang="zh-CN" altLang="en-US" sz="1200" dirty="0">
                <a:solidFill>
                  <a:prstClr val="white">
                    <a:lumMod val="65000"/>
                  </a:prstClr>
                </a:solidFill>
                <a:cs typeface="+mn-ea"/>
                <a:sym typeface="+mn-lt"/>
              </a:rPr>
              <a:t>多端</a:t>
            </a:r>
            <a:r>
              <a:rPr lang="en-US" altLang="zh-CN" sz="1200" dirty="0">
                <a:solidFill>
                  <a:prstClr val="white">
                    <a:lumMod val="65000"/>
                  </a:prstClr>
                </a:solidFill>
                <a:cs typeface="+mn-ea"/>
                <a:sym typeface="+mn-lt"/>
              </a:rPr>
              <a:t>各自的职责和业务</a:t>
            </a:r>
            <a:r>
              <a:rPr lang="zh-CN" altLang="en-US" sz="1200" dirty="0">
                <a:solidFill>
                  <a:prstClr val="white">
                    <a:lumMod val="65000"/>
                  </a:prstClr>
                </a:solidFill>
                <a:cs typeface="+mn-ea"/>
                <a:sym typeface="+mn-lt"/>
              </a:rPr>
              <a:t>功能</a:t>
            </a:r>
            <a:r>
              <a:rPr lang="en-US" altLang="zh-CN" sz="1200" dirty="0">
                <a:solidFill>
                  <a:prstClr val="white">
                    <a:lumMod val="65000"/>
                  </a:prstClr>
                </a:solidFill>
                <a:cs typeface="+mn-ea"/>
                <a:sym typeface="+mn-lt"/>
              </a:rPr>
              <a:t>，包括登录的、校验、db创建账号或者封禁等的完整流程。</a:t>
            </a:r>
            <a:r>
              <a:rPr lang="zh-CN" altLang="en-US" sz="1200" dirty="0">
                <a:solidFill>
                  <a:prstClr val="white">
                    <a:lumMod val="65000"/>
                  </a:prstClr>
                </a:solidFill>
                <a:cs typeface="+mn-ea"/>
                <a:sym typeface="+mn-lt"/>
              </a:rPr>
              <a:t>绑定手机号等通过</a:t>
            </a:r>
            <a:r>
              <a:rPr lang="en-US" altLang="zh-CN" sz="1200" dirty="0">
                <a:solidFill>
                  <a:prstClr val="white">
                    <a:lumMod val="65000"/>
                  </a:prstClr>
                </a:solidFill>
                <a:cs typeface="+mn-ea"/>
                <a:sym typeface="+mn-lt"/>
              </a:rPr>
              <a:t>http</a:t>
            </a:r>
            <a:r>
              <a:rPr lang="zh-CN" altLang="en-US" sz="1200" dirty="0">
                <a:solidFill>
                  <a:prstClr val="white">
                    <a:lumMod val="65000"/>
                  </a:prstClr>
                </a:solidFill>
                <a:cs typeface="+mn-ea"/>
                <a:sym typeface="+mn-lt"/>
              </a:rPr>
              <a:t>请求的功能，需控制和拦截玩家的恶意请求，保证服务器和</a:t>
            </a:r>
            <a:r>
              <a:rPr lang="en-US" altLang="zh-CN" sz="1200" dirty="0">
                <a:solidFill>
                  <a:prstClr val="white">
                    <a:lumMod val="65000"/>
                  </a:prstClr>
                </a:solidFill>
                <a:cs typeface="+mn-ea"/>
                <a:sym typeface="+mn-lt"/>
              </a:rPr>
              <a:t>web</a:t>
            </a:r>
            <a:r>
              <a:rPr lang="zh-CN" altLang="en-US" sz="1200" dirty="0">
                <a:solidFill>
                  <a:prstClr val="white">
                    <a:lumMod val="65000"/>
                  </a:prstClr>
                </a:solidFill>
                <a:cs typeface="+mn-ea"/>
                <a:sym typeface="+mn-lt"/>
              </a:rPr>
              <a:t>端的资源占用，从而避免公司的短信业务不受影响。</a:t>
            </a:r>
            <a:endParaRPr lang="en-US" altLang="zh-CN" sz="1200" dirty="0">
              <a:solidFill>
                <a:prstClr val="white">
                  <a:lumMod val="65000"/>
                </a:prstClr>
              </a:solidFill>
              <a:cs typeface="+mn-ea"/>
              <a:sym typeface="+mn-lt"/>
            </a:endParaRPr>
          </a:p>
          <a:p>
            <a:pPr algn="l">
              <a:lnSpc>
                <a:spcPct val="150000"/>
              </a:lnSpc>
              <a:buClrTx/>
              <a:buSzTx/>
              <a:buNone/>
            </a:pPr>
            <a:r>
              <a:rPr lang="en-US" altLang="zh-CN" sz="1200" dirty="0">
                <a:solidFill>
                  <a:prstClr val="white">
                    <a:lumMod val="65000"/>
                  </a:prstClr>
                </a:solidFill>
                <a:cs typeface="+mn-ea"/>
                <a:sym typeface="+mn-lt"/>
              </a:rPr>
              <a:t>        期间通过熟悉引擎代码，</a:t>
            </a:r>
            <a:r>
              <a:rPr lang="zh-CN" altLang="en-US" sz="1200" dirty="0">
                <a:solidFill>
                  <a:prstClr val="white">
                    <a:lumMod val="65000"/>
                  </a:prstClr>
                </a:solidFill>
                <a:cs typeface="+mn-ea"/>
                <a:sym typeface="+mn-lt"/>
              </a:rPr>
              <a:t>逐渐掌握引擎的同步数据同步机制，通过对</a:t>
            </a:r>
            <a:r>
              <a:rPr lang="en-US" altLang="zh-CN" sz="1200" dirty="0">
                <a:solidFill>
                  <a:prstClr val="white">
                    <a:lumMod val="65000"/>
                  </a:prstClr>
                </a:solidFill>
                <a:cs typeface="+mn-ea"/>
                <a:sym typeface="+mn-lt"/>
              </a:rPr>
              <a:t>自己模块</a:t>
            </a:r>
            <a:r>
              <a:rPr lang="zh-CN" altLang="en-US" sz="1200" dirty="0">
                <a:solidFill>
                  <a:prstClr val="white">
                    <a:lumMod val="65000"/>
                  </a:prstClr>
                </a:solidFill>
                <a:cs typeface="+mn-ea"/>
                <a:sym typeface="+mn-lt"/>
              </a:rPr>
              <a:t>和学习</a:t>
            </a:r>
            <a:r>
              <a:rPr lang="en-US" altLang="zh-CN" sz="1200" dirty="0">
                <a:solidFill>
                  <a:prstClr val="white">
                    <a:lumMod val="65000"/>
                  </a:prstClr>
                </a:solidFill>
                <a:cs typeface="+mn-ea"/>
                <a:sym typeface="+mn-lt"/>
              </a:rPr>
              <a:t>其他模块的</a:t>
            </a:r>
            <a:r>
              <a:rPr lang="zh-CN" altLang="en-US" sz="1200" dirty="0">
                <a:solidFill>
                  <a:prstClr val="white">
                    <a:lumMod val="65000"/>
                  </a:prstClr>
                </a:solidFill>
                <a:cs typeface="+mn-ea"/>
                <a:sym typeface="+mn-lt"/>
              </a:rPr>
              <a:t>实现</a:t>
            </a:r>
            <a:r>
              <a:rPr lang="en-US" altLang="zh-CN" sz="1200" dirty="0">
                <a:solidFill>
                  <a:prstClr val="white">
                    <a:lumMod val="65000"/>
                  </a:prstClr>
                </a:solidFill>
                <a:cs typeface="+mn-ea"/>
                <a:sym typeface="+mn-lt"/>
              </a:rPr>
              <a:t>，不断提高自身的业务能力，</a:t>
            </a:r>
            <a:r>
              <a:rPr lang="zh-CN" altLang="en-US" sz="1200" dirty="0">
                <a:solidFill>
                  <a:prstClr val="white">
                    <a:lumMod val="65000"/>
                  </a:prstClr>
                </a:solidFill>
                <a:cs typeface="+mn-ea"/>
                <a:sym typeface="+mn-lt"/>
              </a:rPr>
              <a:t>从而在</a:t>
            </a:r>
            <a:r>
              <a:rPr lang="en-US" altLang="zh-CN" sz="1200" dirty="0">
                <a:solidFill>
                  <a:prstClr val="white">
                    <a:lumMod val="65000"/>
                  </a:prstClr>
                </a:solidFill>
                <a:cs typeface="+mn-ea"/>
                <a:sym typeface="+mn-lt"/>
              </a:rPr>
              <a:t>面对</a:t>
            </a:r>
            <a:r>
              <a:rPr lang="zh-CN" altLang="en-US" sz="1200" dirty="0">
                <a:solidFill>
                  <a:prstClr val="white">
                    <a:lumMod val="65000"/>
                  </a:prstClr>
                </a:solidFill>
                <a:cs typeface="+mn-ea"/>
                <a:sym typeface="+mn-lt"/>
              </a:rPr>
              <a:t>更</a:t>
            </a:r>
            <a:r>
              <a:rPr lang="en-US" altLang="zh-CN" sz="1200" dirty="0">
                <a:solidFill>
                  <a:prstClr val="white">
                    <a:lumMod val="65000"/>
                  </a:prstClr>
                </a:solidFill>
                <a:cs typeface="+mn-ea"/>
                <a:sym typeface="+mn-lt"/>
              </a:rPr>
              <a:t>复杂的功能</a:t>
            </a:r>
            <a:r>
              <a:rPr lang="zh-CN" altLang="en-US" sz="1200" dirty="0">
                <a:solidFill>
                  <a:prstClr val="white">
                    <a:lumMod val="65000"/>
                  </a:prstClr>
                </a:solidFill>
                <a:cs typeface="+mn-ea"/>
                <a:sym typeface="+mn-lt"/>
              </a:rPr>
              <a:t>时</a:t>
            </a:r>
            <a:r>
              <a:rPr lang="en-US" altLang="zh-CN" sz="1200" dirty="0">
                <a:solidFill>
                  <a:prstClr val="white">
                    <a:lumMod val="65000"/>
                  </a:prstClr>
                </a:solidFill>
                <a:cs typeface="+mn-ea"/>
                <a:sym typeface="+mn-lt"/>
              </a:rPr>
              <a:t>，能够独立分析、</a:t>
            </a:r>
            <a:r>
              <a:rPr lang="zh-CN" altLang="en-US" sz="1200" dirty="0">
                <a:solidFill>
                  <a:prstClr val="white">
                    <a:lumMod val="65000"/>
                  </a:prstClr>
                </a:solidFill>
                <a:cs typeface="+mn-ea"/>
                <a:sym typeface="+mn-lt"/>
              </a:rPr>
              <a:t>快速</a:t>
            </a:r>
            <a:r>
              <a:rPr lang="en-US" altLang="zh-CN" sz="1200" dirty="0">
                <a:solidFill>
                  <a:prstClr val="white">
                    <a:lumMod val="65000"/>
                  </a:prstClr>
                </a:solidFill>
                <a:cs typeface="+mn-ea"/>
                <a:sym typeface="+mn-lt"/>
              </a:rPr>
              <a:t>定位问题和</a:t>
            </a:r>
            <a:r>
              <a:rPr lang="zh-CN" altLang="en-US" sz="1200" dirty="0">
                <a:solidFill>
                  <a:prstClr val="white">
                    <a:lumMod val="65000"/>
                  </a:prstClr>
                </a:solidFill>
                <a:cs typeface="+mn-ea"/>
                <a:sym typeface="+mn-lt"/>
              </a:rPr>
              <a:t>找到</a:t>
            </a:r>
            <a:r>
              <a:rPr lang="en-US" altLang="zh-CN" sz="1200" dirty="0">
                <a:solidFill>
                  <a:prstClr val="white">
                    <a:lumMod val="65000"/>
                  </a:prstClr>
                </a:solidFill>
                <a:cs typeface="+mn-ea"/>
                <a:sym typeface="+mn-lt"/>
              </a:rPr>
              <a:t>突破口。</a:t>
            </a:r>
            <a:endParaRPr lang="en-US" altLang="zh-CN" sz="1200" dirty="0">
              <a:solidFill>
                <a:prstClr val="white">
                  <a:lumMod val="65000"/>
                </a:prstClr>
              </a:solidFill>
              <a:cs typeface="+mn-ea"/>
              <a:sym typeface="+mn-lt"/>
            </a:endParaRPr>
          </a:p>
          <a:p>
            <a:pPr>
              <a:lnSpc>
                <a:spcPct val="150000"/>
              </a:lnSpc>
            </a:pPr>
            <a:endParaRPr lang="zh-CN" altLang="en-US" sz="800" dirty="0">
              <a:solidFill>
                <a:prstClr val="white">
                  <a:lumMod val="65000"/>
                </a:prstClr>
              </a:solidFill>
              <a:cs typeface="+mn-ea"/>
              <a:sym typeface="+mn-lt"/>
            </a:endParaRPr>
          </a:p>
        </p:txBody>
      </p:sp>
      <p:sp>
        <p:nvSpPr>
          <p:cNvPr id="53" name="矩形 52"/>
          <p:cNvSpPr/>
          <p:nvPr/>
        </p:nvSpPr>
        <p:spPr>
          <a:xfrm>
            <a:off x="5042313" y="808829"/>
            <a:ext cx="2107374" cy="229870"/>
          </a:xfrm>
          <a:prstGeom prst="rect">
            <a:avLst/>
          </a:prstGeom>
        </p:spPr>
        <p:txBody>
          <a:bodyPr wrap="square">
            <a:spAutoFit/>
          </a:bodyPr>
          <a:lstStyle/>
          <a:p>
            <a:pPr algn="ctr">
              <a:lnSpc>
                <a:spcPct val="100000"/>
              </a:lnSpc>
            </a:pPr>
            <a:r>
              <a:rPr lang="en-US" altLang="zh-CN" sz="900" dirty="0">
                <a:solidFill>
                  <a:schemeClr val="tx1">
                    <a:lumMod val="65000"/>
                    <a:lumOff val="35000"/>
                  </a:schemeClr>
                </a:solidFill>
                <a:cs typeface="+mn-ea"/>
                <a:sym typeface="+mn-lt"/>
              </a:rPr>
              <a:t>Performance self-assessment</a:t>
            </a:r>
            <a:endParaRPr lang="en-US" altLang="zh-CN" sz="900" dirty="0">
              <a:solidFill>
                <a:schemeClr val="tx1">
                  <a:lumMod val="65000"/>
                  <a:lumOff val="35000"/>
                </a:schemeClr>
              </a:solidFill>
              <a:cs typeface="+mn-ea"/>
              <a:sym typeface="+mn-lt"/>
            </a:endParaRPr>
          </a:p>
        </p:txBody>
      </p:sp>
      <p:sp>
        <p:nvSpPr>
          <p:cNvPr id="54" name="文本框 53"/>
          <p:cNvSpPr txBox="1"/>
          <p:nvPr/>
        </p:nvSpPr>
        <p:spPr>
          <a:xfrm>
            <a:off x="4729519" y="332748"/>
            <a:ext cx="2732964" cy="546100"/>
          </a:xfrm>
          <a:prstGeom prst="rect">
            <a:avLst/>
          </a:prstGeom>
          <a:noFill/>
        </p:spPr>
        <p:txBody>
          <a:bodyPr wrap="square" rtlCol="0">
            <a:spAutoFit/>
          </a:bodyPr>
          <a:lstStyle>
            <a:defPPr>
              <a:defRPr lang="zh-CN"/>
            </a:defPPr>
            <a:lvl1pPr algn="ctr">
              <a:defRPr sz="2955" b="1">
                <a:solidFill>
                  <a:schemeClr val="tx1">
                    <a:lumMod val="65000"/>
                    <a:lumOff val="35000"/>
                  </a:schemeClr>
                </a:solidFill>
                <a:cs typeface="+mn-ea"/>
              </a:defRPr>
            </a:lvl1pPr>
          </a:lstStyle>
          <a:p>
            <a:r>
              <a:rPr lang="zh-CN" altLang="en-US" dirty="0" smtClean="0">
                <a:sym typeface="+mn-lt"/>
              </a:rPr>
              <a:t>绩效自评</a:t>
            </a:r>
            <a:endParaRPr lang="zh-CN" altLang="en-US" dirty="0">
              <a:sym typeface="+mn-lt"/>
            </a:endParaRPr>
          </a:p>
        </p:txBody>
      </p:sp>
      <p:cxnSp>
        <p:nvCxnSpPr>
          <p:cNvPr id="55" name="Straight Connector 5"/>
          <p:cNvCxnSpPr/>
          <p:nvPr/>
        </p:nvCxnSpPr>
        <p:spPr>
          <a:xfrm>
            <a:off x="5561428" y="1065998"/>
            <a:ext cx="1069144" cy="0"/>
          </a:xfrm>
          <a:prstGeom prst="line">
            <a:avLst/>
          </a:prstGeom>
          <a:ln w="41275">
            <a:solidFill>
              <a:srgbClr val="604A7B"/>
            </a:solidFill>
          </a:ln>
        </p:spPr>
        <p:style>
          <a:lnRef idx="1">
            <a:schemeClr val="accent1"/>
          </a:lnRef>
          <a:fillRef idx="0">
            <a:schemeClr val="accent1"/>
          </a:fillRef>
          <a:effectRef idx="0">
            <a:schemeClr val="accent1"/>
          </a:effectRef>
          <a:fontRef idx="minor">
            <a:schemeClr val="tx1"/>
          </a:fontRef>
        </p:style>
      </p:cxnSp>
      <p:cxnSp>
        <p:nvCxnSpPr>
          <p:cNvPr id="7" name="Straight Connector 18"/>
          <p:cNvCxnSpPr/>
          <p:nvPr/>
        </p:nvCxnSpPr>
        <p:spPr>
          <a:xfrm>
            <a:off x="2381224" y="1487162"/>
            <a:ext cx="3333774" cy="2117"/>
          </a:xfrm>
          <a:prstGeom prst="line">
            <a:avLst/>
          </a:prstGeom>
          <a:ln w="571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19"/>
          <p:cNvCxnSpPr/>
          <p:nvPr/>
        </p:nvCxnSpPr>
        <p:spPr>
          <a:xfrm>
            <a:off x="2381224" y="1487162"/>
            <a:ext cx="450850" cy="0"/>
          </a:xfrm>
          <a:prstGeom prst="line">
            <a:avLst/>
          </a:prstGeom>
          <a:ln w="57150">
            <a:solidFill>
              <a:srgbClr val="604A7B"/>
            </a:solidFill>
            <a:tailEnd type="oval"/>
          </a:ln>
        </p:spPr>
        <p:style>
          <a:lnRef idx="1">
            <a:schemeClr val="accent1"/>
          </a:lnRef>
          <a:fillRef idx="0">
            <a:schemeClr val="accent1"/>
          </a:fillRef>
          <a:effectRef idx="0">
            <a:schemeClr val="accent1"/>
          </a:effectRef>
          <a:fontRef idx="minor">
            <a:schemeClr val="tx1"/>
          </a:fontRef>
        </p:style>
      </p:cxnSp>
      <p:sp>
        <p:nvSpPr>
          <p:cNvPr id="9" name="Rectangle 31"/>
          <p:cNvSpPr/>
          <p:nvPr/>
        </p:nvSpPr>
        <p:spPr>
          <a:xfrm>
            <a:off x="761963" y="1296660"/>
            <a:ext cx="863600" cy="297180"/>
          </a:xfrm>
          <a:prstGeom prst="rect">
            <a:avLst/>
          </a:prstGeom>
        </p:spPr>
        <p:txBody>
          <a:bodyPr wrap="none">
            <a:spAutoFit/>
          </a:bodyPr>
          <a:p>
            <a:pPr algn="l"/>
            <a:r>
              <a:rPr lang="zh-CN" altLang="en-US" sz="1335" dirty="0">
                <a:solidFill>
                  <a:srgbClr val="604A7B"/>
                </a:solidFill>
                <a:cs typeface="+mn-ea"/>
                <a:sym typeface="+mn-lt"/>
              </a:rPr>
              <a:t>工作权重</a:t>
            </a:r>
            <a:endParaRPr lang="zh-CN" altLang="en-US" sz="1335" dirty="0">
              <a:solidFill>
                <a:srgbClr val="604A7B"/>
              </a:solidFill>
              <a:cs typeface="+mn-ea"/>
              <a:sym typeface="+mn-lt"/>
            </a:endParaRPr>
          </a:p>
        </p:txBody>
      </p:sp>
      <p:sp>
        <p:nvSpPr>
          <p:cNvPr id="10" name="Rectangle 35"/>
          <p:cNvSpPr/>
          <p:nvPr/>
        </p:nvSpPr>
        <p:spPr>
          <a:xfrm>
            <a:off x="6096001" y="1296660"/>
            <a:ext cx="523240" cy="297180"/>
          </a:xfrm>
          <a:prstGeom prst="rect">
            <a:avLst/>
          </a:prstGeom>
        </p:spPr>
        <p:txBody>
          <a:bodyPr wrap="none">
            <a:spAutoFit/>
          </a:bodyPr>
          <a:p>
            <a:r>
              <a:rPr lang="en-US" sz="1335" dirty="0">
                <a:solidFill>
                  <a:srgbClr val="604A7B"/>
                </a:solidFill>
                <a:cs typeface="+mn-ea"/>
                <a:sym typeface="+mn-lt"/>
              </a:rPr>
              <a:t>10%</a:t>
            </a:r>
            <a:endParaRPr lang="en-US" sz="1335" dirty="0">
              <a:solidFill>
                <a:srgbClr val="604A7B"/>
              </a:solidFill>
              <a:cs typeface="+mn-ea"/>
              <a:sym typeface="+mn-lt"/>
            </a:endParaRPr>
          </a:p>
        </p:txBody>
      </p:sp>
    </p:spTree>
  </p:cSld>
  <p:clrMapOvr>
    <a:masterClrMapping/>
  </p:clrMapOvr>
  <p:transition advClick="0">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p:cNvSpPr/>
          <p:nvPr/>
        </p:nvSpPr>
        <p:spPr>
          <a:xfrm>
            <a:off x="762000" y="1740535"/>
            <a:ext cx="10843895" cy="4612640"/>
          </a:xfrm>
          <a:prstGeom prst="rect">
            <a:avLst/>
          </a:prstGeom>
        </p:spPr>
        <p:txBody>
          <a:bodyPr wrap="square">
            <a:noAutofit/>
          </a:bodyPr>
          <a:lstStyle/>
          <a:p>
            <a:pPr algn="l">
              <a:lnSpc>
                <a:spcPct val="150000"/>
              </a:lnSpc>
              <a:buClrTx/>
              <a:buSzTx/>
              <a:buNone/>
            </a:pPr>
            <a:r>
              <a:rPr lang="en-US" altLang="zh-CN" sz="1200" dirty="0">
                <a:solidFill>
                  <a:prstClr val="white">
                    <a:lumMod val="65000"/>
                  </a:prstClr>
                </a:solidFill>
                <a:cs typeface="+mn-ea"/>
                <a:sym typeface="+mn-lt"/>
              </a:rPr>
              <a:t>        从以前的C++语言到现在的Python、Go语言的转换中，学习当前开发语言的语法以及特性，以保证胜任当前岗位、同时依旧坚持C++语言的持续学习、包括学些kbe引擎的底层实现，有助于</a:t>
            </a:r>
            <a:r>
              <a:rPr lang="zh-CN" altLang="en-US" sz="1200" dirty="0">
                <a:solidFill>
                  <a:prstClr val="white">
                    <a:lumMod val="65000"/>
                  </a:prstClr>
                </a:solidFill>
                <a:cs typeface="+mn-ea"/>
                <a:sym typeface="+mn-lt"/>
              </a:rPr>
              <a:t>打开自己的盲区，</a:t>
            </a:r>
            <a:r>
              <a:rPr lang="en-US" altLang="zh-CN" sz="1200" dirty="0">
                <a:solidFill>
                  <a:prstClr val="white">
                    <a:lumMod val="65000"/>
                  </a:prstClr>
                </a:solidFill>
                <a:cs typeface="+mn-ea"/>
                <a:sym typeface="+mn-lt"/>
              </a:rPr>
              <a:t>也</a:t>
            </a:r>
            <a:r>
              <a:rPr lang="en-US" altLang="zh-CN" sz="1200" dirty="0">
                <a:solidFill>
                  <a:prstClr val="white">
                    <a:lumMod val="65000"/>
                  </a:prstClr>
                </a:solidFill>
                <a:cs typeface="+mn-ea"/>
                <a:sym typeface="+mn-lt"/>
              </a:rPr>
              <a:t>提升</a:t>
            </a:r>
            <a:r>
              <a:rPr lang="zh-CN" altLang="en-US" sz="1200" dirty="0">
                <a:solidFill>
                  <a:prstClr val="white">
                    <a:lumMod val="65000"/>
                  </a:prstClr>
                </a:solidFill>
                <a:cs typeface="+mn-ea"/>
                <a:sym typeface="+mn-lt"/>
              </a:rPr>
              <a:t>了</a:t>
            </a:r>
            <a:r>
              <a:rPr lang="en-US" altLang="zh-CN" sz="1200" dirty="0">
                <a:solidFill>
                  <a:prstClr val="white">
                    <a:lumMod val="65000"/>
                  </a:prstClr>
                </a:solidFill>
                <a:cs typeface="+mn-ea"/>
                <a:sym typeface="+mn-lt"/>
              </a:rPr>
              <a:t>对业务的掌握和熟练度。</a:t>
            </a:r>
            <a:endParaRPr lang="en-US" altLang="zh-CN" sz="1200" dirty="0">
              <a:solidFill>
                <a:prstClr val="white">
                  <a:lumMod val="65000"/>
                </a:prstClr>
              </a:solidFill>
              <a:cs typeface="+mn-ea"/>
              <a:sym typeface="+mn-lt"/>
            </a:endParaRPr>
          </a:p>
          <a:p>
            <a:pPr algn="l">
              <a:lnSpc>
                <a:spcPct val="150000"/>
              </a:lnSpc>
              <a:buClrTx/>
              <a:buSzTx/>
              <a:buNone/>
            </a:pP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熟悉运用</a:t>
            </a:r>
            <a:r>
              <a:rPr lang="en-US" altLang="zh-CN" sz="1200" dirty="0">
                <a:solidFill>
                  <a:prstClr val="white">
                    <a:lumMod val="65000"/>
                  </a:prstClr>
                </a:solidFill>
                <a:cs typeface="+mn-ea"/>
                <a:sym typeface="+mn-lt"/>
              </a:rPr>
              <a:t>日志工具console_glow.exe的</a:t>
            </a:r>
            <a:r>
              <a:rPr lang="zh-CN" altLang="en-US" sz="1200" dirty="0">
                <a:solidFill>
                  <a:prstClr val="white">
                    <a:lumMod val="65000"/>
                  </a:prstClr>
                </a:solidFill>
                <a:cs typeface="+mn-ea"/>
                <a:sym typeface="+mn-lt"/>
              </a:rPr>
              <a:t>日志、代码调试</a:t>
            </a:r>
            <a:r>
              <a:rPr lang="en-US" altLang="zh-CN" sz="1200" dirty="0">
                <a:solidFill>
                  <a:prstClr val="white">
                    <a:lumMod val="65000"/>
                  </a:prstClr>
                </a:solidFill>
                <a:cs typeface="+mn-ea"/>
                <a:sym typeface="+mn-lt"/>
              </a:rPr>
              <a:t>和性能</a:t>
            </a:r>
            <a:r>
              <a:rPr lang="en-US" altLang="zh-CN" sz="1200" dirty="0">
                <a:solidFill>
                  <a:prstClr val="white">
                    <a:lumMod val="65000"/>
                  </a:prstClr>
                </a:solidFill>
                <a:cs typeface="+mn-ea"/>
                <a:sym typeface="+mn-lt"/>
              </a:rPr>
              <a:t>分析</a:t>
            </a:r>
            <a:r>
              <a:rPr lang="en-US" altLang="zh-CN" sz="1200" dirty="0">
                <a:solidFill>
                  <a:prstClr val="white">
                    <a:lumMod val="65000"/>
                  </a:prstClr>
                </a:solidFill>
                <a:cs typeface="+mn-ea"/>
                <a:sym typeface="+mn-lt"/>
              </a:rPr>
              <a:t>，包括gm工具和机器人工具等、协助自己提升开发和排查效率。</a:t>
            </a:r>
            <a:endParaRPr lang="en-US" altLang="zh-CN" sz="1200" dirty="0">
              <a:solidFill>
                <a:prstClr val="white">
                  <a:lumMod val="65000"/>
                </a:prstClr>
              </a:solidFill>
              <a:cs typeface="+mn-ea"/>
              <a:sym typeface="+mn-lt"/>
            </a:endParaRPr>
          </a:p>
          <a:p>
            <a:pPr algn="l">
              <a:lnSpc>
                <a:spcPct val="150000"/>
              </a:lnSpc>
              <a:buClrTx/>
              <a:buSzTx/>
              <a:buNone/>
            </a:pPr>
            <a:r>
              <a:rPr lang="en-US" altLang="zh-CN" sz="1200" dirty="0">
                <a:solidFill>
                  <a:prstClr val="white">
                    <a:lumMod val="65000"/>
                  </a:prstClr>
                </a:solidFill>
                <a:cs typeface="+mn-ea"/>
                <a:sym typeface="+mn-lt"/>
              </a:rPr>
              <a:t>        主动向QA同学分享代码的实现逻辑，提供容易遗漏的测试用例，帮助更好的进行模块化测试。同时分享一些数据库客户端和web工具帮助更好的</a:t>
            </a:r>
            <a:r>
              <a:rPr lang="en-US" altLang="zh-CN" sz="1200" dirty="0">
                <a:solidFill>
                  <a:prstClr val="white">
                    <a:lumMod val="65000"/>
                  </a:prstClr>
                </a:solidFill>
                <a:cs typeface="+mn-ea"/>
                <a:sym typeface="+mn-lt"/>
              </a:rPr>
              <a:t>修改数据</a:t>
            </a:r>
            <a:r>
              <a:rPr lang="zh-CN" altLang="en-US" sz="1200" dirty="0">
                <a:solidFill>
                  <a:prstClr val="white">
                    <a:lumMod val="65000"/>
                  </a:prstClr>
                </a:solidFill>
                <a:cs typeface="+mn-ea"/>
                <a:sym typeface="+mn-lt"/>
              </a:rPr>
              <a:t>和方便</a:t>
            </a:r>
            <a:r>
              <a:rPr lang="en-US" altLang="zh-CN" sz="1200" dirty="0">
                <a:solidFill>
                  <a:prstClr val="white">
                    <a:lumMod val="65000"/>
                  </a:prstClr>
                </a:solidFill>
                <a:cs typeface="+mn-ea"/>
                <a:sym typeface="+mn-lt"/>
              </a:rPr>
              <a:t>测试。</a:t>
            </a:r>
            <a:endParaRPr lang="en-US" altLang="zh-CN" sz="1200" dirty="0">
              <a:solidFill>
                <a:prstClr val="white">
                  <a:lumMod val="65000"/>
                </a:prstClr>
              </a:solidFill>
              <a:cs typeface="+mn-ea"/>
              <a:sym typeface="+mn-lt"/>
            </a:endParaRPr>
          </a:p>
          <a:p>
            <a:pPr algn="l">
              <a:lnSpc>
                <a:spcPct val="150000"/>
              </a:lnSpc>
              <a:buClrTx/>
              <a:buSzTx/>
              <a:buNone/>
            </a:pPr>
            <a:r>
              <a:rPr lang="en-US" altLang="zh-CN" sz="1200" dirty="0">
                <a:solidFill>
                  <a:prstClr val="white">
                    <a:lumMod val="65000"/>
                  </a:prstClr>
                </a:solidFill>
                <a:cs typeface="+mn-ea"/>
                <a:sym typeface="+mn-lt"/>
              </a:rPr>
              <a:t>        保持主动学习和同事之间互相沟通商讨，形成良好的技术氛围。主动学习其他复杂的功能模块</a:t>
            </a:r>
            <a:r>
              <a:rPr lang="zh-CN" altLang="en-US" sz="1200" dirty="0">
                <a:solidFill>
                  <a:prstClr val="white">
                    <a:lumMod val="65000"/>
                  </a:prstClr>
                </a:solidFill>
                <a:cs typeface="+mn-ea"/>
                <a:sym typeface="+mn-lt"/>
              </a:rPr>
              <a:t>，</a:t>
            </a:r>
            <a:r>
              <a:rPr lang="en-US" altLang="zh-CN" sz="1200" dirty="0">
                <a:solidFill>
                  <a:prstClr val="white">
                    <a:lumMod val="65000"/>
                  </a:prstClr>
                </a:solidFill>
                <a:cs typeface="+mn-ea"/>
                <a:sym typeface="+mn-lt"/>
              </a:rPr>
              <a:t>如城战的实现、跨服逻辑、技能的释放</a:t>
            </a:r>
            <a:r>
              <a:rPr lang="zh-CN" altLang="en-US" sz="1200" dirty="0">
                <a:solidFill>
                  <a:prstClr val="white">
                    <a:lumMod val="65000"/>
                  </a:prstClr>
                </a:solidFill>
                <a:cs typeface="+mn-ea"/>
                <a:sym typeface="+mn-lt"/>
              </a:rPr>
              <a:t>，以及</a:t>
            </a:r>
            <a:r>
              <a:rPr lang="en-US" altLang="zh-CN" sz="1200" dirty="0">
                <a:solidFill>
                  <a:prstClr val="white">
                    <a:lumMod val="65000"/>
                  </a:prstClr>
                </a:solidFill>
                <a:cs typeface="+mn-ea"/>
                <a:sym typeface="+mn-lt"/>
              </a:rPr>
              <a:t>创生物</a:t>
            </a:r>
            <a:r>
              <a:rPr lang="zh-CN" altLang="en-US" sz="1200" dirty="0">
                <a:solidFill>
                  <a:prstClr val="white">
                    <a:lumMod val="65000"/>
                  </a:prstClr>
                </a:solidFill>
                <a:cs typeface="+mn-ea"/>
                <a:sym typeface="+mn-lt"/>
              </a:rPr>
              <a:t>逻辑</a:t>
            </a:r>
            <a:r>
              <a:rPr lang="en-US" altLang="zh-CN" sz="1200" dirty="0">
                <a:solidFill>
                  <a:prstClr val="white">
                    <a:lumMod val="65000"/>
                  </a:prstClr>
                </a:solidFill>
                <a:cs typeface="+mn-ea"/>
                <a:sym typeface="+mn-lt"/>
              </a:rPr>
              <a:t>等，致使即便分配相关问题，自己也能快速应对。</a:t>
            </a:r>
            <a:endParaRPr lang="en-US" altLang="zh-CN" sz="1200" dirty="0">
              <a:solidFill>
                <a:prstClr val="white">
                  <a:lumMod val="65000"/>
                </a:prstClr>
              </a:solidFill>
              <a:cs typeface="+mn-ea"/>
              <a:sym typeface="+mn-lt"/>
            </a:endParaRPr>
          </a:p>
          <a:p>
            <a:pPr algn="l">
              <a:lnSpc>
                <a:spcPct val="150000"/>
              </a:lnSpc>
              <a:buClrTx/>
              <a:buSzTx/>
              <a:buNone/>
            </a:pPr>
            <a:r>
              <a:rPr lang="en-US" altLang="zh-CN" sz="1200" dirty="0">
                <a:solidFill>
                  <a:prstClr val="white">
                    <a:lumMod val="65000"/>
                  </a:prstClr>
                </a:solidFill>
                <a:cs typeface="+mn-ea"/>
                <a:sym typeface="+mn-lt"/>
              </a:rPr>
              <a:t>        </a:t>
            </a:r>
            <a:r>
              <a:rPr lang="zh-CN" altLang="en-US" sz="1200" dirty="0">
                <a:solidFill>
                  <a:prstClr val="white">
                    <a:lumMod val="65000"/>
                  </a:prstClr>
                </a:solidFill>
                <a:cs typeface="+mn-ea"/>
                <a:sym typeface="+mn-lt"/>
              </a:rPr>
              <a:t>不断</a:t>
            </a:r>
            <a:r>
              <a:rPr lang="en-US" altLang="zh-CN" sz="1200" dirty="0">
                <a:solidFill>
                  <a:prstClr val="white">
                    <a:lumMod val="65000"/>
                  </a:prstClr>
                </a:solidFill>
                <a:cs typeface="+mn-ea"/>
                <a:sym typeface="+mn-lt"/>
              </a:rPr>
              <a:t>积累服务器、游戏</a:t>
            </a:r>
            <a:r>
              <a:rPr lang="zh-CN" altLang="en-US" sz="1200" dirty="0">
                <a:solidFill>
                  <a:prstClr val="white">
                    <a:lumMod val="65000"/>
                  </a:prstClr>
                </a:solidFill>
                <a:cs typeface="+mn-ea"/>
                <a:sym typeface="+mn-lt"/>
              </a:rPr>
              <a:t>领域的相关</a:t>
            </a:r>
            <a:r>
              <a:rPr lang="en-US" altLang="zh-CN" sz="1200" dirty="0">
                <a:solidFill>
                  <a:prstClr val="white">
                    <a:lumMod val="65000"/>
                  </a:prstClr>
                </a:solidFill>
                <a:cs typeface="+mn-ea"/>
                <a:sym typeface="+mn-lt"/>
              </a:rPr>
              <a:t>知识并在项目中应用、包括但不限于公司同事之间讨论</a:t>
            </a:r>
            <a:r>
              <a:rPr lang="en-US" altLang="zh-CN" sz="1200" dirty="0">
                <a:solidFill>
                  <a:prstClr val="white">
                    <a:lumMod val="65000"/>
                  </a:prstClr>
                </a:solidFill>
                <a:cs typeface="+mn-ea"/>
                <a:sym typeface="+mn-lt"/>
              </a:rPr>
              <a:t>的</a:t>
            </a:r>
            <a:r>
              <a:rPr lang="en-US" altLang="zh-CN" sz="1200" dirty="0">
                <a:solidFill>
                  <a:prstClr val="white">
                    <a:lumMod val="65000"/>
                  </a:prstClr>
                </a:solidFill>
                <a:cs typeface="+mn-ea"/>
                <a:sym typeface="+mn-lt"/>
              </a:rPr>
              <a:t>共享方案、网上的可性方案、AI的意见以及自己以往的经验实现等。</a:t>
            </a:r>
            <a:endParaRPr lang="zh-CN" altLang="en-US" sz="800" dirty="0">
              <a:solidFill>
                <a:prstClr val="white">
                  <a:lumMod val="65000"/>
                </a:prstClr>
              </a:solidFill>
              <a:cs typeface="+mn-ea"/>
              <a:sym typeface="+mn-lt"/>
            </a:endParaRPr>
          </a:p>
        </p:txBody>
      </p:sp>
      <p:sp>
        <p:nvSpPr>
          <p:cNvPr id="53" name="矩形 52"/>
          <p:cNvSpPr/>
          <p:nvPr/>
        </p:nvSpPr>
        <p:spPr>
          <a:xfrm>
            <a:off x="5042313" y="808829"/>
            <a:ext cx="2107374" cy="229870"/>
          </a:xfrm>
          <a:prstGeom prst="rect">
            <a:avLst/>
          </a:prstGeom>
        </p:spPr>
        <p:txBody>
          <a:bodyPr wrap="square">
            <a:spAutoFit/>
          </a:bodyPr>
          <a:lstStyle/>
          <a:p>
            <a:pPr algn="ctr">
              <a:lnSpc>
                <a:spcPct val="100000"/>
              </a:lnSpc>
            </a:pPr>
            <a:r>
              <a:rPr lang="en-US" altLang="zh-CN" sz="900" dirty="0">
                <a:solidFill>
                  <a:schemeClr val="tx1">
                    <a:lumMod val="65000"/>
                    <a:lumOff val="35000"/>
                  </a:schemeClr>
                </a:solidFill>
                <a:cs typeface="+mn-ea"/>
                <a:sym typeface="+mn-lt"/>
              </a:rPr>
              <a:t>Performance self-assessment</a:t>
            </a:r>
            <a:endParaRPr lang="en-US" altLang="zh-CN" sz="900" dirty="0">
              <a:solidFill>
                <a:schemeClr val="tx1">
                  <a:lumMod val="65000"/>
                  <a:lumOff val="35000"/>
                </a:schemeClr>
              </a:solidFill>
              <a:cs typeface="+mn-ea"/>
              <a:sym typeface="+mn-lt"/>
            </a:endParaRPr>
          </a:p>
        </p:txBody>
      </p:sp>
      <p:sp>
        <p:nvSpPr>
          <p:cNvPr id="54" name="文本框 53"/>
          <p:cNvSpPr txBox="1"/>
          <p:nvPr/>
        </p:nvSpPr>
        <p:spPr>
          <a:xfrm>
            <a:off x="4729519" y="332748"/>
            <a:ext cx="2732964" cy="546100"/>
          </a:xfrm>
          <a:prstGeom prst="rect">
            <a:avLst/>
          </a:prstGeom>
          <a:noFill/>
        </p:spPr>
        <p:txBody>
          <a:bodyPr wrap="square" rtlCol="0">
            <a:spAutoFit/>
          </a:bodyPr>
          <a:lstStyle>
            <a:defPPr>
              <a:defRPr lang="zh-CN"/>
            </a:defPPr>
            <a:lvl1pPr algn="ctr">
              <a:defRPr sz="2955" b="1">
                <a:solidFill>
                  <a:schemeClr val="tx1">
                    <a:lumMod val="65000"/>
                    <a:lumOff val="35000"/>
                  </a:schemeClr>
                </a:solidFill>
                <a:cs typeface="+mn-ea"/>
              </a:defRPr>
            </a:lvl1pPr>
          </a:lstStyle>
          <a:p>
            <a:r>
              <a:rPr lang="zh-CN" altLang="en-US" dirty="0" smtClean="0">
                <a:sym typeface="+mn-lt"/>
              </a:rPr>
              <a:t>绩效自评</a:t>
            </a:r>
            <a:endParaRPr lang="zh-CN" altLang="en-US" dirty="0">
              <a:sym typeface="+mn-lt"/>
            </a:endParaRPr>
          </a:p>
        </p:txBody>
      </p:sp>
      <p:cxnSp>
        <p:nvCxnSpPr>
          <p:cNvPr id="55" name="Straight Connector 5"/>
          <p:cNvCxnSpPr/>
          <p:nvPr/>
        </p:nvCxnSpPr>
        <p:spPr>
          <a:xfrm>
            <a:off x="5561428" y="1065998"/>
            <a:ext cx="1069144" cy="0"/>
          </a:xfrm>
          <a:prstGeom prst="line">
            <a:avLst/>
          </a:prstGeom>
          <a:ln w="41275">
            <a:solidFill>
              <a:srgbClr val="604A7B"/>
            </a:solidFill>
          </a:ln>
        </p:spPr>
        <p:style>
          <a:lnRef idx="1">
            <a:schemeClr val="accent1"/>
          </a:lnRef>
          <a:fillRef idx="0">
            <a:schemeClr val="accent1"/>
          </a:fillRef>
          <a:effectRef idx="0">
            <a:schemeClr val="accent1"/>
          </a:effectRef>
          <a:fontRef idx="minor">
            <a:schemeClr val="tx1"/>
          </a:fontRef>
        </p:style>
      </p:cxnSp>
      <p:cxnSp>
        <p:nvCxnSpPr>
          <p:cNvPr id="7" name="Straight Connector 18"/>
          <p:cNvCxnSpPr/>
          <p:nvPr/>
        </p:nvCxnSpPr>
        <p:spPr>
          <a:xfrm>
            <a:off x="2381224" y="1487162"/>
            <a:ext cx="3333774" cy="2117"/>
          </a:xfrm>
          <a:prstGeom prst="line">
            <a:avLst/>
          </a:prstGeom>
          <a:ln w="571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19"/>
          <p:cNvCxnSpPr/>
          <p:nvPr/>
        </p:nvCxnSpPr>
        <p:spPr>
          <a:xfrm>
            <a:off x="2381224" y="1487162"/>
            <a:ext cx="275590" cy="0"/>
          </a:xfrm>
          <a:prstGeom prst="line">
            <a:avLst/>
          </a:prstGeom>
          <a:ln w="57150">
            <a:solidFill>
              <a:srgbClr val="604A7B"/>
            </a:solidFill>
            <a:tailEnd type="oval"/>
          </a:ln>
        </p:spPr>
        <p:style>
          <a:lnRef idx="1">
            <a:schemeClr val="accent1"/>
          </a:lnRef>
          <a:fillRef idx="0">
            <a:schemeClr val="accent1"/>
          </a:fillRef>
          <a:effectRef idx="0">
            <a:schemeClr val="accent1"/>
          </a:effectRef>
          <a:fontRef idx="minor">
            <a:schemeClr val="tx1"/>
          </a:fontRef>
        </p:style>
      </p:cxnSp>
      <p:sp>
        <p:nvSpPr>
          <p:cNvPr id="9" name="Rectangle 31"/>
          <p:cNvSpPr/>
          <p:nvPr/>
        </p:nvSpPr>
        <p:spPr>
          <a:xfrm>
            <a:off x="761963" y="1296660"/>
            <a:ext cx="863600" cy="297180"/>
          </a:xfrm>
          <a:prstGeom prst="rect">
            <a:avLst/>
          </a:prstGeom>
        </p:spPr>
        <p:txBody>
          <a:bodyPr wrap="none">
            <a:spAutoFit/>
          </a:bodyPr>
          <a:p>
            <a:pPr algn="l"/>
            <a:r>
              <a:rPr lang="zh-CN" altLang="en-US" sz="1335" dirty="0">
                <a:solidFill>
                  <a:srgbClr val="604A7B"/>
                </a:solidFill>
                <a:cs typeface="+mn-ea"/>
                <a:sym typeface="+mn-lt"/>
              </a:rPr>
              <a:t>学习分享</a:t>
            </a:r>
            <a:endParaRPr lang="zh-CN" altLang="en-US" sz="1335" dirty="0">
              <a:solidFill>
                <a:srgbClr val="604A7B"/>
              </a:solidFill>
              <a:cs typeface="+mn-ea"/>
              <a:sym typeface="+mn-lt"/>
            </a:endParaRPr>
          </a:p>
        </p:txBody>
      </p:sp>
      <p:sp>
        <p:nvSpPr>
          <p:cNvPr id="10" name="Rectangle 35"/>
          <p:cNvSpPr/>
          <p:nvPr/>
        </p:nvSpPr>
        <p:spPr>
          <a:xfrm>
            <a:off x="6096001" y="1296660"/>
            <a:ext cx="428625" cy="297180"/>
          </a:xfrm>
          <a:prstGeom prst="rect">
            <a:avLst/>
          </a:prstGeom>
        </p:spPr>
        <p:txBody>
          <a:bodyPr wrap="none">
            <a:spAutoFit/>
          </a:bodyPr>
          <a:p>
            <a:r>
              <a:rPr lang="en-US" sz="1335" dirty="0">
                <a:solidFill>
                  <a:srgbClr val="604A7B"/>
                </a:solidFill>
                <a:cs typeface="+mn-ea"/>
                <a:sym typeface="+mn-lt"/>
              </a:rPr>
              <a:t>5%</a:t>
            </a:r>
            <a:endParaRPr lang="en-US" sz="1335" dirty="0">
              <a:solidFill>
                <a:srgbClr val="604A7B"/>
              </a:solidFill>
              <a:cs typeface="+mn-ea"/>
              <a:sym typeface="+mn-lt"/>
            </a:endParaRPr>
          </a:p>
        </p:txBody>
      </p:sp>
    </p:spTree>
  </p:cSld>
  <p:clrMapOvr>
    <a:masterClrMapping/>
  </p:clrMapOvr>
  <p:transition advClick="0">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Straight Connector 5"/>
          <p:cNvCxnSpPr/>
          <p:nvPr/>
        </p:nvCxnSpPr>
        <p:spPr>
          <a:xfrm>
            <a:off x="5561428" y="1083778"/>
            <a:ext cx="1069144" cy="0"/>
          </a:xfrm>
          <a:prstGeom prst="line">
            <a:avLst/>
          </a:prstGeom>
          <a:ln w="41275">
            <a:solidFill>
              <a:srgbClr val="604A7B"/>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4988201" y="808289"/>
            <a:ext cx="2241443" cy="237490"/>
          </a:xfrm>
          <a:prstGeom prst="rect">
            <a:avLst/>
          </a:prstGeom>
        </p:spPr>
        <p:txBody>
          <a:bodyPr wrap="square">
            <a:spAutoFit/>
          </a:bodyPr>
          <a:lstStyle/>
          <a:p>
            <a:pPr algn="ctr">
              <a:lnSpc>
                <a:spcPct val="100000"/>
              </a:lnSpc>
            </a:pPr>
            <a:r>
              <a:rPr lang="en-US" altLang="zh-CN" sz="950" dirty="0">
                <a:solidFill>
                  <a:schemeClr val="tx1">
                    <a:lumMod val="65000"/>
                    <a:lumOff val="35000"/>
                  </a:schemeClr>
                </a:solidFill>
                <a:cs typeface="+mn-ea"/>
                <a:sym typeface="+mn-lt"/>
              </a:rPr>
              <a:t>Achievement</a:t>
            </a:r>
            <a:endParaRPr lang="en-US" altLang="zh-CN" sz="950" dirty="0">
              <a:solidFill>
                <a:schemeClr val="tx1">
                  <a:lumMod val="50000"/>
                  <a:lumOff val="50000"/>
                </a:schemeClr>
              </a:solidFill>
              <a:cs typeface="+mn-ea"/>
              <a:sym typeface="+mn-lt"/>
            </a:endParaRPr>
          </a:p>
        </p:txBody>
      </p:sp>
      <p:sp>
        <p:nvSpPr>
          <p:cNvPr id="27" name="文本框 26"/>
          <p:cNvSpPr txBox="1"/>
          <p:nvPr/>
        </p:nvSpPr>
        <p:spPr>
          <a:xfrm>
            <a:off x="4303395" y="342265"/>
            <a:ext cx="3611880" cy="546100"/>
          </a:xfrm>
          <a:prstGeom prst="rect">
            <a:avLst/>
          </a:prstGeom>
          <a:noFill/>
        </p:spPr>
        <p:txBody>
          <a:bodyPr wrap="square" rtlCol="0">
            <a:spAutoFit/>
          </a:bodyPr>
          <a:lstStyle/>
          <a:p>
            <a:pPr algn="ctr">
              <a:lnSpc>
                <a:spcPct val="100000"/>
              </a:lnSpc>
            </a:pPr>
            <a:r>
              <a:rPr lang="zh-CN" altLang="en-US" sz="2955" b="1" dirty="0">
                <a:solidFill>
                  <a:schemeClr val="tx1">
                    <a:lumMod val="65000"/>
                    <a:lumOff val="35000"/>
                  </a:schemeClr>
                </a:solidFill>
                <a:cs typeface="+mn-ea"/>
                <a:sym typeface="+mn-lt"/>
              </a:rPr>
              <a:t>成果自述（可选）</a:t>
            </a:r>
            <a:endParaRPr lang="zh-CN" altLang="en-US" sz="2955" b="1" dirty="0">
              <a:solidFill>
                <a:schemeClr val="tx1">
                  <a:lumMod val="65000"/>
                  <a:lumOff val="35000"/>
                </a:schemeClr>
              </a:solidFill>
              <a:cs typeface="+mn-ea"/>
              <a:sym typeface="+mn-lt"/>
            </a:endParaRPr>
          </a:p>
        </p:txBody>
      </p:sp>
      <p:sp>
        <p:nvSpPr>
          <p:cNvPr id="2" name="矩形 1"/>
          <p:cNvSpPr/>
          <p:nvPr/>
        </p:nvSpPr>
        <p:spPr>
          <a:xfrm>
            <a:off x="360680" y="1677035"/>
            <a:ext cx="1699260" cy="275590"/>
          </a:xfrm>
          <a:prstGeom prst="rect">
            <a:avLst/>
          </a:prstGeom>
        </p:spPr>
        <p:txBody>
          <a:bodyPr wrap="square">
            <a:spAutoFit/>
          </a:bodyPr>
          <a:p>
            <a:pPr algn="ctr">
              <a:lnSpc>
                <a:spcPct val="100000"/>
              </a:lnSpc>
            </a:pPr>
            <a:r>
              <a:rPr lang="en-US" altLang="zh-CN" sz="1200" dirty="0">
                <a:solidFill>
                  <a:schemeClr val="tx1">
                    <a:lumMod val="50000"/>
                    <a:lumOff val="50000"/>
                  </a:schemeClr>
                </a:solidFill>
                <a:cs typeface="+mn-ea"/>
                <a:sym typeface="+mn-lt"/>
              </a:rPr>
              <a:t>Taptap</a:t>
            </a:r>
            <a:r>
              <a:rPr lang="zh-CN" altLang="en-US" sz="1200" dirty="0">
                <a:solidFill>
                  <a:schemeClr val="tx1">
                    <a:lumMod val="50000"/>
                    <a:lumOff val="50000"/>
                  </a:schemeClr>
                </a:solidFill>
                <a:cs typeface="+mn-ea"/>
                <a:sym typeface="+mn-lt"/>
              </a:rPr>
              <a:t>三方登录</a:t>
            </a:r>
            <a:endParaRPr lang="zh-CN" altLang="en-US" sz="1200" dirty="0">
              <a:solidFill>
                <a:schemeClr val="tx1">
                  <a:lumMod val="50000"/>
                  <a:lumOff val="50000"/>
                </a:schemeClr>
              </a:solidFill>
              <a:cs typeface="+mn-ea"/>
              <a:sym typeface="+mn-lt"/>
            </a:endParaRPr>
          </a:p>
        </p:txBody>
      </p:sp>
      <p:pic>
        <p:nvPicPr>
          <p:cNvPr id="9" name="图片 8"/>
          <p:cNvPicPr>
            <a:picLocks noChangeAspect="1"/>
          </p:cNvPicPr>
          <p:nvPr/>
        </p:nvPicPr>
        <p:blipFill>
          <a:blip r:embed="rId1"/>
          <a:stretch>
            <a:fillRect/>
          </a:stretch>
        </p:blipFill>
        <p:spPr>
          <a:xfrm>
            <a:off x="645160" y="1952625"/>
            <a:ext cx="4358640" cy="2118995"/>
          </a:xfrm>
          <a:prstGeom prst="rect">
            <a:avLst/>
          </a:prstGeom>
        </p:spPr>
      </p:pic>
      <p:sp>
        <p:nvSpPr>
          <p:cNvPr id="10" name="矩形 9"/>
          <p:cNvSpPr/>
          <p:nvPr/>
        </p:nvSpPr>
        <p:spPr>
          <a:xfrm>
            <a:off x="76835" y="4282440"/>
            <a:ext cx="1699260" cy="275590"/>
          </a:xfrm>
          <a:prstGeom prst="rect">
            <a:avLst/>
          </a:prstGeom>
        </p:spPr>
        <p:txBody>
          <a:bodyPr wrap="square">
            <a:spAutoFit/>
          </a:bodyPr>
          <a:p>
            <a:pPr algn="ctr">
              <a:lnSpc>
                <a:spcPct val="100000"/>
              </a:lnSpc>
            </a:pPr>
            <a:r>
              <a:rPr lang="zh-CN" altLang="en-US" sz="1200" dirty="0">
                <a:solidFill>
                  <a:schemeClr val="tx1">
                    <a:lumMod val="50000"/>
                    <a:lumOff val="50000"/>
                  </a:schemeClr>
                </a:solidFill>
                <a:cs typeface="+mn-ea"/>
                <a:sym typeface="+mn-lt"/>
              </a:rPr>
              <a:t>官服登录</a:t>
            </a:r>
            <a:endParaRPr lang="zh-CN" altLang="en-US" sz="1200" dirty="0">
              <a:solidFill>
                <a:schemeClr val="tx1">
                  <a:lumMod val="50000"/>
                  <a:lumOff val="50000"/>
                </a:schemeClr>
              </a:solidFill>
              <a:cs typeface="+mn-ea"/>
              <a:sym typeface="+mn-lt"/>
            </a:endParaRPr>
          </a:p>
        </p:txBody>
      </p:sp>
      <p:pic>
        <p:nvPicPr>
          <p:cNvPr id="11" name="图片 10"/>
          <p:cNvPicPr>
            <a:picLocks noChangeAspect="1"/>
          </p:cNvPicPr>
          <p:nvPr/>
        </p:nvPicPr>
        <p:blipFill>
          <a:blip r:embed="rId2"/>
          <a:stretch>
            <a:fillRect/>
          </a:stretch>
        </p:blipFill>
        <p:spPr>
          <a:xfrm>
            <a:off x="645160" y="4558030"/>
            <a:ext cx="3576955" cy="2059305"/>
          </a:xfrm>
          <a:prstGeom prst="rect">
            <a:avLst/>
          </a:prstGeom>
        </p:spPr>
      </p:pic>
      <p:sp>
        <p:nvSpPr>
          <p:cNvPr id="14" name="矩形 13"/>
          <p:cNvSpPr/>
          <p:nvPr/>
        </p:nvSpPr>
        <p:spPr>
          <a:xfrm>
            <a:off x="4222750" y="1221105"/>
            <a:ext cx="3481705" cy="398780"/>
          </a:xfrm>
          <a:prstGeom prst="rect">
            <a:avLst/>
          </a:prstGeom>
        </p:spPr>
        <p:txBody>
          <a:bodyPr wrap="square">
            <a:spAutoFit/>
          </a:bodyPr>
          <a:p>
            <a:pPr algn="ctr">
              <a:lnSpc>
                <a:spcPct val="100000"/>
              </a:lnSpc>
            </a:pPr>
            <a:r>
              <a:rPr lang="zh-CN" altLang="en-US" sz="2000" b="1" dirty="0">
                <a:solidFill>
                  <a:schemeClr val="tx1">
                    <a:lumMod val="65000"/>
                    <a:lumOff val="35000"/>
                  </a:schemeClr>
                </a:solidFill>
                <a:cs typeface="+mn-ea"/>
                <a:sym typeface="+mn-lt"/>
              </a:rPr>
              <a:t>主要项目模块</a:t>
            </a:r>
            <a:endParaRPr lang="zh-CN" altLang="en-US" sz="2000" b="1" dirty="0">
              <a:solidFill>
                <a:schemeClr val="tx1">
                  <a:lumMod val="65000"/>
                  <a:lumOff val="35000"/>
                </a:schemeClr>
              </a:solidFill>
              <a:cs typeface="+mn-ea"/>
              <a:sym typeface="+mn-lt"/>
            </a:endParaRPr>
          </a:p>
        </p:txBody>
      </p:sp>
      <p:pic>
        <p:nvPicPr>
          <p:cNvPr id="13" name="图片 12"/>
          <p:cNvPicPr/>
          <p:nvPr/>
        </p:nvPicPr>
        <p:blipFill>
          <a:blip r:embed="rId3"/>
          <a:stretch>
            <a:fillRect/>
          </a:stretch>
        </p:blipFill>
        <p:spPr>
          <a:xfrm>
            <a:off x="6346190" y="4558030"/>
            <a:ext cx="4438650" cy="2002790"/>
          </a:xfrm>
          <a:prstGeom prst="rect">
            <a:avLst/>
          </a:prstGeom>
        </p:spPr>
      </p:pic>
      <p:sp>
        <p:nvSpPr>
          <p:cNvPr id="15" name="矩形 14"/>
          <p:cNvSpPr/>
          <p:nvPr/>
        </p:nvSpPr>
        <p:spPr>
          <a:xfrm>
            <a:off x="5721985" y="4106545"/>
            <a:ext cx="1699260" cy="275590"/>
          </a:xfrm>
          <a:prstGeom prst="rect">
            <a:avLst/>
          </a:prstGeom>
        </p:spPr>
        <p:txBody>
          <a:bodyPr wrap="square">
            <a:spAutoFit/>
          </a:bodyPr>
          <a:p>
            <a:pPr algn="ctr">
              <a:lnSpc>
                <a:spcPct val="100000"/>
              </a:lnSpc>
            </a:pPr>
            <a:r>
              <a:rPr lang="zh-CN" sz="1200" dirty="0">
                <a:solidFill>
                  <a:schemeClr val="tx1">
                    <a:lumMod val="50000"/>
                    <a:lumOff val="50000"/>
                  </a:schemeClr>
                </a:solidFill>
                <a:cs typeface="+mn-ea"/>
                <a:sym typeface="+mn-lt"/>
              </a:rPr>
              <a:t>防沉迷</a:t>
            </a:r>
            <a:endParaRPr lang="zh-CN" sz="1200" dirty="0">
              <a:solidFill>
                <a:schemeClr val="tx1">
                  <a:lumMod val="50000"/>
                  <a:lumOff val="50000"/>
                </a:schemeClr>
              </a:solidFill>
              <a:cs typeface="+mn-ea"/>
              <a:sym typeface="+mn-lt"/>
            </a:endParaRPr>
          </a:p>
        </p:txBody>
      </p:sp>
      <p:sp>
        <p:nvSpPr>
          <p:cNvPr id="16" name="矩形 15"/>
          <p:cNvSpPr/>
          <p:nvPr/>
        </p:nvSpPr>
        <p:spPr>
          <a:xfrm>
            <a:off x="6216015" y="1678305"/>
            <a:ext cx="1699260" cy="275590"/>
          </a:xfrm>
          <a:prstGeom prst="rect">
            <a:avLst/>
          </a:prstGeom>
        </p:spPr>
        <p:txBody>
          <a:bodyPr wrap="square">
            <a:spAutoFit/>
          </a:bodyPr>
          <a:p>
            <a:pPr algn="ctr">
              <a:lnSpc>
                <a:spcPct val="100000"/>
              </a:lnSpc>
            </a:pPr>
            <a:r>
              <a:rPr lang="zh-CN" sz="1200" dirty="0">
                <a:solidFill>
                  <a:schemeClr val="tx1">
                    <a:lumMod val="50000"/>
                    <a:lumOff val="50000"/>
                  </a:schemeClr>
                </a:solidFill>
                <a:cs typeface="+mn-ea"/>
                <a:sym typeface="+mn-lt"/>
              </a:rPr>
              <a:t>短信验证绑定手机号</a:t>
            </a:r>
            <a:endParaRPr lang="zh-CN" sz="1200" dirty="0">
              <a:solidFill>
                <a:schemeClr val="tx1">
                  <a:lumMod val="50000"/>
                  <a:lumOff val="50000"/>
                </a:schemeClr>
              </a:solidFill>
              <a:cs typeface="+mn-ea"/>
              <a:sym typeface="+mn-lt"/>
            </a:endParaRPr>
          </a:p>
        </p:txBody>
      </p:sp>
      <p:pic>
        <p:nvPicPr>
          <p:cNvPr id="17" name="图片 16"/>
          <p:cNvPicPr>
            <a:picLocks noChangeAspect="1"/>
          </p:cNvPicPr>
          <p:nvPr/>
        </p:nvPicPr>
        <p:blipFill>
          <a:blip r:embed="rId4"/>
          <a:stretch>
            <a:fillRect/>
          </a:stretch>
        </p:blipFill>
        <p:spPr>
          <a:xfrm>
            <a:off x="6403975" y="1953895"/>
            <a:ext cx="4283710" cy="197675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ractur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6958330" y="626745"/>
            <a:ext cx="4768215" cy="2802255"/>
          </a:xfrm>
          <a:prstGeom prst="rect">
            <a:avLst/>
          </a:prstGeom>
        </p:spPr>
      </p:pic>
      <p:pic>
        <p:nvPicPr>
          <p:cNvPr id="5" name="图片 4"/>
          <p:cNvPicPr>
            <a:picLocks noChangeAspect="1"/>
          </p:cNvPicPr>
          <p:nvPr/>
        </p:nvPicPr>
        <p:blipFill>
          <a:blip r:embed="rId2"/>
          <a:stretch>
            <a:fillRect/>
          </a:stretch>
        </p:blipFill>
        <p:spPr>
          <a:xfrm>
            <a:off x="635000" y="534670"/>
            <a:ext cx="5334635" cy="2673350"/>
          </a:xfrm>
          <a:prstGeom prst="rect">
            <a:avLst/>
          </a:prstGeom>
        </p:spPr>
      </p:pic>
      <p:sp>
        <p:nvSpPr>
          <p:cNvPr id="10" name="矩形 9"/>
          <p:cNvSpPr/>
          <p:nvPr/>
        </p:nvSpPr>
        <p:spPr>
          <a:xfrm>
            <a:off x="318135" y="259080"/>
            <a:ext cx="1699260" cy="275590"/>
          </a:xfrm>
          <a:prstGeom prst="rect">
            <a:avLst/>
          </a:prstGeom>
        </p:spPr>
        <p:txBody>
          <a:bodyPr wrap="square">
            <a:spAutoFit/>
          </a:bodyPr>
          <a:p>
            <a:pPr algn="ctr">
              <a:lnSpc>
                <a:spcPct val="100000"/>
              </a:lnSpc>
            </a:pPr>
            <a:r>
              <a:rPr lang="en-US" altLang="zh-CN" sz="1200" dirty="0">
                <a:solidFill>
                  <a:schemeClr val="tx1">
                    <a:lumMod val="50000"/>
                    <a:lumOff val="50000"/>
                  </a:schemeClr>
                </a:solidFill>
                <a:cs typeface="+mn-ea"/>
                <a:sym typeface="+mn-lt"/>
              </a:rPr>
              <a:t>PC</a:t>
            </a:r>
            <a:r>
              <a:rPr lang="zh-CN" altLang="en-US" sz="1200" dirty="0">
                <a:solidFill>
                  <a:schemeClr val="tx1">
                    <a:lumMod val="50000"/>
                    <a:lumOff val="50000"/>
                  </a:schemeClr>
                </a:solidFill>
                <a:cs typeface="+mn-ea"/>
                <a:sym typeface="+mn-lt"/>
              </a:rPr>
              <a:t>登录福利</a:t>
            </a:r>
            <a:endParaRPr lang="zh-CN" altLang="en-US" sz="1200" dirty="0">
              <a:solidFill>
                <a:schemeClr val="tx1">
                  <a:lumMod val="50000"/>
                  <a:lumOff val="50000"/>
                </a:schemeClr>
              </a:solidFill>
              <a:cs typeface="+mn-ea"/>
              <a:sym typeface="+mn-lt"/>
            </a:endParaRPr>
          </a:p>
        </p:txBody>
      </p:sp>
      <p:sp>
        <p:nvSpPr>
          <p:cNvPr id="6" name="矩形 5"/>
          <p:cNvSpPr/>
          <p:nvPr/>
        </p:nvSpPr>
        <p:spPr>
          <a:xfrm>
            <a:off x="6424930" y="259080"/>
            <a:ext cx="1699260" cy="275590"/>
          </a:xfrm>
          <a:prstGeom prst="rect">
            <a:avLst/>
          </a:prstGeom>
        </p:spPr>
        <p:txBody>
          <a:bodyPr wrap="square">
            <a:spAutoFit/>
          </a:bodyPr>
          <a:p>
            <a:pPr algn="ctr">
              <a:lnSpc>
                <a:spcPct val="100000"/>
              </a:lnSpc>
            </a:pPr>
            <a:r>
              <a:rPr lang="zh-CN" sz="1200" dirty="0">
                <a:solidFill>
                  <a:schemeClr val="tx1">
                    <a:lumMod val="50000"/>
                    <a:lumOff val="50000"/>
                  </a:schemeClr>
                </a:solidFill>
                <a:cs typeface="+mn-ea"/>
                <a:sym typeface="+mn-lt"/>
              </a:rPr>
              <a:t>签到福利</a:t>
            </a:r>
            <a:endParaRPr lang="zh-CN" sz="1200" dirty="0">
              <a:solidFill>
                <a:schemeClr val="tx1">
                  <a:lumMod val="50000"/>
                  <a:lumOff val="50000"/>
                </a:schemeClr>
              </a:solidFill>
              <a:cs typeface="+mn-ea"/>
              <a:sym typeface="+mn-lt"/>
            </a:endParaRPr>
          </a:p>
        </p:txBody>
      </p:sp>
      <p:sp>
        <p:nvSpPr>
          <p:cNvPr id="7" name="矩形 6"/>
          <p:cNvSpPr/>
          <p:nvPr/>
        </p:nvSpPr>
        <p:spPr>
          <a:xfrm>
            <a:off x="473075" y="3701415"/>
            <a:ext cx="1699260" cy="275590"/>
          </a:xfrm>
          <a:prstGeom prst="rect">
            <a:avLst/>
          </a:prstGeom>
        </p:spPr>
        <p:txBody>
          <a:bodyPr wrap="square">
            <a:spAutoFit/>
          </a:bodyPr>
          <a:p>
            <a:pPr algn="ctr">
              <a:lnSpc>
                <a:spcPct val="100000"/>
              </a:lnSpc>
            </a:pPr>
            <a:r>
              <a:rPr lang="zh-CN" sz="1200" dirty="0">
                <a:solidFill>
                  <a:schemeClr val="tx1">
                    <a:lumMod val="50000"/>
                    <a:lumOff val="50000"/>
                  </a:schemeClr>
                </a:solidFill>
                <a:cs typeface="+mn-ea"/>
                <a:sym typeface="+mn-lt"/>
              </a:rPr>
              <a:t>精灵抽卡翻牌</a:t>
            </a:r>
            <a:endParaRPr lang="zh-CN" sz="1200" dirty="0">
              <a:solidFill>
                <a:schemeClr val="tx1">
                  <a:lumMod val="50000"/>
                  <a:lumOff val="50000"/>
                </a:schemeClr>
              </a:solidFill>
              <a:cs typeface="+mn-ea"/>
              <a:sym typeface="+mn-lt"/>
            </a:endParaRPr>
          </a:p>
        </p:txBody>
      </p:sp>
      <p:sp>
        <p:nvSpPr>
          <p:cNvPr id="8" name="矩形 7"/>
          <p:cNvSpPr/>
          <p:nvPr/>
        </p:nvSpPr>
        <p:spPr>
          <a:xfrm>
            <a:off x="6523990" y="3701415"/>
            <a:ext cx="1699260" cy="275590"/>
          </a:xfrm>
          <a:prstGeom prst="rect">
            <a:avLst/>
          </a:prstGeom>
        </p:spPr>
        <p:txBody>
          <a:bodyPr wrap="square">
            <a:spAutoFit/>
          </a:bodyPr>
          <a:p>
            <a:pPr algn="ctr">
              <a:lnSpc>
                <a:spcPct val="100000"/>
              </a:lnSpc>
            </a:pPr>
            <a:r>
              <a:rPr lang="zh-CN" sz="1200" dirty="0">
                <a:solidFill>
                  <a:schemeClr val="tx1">
                    <a:lumMod val="50000"/>
                    <a:lumOff val="50000"/>
                  </a:schemeClr>
                </a:solidFill>
                <a:cs typeface="+mn-ea"/>
                <a:sym typeface="+mn-lt"/>
              </a:rPr>
              <a:t>抽卡历史</a:t>
            </a:r>
            <a:endParaRPr lang="zh-CN" sz="1200" dirty="0">
              <a:solidFill>
                <a:schemeClr val="tx1">
                  <a:lumMod val="50000"/>
                  <a:lumOff val="50000"/>
                </a:schemeClr>
              </a:solidFill>
              <a:cs typeface="+mn-ea"/>
              <a:sym typeface="+mn-lt"/>
            </a:endParaRPr>
          </a:p>
        </p:txBody>
      </p:sp>
      <p:pic>
        <p:nvPicPr>
          <p:cNvPr id="9" name="图片 8"/>
          <p:cNvPicPr>
            <a:picLocks noChangeAspect="1"/>
          </p:cNvPicPr>
          <p:nvPr/>
        </p:nvPicPr>
        <p:blipFill>
          <a:blip r:embed="rId3"/>
          <a:stretch>
            <a:fillRect/>
          </a:stretch>
        </p:blipFill>
        <p:spPr>
          <a:xfrm>
            <a:off x="695325" y="4037330"/>
            <a:ext cx="4500245" cy="2502535"/>
          </a:xfrm>
          <a:prstGeom prst="rect">
            <a:avLst/>
          </a:prstGeom>
        </p:spPr>
      </p:pic>
      <p:pic>
        <p:nvPicPr>
          <p:cNvPr id="11" name="图片 10"/>
          <p:cNvPicPr>
            <a:picLocks noChangeAspect="1"/>
          </p:cNvPicPr>
          <p:nvPr/>
        </p:nvPicPr>
        <p:blipFill>
          <a:blip r:embed="rId4"/>
          <a:stretch>
            <a:fillRect/>
          </a:stretch>
        </p:blipFill>
        <p:spPr>
          <a:xfrm>
            <a:off x="7061200" y="4009390"/>
            <a:ext cx="4561840" cy="264223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矩形 10"/>
          <p:cNvSpPr/>
          <p:nvPr/>
        </p:nvSpPr>
        <p:spPr>
          <a:xfrm>
            <a:off x="3736975" y="365760"/>
            <a:ext cx="3481705" cy="398780"/>
          </a:xfrm>
          <a:prstGeom prst="rect">
            <a:avLst/>
          </a:prstGeom>
        </p:spPr>
        <p:txBody>
          <a:bodyPr wrap="square">
            <a:spAutoFit/>
          </a:bodyPr>
          <a:p>
            <a:pPr algn="ctr">
              <a:lnSpc>
                <a:spcPct val="100000"/>
              </a:lnSpc>
            </a:pPr>
            <a:r>
              <a:rPr lang="zh-CN" altLang="en-US" sz="2000" b="1" dirty="0">
                <a:solidFill>
                  <a:schemeClr val="tx1">
                    <a:lumMod val="65000"/>
                    <a:lumOff val="35000"/>
                  </a:schemeClr>
                </a:solidFill>
                <a:cs typeface="+mn-ea"/>
                <a:sym typeface="+mn-lt"/>
              </a:rPr>
              <a:t>学习</a:t>
            </a:r>
            <a:r>
              <a:rPr lang="en-US" altLang="zh-CN" sz="2000" b="1" dirty="0">
                <a:solidFill>
                  <a:schemeClr val="tx1">
                    <a:lumMod val="65000"/>
                    <a:lumOff val="35000"/>
                  </a:schemeClr>
                </a:solidFill>
                <a:cs typeface="+mn-ea"/>
                <a:sym typeface="+mn-lt"/>
              </a:rPr>
              <a:t>kbe</a:t>
            </a:r>
            <a:r>
              <a:rPr lang="zh-CN" altLang="en-US" sz="2000" b="1" dirty="0">
                <a:solidFill>
                  <a:schemeClr val="tx1">
                    <a:lumMod val="65000"/>
                    <a:lumOff val="35000"/>
                  </a:schemeClr>
                </a:solidFill>
                <a:cs typeface="+mn-ea"/>
                <a:sym typeface="+mn-lt"/>
              </a:rPr>
              <a:t>引擎和</a:t>
            </a:r>
            <a:r>
              <a:rPr lang="en-US" altLang="zh-CN" sz="2000" b="1" dirty="0">
                <a:solidFill>
                  <a:schemeClr val="tx1">
                    <a:lumMod val="65000"/>
                    <a:lumOff val="35000"/>
                  </a:schemeClr>
                </a:solidFill>
                <a:cs typeface="+mn-ea"/>
                <a:sym typeface="+mn-lt"/>
              </a:rPr>
              <a:t>API</a:t>
            </a:r>
            <a:endParaRPr lang="en-US" altLang="zh-CN" sz="2000" b="1" dirty="0">
              <a:solidFill>
                <a:schemeClr val="tx1">
                  <a:lumMod val="65000"/>
                  <a:lumOff val="35000"/>
                </a:schemeClr>
              </a:solidFill>
              <a:cs typeface="+mn-ea"/>
              <a:sym typeface="+mn-lt"/>
            </a:endParaRPr>
          </a:p>
        </p:txBody>
      </p:sp>
      <p:pic>
        <p:nvPicPr>
          <p:cNvPr id="3" name="图片 2"/>
          <p:cNvPicPr>
            <a:picLocks noChangeAspect="1"/>
          </p:cNvPicPr>
          <p:nvPr/>
        </p:nvPicPr>
        <p:blipFill>
          <a:blip r:embed="rId1"/>
          <a:stretch>
            <a:fillRect/>
          </a:stretch>
        </p:blipFill>
        <p:spPr>
          <a:xfrm>
            <a:off x="737870" y="1583055"/>
            <a:ext cx="4964430" cy="2841625"/>
          </a:xfrm>
          <a:prstGeom prst="rect">
            <a:avLst/>
          </a:prstGeom>
        </p:spPr>
      </p:pic>
      <p:sp>
        <p:nvSpPr>
          <p:cNvPr id="4" name="矩形 3"/>
          <p:cNvSpPr/>
          <p:nvPr/>
        </p:nvSpPr>
        <p:spPr>
          <a:xfrm>
            <a:off x="607060" y="1302385"/>
            <a:ext cx="1873250" cy="275590"/>
          </a:xfrm>
          <a:prstGeom prst="rect">
            <a:avLst/>
          </a:prstGeom>
        </p:spPr>
        <p:txBody>
          <a:bodyPr wrap="square">
            <a:spAutoFit/>
          </a:bodyPr>
          <a:p>
            <a:pPr algn="ctr">
              <a:lnSpc>
                <a:spcPct val="100000"/>
              </a:lnSpc>
            </a:pPr>
            <a:r>
              <a:rPr lang="zh-CN" altLang="en-US" sz="1200" dirty="0">
                <a:solidFill>
                  <a:schemeClr val="tx1">
                    <a:lumMod val="50000"/>
                    <a:lumOff val="50000"/>
                  </a:schemeClr>
                </a:solidFill>
                <a:cs typeface="+mn-ea"/>
                <a:sym typeface="+mn-lt"/>
              </a:rPr>
              <a:t>学习</a:t>
            </a:r>
            <a:r>
              <a:rPr lang="en-US" altLang="zh-CN" sz="1200" dirty="0">
                <a:solidFill>
                  <a:schemeClr val="tx1">
                    <a:lumMod val="50000"/>
                    <a:lumOff val="50000"/>
                  </a:schemeClr>
                </a:solidFill>
                <a:cs typeface="+mn-ea"/>
                <a:sym typeface="+mn-lt"/>
              </a:rPr>
              <a:t>kbe python API</a:t>
            </a:r>
            <a:endParaRPr lang="en-US" altLang="zh-CN" sz="1200" dirty="0">
              <a:solidFill>
                <a:schemeClr val="tx1">
                  <a:lumMod val="50000"/>
                  <a:lumOff val="50000"/>
                </a:schemeClr>
              </a:solidFill>
              <a:cs typeface="+mn-ea"/>
              <a:sym typeface="+mn-lt"/>
            </a:endParaRPr>
          </a:p>
        </p:txBody>
      </p:sp>
      <p:pic>
        <p:nvPicPr>
          <p:cNvPr id="5" name="图片 4"/>
          <p:cNvPicPr>
            <a:picLocks noChangeAspect="1"/>
          </p:cNvPicPr>
          <p:nvPr/>
        </p:nvPicPr>
        <p:blipFill>
          <a:blip r:embed="rId2"/>
          <a:stretch>
            <a:fillRect/>
          </a:stretch>
        </p:blipFill>
        <p:spPr>
          <a:xfrm>
            <a:off x="6042025" y="1577975"/>
            <a:ext cx="4823460" cy="2651760"/>
          </a:xfrm>
          <a:prstGeom prst="rect">
            <a:avLst/>
          </a:prstGeom>
        </p:spPr>
      </p:pic>
      <p:sp>
        <p:nvSpPr>
          <p:cNvPr id="6" name="矩形 5"/>
          <p:cNvSpPr/>
          <p:nvPr/>
        </p:nvSpPr>
        <p:spPr>
          <a:xfrm>
            <a:off x="5702300" y="1302385"/>
            <a:ext cx="1873250" cy="275590"/>
          </a:xfrm>
          <a:prstGeom prst="rect">
            <a:avLst/>
          </a:prstGeom>
        </p:spPr>
        <p:txBody>
          <a:bodyPr wrap="square">
            <a:spAutoFit/>
          </a:bodyPr>
          <a:p>
            <a:pPr algn="ctr">
              <a:lnSpc>
                <a:spcPct val="100000"/>
              </a:lnSpc>
            </a:pPr>
            <a:r>
              <a:rPr lang="zh-CN" altLang="en-US" sz="1200" dirty="0">
                <a:solidFill>
                  <a:schemeClr val="tx1">
                    <a:lumMod val="50000"/>
                    <a:lumOff val="50000"/>
                  </a:schemeClr>
                </a:solidFill>
                <a:cs typeface="+mn-ea"/>
                <a:sym typeface="+mn-lt"/>
              </a:rPr>
              <a:t>学习</a:t>
            </a:r>
            <a:r>
              <a:rPr lang="en-US" altLang="zh-CN" sz="1200" dirty="0">
                <a:solidFill>
                  <a:schemeClr val="tx1">
                    <a:lumMod val="50000"/>
                    <a:lumOff val="50000"/>
                  </a:schemeClr>
                </a:solidFill>
                <a:cs typeface="+mn-ea"/>
                <a:sym typeface="+mn-lt"/>
              </a:rPr>
              <a:t>kbe </a:t>
            </a:r>
            <a:r>
              <a:rPr lang="zh-CN" altLang="en-US" sz="1200" dirty="0">
                <a:solidFill>
                  <a:schemeClr val="tx1">
                    <a:lumMod val="50000"/>
                    <a:lumOff val="50000"/>
                  </a:schemeClr>
                </a:solidFill>
                <a:cs typeface="+mn-ea"/>
                <a:sym typeface="+mn-lt"/>
              </a:rPr>
              <a:t>源码</a:t>
            </a:r>
            <a:endParaRPr lang="zh-CN" altLang="en-US" sz="1200" dirty="0">
              <a:solidFill>
                <a:schemeClr val="tx1">
                  <a:lumMod val="50000"/>
                  <a:lumOff val="50000"/>
                </a:schemeClr>
              </a:solidFill>
              <a:cs typeface="+mn-ea"/>
              <a:sym typeface="+mn-lt"/>
            </a:endParaRPr>
          </a:p>
        </p:txBody>
      </p:sp>
    </p:spTree>
  </p:cSld>
  <p:clrMapOvr>
    <a:masterClrMapping/>
  </p:clrMapOvr>
</p:sld>
</file>

<file path=ppt/tags/tag1.xml><?xml version="1.0" encoding="utf-8"?>
<p:tagLst xmlns:p="http://schemas.openxmlformats.org/presentationml/2006/main">
  <p:tag name="KSO_WM_DIAGRAM_VIRTUALLY_FRAME" val="{&quot;height&quot;:414.25275590551183,&quot;left&quot;:79.33322834645669,&quot;top&quot;:99.45,&quot;width&quot;:788.8714173228346}"/>
</p:tagLst>
</file>

<file path=ppt/tags/tag2.xml><?xml version="1.0" encoding="utf-8"?>
<p:tagLst xmlns:p="http://schemas.openxmlformats.org/presentationml/2006/main">
  <p:tag name="KSO_WM_DIAGRAM_VIRTUALLY_FRAME" val="{&quot;height&quot;:414.25275590551183,&quot;left&quot;:79.33322834645669,&quot;top&quot;:99.45,&quot;width&quot;:788.8714173228346}"/>
</p:tagLst>
</file>

<file path=ppt/tags/tag3.xml><?xml version="1.0" encoding="utf-8"?>
<p:tagLst xmlns:p="http://schemas.openxmlformats.org/presentationml/2006/main">
  <p:tag name="KSO_WM_DIAGRAM_VIRTUALLY_FRAME" val="{&quot;height&quot;:414.25275590551183,&quot;left&quot;:79.33322834645669,&quot;top&quot;:99.45,&quot;width&quot;:788.8714173228346}"/>
</p:tagLst>
</file>

<file path=ppt/tags/tag4.xml><?xml version="1.0" encoding="utf-8"?>
<p:tagLst xmlns:p="http://schemas.openxmlformats.org/presentationml/2006/main">
  <p:tag name="KSO_WM_DIAGRAM_VIRTUALLY_FRAME" val="{&quot;height&quot;:414.25275590551183,&quot;left&quot;:79.33322834645669,&quot;top&quot;:99.45,&quot;width&quot;:788.8714173228346}"/>
</p:tagLst>
</file>

<file path=ppt/tags/tag5.xml><?xml version="1.0" encoding="utf-8"?>
<p:tagLst xmlns:p="http://schemas.openxmlformats.org/presentationml/2006/main">
  <p:tag name="KSO_WM_DIAGRAM_VIRTUALLY_FRAME" val="{&quot;height&quot;:414.25275590551183,&quot;left&quot;:79.33322834645669,&quot;top&quot;:99.45,&quot;width&quot;:788.8714173228346}"/>
</p:tagLst>
</file>

<file path=ppt/tags/tag6.xml><?xml version="1.0" encoding="utf-8"?>
<p:tagLst xmlns:p="http://schemas.openxmlformats.org/presentationml/2006/main">
  <p:tag name="KSO_WM_DIAGRAM_VIRTUALLY_FRAME" val="{&quot;height&quot;:414.25275590551183,&quot;left&quot;:79.33322834645669,&quot;top&quot;:99.45,&quot;width&quot;:788.8714173228346}"/>
</p:tagLst>
</file>

<file path=ppt/tags/tag7.xml><?xml version="1.0" encoding="utf-8"?>
<p:tagLst xmlns:p="http://schemas.openxmlformats.org/presentationml/2006/main">
  <p:tag name="KSO_WM_DIAGRAM_VIRTUALLY_FRAME" val="{&quot;height&quot;:414.25275590551183,&quot;left&quot;:79.33322834645669,&quot;top&quot;:99.45,&quot;width&quot;:788.8714173228346}"/>
</p:tagLst>
</file>

<file path=ppt/tags/tag8.xml><?xml version="1.0" encoding="utf-8"?>
<p:tagLst xmlns:p="http://schemas.openxmlformats.org/presentationml/2006/main">
  <p:tag name="KSO_WM_DIAGRAM_VIRTUALLY_FRAME" val="{&quot;height&quot;:414.25275590551183,&quot;left&quot;:79.33322834645669,&quot;top&quot;:99.45,&quot;width&quot;:788.8714173228346}"/>
</p:tagLst>
</file>

<file path=ppt/tags/tag9.xml><?xml version="1.0" encoding="utf-8"?>
<p:tagLst xmlns:p="http://schemas.openxmlformats.org/presentationml/2006/main">
  <p:tag name="KSO_WM_DIAGRAM_VIRTUALLY_FRAME" val="{&quot;height&quot;:414.25275590551183,&quot;left&quot;:79.33322834645669,&quot;top&quot;:99.45,&quot;width&quot;:788.8714173228346}"/>
</p:tagLst>
</file>

<file path=ppt/tags/tag10.xml><?xml version="1.0" encoding="utf-8"?>
<p:tagLst xmlns:p="http://schemas.openxmlformats.org/presentationml/2006/main">
  <p:tag name="KSO_WM_DIAGRAM_VIRTUALLY_FRAME" val="{&quot;height&quot;:414.25275590551183,&quot;left&quot;:79.33322834645669,&quot;top&quot;:99.45,&quot;width&quot;:788.8714173228346}"/>
</p:tagLst>
</file>

<file path=ppt/tags/tag11.xml><?xml version="1.0" encoding="utf-8"?>
<p:tagLst xmlns:p="http://schemas.openxmlformats.org/presentationml/2006/main">
  <p:tag name="KSO_WM_DIAGRAM_VIRTUALLY_FRAME" val="{&quot;height&quot;:414.25275590551183,&quot;left&quot;:79.33322834645669,&quot;top&quot;:99.45,&quot;width&quot;:788.8714173228346}"/>
</p:tagLst>
</file>

<file path=ppt/tags/tag12.xml><?xml version="1.0" encoding="utf-8"?>
<p:tagLst xmlns:p="http://schemas.openxmlformats.org/presentationml/2006/main">
  <p:tag name="KSO_WM_DIAGRAM_VIRTUALLY_FRAME" val="{&quot;height&quot;:414.25275590551183,&quot;left&quot;:79.33322834645669,&quot;top&quot;:99.45,&quot;width&quot;:788.8714173228346}"/>
</p:tagLst>
</file>

<file path=ppt/tags/tag13.xml><?xml version="1.0" encoding="utf-8"?>
<p:tagLst xmlns:p="http://schemas.openxmlformats.org/presentationml/2006/main">
  <p:tag name="KSO_WM_DIAGRAM_VIRTUALLY_FRAME" val="{&quot;height&quot;:414.25275590551183,&quot;left&quot;:79.33322834645669,&quot;top&quot;:99.45,&quot;width&quot;:788.8714173228346}"/>
</p:tagLst>
</file>

<file path=ppt/tags/tag14.xml><?xml version="1.0" encoding="utf-8"?>
<p:tagLst xmlns:p="http://schemas.openxmlformats.org/presentationml/2006/main">
  <p:tag name="KSO_WM_DIAGRAM_VIRTUALLY_FRAME" val="{&quot;height&quot;:414.25275590551183,&quot;left&quot;:79.33322834645669,&quot;top&quot;:99.45,&quot;width&quot;:788.8714173228346}"/>
</p:tagLst>
</file>

<file path=ppt/tags/tag15.xml><?xml version="1.0" encoding="utf-8"?>
<p:tagLst xmlns:p="http://schemas.openxmlformats.org/presentationml/2006/main">
  <p:tag name="KSO_WM_DIAGRAM_VIRTUALLY_FRAME" val="{&quot;height&quot;:414.25275590551183,&quot;left&quot;:79.33322834645669,&quot;top&quot;:99.45,&quot;width&quot;:788.8714173228346}"/>
</p:tagLst>
</file>

<file path=ppt/tags/tag16.xml><?xml version="1.0" encoding="utf-8"?>
<p:tagLst xmlns:p="http://schemas.openxmlformats.org/presentationml/2006/main">
  <p:tag name="KSO_WM_DIAGRAM_VIRTUALLY_FRAME" val="{&quot;height&quot;:414.25275590551183,&quot;left&quot;:79.33322834645669,&quot;top&quot;:99.45,&quot;width&quot;:788.8714173228346}"/>
</p:tagLst>
</file>

<file path=ppt/tags/tag17.xml><?xml version="1.0" encoding="utf-8"?>
<p:tagLst xmlns:p="http://schemas.openxmlformats.org/presentationml/2006/main">
  <p:tag name="KSO_WM_DIAGRAM_VIRTUALLY_FRAME" val="{&quot;height&quot;:414.25275590551183,&quot;left&quot;:79.33322834645669,&quot;top&quot;:99.45,&quot;width&quot;:788.8714173228346}"/>
</p:tagLst>
</file>

<file path=ppt/tags/tag18.xml><?xml version="1.0" encoding="utf-8"?>
<p:tagLst xmlns:p="http://schemas.openxmlformats.org/presentationml/2006/main">
  <p:tag name="KSO_WM_DIAGRAM_VIRTUALLY_FRAME" val="{&quot;height&quot;:414.25275590551183,&quot;left&quot;:79.33322834645669,&quot;top&quot;:99.45,&quot;width&quot;:788.8714173228346}"/>
</p:tagLst>
</file>

<file path=ppt/tags/tag19.xml><?xml version="1.0" encoding="utf-8"?>
<p:tagLst xmlns:p="http://schemas.openxmlformats.org/presentationml/2006/main">
  <p:tag name="KSO_WM_DIAGRAM_VIRTUALLY_FRAME" val="{&quot;height&quot;:414.25275590551183,&quot;left&quot;:79.33322834645669,&quot;top&quot;:99.45,&quot;width&quot;:788.8714173228346}"/>
</p:tagLst>
</file>

<file path=ppt/tags/tag20.xml><?xml version="1.0" encoding="utf-8"?>
<p:tagLst xmlns:p="http://schemas.openxmlformats.org/presentationml/2006/main">
  <p:tag name="KSO_WM_DIAGRAM_VIRTUALLY_FRAME" val="{&quot;height&quot;:414.25275590551183,&quot;left&quot;:79.33322834645669,&quot;top&quot;:99.45,&quot;width&quot;:788.8714173228346}"/>
</p:tagLst>
</file>

<file path=ppt/tags/tag21.xml><?xml version="1.0" encoding="utf-8"?>
<p:tagLst xmlns:p="http://schemas.openxmlformats.org/presentationml/2006/main">
  <p:tag name="KSO_WM_DIAGRAM_VIRTUALLY_FRAME" val="{&quot;height&quot;:414.25275590551183,&quot;left&quot;:79.33322834645669,&quot;top&quot;:99.45,&quot;width&quot;:788.8714173228346}"/>
</p:tagLst>
</file>

<file path=ppt/tags/tag22.xml><?xml version="1.0" encoding="utf-8"?>
<p:tagLst xmlns:p="http://schemas.openxmlformats.org/presentationml/2006/main">
  <p:tag name="KSO_WM_DIAGRAM_VIRTUALLY_FRAME" val="{&quot;height&quot;:414.25275590551183,&quot;left&quot;:79.33322834645669,&quot;top&quot;:99.45,&quot;width&quot;:788.8714173228346}"/>
</p:tagLst>
</file>

<file path=ppt/tags/tag23.xml><?xml version="1.0" encoding="utf-8"?>
<p:tagLst xmlns:p="http://schemas.openxmlformats.org/presentationml/2006/main">
  <p:tag name="KSO_WM_DIAGRAM_VIRTUALLY_FRAME" val="{&quot;height&quot;:414.25275590551183,&quot;left&quot;:79.33322834645669,&quot;top&quot;:99.45,&quot;width&quot;:788.8714173228346}"/>
</p:tagLst>
</file>

<file path=ppt/tags/tag24.xml><?xml version="1.0" encoding="utf-8"?>
<p:tagLst xmlns:p="http://schemas.openxmlformats.org/presentationml/2006/main">
  <p:tag name="KSO_WM_DIAGRAM_VIRTUALLY_FRAME" val="{&quot;height&quot;:414.25275590551183,&quot;left&quot;:79.33322834645669,&quot;top&quot;:99.45,&quot;width&quot;:788.8714173228346}"/>
</p:tagLst>
</file>

<file path=ppt/tags/tag25.xml><?xml version="1.0" encoding="utf-8"?>
<p:tagLst xmlns:p="http://schemas.openxmlformats.org/presentationml/2006/main">
  <p:tag name="KSO_WM_DIAGRAM_VIRTUALLY_FRAME" val="{&quot;height&quot;:414.25275590551183,&quot;left&quot;:79.33322834645669,&quot;top&quot;:99.45,&quot;width&quot;:788.8714173228346}"/>
</p:tagLst>
</file>

<file path=ppt/tags/tag26.xml><?xml version="1.0" encoding="utf-8"?>
<p:tagLst xmlns:p="http://schemas.openxmlformats.org/presentationml/2006/main">
  <p:tag name="KSO_WM_DIAGRAM_VIRTUALLY_FRAME" val="{&quot;height&quot;:414.25275590551183,&quot;left&quot;:79.33322834645669,&quot;top&quot;:99.45,&quot;width&quot;:788.8714173228346}"/>
</p:tagLst>
</file>

<file path=ppt/tags/tag27.xml><?xml version="1.0" encoding="utf-8"?>
<p:tagLst xmlns:p="http://schemas.openxmlformats.org/presentationml/2006/main">
  <p:tag name="KSO_WM_DIAGRAM_VIRTUALLY_FRAME" val="{&quot;height&quot;:414.25275590551183,&quot;left&quot;:79.33322834645669,&quot;top&quot;:99.45,&quot;width&quot;:788.8714173228346}"/>
</p:tagLst>
</file>

<file path=ppt/tags/tag28.xml><?xml version="1.0" encoding="utf-8"?>
<p:tagLst xmlns:p="http://schemas.openxmlformats.org/presentationml/2006/main">
  <p:tag name="KSO_WM_DIAGRAM_VIRTUALLY_FRAME" val="{&quot;height&quot;:414.25275590551183,&quot;left&quot;:79.33322834645669,&quot;top&quot;:99.45,&quot;width&quot;:788.8714173228346}"/>
</p:tagLst>
</file>

<file path=ppt/tags/tag29.xml><?xml version="1.0" encoding="utf-8"?>
<p:tagLst xmlns:p="http://schemas.openxmlformats.org/presentationml/2006/main">
  <p:tag name="KSO_WM_DIAGRAM_VIRTUALLY_FRAME" val="{&quot;height&quot;:414.25275590551183,&quot;left&quot;:79.33322834645669,&quot;top&quot;:99.45,&quot;width&quot;:788.8714173228346}"/>
</p:tagLst>
</file>

<file path=ppt/tags/tag30.xml><?xml version="1.0" encoding="utf-8"?>
<p:tagLst xmlns:p="http://schemas.openxmlformats.org/presentationml/2006/main">
  <p:tag name="KSO_WM_DIAGRAM_VIRTUALLY_FRAME" val="{&quot;height&quot;:414.25275590551183,&quot;left&quot;:79.33322834645669,&quot;top&quot;:99.45,&quot;width&quot;:788.8714173228346}"/>
</p:tagLst>
</file>

<file path=ppt/tags/tag31.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32.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33.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34.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35.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36.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37.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38.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39.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40.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41.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42.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43.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44.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45.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46.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47.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48.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49.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50.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51.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52.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53.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54.xml><?xml version="1.0" encoding="utf-8"?>
<p:tagLst xmlns:p="http://schemas.openxmlformats.org/presentationml/2006/main">
  <p:tag name="KSO_WM_DIAGRAM_VIRTUALLY_FRAME" val="{&quot;height&quot;:276.80086614173223,&quot;left&quot;:187.4979527559055,&quot;top&quot;:102.0992125984252,&quot;width&quot;:594.4021259842519}"/>
</p:tagLst>
</file>

<file path=ppt/tags/tag55.xml><?xml version="1.0" encoding="utf-8"?>
<p:tagLst xmlns:p="http://schemas.openxmlformats.org/presentationml/2006/main">
  <p:tag name="KSO_WM_DIAGRAM_VIRTUALLY_FRAME" val="{&quot;height&quot;:281.4,&quot;left&quot;:28.35,&quot;top&quot;:102.35,&quot;width&quot;:901.45}"/>
</p:tagLst>
</file>

<file path=ppt/tags/tag56.xml><?xml version="1.0" encoding="utf-8"?>
<p:tagLst xmlns:p="http://schemas.openxmlformats.org/presentationml/2006/main">
  <p:tag name="KSO_WM_DIAGRAM_VIRTUALLY_FRAME" val="{&quot;height&quot;:281.4,&quot;left&quot;:28.35,&quot;top&quot;:102.35,&quot;width&quot;:901.45}"/>
</p:tagLst>
</file>

<file path=ppt/tags/tag57.xml><?xml version="1.0" encoding="utf-8"?>
<p:tagLst xmlns:p="http://schemas.openxmlformats.org/presentationml/2006/main">
  <p:tag name="KSO_WM_DIAGRAM_VIRTUALLY_FRAME" val="{&quot;height&quot;:281.4,&quot;left&quot;:28.35,&quot;top&quot;:102.35,&quot;width&quot;:901.45}"/>
</p:tagLst>
</file>

<file path=ppt/tags/tag58.xml><?xml version="1.0" encoding="utf-8"?>
<p:tagLst xmlns:p="http://schemas.openxmlformats.org/presentationml/2006/main">
  <p:tag name="KSO_WM_DIAGRAM_VIRTUALLY_FRAME" val="{&quot;height&quot;:281.4,&quot;left&quot;:28.35,&quot;top&quot;:102.35,&quot;width&quot;:901.45}"/>
</p:tagLst>
</file>

<file path=ppt/tags/tag59.xml><?xml version="1.0" encoding="utf-8"?>
<p:tagLst xmlns:p="http://schemas.openxmlformats.org/presentationml/2006/main">
  <p:tag name="ISPRING_ULTRA_SCORM_COURSE_ID" val="C6092B9C-B958-4D2E-8B7D-0283A7BC8458"/>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Content List"/>
  <p:tag name="ISPRINGCLOUDFOLDERID" val="0"/>
  <p:tag name="ISPRINGCLOUDFOLDERPATH" val="Repository"/>
  <p:tag name="ISPRING_PLAYERS_CUSTOMIZATION" val="UEsDBBQAAgAIAJAkUEoVDq0oZAQAAAcRAAAdAAAAdW5pdmVyc2FsL2NvbW1vbl9tZXNzYWdlcy5sbmetWG1v2zYQ/l6g/4EQUGADtrQd0KIYEge0xNhEZMmV6DjZCwRGYmwilJjpxW32ab9mP2y/ZEfKTuK+QFISwDZMyvfc8e6eu6MPjz/nCm1EWUldHDlvD944SBSpzmSxOnIW7OTnDw6qal5kXOlCHDmFdtDx6OWLQ8WLVcNXAr6/fIHQYS6qCpbVyKzu10hmR858nLjhbI6Di8QPJ2EyphNn5Or8hhe3yNcr/Uf5wy/vP3x+++79j4evt5J9gOIZ9v19KGSR3r3pARSwKPQTQCN+EpBz5ozM5zC5cMF8GhBntP0yTHoekTNnZD475RZRRAKWxD71SELjJAiZ9YVPGPGc0YVu0JpvBKo12kjxCdVrAZGsZSlQpWRmH6QaNopGdCnzwhmmQRKRmEXUZTQMnFGsy/L2JwvLm3qtS1BXoUxW/FKJzOqEnLHPb0pRgWpeQ04heNVrCb/UOZfFQafqCC9pMElYGPpxQgJvt+OMSJEhr+RGzUCUCMckAoCSV6J8hGxis8yKI6zUMIQpnUx9eDNjwlSu1gre9VA75gRiMBdFlxTkCIkgu+J4GUaecRqoQhzd8Kr6pMtsLz8eBqoLmAZuCCnosgfgzGDsgCHGEipHWYq07gKbkTjGE5KMw3NIZOBdOEQiPAW6nQ6RuCAxUITEXTIBPqMTbBLeUGyX/zt+pdyks7pFPE1BzrhvI3VTwY5xKbDAMq06GKYmJh8XEDaK/e/QuEUF79rVSm4E2FFmouxUBJXFJZ7Joo8L+ltygqlPvATSyguXCbMlz2jM+S0qdI14tuFFKtClSHkDuX4LzzKZ2Wcmzlb/X438G/F6W1VebQtS4JHzV0Pt2ath3zCrqcCmuhb5Td2l2jhsa/5jrDA5/V0T+hz9cfpjlwQ4ouHzRKaSeaPaqvvk+NxZNjRGnUY80VP9o/XclsRtbR1TKFhjqftLEOimpn9AA1T9pWhwAormbYmGGk6LqwE6g3ALEGj0WIwzcNWeCWfgwgHySzKOKYPZaCkuK1l3jh2WjW2Avh3aFOY8JWpxT8ZLcaVhwlGCb9rpA7qQjXRnQB8MN3utglHmg8kBAK7a5AFIJXOwP+uBuZiRnQfaAr93kqVuVGbJq+S1LfLg2yYXX49NV6XO7a7i1S552yZz/BQr2sNFrdL5gPZ/x7/e8XlAv8dHKSY4cqeJiwOXmEHfcFX1FAIKGFf4LE58PDbiwIWc1+kamumVboqsJ1A7q3vkBAPY9syx4GW6/u+ff3tifGFJu4u2u78OAgFimypI7sB+D3Qtqj+7QBge78vZRR+p7d1mJ9fzqsMoZOGz3CF421pyncPWQbdeSPJt0DBj2J3OgAexTXvdlDC6DUGY4egUapmdwp3RjJfXUAiZ1moQinW1ScB6mPb762VTK1mIIbJPayXmwIzOE+x59q4N5FMyvW57ZgY3inR76VZw6e4L5k5xAHX2CzyRyXogoG1NuyoERG/X9zTffN2p7laV/cvi8PWDfzD+B1BLAwQUAAIACACQJFBKCH4LIykDAACGDAAAJwAAAHVuaXZlcnNhbC9mbGFzaF9wdWJsaXNoaW5nX3NldHRpbmdzLnhtbNVX3W7aMBS+5yksT70saTu6diihqgpo1VpAhW3tVWViQ6w6dhbbUHq1p9mD7Ul2HAMFtevSH6RNCBGfn+/8n5jw6DYVaMJyzZWM8G51ByMmY0W5HEf4y6C9fYiRNkRSIpRkEZYKo6NGJczsUHCd9JkxIKoRwEhdz0yEE2OyehBMp9Mq11nuuEpYA/i6Gqs0yHKmmTQsDzJBZvBjZhnTeI5QAgC+qZJztUalglDokc4VtYIhTsFzyV1QRLQF0QkOvNiQxDfjXFlJT5RQOcrHwwi/Ozx2n4WMh2rylEmXE90AoiObOqGUOy+I6PM7hhLGxwm4e1DDaMqpSSK8V3MoIB08RCmwfejEoZwoyIE0c/iUGUKJIf7o7Rl2a/SC4El0JknK4wFwkIs/ws3B9aerXuvi7LTz+XrQ7Z4NTnveiUInWMcJg3VDITikbB6zpZ2QGEPiBPwGnRERmoXBKmkhNlJyzTl3RkMlIPeFFrRROmS0Q1K2Uo3+DZdtkNzFaASBiFmEj3NOBEbcEMHjpbK2Q224KareXpVEgAXtydB5H9+b99mJE5JrturWgqNdzuPGN2UFRTNlkeA3DBmFIH6bwlPC0Gpx0ChXaUGF9jFICw4WJ5xNGT0qcjoH/JOhKzCRWtCEXs0EM97Cd8vv0JCNVA64jEygs4HOtcevPgs4I1rfg5KFj1v9s9Nm6/q002xdbrkACZ0QGT8THArO0sxsBJ/MkFRmoQfpiInVrCgK5bTglYmt+vIyaJ5a4cv81sVYgd5gSTZj5TmF+asHpc0mZFIMohuuAhpGkENJPCYwYlgXXFpWFjAmEikpZojEsNa0G+sJV1YDxQ+wh9Yv99DrIy6L0xhWG1jMKctLQe7s7r2v7X84OPxYrwa/fvzcflJpvvB7gjhzfuOfPLnyl2v/4TYMA7elH1/aJrf/5s7uXbS+lslrp3U5KFXSVr8UXLeMVPdzGakL/5LprbxgSrkAS2nshwzWkuApN4y+ZYu9oE1e9W73PbaZNtlgzK8Zjf8mZH9aXhPX7oVh8OjF1XFSLnkKiXArcXnbbezXduCm+SirUgG09f8OjcpvUEsDBBQAAgAIAJAkUEq1/AlkugIAAFUKAAAhAAAAdW5pdmVyc2FsL2ZsYXNoX3NraW5fc2V0dGluZ3MueG1slVZtb+IwDP5+vwJx3+nulZ3UITHGSZN2t+k27XvamjYiTaokZce/vzhN1gQo9LAmEft5bMexzVK1pXzxYTJJc8GEfAatKS8VarxuQoubadZqLfgsF1wD1zMuZE3YdPHxp/2kiUVeYokdyLGcDcmhDzO3nzEUF+PbHGWIkIu6IXz/IEoxy0i+LaVoeXExtWrfgGSUbw3y6sd8tR4MwKjS9xrqKKf1Nco4SiNBKcCUvq9RLrIYyYD5SFf2M5LThzp/+wPajiqqLW35CWWI1pAS4iJfL1GG8dx4j19ljnKeoOGvNtAvn1EGoYzsQcbO776iDDJE0zb/0yONFCUWNOacf8R3DhOkMOOHWV2hXCTghTDQxVdw5bF3vQtA7ms49ymOqxTsCet6sBDw0TMGCy1bSBN/6myqEm+PrTbzAYsNYcoAQlUPejJJP5FWeTexrsf9gTfKi9CX0/SQV8HaGlZdwoG7WN/jV6tbuytCp++6IEMJO6cMUuyVPfK3qesRMlD2yGdGC3jkbH+cwaGpI/lHviXuOc/X31iBE3MsnNWfvBUjPeDoqiBVp/CYWhSwUJjOC60B3y1NrK5LKTnKKeVkR0uiqeC/EJft7WVUmhwYXK+d7qxUU83gVMPZHM2aDstlz3E/OmvckN3PQn+57jzRZovfTInWJK9q87OkphPHM2NiCjNNTjNwTxo4yHu+EQHHxh4i1URuQb4IwcaG4UKDGutedMM1BE+ToAZpcrrKqXNyqvy8rTOQa/NqFJSvcqzsgBUtK2b+9CuFNygOGAPWjqor448T+t6XgcI1ARCZV75ru0NnqVumKYMd+OEPFPbKQ3dLlenSoYZb6gfY6LDlnGZUT7pd0fdKvEMC/Qn8q0krcnxgGdH2mmTK3iyafL+G+1yixezXGTZfuMns2fVS5NjYjytolPjv5D9QSwMEFAACAAgAkCRQSiqWD2f+AgAAlwsAACYAAAB1bml2ZXJzYWwvaHRtbF9wdWJsaXNoaW5nX3NldHRpbmdzLnhtbM2Wb08aMRjA3/Mpmi6+lFPnpiN3GCMYiU6IsE1fmXItXGOvvbU98Hy1T7MPtk+yp1dAiI6dRpaFEOjTPr/nX/u04dF9KtCEacOVjPBufQcjJmNFuRxH+MvgdPsQI2OJpEQoySIsFUZHzVqY5UPBTdJn1sJSgwAjTSOzEU6szRpBMJ1O69xk2s0qkVvgm3qs0iDTzDBpmQ4yQQr4sUXGDJ4RKgDgmyo5U2vWagiFnvRZ0VwwxCl4LrkLiogzmwoc+FVDEt+NtcolPVFCaaTHwwi/Ozx2n/kaT2rxlEmXEtMEoRPbBqGUOyeI6PMHhhLGxwl4e7CP0ZRTm0R4b99RYHXwlFKyfeTEUU4UpEDaGT5lllBiiR96e5bdWzMXeBEtJEl5PIAZ5MKPcGtwe3bTa19ddC7Pbwfd7sWg0/NOlDrBKicMVg2F4JDKdcwWdkJiLYkT8Bt0RkQYFgbLovmykZIrzrkxGioBqS+1MBqBp6KI8LHmRGDELRE8XsxaosfMnnIBMTjd3fpIWvwI9PHGCdGGLRuazxiXxbj5TeWCokLlSPA7hqxCEFGewr+EoeV0o5FWaSkVxFhkBKcMTTibMnpUZmkG/JOhGzCR5qAJmy8TzHoL33P+gIZspDRwGZnAVgU5N55ffxE4I8Y8Qsncx63+RafVvu1cttrXWy5AQidExi+EQwlZmtmN8EmBpLJzPUhHTHLDyqJQTsu5KrHVX18Gw9Nc+DK/dTGW0BssyWasvKQwf/WgstmETMqD6A5XiYYjyKEkngkTMRx3LnNWFRgTiZQUBSIxNCrjjvWEq9yAxB9gjzav99DrIy7L0RhuDrCoKdOVkDu7e+/3P3w8OPzUqAe/fvzcXqs0a+E9QZw538NP1jbxRSN/2g3DwPXO59uw1fm/6sK9q/bXKpm6bF8PKhWp3a+E61ZZ1T2vsurKXxu9pSujkgvQZsb+2ECjETzlltG33DSvKPz6+9dvizcq/AajWLt9/98g/Gjx3Fp5X4XBsw/AGshXH9PN2m9QSwMEFAACAAgAkCRQSmhxUpGaAQAAHwYAAB8AAAB1bml2ZXJzYWwvaHRtbF9za2luX3NldHRpbmdzLmpzjZRNb8IwDIbv/AqUXSfEPmG7ocGkSRwmjdu0QyimVKRJlaQdHeK/rw5fTeqOxRfy8uR17CredrrVYhHrPne37rfbv/t7pwFqVudw7euiRU9RZ0YkC5glKYhEAguQ4nj0JO/OBGXMpDOdlx9oa2p+TOE/Sy5MHc8IC01ohjpcEOA3oW2owz8nsVOra19TrdHz3Fole5GSFqTtSaVT7hh29epWvcQAVgXoC+iSR+CZDtxqI8+ODwOMOhepNOOynKpY9eY8Wsda5XLRln9VZqCrT77eA/2nwcvEsxOJsW8W0jDxZIjRTmYajIFD3scJBgkLPgdR8+279QfqGTcLCugiMYk90qMbjDqd8RgaXRqOMHxMVl6Nbg4wmpyFjd0Td7cYHiF4CbphNb7H8ECV5dk/PmCmVYwdaaDNnp9QofgikfEhdR+D5PCyaNvWvXOh7vpj5j0hFTyhFfX80rbZEYKGAK03lo55TZB3StkJSpREDkVo1LQq6DliwzmC+88u49byaJVW46EajlUbuF6Dniklqtt/XbpnmKuz+wVQSwMEFAACAAgAkCRQSj08L9HBAAAA5QEAABoAAAB1bml2ZXJzYWwvaTE4bl9wcmVzZXRzLnhtbJ2RsQrCMBCG9z5FuN3EbqUkdRPcHHSWmqYaaS8ll1of35SKdJGAQyD/8X0/JCd3r75jT+PJOlSQ8y0wg9o1Fm8Kzqf9pgBGocam7hwaBeiA7apM2rzAozdkArFYgaTgHsJQCjFNE7c0+NhArhtDLCauXS/i6R2K2RTDosLilvYv+zODKssYk9fRduGAVbzHtCCMvFYwOxeN3GLrQPwCGpMATKrBUAJofQJ4DAnAjytAiu+b56RHCvGjYpBitZ4qewNQSwMEFAACAAgAkCRQSnL80YFnAAAAawAAABwAAAB1bml2ZXJzYWwvbG9jYWxfc2V0dGluZ3MueG1sDcw7CsNADEXR3qsQ6p1P58JjdymDIc4ChP0IBo0UZkRIdp/pbnG44/zNSh+Uerglvp4uTLDN98NeiZ/rrR+Yaojtom5IbM40T92ovok+ENFgpbfKD2VFbhG4S25yKaiwkGhnPk/dH1BLAwQUAAIACABElFdHI7RO+/sCAACwCAAAFAAAAHVuaXZlcnNhbC9wbGF5ZXIueG1srVXfT9swEH4u0v6HyO/YLR0DqgTEkNAexoTUse2tMombeE3izHYI5a/f2c7vpWxIe2iVnO/77nz33cW/es5S74lJxUUeoAWeI4/loYh4Hgfo4evt8Tm6unx35Bcp3TPp8ShAZc4NgKbIi5gKJS80gO+pTgLUM2BgRl4huZBc74H7FLjbSCdL9O5oBi65ClCidbEipKoqzBUg8liJtDQkCociI4VkiuWaSeLSQF6DXem/o+GXiZzofcFUD1notweuSVqOZ8UHJNUSCxmTk/l8QX7cfV6HCcvoMc+VpnnIkAeVnNlSPtJwdyeiMmXK2Ga+S3LNtDZJWNvM1yu+OM89JcMAOYdNxpSiMVM4zWNEHJZMgP1tSlVS86gBreFVO17zWr+Ned80brZzpHMuyseUqwSO+pDOOgn0yTCqn9nrWgU9NAq6NUzIk+xXySWL7Ou3VozzBXIBW8XZPLGqQjiAp1saaiH3NwADFdUdxG3TsGsatqCWA7fR1x0Fam67ZVSXkjWlmvlPPGLiC5WSGllcalkyn4yMNZYMwT5xV66b1DXET3SWnv5Db4zfqDU/1WudsYD/0ZhPQNTWhOcRe77l4KNZBjXVDIptbFgXKTYxu5xU+Zj1dD0wuRzrpsBFPE1lzGAMI6op6ezkEJRJqsAlLOUI2zs4CE54nKTw05MM49ODNBmVu0mG3sFBcCrC3QS0NbdlJOM6jsTUKsgnE+vED0ulRcZfrDwHe0avrA5fG7nm6Lrg7cHZ/I9RHMRoBnOLJlaXeertq+bw3sypVp3PpnCWgVphHpguC+fVzEJZjHwitqVlqm/6OTX7sAcd5Tw1HdNc30HvolrzF+ZVPDJfusXS1CRhRjMB+nC+7DFAP2G7DMJb06GIW5E3dcCY2Df3byvabPm6da7rhzrsQw2fOKscxs3UR1BHLEWZR6Me4qL7iKgUdtq1ZNRL2RZutDgBkYoiQO/hob7zxelFd+WzxUWDtXndu8Aulzes9DrhTkGk1nV7Eb/eDfD4G1BLAwQUAAIACACQJFBKSO3Wo0EIAAB9IAAAKQAAAHVuaXZlcnNhbC9za2luX2N1c3RvbWl6YXRpb25fc2V0dGluZ3MueG1stVrrbuJKEv6/T9FidaRd6ShczC0rhpWxm8QaYjjYSWZ2tbIa3AErtptjN8zkiB/7NPtg+yRb3baDTYDYmVk8icbVVV9V160vZBA/e6G2jTkLvD8I91hoUc69cBUP/4TQYMl8Fs0iGlMe1w+URy902TcjfGKCBtSYk9AlkauJ0XjYQGP5Qf2e2tf78NYetVuo18Yt3Ec67mgwdq3o14oGY3qrqQ3qRxAJbkSXNOSnUQf1wuhbASOMacSN0KXfh0qROz9UnMFNRFwP+OJhty2efaZ1r7fFg9rNTq+D9y1VUZQu0jp6U2/se73rntpEuNHuNJT9qN9SWgpqdjrN6+6+2Wt1FHgbX3cBpY2vu6jda7db+r6FWyCNVHWkt7R9T7luNlXQhvvX2n48HvUaDdRsNpW2vu90lfGogYBbAQxV6QsHKroyUrp7daQ2+woaa+PRuL3HOu5qHdRv4W6jsW+PRkqjcXDuYXZ5dx2opaeTufMdwJMhODkqcqt+IrkGy20UAbNNg41POEWe+6k2m2MLm7ZqG1OzlualzOGMKzOnSE2IQA5JQIcLhp5IuEK/e4O6JGSj0op8GeTpUv9iyzkLr5Ys5GDaVciigPi14Z+TTEnnUUaS7WhURe6JLOlBXU9+yoqluiB74bkktGTBhoQvE7ZiVwuyfF5FbBu6pcxcv2xo5HvhM3A3rnsavqjI92JucBoU7MN98ZQX20B3iqkwr4vFU0rSJwvqZxob8lNB7qDyfY8cie682ONSVG2K55LohqxoMQB9VTyXZULQUoxaTzzvC3H6nQO7Ioq9dZHdJy80KipJmuNFKbbZbqrm0yZiK+Hsotz7gX6V8xn0mnAlLGyIp5SQmKBQWCpKqdvk/PUjxvT1uJcMAtACwc03l5SUtLeRo03vZqr51ZlMb6bOyLipDbWkKpEoy7+0uv3vzU73r4N6KlcSybpTJ5MiFpJgnUY5LNOeTycOAOKJY+Ivdm0oflcWnd7bE8PEtWH6n8oAsAI81IbidxnR+/kclgvHmhg6dgzLMae29MsE21ivDb+yLVqTHUWcoZ1HvyG+pgjasxdRFPueKwdEy/bCLS2hT5/eqYbpwCJlzw1NLlJDi0XRy68SmWz5GpJnTWLkejFZ+NSVaiFF5LhoL6Bd7sYQ/ONrDzhZQLzwqoz2ufpomDeOPZ1OLAebekapDXHoIj0iQlN1oLlq4TlgRARW7Y+JOzL7JAJSfb8yyK1xczuBH1sYcuut1j788A9YM8MQkhkNSwhC4uA5ZJ1lPU7nuvAhKEQEbUgcf2ORW0iafOhKYBumNoXU1Owcvi1gMmwIvBcuIXXokpfAu8OWpd5gZzT9AjkOtTmtKDT9DCX5uaLQV2xBDWGrhJipPhg3ctsmyjArkKwGl0Tku/+CyHIJcsKbO49tY6AID0OZyGqMryprsvBv9xBIQ52cqfYEGJwt31bejoIpkQvLXAld0IY0rIvs+u3e+IczVo0J1h1IN3366NiySwqlAXlBIeOIuDsSLila0CXZQiW8wJjruXJMRF6a8PvW+wMRnvafX9LWZer4yy8fMKnQ8E5YBttkUAbblA1/T7twWzqDDxoicv2sFWUc8GETLA2b6tyY/pwQxV6w9ZMu/TMC9Wpc1WC9a8eP+6t82P4PxlhJCx4Z0NFGHqskhGElFksOLJ5+JUHDHIO6WdLPoeGL82glAHOaYpgM/QDMA3iuYMgDeLQaxCMeWYYNm61HuhCnjxLCslaTqJ2Otzgj+hSO46+luqBPDPZLPiW7ZCMDa5cMf5ko57ZKhaXFNuwJGG4C5ipJKkD1vUCcocrB3t9hJ39dUJzPI9v6rqxu33uWKwL4eRvQt/uwp4gFkuqTOMvrZFH6+w8akkxxnuidVdtAvBZo6Vjl6vOHImZhda7dOppqalicKEQ9++XloDqETya25UzUkUCAMgkIX65hFX4S57zyWMmJQMdjFfDSyVuURMv1f//9n/IwR/YkVJRS/1YVB4pfdE38ivdPk3Ea/6sEjq2OiqLypaRgeqDKRMufr2wDEvSnHFlIsiwFLBBXXKVUQwmkYVRtW9Vu76BKLFkUbBvBXrAiyJ06/wyNT+71a8M7Ej1D47QZ86sCSc+L3OSVbTgccbfc90JaUfyHVyIxeduYOaquy7M/1KjvLZ+T5deFA0x6zYd8tqqCp92qJnTnI0jqerw6plzcsq4FLSF5PzSE3cm17pVwuFDxCfRwXrifCXnE/Jm42Xp7lQsM4iIO0njII3Gkz97yHPGafUtjN3wifgxsedIx6wxsmInNYgpZpB1zz0XtuHnclHLM+MB8WBe0ZDo56CL9WErTRvLmN6/glfbGcjhmpUM50w/EY36Tfudv+HPEY35LrClTONe9tel4KC+aXceNSJSnl4kd8NBQdqmUJ3sr8ggLJuJaNs5NJCUUOQPm0qFcG20voGk5C1re4PoZiwfh6/blTsgsXuS0Y/G1Q2HgkL71y/k74B736fnklvOAEsy7Wr6fqoCU51QJJF8fHDsjoSL+sqGfanAQIcu16PRxDaUYn2rCnckXM+fkNlk/E+0sJymtuSwayH4u23kllaHo4tVUsaTYLwsN6m/8NKhfitAghT0fwHAbLGiEIQc86HJphIrEPPs6uwp7kDvSI7kzo3kAvgbsEM5IWSXkCIXEktuqrFqSl/w47C2559MdzVpVjpBzzuX5D2KojsvJrfIJfeL59E4plasg7XWHXCz2wBz9rJQ8keWVHI1ULDpOFrGc/YlulS0+BxtPLEdZmxbpnu/QjB9FvX5CFfCe8/6gnl9moUe9+XL1mAaigHf2Lwz+B1BLAwQUAAIACACRJFBKKoo35ocRAADwYQAAFwAAAHVuaXZlcnNhbC91bml2ZXJzYWwucG5n7d35V5LZ/wBwSzMnZ6LNzCxtmrTFBdQaMxdabNKRcp3UUtHUbDM1MxRZUqexRSV1yl2aXNolbdLcwCUl1KAJldKUCoUQlRCRHT70nZrPjH7mD/ie83AOeLj3Oc+9r/vc1R/eXPI6sO+bRasXaWlpfePu5uqjpaUD09LSjtPT1aSodlvu0/yZF++zb7dWFXUNV/NFJ2rX/l1aWtU4fUXYAs33r2LdAuO1tBa3f3rPI8fcjtDSCrvg7rrLLzFkYgh+5UGkkixQ5qO0nM8f0Aa15X60fJr1I2TTj67Oesvn2yyZeAYp/+i6/kXaMv35e3QueXkqtFOQlYEUmWhtk2JIfu5BPZ926NFRwjYm45f99RxaaX0Vo6c0iU/rIT4uUEim6Z72/GbxMLsEMVwvkbKLYmTcr1eFnp+n+/ePtz+sXqUsO+S2LZuLO8yCukjephlLu6643DTU/hrSovX3j/s2XtERiid65qZYRXXAzZW2/8yGtOxM1u5zGyM/oEHVTcqw+3dgJvsyI2aVdyM95YRZ3RjvbFAiTh9Bmyz4Z/b5lEjtvh9PK5V8rCEMVjWnuudTwN/4WdRXWFrlmUWNZMzO/xC5E+K9xMBVd3ZGvtESWJN3Ytmc+81rLWf8/CyiB203S3PV+CHEe+lPc2/1EEK5l7OM0zO37JY2171+S41ml9HSVu6/1HfnkP3sFq2fp7/cwHtvxJw66ec2bdkcR82YbQ/RtYT5uRpkz75ek4w0sFnQCyAABIAAEAACQAAIAAEgAASAABAAAkAACAABIAAEgAAQAAJAAAgAASAABIAAEAACQAAIAAEgAASAABAAAkAACAABIAAEgAAQAAJAAAgAASAABIAAEAACQAAIAAEgAASAABAAAkAACAABIAAEgAAQAAJAAAgAASAABIAAEADi/xEiRdo28ojmMij5H9ECz6eo7WO7wxLT5sbR0z1tvy4/4FXAKpvZYQFbes6Hvs9sM14wJ6KgnvnRg0cPzk6FxP57+/5b8jXY5sg5dX12HkyZZz6/bOfdF7PKWKspOvVSaJvW7Cr5C5xhLtKR3Oce4Obfk6YoG+1xTlPP2CkLTbbX40Vn+rr9wVHNTWvH8hjeo/8s0NoeokTNrIDmBctt+ziNImEdSRk97RDTrBJtZXEZKswtSSJZVQwNyUdJ3qUXmaol5I2GbtaNTcgk3uhMVrupyT9jKcK1+UT5JEVVof52100XzgNGNOWcM7Ue7UJiB52AVLNF8B14aTsrdOpNPK3kJ0uj9MNgBHL7SRP1BcOQV720bTh5u6kqVkh15KMm4uBoUd9zMEZw5Qqe5iIfv8t5zBYLt3djlzQJOo3hJUo+Vi0fpGKQYFFiI/XR5Kk3TKhaShs0ATczgn+oei8OQAaaoKf/eB5J4PxWWoUsOLq3dlz+wlE4Tc3/8vRzUmQe077KRZe2eYdy40qT2AUdNDNe3PVSWr1L0+TM3fRlcRAHxuqfwOKfSNWMjdWIoQRGx8buk6XiZvGw/DH53isfUgi+mEGLwQiLDNWNbGlScbta694jgpdPlKqZj+a/VzPqD0pWIbxBjfLJRkRnFbIBWYwcQDbFgUdvrn+qBxap8yZPFWULatZOJQfN1PTyDhH2BLpcbw4H0+8/W4w9HFDDffdXhamvdypHh1g4KCY8vPXiGg/E2SqbiInuYATqGjPnu8XmJ+EvfFFNZk6Udt7yHtnIExViP+ROJKXWM/+kN0S5IeG+Vk5eB2tSnM7Q+5alOBHsnV2uStb5RfDwcniCv4hpUN9ZkvnW1oTglNHhveAi9/2IMVPS2f/BtvRcXjYai0Ou7bzJrcmrCOG8kwa0juy4fpx8KDtJPsCf6K53sP/cr7abaYuarTwF8b33MAXXqYq7WJIvCpPA8OA8nHmXSillfpWE4rYNtHjjY2mkkfBBs8D8IKapJas7qFLsFfabKtmkZsuGDNG+C4Sle7ekwvCYxNteNvArGWZ/VNlTg3+YUTqPiS1ueYC7L27xADMHEFsGTfifahKQvXZqR/IAL/nwuX5q4ZcObufFHHy/AloN7ez+fbo2NoMp7C3lDPA5NWcPimJbI2ihtosR0ZA7pFY8FntFuqBvIze84yF7yokahoWcamxcCmMLQlfDahdcr0+PxpFWbDhnZASmE0nkgbxI7qjj08GE5uXOI5HTv6c3OztAOeTPY+HWsRtEJ5Y5lpkjJb/2QMQGm+YxucxbxK1RXMt+pyBIfWVozUSyb4b+3as+IEOPKjGowFffvDFDz5ynfj21jT/tRBURSxxiOM8/3xDxsmW/yvzW4M2nLwOZ3KtxJSSskk7x4FRPx7aOrE51R2+mVvHjfarLiYZdhTF6DWcLTEqVYX7wg3aZfnR+mA/JRcnAVTLbI5BUkZkfHSs9hgLlyh4LlF6dLPiMM8za7swHfvVMZDWEokhMjg/5axo8bpw48ZgxgNqcFSNrUIID4VilKO0mZa2+edFr3PHjDeNh6SvuhDftOSw0c8hTxj8QXUpakCsgjPSqT8tvpeMENQhsaQLVwKZTXFaAcffryGnIW3TouxOZ522VlQT6rTscu8z1BjsqPe1Am+hCuK1t24GpZBiJyyvMG+1NpZiqPqY/wLb0ydOD+QsbimZk+JmF0ZNk5ecpF62bpSRsNZlK4trgz1Fe2WD5vqjhdNXJwlRKin6u7OfEBtdXumcZeYcywB130j2x1s6kCvv5ILg66wm1gThSgcnaaUslrO9IDLDa10nw1BR7cTNLUImwf/+D8/3dXZHq+c9f5p3q676uMmEVEfu7m9mR9ZYDa05sSeIE8nuHMfKJK6cbJrg6uSIiqNnek3//80L2NuibNVOeegz4m+dY1Zg/STYWTpc9SZJ9NISj4oS9vp7RGJUQz5wR8Go5vqQZhZAGR11olaiFuCReUl/7GDYXV8aLy5u0QGNEEpFmTtiOHhDY9vO8SSEEehWjziSE4w/Cl4Yrkc5MmUi2JpRB5yevZI06j8gL9MwX6uaaXTWZBBnpuhxWZhGHBRgZ9xY8s4fd/UgW0/p08Ne6zX8F0rXVjFWLma+0WcfZcAFEleyaJstPYODsmSjhPWYyg9ULX9zP3+YyWaK+ksMnqVUduVmrspusPWKMKcJCPHnrW7+nt01ZjE544unkEp7UD3bXVLQDx6h7765cxakWeqnF54N5wscEGpFJc4Usha20GHlpXJIu1z5JaYnkP7NOJm/Kf/g4orvdKOzz+ncnpW4YybsRYKtKPY1aBj24hO45vg9SgFkGj2NpJj6i1VkY/ugguR2r5MHBJtiG4dscX+iWwvuZ8+jkw8jkV5ykLByDJzL2JFnkB80oyPReXvAfETplSatWcxyb09Ahk1L6r5kVwgJokKY+R7ZutsXxQdV7UikBv/aoEYPCiMxtf4X9rUu5J/GPq72QVS27jdtVtyBXJoKqBLi6B9bXNdcHw1huHbkyb/j7Gs8NAVMkmrBYtYBz0VWukytrJjtk7e2qHX1Wner+OmCHaavrukvZ5bedMHxoee0QKbTtZ7H+X2MsYdWrjXo9+KOWTmPLxTKH3W5W6ytby124pkxEuGp7+J2a6P3OmTrh12yJaoreIiGYHihHWpUIBjh2cCSDdwh8uKRVorIQNVih3akoM9v13s4TZ6ttlcosA9iY+FPhG/TMNSs39HuSYhQM3gnD9hP62l+2z0hUVz+c2AkJI91DE+zlf1YniJCCTm2pDa2xOpsRE7DD5TfT6jKTut270eocbl5eBpxwDKJ0CMZlvPBROxLX3CJGRDIZ4ZRBFxrCMrKTF0zgVF2gKBIeME7Kkg+QVkQx8t7omcMxrM7NbUmtA6KHaOtEp+fLSgUfL397QaSS85lOM6/CizaWJr6vxYOgio/sRqZysoOlt5EhXxw7sRbZRG8wbB35fbJ9MF3+ZYdUdOJt9j6T147fZ+ACOfq5UtJBO3VO8VIQOy6U63FmTFyEsesVjG4XYt3NpWsSuSG5nG3OuKX2neJgI7iPHTzf0ll92So82FatsmIdxxnAujpfSgPyLS1hLrIPZc/FJLVy/97s1AYeh+4JRQu2i56ItnJbk1FYtwTbWDdIAbHMhN4ZTCPQC5DBzaCwL1sp4um31/xD6nNCz7y2XzOkmVI78172qK8Vb2M+Odvg91oUucXj2yMTbqETwtczZg6ik/QLz2rBlPpxKaPmqGv58U2F6vge8iLzyO/QRYL98Kh5Ff0bQC6StxXVEau9x+J4x1+miSWq87yI0AlHtjeH3HZKlXUIIjhH50508roc/1wl5EaJmt0f6LK5R/fVYPWPVMmqc/etz2l6hdPNjEh3ZxWqomaG9YG3yFwkz8AuTjwMKcC6H1AiFmTLxjJkNRUCZ68xaQYjWQWev/a7/F8voYdLdXLdIUmsTHtrYi+7RrORSB+KpzkXaZ4RooiknIjBlL42UrDtSfWSlxZQBH5Xc9ogp6R7+ngOYlq0+IxiefhgadWwzeH8cXFr+2/iD9ySzxX9ujgtxVOzZT3yVTbq6x3oN7IN6ppYb1NTBqtHbVa0SItl3NovHFwJ6iTsx5Iuf8VicNRPT8t2WA55yhSdPBsoTvayeOmesbixd40hzB0E2ZU/kJJpvFfVLWNalCzSjYUCZe5jJVjpRx7hnqp1DoIUaIbk0SqRswfbu9xa7ImV0TtoMrUwHTr9Yk8RXjGy8QiloCNn6ZOnOaOhv9Mc89BplHzZRCF4kbmLl2Nv2a2oi5+7XszbB3XDA47548sNDowev34K39WdVAIm8wgkor/lnUdN4ZpdEejYhBNXsw1ulERlV+4qX/QK5eBD+h5dXChGyQeZK2E6ucaNfoFIcuP0Rx4yGY50cFKwsbEjWUM2nxvna21w87RP47GaEXWDizX0GpNTzykddLyuZ/6IDz/DbxZjop1reN2n2Ba5MWjeYc2ZYH3+uKSyiyFaHM8F6YHE81Z82ZK/6G7RTJrDWwotpcQqXLfnO/EdrEEUE9xhxDkWZivV8YRwpc4BKHcqV9NLiPzQPNX5jx9DTNfVx4i/bD1MMZJ3u5i0CCbOg99Ltyog+YIZJRI0Ey0eSus3W2n+iPQN81OP1jSuRa5UbCMwc+CsPaSTy1qYu4fI7R9AVImSLZXz3r1zOXbky2CRGd3mh1XPhHfFY5vMmByV7AFaCk+eeGwhfdPSFrFs/xh+4fDMfjgcIx0l3HRXqqOZ049VSWGaLp30y/LWEUlrOfFc7IRjHdqU/4LgGSRr72iXo2NHqUMOf9bZntySgHJq4JOr/aVnPY4SpsQ7+jgJ1/CGTzXPR1UpWbWQxI7BqxUcKBwFujyNN1BREcRHUhEBa5Vf/E4MkXbDVWfCSfxnP124Yap4u3Ah43W457e8iUYMrgK6TvO8UC9Y1kNmn1u5XHfMQjtLUM++40STla71iPLBxW8B821CshpYFXZuJiYLc+Ot4k9a0HGY6bLn7SBo047CXlY/fUP6ZFxzPF+zV/zl4yqsW5+w6TLBczxxY0gU/8qXJSg3JVxtNmwzf+eUEwNFTa7C0wgO6eEKsxNrYNSlgWdiPwXLryTmUT71aY8yyn+nrJLhPxKDla1dfz8oco7dUN2cCCKdeF9z7OFM/HC8AoWJtnTohN/sbC0f3pQlsu84uXg9uhitmqmf74aG5sp8fpYxpXkfFONR0EaJbRYyP+A96HK8Iq2tu8fqv8c+f23OtHS8kIal05IaSapL8uZU9ynjYiGLONVlUbTPFH3WV/3m43SU8pDzeDHcHtwIXTf7yP8qeiekQElve5iY3jrngKvp4Uc2t89JttNk2C+KWTHnLA4BmatlDNKay/Zf68798QCP/wvWL2eqz60b3vRvwfpFHYbw7Uv+x71bWvJ07157M6Dgp1+7xFfxHHfazbkiyjCzHBOkmXMEmj62z91n+Zx/cNx4kHLiOxbZv7Uc806z4PDZQho0JhnyY2Fh1+zfJ4Bq9+2+ewmGVZgWEHuaf1PrQrU0L/e9B1yrdoem/gdQSwMEFAACAAgAkSRQSpXukX5LAAAAawAAABsAAAB1bml2ZXJzYWwvdW5pdmVyc2FsLnBuZy54bWyzsa/IzVEoSy0qzszPs1Uy1DNQsrfj5bIpKEoty0wtV6gAigEFIUBJoRLINUJwyzNTSjKAQgbmZgjBjNTM9IwSWyULA3O4oD7QTABQSwECAAAUAAIACACQJFBKFQ6tKGQEAAAHEQAAHQAAAAAAAAABAAAAAAAAAAAAdW5pdmVyc2FsL2NvbW1vbl9tZXNzYWdlcy5sbmdQSwECAAAUAAIACACQJFBKCH4LIykDAACGDAAAJwAAAAAAAAABAAAAAACfBAAAdW5pdmVyc2FsL2ZsYXNoX3B1Ymxpc2hpbmdfc2V0dGluZ3MueG1sUEsBAgAAFAACAAgAkCRQSrX8CWS6AgAAVQoAACEAAAAAAAAAAQAAAAAADQgAAHVuaXZlcnNhbC9mbGFzaF9za2luX3NldHRpbmdzLnhtbFBLAQIAABQAAgAIAJAkUEoqlg9n/gIAAJcLAAAmAAAAAAAAAAEAAAAAAAYLAAB1bml2ZXJzYWwvaHRtbF9wdWJsaXNoaW5nX3NldHRpbmdzLnhtbFBLAQIAABQAAgAIAJAkUEpocVKRmgEAAB8GAAAfAAAAAAAAAAEAAAAAAEgOAAB1bml2ZXJzYWwvaHRtbF9za2luX3NldHRpbmdzLmpzUEsBAgAAFAACAAgAkCRQSj08L9HBAAAA5QEAABoAAAAAAAAAAQAAAAAAHxAAAHVuaXZlcnNhbC9pMThuX3ByZXNldHMueG1sUEsBAgAAFAACAAgAkCRQSnL80YFnAAAAawAAABwAAAAAAAAAAQAAAAAAGBEAAHVuaXZlcnNhbC9sb2NhbF9zZXR0aW5ncy54bWxQSwECAAAUAAIACABElFdHI7RO+/sCAACwCAAAFAAAAAAAAAABAAAAAAC5EQAAdW5pdmVyc2FsL3BsYXllci54bWxQSwECAAAUAAIACACQJFBKSO3Wo0EIAAB9IAAAKQAAAAAAAAABAAAAAADmFAAAdW5pdmVyc2FsL3NraW5fY3VzdG9taXphdGlvbl9zZXR0aW5ncy54bWxQSwECAAAUAAIACACRJFBKKoo35ocRAADwYQAAFwAAAAAAAAAAAAAAAABuHQAAdW5pdmVyc2FsL3VuaXZlcnNhbC5wbmdQSwECAAAUAAIACACRJFBKle6RfksAAABrAAAAGwAAAAAAAAABAAAAAAAqLwAAdW5pdmVyc2FsL3VuaXZlcnNhbC5wbmcueG1sUEsFBgAAAAALAAsASQMAAK4vAAAAAA=="/>
  <p:tag name="ISPRING_PRESENTATION_TITLE" val="简约商务汇报通用PPT模板"/>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2ohaorvh">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chemeClr val="bg1">
                <a:lumMod val="75000"/>
              </a:schemeClr>
            </a:gs>
            <a:gs pos="50000">
              <a:schemeClr val="bg1">
                <a:lumMod val="95000"/>
              </a:schemeClr>
            </a:gs>
            <a:gs pos="100000">
              <a:schemeClr val="bg1"/>
            </a:gs>
          </a:gsLst>
          <a:lin ang="2700000" scaled="1"/>
          <a:tileRect/>
        </a:gradFill>
        <a:ln w="12700">
          <a:gradFill>
            <a:gsLst>
              <a:gs pos="100000">
                <a:schemeClr val="bg1">
                  <a:lumMod val="75000"/>
                </a:schemeClr>
              </a:gs>
              <a:gs pos="50000">
                <a:schemeClr val="bg1">
                  <a:lumMod val="95000"/>
                </a:schemeClr>
              </a:gs>
              <a:gs pos="0">
                <a:schemeClr val="bg1"/>
              </a:gs>
            </a:gsLst>
            <a:lin ang="5400000" scaled="0"/>
          </a:gradFill>
        </a:ln>
        <a:effectLst>
          <a:outerShdw blurRad="254000" dist="190500" dir="3540000" sx="105000" sy="105000" algn="tl" rotWithShape="0">
            <a:srgbClr val="A44A00">
              <a:alpha val="25000"/>
            </a:srgbClr>
          </a:outerShdw>
        </a:effectLst>
      </a:spPr>
      <a:bodyPr rtlCol="0" anchor="ctr"/>
      <a:lstStyle>
        <a:defPPr algn="ctr">
          <a:defRPr>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自定义 4">
      <a:dk1>
        <a:sysClr val="windowText" lastClr="000000"/>
      </a:dk1>
      <a:lt1>
        <a:sysClr val="window" lastClr="FFFFFF"/>
      </a:lt1>
      <a:dk2>
        <a:srgbClr val="44546A"/>
      </a:dk2>
      <a:lt2>
        <a:srgbClr val="E7E6E6"/>
      </a:lt2>
      <a:accent1>
        <a:srgbClr val="1F4C6B"/>
      </a:accent1>
      <a:accent2>
        <a:srgbClr val="D14E5B"/>
      </a:accent2>
      <a:accent3>
        <a:srgbClr val="1F4C6B"/>
      </a:accent3>
      <a:accent4>
        <a:srgbClr val="D14E5B"/>
      </a:accent4>
      <a:accent5>
        <a:srgbClr val="1F4C6B"/>
      </a:accent5>
      <a:accent6>
        <a:srgbClr val="D14E5B"/>
      </a:accent6>
      <a:hlink>
        <a:srgbClr val="1F4C6B"/>
      </a:hlink>
      <a:folHlink>
        <a:srgbClr val="D14E5B"/>
      </a:folHlink>
    </a:clrScheme>
    <a:fontScheme name="cel204bb">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C000"/>
        </a:soli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4791</Words>
  <Application>WPS 演示</Application>
  <PresentationFormat>宽屏</PresentationFormat>
  <Paragraphs>264</Paragraphs>
  <Slides>20</Slides>
  <Notes>9</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20</vt:i4>
      </vt:variant>
    </vt:vector>
  </HeadingPairs>
  <TitlesOfParts>
    <vt:vector size="29" baseType="lpstr">
      <vt:lpstr>Arial</vt:lpstr>
      <vt:lpstr>宋体</vt:lpstr>
      <vt:lpstr>Wingdings</vt:lpstr>
      <vt:lpstr>微软雅黑</vt:lpstr>
      <vt:lpstr>Calibri</vt:lpstr>
      <vt:lpstr>Arial Unicode MS</vt:lpstr>
      <vt:lpstr>等线</vt:lpstr>
      <vt:lpstr>1_Office 主题​​</vt:lpstr>
      <vt:lpstr>1_Custom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gone</cp:lastModifiedBy>
  <cp:revision>823</cp:revision>
  <dcterms:created xsi:type="dcterms:W3CDTF">2016-01-19T08:46:00Z</dcterms:created>
  <dcterms:modified xsi:type="dcterms:W3CDTF">2026-01-23T09:04:12Z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KSOTemplateUUID">
    <vt:lpwstr>v1.0_mb_SPjMhb/pb0FCixd4o5yUBw==</vt:lpwstr>
  </property>
  <property fmtid="{D5CDD505-2E9C-101B-9397-08002B2CF9AE}" pid="4" name="ICV">
    <vt:lpwstr>55C3E3D3A65E4433BDBBD71DCCBA6637_13</vt:lpwstr>
  </property>
</Properties>
</file>